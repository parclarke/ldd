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The 51% figure is the honest counterweight to the 100% - be upfront about it; it is the single most useful number in the deck for planning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6D77"/>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8102E"/>
                </a:solidFill>
                <a:latin typeface="Segoe UI"/>
              </a:rPr>
              <a:t>Code App Migration Approach</a:t>
            </a:r>
          </a:p>
        </p:txBody>
      </p:sp>
      <p:sp>
        <p:nvSpPr>
          <p:cNvPr id="7" name="Rectangle 6"/>
          <p:cNvSpPr/>
          <p:nvPr/>
        </p:nvSpPr>
        <p:spPr>
          <a:xfrm>
            <a:off x="932688" y="4133087"/>
            <a:ext cx="2377440" cy="4114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Lending Due Diligence  ·  5 case types  ·  39 stages  ·  80 steps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49/49</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27</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Dataverse tables
provisioned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~51%</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needing
manual implementation</a:t>
            </a:r>
          </a:p>
        </p:txBody>
      </p:sp>
      <p:sp>
        <p:nvSpPr>
          <p:cNvPr id="25" name="TextBox 24"/>
          <p:cNvSpPr txBox="1"/>
          <p:nvPr/>
        </p:nvSpPr>
        <p:spPr>
          <a:xfrm>
            <a:off x="566928" y="2926080"/>
            <a:ext cx="11064240" cy="2773426"/>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 its process fidelity intact - and quantify precisely what does not come across.</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because Pega does not expose it in any exportable form.</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71907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200" b="1">
                          <a:solidFill>
                            <a:srgbClr val="FFFFFF"/>
                          </a:solidFill>
                          <a:latin typeface="Segoe UI"/>
                        </a:rPr>
                        <a:t>Challenge</a:t>
                      </a:r>
                    </a:p>
                  </a:txBody>
                  <a:tcPr anchor="ctr" marL="91440">
                    <a:solidFill>
                      <a:srgbClr val="006D77"/>
                    </a:solidFill>
                  </a:tcPr>
                </a:tc>
                <a:tc>
                  <a:txBody>
                    <a:bodyPr wrap="square"/>
                    <a:lstStyle/>
                    <a:p>
                      <a:r>
                        <a:rPr sz="1200" b="1">
                          <a:solidFill>
                            <a:srgbClr val="FFFFFF"/>
                          </a:solidFill>
                          <a:latin typeface="Segoe UI"/>
                        </a:rPr>
                        <a:t>Impact today</a:t>
                      </a:r>
                    </a:p>
                  </a:txBody>
                  <a:tcPr anchor="ctr" marL="91440">
                    <a:solidFill>
                      <a:srgbClr val="006D77"/>
                    </a:solidFill>
                  </a:tcPr>
                </a:tc>
                <a:tc>
                  <a:txBody>
                    <a:bodyPr wrap="square"/>
                    <a:lstStyle/>
                    <a:p>
                      <a:r>
                        <a:rPr sz="1200" b="1">
                          <a:solidFill>
                            <a:srgbClr val="FFFFFF"/>
                          </a:solidFill>
                          <a:latin typeface="Segoe UI"/>
                        </a:rPr>
                        <a:t>How the target state responds</a:t>
                      </a:r>
                    </a:p>
                  </a:txBody>
                  <a:tcPr anchor="ctr" marL="91440">
                    <a:solidFill>
                      <a:srgbClr val="006D77"/>
                    </a:solidFill>
                  </a:tcPr>
                </a:tc>
              </a:tr>
              <a:tr h="274320">
                <a:tc>
                  <a:txBody>
                    <a:bodyPr wrap="square"/>
                    <a:lstStyle/>
                    <a:p>
                      <a:r>
                        <a:rPr sz="1200" b="1">
                          <a:solidFill>
                            <a:srgbClr val="1A1A1A"/>
                          </a:solidFill>
                          <a:latin typeface="Segoe UI"/>
                        </a:rPr>
                        <a:t>Specialist skill dependency</a:t>
                      </a:r>
                    </a:p>
                  </a:txBody>
                  <a:tcPr anchor="ctr" marL="91440" marT="18288" marB="18288">
                    <a:solidFill>
                      <a:srgbClr val="FFFFFF"/>
                    </a:solidFill>
                  </a:tcPr>
                </a:tc>
                <a:tc>
                  <a:txBody>
                    <a:bodyPr wrap="square"/>
                    <a:lstStyle/>
                    <a:p>
                      <a:r>
                        <a:rPr sz="1200" b="0">
                          <a:solidFill>
                            <a:srgbClr val="3C3C3C"/>
                          </a:solidFill>
                          <a:latin typeface="Segoe UI"/>
                        </a:rPr>
                        <a:t>Pega development requires scarce, costly certified specialists</a:t>
                      </a:r>
                    </a:p>
                  </a:txBody>
                  <a:tcPr anchor="ctr" marL="91440" marT="18288" marB="18288">
                    <a:solidFill>
                      <a:srgbClr val="FFFFFF"/>
                    </a:solidFill>
                  </a:tcPr>
                </a:tc>
                <a:tc>
                  <a:txBody>
                    <a:bodyPr wrap="square"/>
                    <a:lstStyle/>
                    <a:p>
                      <a:r>
                        <a:rPr sz="1200" b="0">
                          <a:solidFill>
                            <a:srgbClr val="3C3C3C"/>
                          </a:solidFill>
                          <a:latin typeface="Segoe UI"/>
                        </a:rPr>
                        <a:t>React + TypeScript + Dataverse draws on a far larger talent pool</a:t>
                      </a:r>
                    </a:p>
                  </a:txBody>
                  <a:tcPr anchor="ctr" marL="91440" marT="18288" marB="18288">
                    <a:solidFill>
                      <a:srgbClr val="FFFFFF"/>
                    </a:solidFill>
                  </a:tcPr>
                </a:tc>
              </a:tr>
              <a:tr h="274320">
                <a:tc>
                  <a:txBody>
                    <a:bodyPr wrap="square"/>
                    <a:lstStyle/>
                    <a:p>
                      <a:r>
                        <a:rPr sz="1200" b="1">
                          <a:solidFill>
                            <a:srgbClr val="1A1A1A"/>
                          </a:solidFill>
                          <a:latin typeface="Segoe UI"/>
                        </a:rPr>
                        <a:t>Licence cost concentration</a:t>
                      </a:r>
                    </a:p>
                  </a:txBody>
                  <a:tcPr anchor="ctr" marL="91440" marT="18288" marB="18288">
                    <a:solidFill>
                      <a:srgbClr val="F4F5F7"/>
                    </a:solidFill>
                  </a:tcPr>
                </a:tc>
                <a:tc>
                  <a:txBody>
                    <a:bodyPr wrap="square"/>
                    <a:lstStyle/>
                    <a:p>
                      <a:r>
                        <a:rPr sz="1200" b="0">
                          <a:solidFill>
                            <a:srgbClr val="3C3C3C"/>
                          </a:solidFill>
                          <a:latin typeface="Segoe UI"/>
                        </a:rPr>
                        <a:t>Per-case and per-user Pega licensing scales unfavourably</a:t>
                      </a:r>
                    </a:p>
                  </a:txBody>
                  <a:tcPr anchor="ctr" marL="91440" marT="18288" marB="18288">
                    <a:solidFill>
                      <a:srgbClr val="F4F5F7"/>
                    </a:solidFill>
                  </a:tcPr>
                </a:tc>
                <a:tc>
                  <a:txBody>
                    <a:bodyPr wrap="square"/>
                    <a:lstStyle/>
                    <a:p>
                      <a:r>
                        <a:rPr sz="1200" b="0">
                          <a:solidFill>
                            <a:srgbClr val="3C3C3C"/>
                          </a:solidFill>
                          <a:latin typeface="Segoe UI"/>
                        </a:rPr>
                        <a:t>Consolidates onto existing M365 / Power Platform investment</a:t>
                      </a:r>
                    </a:p>
                  </a:txBody>
                  <a:tcPr anchor="ctr" marL="91440" marT="18288" marB="18288">
                    <a:solidFill>
                      <a:srgbClr val="F4F5F7"/>
                    </a:solidFill>
                  </a:tcPr>
                </a:tc>
              </a:tr>
              <a:tr h="274320">
                <a:tc>
                  <a:txBody>
                    <a:bodyPr wrap="square"/>
                    <a:lstStyle/>
                    <a:p>
                      <a:r>
                        <a:rPr sz="1200" b="1">
                          <a:solidFill>
                            <a:srgbClr val="1A1A1A"/>
                          </a:solidFill>
                          <a:latin typeface="Segoe UI"/>
                        </a:rPr>
                        <a:t>Change latency</a:t>
                      </a:r>
                    </a:p>
                  </a:txBody>
                  <a:tcPr anchor="ctr" marL="91440" marT="18288" marB="18288">
                    <a:solidFill>
                      <a:srgbClr val="FFFFFF"/>
                    </a:solidFill>
                  </a:tcPr>
                </a:tc>
                <a:tc>
                  <a:txBody>
                    <a:bodyPr wrap="square"/>
                    <a:lstStyle/>
                    <a:p>
                      <a:r>
                        <a:rPr sz="1200" b="0">
                          <a:solidFill>
                            <a:srgbClr val="3C3C3C"/>
                          </a:solidFill>
                          <a:latin typeface="Segoe UI"/>
                        </a:rPr>
                        <a:t>Process changes need a developer, a build and a deployment</a:t>
                      </a:r>
                    </a:p>
                  </a:txBody>
                  <a:tcPr anchor="ctr" marL="91440" marT="18288" marB="18288">
                    <a:solidFill>
                      <a:srgbClr val="FFFFFF"/>
                    </a:solidFill>
                  </a:tcPr>
                </a:tc>
                <a:tc>
                  <a:txBody>
                    <a:bodyPr wrap="square"/>
                    <a:lstStyle/>
                    <a:p>
                      <a:r>
                        <a:rPr sz="1200" b="0">
                          <a:solidFill>
                            <a:srgbClr val="3C3C3C"/>
                          </a:solidFill>
                          <a:latin typeface="Segoe UI"/>
                        </a:rPr>
                        <a:t>Process is configuration data - change without a code release</a:t>
                      </a:r>
                    </a:p>
                  </a:txBody>
                  <a:tcPr anchor="ctr" marL="91440" marT="18288" marB="18288">
                    <a:solidFill>
                      <a:srgbClr val="FFFFFF"/>
                    </a:solidFill>
                  </a:tcPr>
                </a:tc>
              </a:tr>
              <a:tr h="274320">
                <a:tc>
                  <a:txBody>
                    <a:bodyPr wrap="square"/>
                    <a:lstStyle/>
                    <a:p>
                      <a:r>
                        <a:rPr sz="1200" b="1">
                          <a:solidFill>
                            <a:srgbClr val="1A1A1A"/>
                          </a:solidFill>
                          <a:latin typeface="Segoe UI"/>
                        </a:rPr>
                        <a:t>Platform isolation</a:t>
                      </a:r>
                    </a:p>
                  </a:txBody>
                  <a:tcPr anchor="ctr" marL="91440" marT="18288" marB="18288">
                    <a:solidFill>
                      <a:srgbClr val="F4F5F7"/>
                    </a:solidFill>
                  </a:tcPr>
                </a:tc>
                <a:tc>
                  <a:txBody>
                    <a:bodyPr wrap="square"/>
                    <a:lstStyle/>
                    <a:p>
                      <a:r>
                        <a:rPr sz="1200" b="0">
                          <a:solidFill>
                            <a:srgbClr val="3C3C3C"/>
                          </a:solidFill>
                          <a:latin typeface="Segoe UI"/>
                        </a:rPr>
                        <a:t>Integration to M365, Azure and Teams is bespoke work</a:t>
                      </a:r>
                    </a:p>
                  </a:txBody>
                  <a:tcPr anchor="ctr" marL="91440" marT="18288" marB="18288">
                    <a:solidFill>
                      <a:srgbClr val="F4F5F7"/>
                    </a:solidFill>
                  </a:tcPr>
                </a:tc>
                <a:tc>
                  <a:txBody>
                    <a:bodyPr wrap="square"/>
                    <a:lstStyle/>
                    <a:p>
                      <a:r>
                        <a:rPr sz="1200" b="0">
                          <a:solidFill>
                            <a:srgbClr val="3C3C3C"/>
                          </a:solidFill>
                          <a:latin typeface="Segoe UI"/>
                        </a:rPr>
                        <a:t>Native connectors; Dataverse is already inside the tenant</a:t>
                      </a:r>
                    </a:p>
                  </a:txBody>
                  <a:tcPr anchor="ctr" marL="91440" marT="18288" marB="18288">
                    <a:solidFill>
                      <a:srgbClr val="F4F5F7"/>
                    </a:solidFill>
                  </a:tcPr>
                </a:tc>
              </a:tr>
              <a:tr h="274320">
                <a:tc>
                  <a:txBody>
                    <a:bodyPr wrap="square"/>
                    <a:lstStyle/>
                    <a:p>
                      <a:r>
                        <a:rPr sz="1200" b="1">
                          <a:solidFill>
                            <a:srgbClr val="1A1A1A"/>
                          </a:solidFill>
                          <a:latin typeface="Segoe UI"/>
                        </a:rPr>
                        <a:t>Opaque logic</a:t>
                      </a:r>
                    </a:p>
                  </a:txBody>
                  <a:tcPr anchor="ctr" marL="91440" marT="18288" marB="18288">
                    <a:solidFill>
                      <a:srgbClr val="FFFFFF"/>
                    </a:solidFill>
                  </a:tcPr>
                </a:tc>
                <a:tc>
                  <a:txBody>
                    <a:bodyPr wrap="square"/>
                    <a:lstStyle/>
                    <a:p>
                      <a:r>
                        <a:rPr sz="1200" b="0">
                          <a:solidFill>
                            <a:srgbClr val="3C3C3C"/>
                          </a:solidFill>
                          <a:latin typeface="Segoe UI"/>
                        </a:rPr>
                        <a:t>Business rules are locked inside a proprietary rule engine</a:t>
                      </a:r>
                    </a:p>
                  </a:txBody>
                  <a:tcPr anchor="ctr" marL="91440" marT="18288" marB="18288">
                    <a:solidFill>
                      <a:srgbClr val="FFFFFF"/>
                    </a:solidFill>
                  </a:tcPr>
                </a:tc>
                <a:tc>
                  <a:txBody>
                    <a:bodyPr wrap="square"/>
                    <a:lstStyle/>
                    <a:p>
                      <a:r>
                        <a:rPr sz="1200" b="0">
                          <a:solidFill>
                            <a:srgbClr val="3C3C3C"/>
                          </a:solidFill>
                          <a:latin typeface="Segoe UI"/>
                        </a:rPr>
                        <a:t>Decision tables become inspectable, queryable Dataverse rows</a:t>
                      </a:r>
                    </a:p>
                  </a:txBody>
                  <a:tcPr anchor="ctr" marL="91440" marT="18288" marB="18288">
                    <a:solidFill>
                      <a:srgbClr val="FFFFFF"/>
                    </a:solidFill>
                  </a:tcPr>
                </a:tc>
              </a:tr>
            </a:tbl>
          </a:graphicData>
        </a:graphic>
      </p:graphicFrame>
      <p:sp>
        <p:nvSpPr>
          <p:cNvPr id="6" name="Rectangle 5"/>
          <p:cNvSpPr/>
          <p:nvPr/>
        </p:nvSpPr>
        <p:spPr>
          <a:xfrm>
            <a:off x="566928" y="45720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7200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6344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Change latency is the one the PoC demonstrably solves: adding a stage or reordering steps is a data edit, with no redeploy.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6D77"/>
                    </a:solidFill>
                  </a:tcPr>
                </a:tc>
                <a:tc>
                  <a:txBody>
                    <a:bodyPr wrap="square"/>
                    <a:lstStyle/>
                    <a:p>
                      <a:r>
                        <a:rPr sz="1200" b="1">
                          <a:solidFill>
                            <a:srgbClr val="FFFFFF"/>
                          </a:solidFill>
                          <a:latin typeface="Segoe UI"/>
                        </a:rPr>
                        <a:t>Pega artefacts</a:t>
                      </a:r>
                    </a:p>
                  </a:txBody>
                  <a:tcPr anchor="ctr" marL="91440">
                    <a:solidFill>
                      <a:srgbClr val="006D77"/>
                    </a:solidFill>
                  </a:tcPr>
                </a:tc>
                <a:tc>
                  <a:txBody>
                    <a:bodyPr wrap="square"/>
                    <a:lstStyle/>
                    <a:p>
                      <a:r>
                        <a:rPr sz="1200" b="1">
                          <a:solidFill>
                            <a:srgbClr val="FFFFFF"/>
                          </a:solidFill>
                          <a:latin typeface="Segoe UI"/>
                        </a:rPr>
                        <a:t>Volume</a:t>
                      </a:r>
                    </a:p>
                  </a:txBody>
                  <a:tcPr anchor="ctr" marL="91440">
                    <a:solidFill>
                      <a:srgbClr val="006D77"/>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6D77"/>
                    </a:solidFill>
                  </a:tcPr>
                </a:tc>
                <a:tc>
                  <a:txBody>
                    <a:bodyPr wrap="square"/>
                    <a:lstStyle/>
                    <a:p>
                      <a:r>
                        <a:rPr sz="1250" b="1">
                          <a:solidFill>
                            <a:srgbClr val="FFFFFF"/>
                          </a:solidFill>
                          <a:latin typeface="Segoe UI"/>
                        </a:rPr>
                        <a:t>Stages</a:t>
                      </a:r>
                    </a:p>
                  </a:txBody>
                  <a:tcPr anchor="ctr" marL="91440">
                    <a:solidFill>
                      <a:srgbClr val="006D77"/>
                    </a:solidFill>
                  </a:tcPr>
                </a:tc>
                <a:tc>
                  <a:txBody>
                    <a:bodyPr wrap="square"/>
                    <a:lstStyle/>
                    <a:p>
                      <a:r>
                        <a:rPr sz="1250" b="1">
                          <a:solidFill>
                            <a:srgbClr val="FFFFFF"/>
                          </a:solidFill>
                          <a:latin typeface="Segoe UI"/>
                        </a:rPr>
                        <a:t>Steps</a:t>
                      </a:r>
                    </a:p>
                  </a:txBody>
                  <a:tcPr anchor="ctr" marL="91440">
                    <a:solidFill>
                      <a:srgbClr val="006D77"/>
                    </a:solidFill>
                  </a:tcPr>
                </a:tc>
                <a:tc>
                  <a:txBody>
                    <a:bodyPr wrap="square"/>
                    <a:lstStyle/>
                    <a:p>
                      <a:r>
                        <a:rPr sz="1250" b="1">
                          <a:solidFill>
                            <a:srgbClr val="FFFFFF"/>
                          </a:solidFill>
                          <a:latin typeface="Segoe UI"/>
                        </a:rPr>
                        <a:t>Purpose</a:t>
                      </a:r>
                    </a:p>
                  </a:txBody>
                  <a:tcPr anchor="ctr" marL="91440">
                    <a:solidFill>
                      <a:srgbClr val="006D77"/>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6D77"/>
                    </a:solidFill>
                  </a:tcPr>
                </a:tc>
                <a:tc>
                  <a:txBody>
                    <a:bodyPr wrap="square"/>
                    <a:lstStyle/>
                    <a:p>
                      <a:r>
                        <a:rPr sz="1150" b="1">
                          <a:solidFill>
                            <a:srgbClr val="FFFFFF"/>
                          </a:solidFill>
                          <a:latin typeface="Segoe UI"/>
                        </a:rPr>
                        <a:t>Implementation</a:t>
                      </a:r>
                    </a:p>
                  </a:txBody>
                  <a:tcPr anchor="ctr" marL="91440">
                    <a:solidFill>
                      <a:srgbClr val="006D77"/>
                    </a:solidFill>
                  </a:tcPr>
                </a:tc>
                <a:tc>
                  <a:txBody>
                    <a:bodyPr wrap="square"/>
                    <a:lstStyle/>
                    <a:p>
                      <a:r>
                        <a:rPr sz="1150" b="1">
                          <a:solidFill>
                            <a:srgbClr val="FFFFFF"/>
                          </a:solidFill>
                          <a:latin typeface="Segoe UI"/>
                        </a:rPr>
                        <a:t>Responsibility</a:t>
                      </a:r>
                    </a:p>
                  </a:txBody>
                  <a:tcPr anchor="ctr" marL="91440">
                    <a:solidFill>
                      <a:srgbClr val="006D77"/>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6D77"/>
                    </a:solidFill>
                  </a:tcPr>
                </a:tc>
                <a:tc>
                  <a:txBody>
                    <a:bodyPr wrap="square"/>
                    <a:lstStyle/>
                    <a:p>
                      <a:r>
                        <a:rPr sz="1250" b="1">
                          <a:solidFill>
                            <a:srgbClr val="FFFFFF"/>
                          </a:solidFill>
                          <a:latin typeface="Segoe UI"/>
                        </a:rPr>
                        <a:t>Tables</a:t>
                      </a:r>
                    </a:p>
                  </a:txBody>
                  <a:tcPr anchor="ctr" marL="91440">
                    <a:solidFill>
                      <a:srgbClr val="006D77"/>
                    </a:solidFill>
                  </a:tcPr>
                </a:tc>
                <a:tc>
                  <a:txBody>
                    <a:bodyPr wrap="square"/>
                    <a:lstStyle/>
                    <a:p>
                      <a:r>
                        <a:rPr sz="1250" b="1">
                          <a:solidFill>
                            <a:srgbClr val="FFFFFF"/>
                          </a:solidFill>
                          <a:latin typeface="Segoe UI"/>
                        </a:rPr>
                        <a:t>Contents</a:t>
                      </a:r>
                    </a:p>
                  </a:txBody>
                  <a:tcPr anchor="ctr" marL="91440">
                    <a:solidFill>
                      <a:srgbClr val="006D77"/>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6D77"/>
                    </a:solidFill>
                  </a:tcPr>
                </a:tc>
                <a:tc>
                  <a:txBody>
                    <a:bodyPr wrap="square"/>
                    <a:lstStyle/>
                    <a:p>
                      <a:r>
                        <a:rPr sz="1150" b="1">
                          <a:solidFill>
                            <a:srgbClr val="FFFFFF"/>
                          </a:solidFill>
                          <a:latin typeface="Segoe UI"/>
                        </a:rPr>
                        <a:t>Power Platform target</a:t>
                      </a:r>
                    </a:p>
                  </a:txBody>
                  <a:tcPr anchor="ctr" marL="91440">
                    <a:solidFill>
                      <a:srgbClr val="006D77"/>
                    </a:solidFill>
                  </a:tcPr>
                </a:tc>
                <a:tc>
                  <a:txBody>
                    <a:bodyPr wrap="square"/>
                    <a:lstStyle/>
                    <a:p>
                      <a:r>
                        <a:rPr sz="1150" b="1">
                          <a:solidFill>
                            <a:srgbClr val="FFFFFF"/>
                          </a:solidFill>
                          <a:latin typeface="Segoe UI"/>
                        </a:rPr>
                        <a:t>Status in PoC</a:t>
                      </a:r>
                    </a:p>
                  </a:txBody>
                  <a:tcPr anchor="ctr" marL="91440">
                    <a:solidFill>
                      <a:srgbClr val="006D77"/>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Power Automate / Office 365 Outlook connector</a:t>
                      </a:r>
                    </a:p>
                  </a:txBody>
                  <a:tcPr anchor="ctr" marL="91440" marT="18288" marB="18288">
                    <a:solidFill>
                      <a:srgbClr val="F4F5F7"/>
                    </a:solidFill>
                  </a:tcPr>
                </a:tc>
                <a:tc>
                  <a:txBody>
                    <a:bodyPr wrap="square"/>
                    <a:lstStyle/>
                    <a:p>
                      <a:r>
                        <a:rPr sz="1150" b="0">
                          <a:solidFill>
                            <a:srgbClr val="3C3C3C"/>
                          </a:solidFill>
                          <a:latin typeface="Segoe UI"/>
                        </a:rPr>
                        <a:t>Audited, not sent</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Power BI over Dataverse</a:t>
                      </a:r>
                    </a:p>
                  </a:txBody>
                  <a:tcPr anchor="ctr" marL="91440" marT="18288" marB="18288">
                    <a:solidFill>
                      <a:srgbClr val="FFFFFF"/>
                    </a:solidFill>
                  </a:tcPr>
                </a:tc>
                <a:tc>
                  <a:txBody>
                    <a:bodyPr wrap="square"/>
                    <a:lstStyle/>
                    <a:p>
                      <a:r>
                        <a:rPr sz="1150" b="0">
                          <a:solidFill>
                            <a:srgbClr val="3C3C3C"/>
                          </a:solidFill>
                          <a:latin typeface="Segoe UI"/>
                        </a:rPr>
                        <a:t>Out of scope</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6D77"/>
                    </a:solidFill>
                  </a:tcPr>
                </a:tc>
                <a:tc>
                  <a:txBody>
                    <a:bodyPr wrap="square"/>
                    <a:lstStyle/>
                    <a:p>
                      <a:r>
                        <a:rPr sz="1200" b="1">
                          <a:solidFill>
                            <a:srgbClr val="FFFFFF"/>
                          </a:solidFill>
                          <a:latin typeface="Segoe UI"/>
                        </a:rPr>
                        <a:t>Yields</a:t>
                      </a:r>
                    </a:p>
                  </a:txBody>
                  <a:tcPr anchor="ctr" marL="91440">
                    <a:solidFill>
                      <a:srgbClr val="006D77"/>
                    </a:solidFill>
                  </a:tcPr>
                </a:tc>
                <a:tc>
                  <a:txBody>
                    <a:bodyPr wrap="square"/>
                    <a:lstStyle/>
                    <a:p>
                      <a:r>
                        <a:rPr sz="1200" b="1">
                          <a:solidFill>
                            <a:srgbClr val="FFFFFF"/>
                          </a:solidFill>
                          <a:latin typeface="Segoe UI"/>
                        </a:rPr>
                        <a:t>Necessity</a:t>
                      </a:r>
                    </a:p>
                  </a:txBody>
                  <a:tcPr anchor="ctr" marL="91440">
                    <a:solidFill>
                      <a:srgbClr val="006D77"/>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Analysed</a:t>
                      </a:r>
                    </a:p>
                  </a:txBody>
                  <a:tcPr anchor="ctr" marL="91440">
                    <a:solidFill>
                      <a:srgbClr val="006D77"/>
                    </a:solidFill>
                  </a:tcPr>
                </a:tc>
                <a:tc>
                  <a:txBody>
                    <a:bodyPr wrap="square"/>
                    <a:lstStyle/>
                    <a:p>
                      <a:r>
                        <a:rPr sz="1150" b="1">
                          <a:solidFill>
                            <a:srgbClr val="FFFFFF"/>
                          </a:solidFill>
                          <a:latin typeface="Segoe UI"/>
                        </a:rPr>
                        <a:t>Outcome</a:t>
                      </a:r>
                    </a:p>
                  </a:txBody>
                  <a:tcPr anchor="ctr" marL="91440">
                    <a:solidFill>
                      <a:srgbClr val="006D77"/>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6D77"/>
                    </a:solidFill>
                  </a:tcPr>
                </a:tc>
                <a:tc>
                  <a:txBody>
                    <a:bodyPr wrap="square"/>
                    <a:lstStyle/>
                    <a:p>
                      <a:r>
                        <a:rPr sz="1100" b="1">
                          <a:solidFill>
                            <a:srgbClr val="FFFFFF"/>
                          </a:solidFill>
                          <a:latin typeface="Segoe UI"/>
                        </a:rPr>
                        <a:t>Power Platform component</a:t>
                      </a:r>
                    </a:p>
                  </a:txBody>
                  <a:tcPr anchor="ctr" marL="91440">
                    <a:solidFill>
                      <a:srgbClr val="006D77"/>
                    </a:solidFill>
                  </a:tcPr>
                </a:tc>
                <a:tc>
                  <a:txBody>
                    <a:bodyPr wrap="square"/>
                    <a:lstStyle/>
                    <a:p>
                      <a:r>
                        <a:rPr sz="1100" b="1">
                          <a:solidFill>
                            <a:srgbClr val="FFFFFF"/>
                          </a:solidFill>
                          <a:latin typeface="Segoe UI"/>
                        </a:rPr>
                        <a:t>Method</a:t>
                      </a:r>
                    </a:p>
                  </a:txBody>
                  <a:tcPr anchor="ctr" marL="91440">
                    <a:solidFill>
                      <a:srgbClr val="006D77"/>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(49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 or constraint</a:t>
                      </a:r>
                    </a:p>
                  </a:txBody>
                  <a:tcPr anchor="ctr" marL="91440">
                    <a:solidFill>
                      <a:srgbClr val="006D77"/>
                    </a:solidFill>
                  </a:tcPr>
                </a:tc>
                <a:tc>
                  <a:txBody>
                    <a:bodyPr wrap="square"/>
                    <a:lstStyle/>
                    <a:p>
                      <a:r>
                        <a:rPr sz="1150" b="1">
                          <a:solidFill>
                            <a:srgbClr val="FFFFFF"/>
                          </a:solidFill>
                          <a:latin typeface="Segoe UI"/>
                        </a:rPr>
                        <a:t>Consequence if it changes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Journey</a:t>
                      </a:r>
                    </a:p>
                  </a:txBody>
                  <a:tcPr anchor="ctr" marL="91440">
                    <a:solidFill>
                      <a:srgbClr val="006D77"/>
                    </a:solidFill>
                  </a:tcPr>
                </a:tc>
                <a:tc>
                  <a:txBody>
                    <a:bodyPr wrap="square"/>
                    <a:lstStyle/>
                    <a:p>
                      <a:r>
                        <a:rPr sz="1150" b="1">
                          <a:solidFill>
                            <a:srgbClr val="FFFFFF"/>
                          </a:solidFill>
                          <a:latin typeface="Segoe UI"/>
                        </a:rPr>
                        <a:t>What to observe</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6D77"/>
                    </a:solidFill>
                  </a:tcPr>
                </a:tc>
                <a:tc>
                  <a:txBody>
                    <a:bodyPr wrap="square"/>
                    <a:lstStyle/>
                    <a:p>
                      <a:r>
                        <a:rPr sz="1200" b="1">
                          <a:solidFill>
                            <a:srgbClr val="FFFFFF"/>
                          </a:solidFill>
                          <a:latin typeface="Segoe UI"/>
                        </a:rPr>
                        <a:t>Pega</a:t>
                      </a:r>
                    </a:p>
                  </a:txBody>
                  <a:tcPr anchor="ctr" marL="91440">
                    <a:solidFill>
                      <a:srgbClr val="006D77"/>
                    </a:solidFill>
                  </a:tcPr>
                </a:tc>
                <a:tc>
                  <a:txBody>
                    <a:bodyPr wrap="square"/>
                    <a:lstStyle/>
                    <a:p>
                      <a:r>
                        <a:rPr sz="1200" b="1">
                          <a:solidFill>
                            <a:srgbClr val="FFFFFF"/>
                          </a:solidFill>
                          <a:latin typeface="Segoe UI"/>
                        </a:rPr>
                        <a:t>Power Platform implementation</a:t>
                      </a:r>
                    </a:p>
                  </a:txBody>
                  <a:tcPr anchor="ctr" marL="91440">
                    <a:solidFill>
                      <a:srgbClr val="006D77"/>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6D77"/>
                    </a:solidFill>
                  </a:tcPr>
                </a:tc>
                <a:tc>
                  <a:txBody>
                    <a:bodyPr wrap="square"/>
                    <a:lstStyle/>
                    <a:p>
                      <a:r>
                        <a:rPr sz="1200" b="1">
                          <a:solidFill>
                            <a:srgbClr val="FFFFFF"/>
                          </a:solidFill>
                          <a:latin typeface="Segoe UI"/>
                        </a:rPr>
                        <a:t>Migrated</a:t>
                      </a:r>
                    </a:p>
                  </a:txBody>
                  <a:tcPr anchor="ctr" marL="91440">
                    <a:solidFill>
                      <a:srgbClr val="006D77"/>
                    </a:solidFill>
                  </a:tcPr>
                </a:tc>
                <a:tc>
                  <a:txBody>
                    <a:bodyPr wrap="square"/>
                    <a:lstStyle/>
                    <a:p>
                      <a:r>
                        <a:rPr sz="1200" b="1">
                          <a:solidFill>
                            <a:srgbClr val="FFFFFF"/>
                          </a:solidFill>
                          <a:latin typeface="Segoe UI"/>
                        </a:rPr>
                        <a:t>Coverage</a:t>
                      </a:r>
                    </a:p>
                  </a:txBody>
                  <a:tcPr anchor="ctr" marL="91440">
                    <a:solidFill>
                      <a:srgbClr val="006D77"/>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need
manual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steps</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 transform
steps</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generation
steps</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6D77"/>
                    </a:solidFill>
                  </a:tcPr>
                </a:tc>
                <a:tc>
                  <a:txBody>
                    <a:bodyPr wrap="square"/>
                    <a:lstStyle/>
                    <a:p>
                      <a:r>
                        <a:rPr sz="1150" b="1">
                          <a:solidFill>
                            <a:srgbClr val="FFFFFF"/>
                          </a:solidFill>
                          <a:latin typeface="Segoe UI"/>
                        </a:rPr>
                        <a:t>Volume</a:t>
                      </a:r>
                    </a:p>
                  </a:txBody>
                  <a:tcPr anchor="ctr" marL="91440">
                    <a:solidFill>
                      <a:srgbClr val="006D77"/>
                    </a:solidFill>
                  </a:tcPr>
                </a:tc>
                <a:tc>
                  <a:txBody>
                    <a:bodyPr wrap="square"/>
                    <a:lstStyle/>
                    <a:p>
                      <a:r>
                        <a:rPr sz="1150" b="1">
                          <a:solidFill>
                            <a:srgbClr val="FFFFFF"/>
                          </a:solidFill>
                          <a:latin typeface="Segoe UI"/>
                        </a:rPr>
                        <a:t>Why it cannot be automated</a:t>
                      </a:r>
                    </a:p>
                  </a:txBody>
                  <a:tcPr anchor="ctr" marL="91440">
                    <a:solidFill>
                      <a:srgbClr val="006D77"/>
                    </a:solidFill>
                  </a:tcPr>
                </a:tc>
              </a:tr>
              <a:tr h="274320">
                <a:tc>
                  <a:txBody>
                    <a:bodyPr wrap="square"/>
                    <a:lstStyle/>
                    <a:p>
                      <a:r>
                        <a:rPr sz="1150" b="1">
                          <a:solidFill>
                            <a:srgbClr val="1A1A1A"/>
                          </a:solidFill>
                          <a:latin typeface="Segoe UI"/>
                        </a:rPr>
                        <a:t>Notification content</a:t>
                      </a:r>
                    </a:p>
                  </a:txBody>
                  <a:tcPr anchor="ctr" marL="91440" marT="18288" marB="18288">
                    <a:solidFill>
                      <a:srgbClr val="FFFFFF"/>
                    </a:solidFill>
                  </a:tcPr>
                </a:tc>
                <a:tc>
                  <a:txBody>
                    <a:bodyPr wrap="square"/>
                    <a:lstStyle/>
                    <a:p>
                      <a:r>
                        <a:rPr sz="1150" b="0">
                          <a:solidFill>
                            <a:srgbClr val="3C3C3C"/>
                          </a:solidFill>
                          <a:latin typeface="Segoe UI"/>
                        </a:rPr>
                        <a:t>17 steps / 27 rules</a:t>
                      </a:r>
                    </a:p>
                  </a:txBody>
                  <a:tcPr anchor="ctr" marL="91440" marT="18288" marB="18288">
                    <a:solidFill>
                      <a:srgbClr val="FFFFFF"/>
                    </a:solidFill>
                  </a:tcPr>
                </a:tc>
                <a:tc>
                  <a:txBody>
                    <a:bodyPr wrap="square"/>
                    <a:lstStyle/>
                    <a:p>
                      <a:r>
                        <a:rPr sz="1150" b="0">
                          <a:solidFill>
                            <a:srgbClr val="3C3C3C"/>
                          </a:solidFill>
                          <a:latin typeface="Segoe UI"/>
                        </a:rPr>
                        <a:t>Correspondence bodies are engine-held with no export representation</a:t>
                      </a:r>
                    </a:p>
                  </a:txBody>
                  <a:tcPr anchor="ctr" marL="91440" marT="18288" marB="18288">
                    <a:solidFill>
                      <a:srgbClr val="FFFFFF"/>
                    </a:solidFill>
                  </a:tcPr>
                </a:tc>
              </a:tr>
              <a:tr h="274320">
                <a:tc>
                  <a:txBody>
                    <a:bodyPr wrap="square"/>
                    <a:lstStyle/>
                    <a:p>
                      <a:r>
                        <a:rPr sz="1150" b="1">
                          <a:solidFill>
                            <a:srgbClr val="1A1A1A"/>
                          </a:solidFill>
                          <a:latin typeface="Segoe UI"/>
                        </a:rPr>
                        <a:t>Data transform logic</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0">
                          <a:solidFill>
                            <a:srgbClr val="3C3C3C"/>
                          </a:solidFill>
                          <a:latin typeface="Segoe UI"/>
                        </a:rPr>
                        <a:t>Transform bodies are engine-executed with no exported representation</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Templates and merge logic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Extraction shows Pega has no conditional transitions at 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Pega and Dataverse security models differ structurally</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This 51% is the number to plan against. It is not a tooling shortfall - no migration approach can extract what the platform does not expose.</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6D77"/>
                    </a:solidFill>
                  </a:tcPr>
                </a:tc>
                <a:tc>
                  <a:txBody>
                    <a:bodyPr wrap="square"/>
                    <a:lstStyle/>
                    <a:p>
                      <a:r>
                        <a:rPr sz="1150" b="1">
                          <a:solidFill>
                            <a:srgbClr val="FFFFFF"/>
                          </a:solidFill>
                          <a:latin typeface="Segoe UI"/>
                        </a:rPr>
                        <a:t>Current state</a:t>
                      </a:r>
                    </a:p>
                  </a:txBody>
                  <a:tcPr anchor="ctr" marL="91440">
                    <a:solidFill>
                      <a:srgbClr val="006D77"/>
                    </a:solidFill>
                  </a:tcPr>
                </a:tc>
                <a:tc>
                  <a:txBody>
                    <a:bodyPr wrap="square"/>
                    <a:lstStyle/>
                    <a:p>
                      <a:r>
                        <a:rPr sz="1150" b="1">
                          <a:solidFill>
                            <a:srgbClr val="FFFFFF"/>
                          </a:solidFill>
                          <a:latin typeface="Segoe UI"/>
                        </a:rPr>
                        <a:t>Potential</a:t>
                      </a:r>
                    </a:p>
                  </a:txBody>
                  <a:tcPr anchor="ctr" marL="91440">
                    <a:solidFill>
                      <a:srgbClr val="006D77"/>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- 49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Iterations</a:t>
                      </a:r>
                    </a:p>
                  </a:txBody>
                  <a:tcPr anchor="ctr" marL="91440">
                    <a:solidFill>
                      <a:srgbClr val="006D77"/>
                    </a:solidFill>
                  </a:tcPr>
                </a:tc>
                <a:tc>
                  <a:txBody>
                    <a:bodyPr wrap="square"/>
                    <a:lstStyle/>
                    <a:p>
                      <a:r>
                        <a:rPr sz="1100" b="1">
                          <a:solidFill>
                            <a:srgbClr val="FFFFFF"/>
                          </a:solidFill>
                          <a:latin typeface="Segoe UI"/>
                        </a:rPr>
                        <a:t>Assignments</a:t>
                      </a:r>
                    </a:p>
                  </a:txBody>
                  <a:tcPr anchor="ctr" marL="91440">
                    <a:solidFill>
                      <a:srgbClr val="006D77"/>
                    </a:solidFill>
                  </a:tcPr>
                </a:tc>
                <a:tc>
                  <a:txBody>
                    <a:bodyPr wrap="square"/>
                    <a:lstStyle/>
                    <a:p>
                      <a:r>
                        <a:rPr sz="1100" b="1">
                          <a:solidFill>
                            <a:srgbClr val="FFFFFF"/>
                          </a:solidFill>
                          <a:latin typeface="Segoe UI"/>
                        </a:rPr>
                        <a:t>Approvals</a:t>
                      </a:r>
                    </a:p>
                  </a:txBody>
                  <a:tcPr anchor="ctr" marL="91440">
                    <a:solidFill>
                      <a:srgbClr val="006D77"/>
                    </a:solidFill>
                  </a:tcPr>
                </a:tc>
                <a:tc>
                  <a:txBody>
                    <a:bodyPr wrap="square"/>
                    <a:lstStyle/>
                    <a:p>
                      <a:r>
                        <a:rPr sz="1100" b="1">
                          <a:solidFill>
                            <a:srgbClr val="FFFFFF"/>
                          </a:solidFill>
                          <a:latin typeface="Segoe UI"/>
                        </a:rPr>
                        <a:t>Decisions</a:t>
                      </a:r>
                    </a:p>
                  </a:txBody>
                  <a:tcPr anchor="ctr" marL="91440">
                    <a:solidFill>
                      <a:srgbClr val="006D77"/>
                    </a:solidFill>
                  </a:tcPr>
                </a:tc>
                <a:tc>
                  <a:txBody>
                    <a:bodyPr wrap="square"/>
                    <a:lstStyle/>
                    <a:p>
                      <a:r>
                        <a:rPr sz="1100" b="1">
                          <a:solidFill>
                            <a:srgbClr val="FFFFFF"/>
                          </a:solidFill>
                          <a:latin typeface="Segoe UI"/>
                        </a:rPr>
                        <a:t>Skipped</a:t>
                      </a:r>
                    </a:p>
                  </a:txBody>
                  <a:tcPr anchor="ctr" marL="91440">
                    <a:solidFill>
                      <a:srgbClr val="006D77"/>
                    </a:solidFill>
                  </a:tcPr>
                </a:tc>
                <a:tc>
                  <a:txBody>
                    <a:bodyPr wrap="square"/>
                    <a:lstStyle/>
                    <a:p>
                      <a:r>
                        <a:rPr sz="1100" b="1">
                          <a:solidFill>
                            <a:srgbClr val="FFFFFF"/>
                          </a:solidFill>
                          <a:latin typeface="Segoe UI"/>
                        </a:rPr>
                        <a:t>Final status</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6D77"/>
                    </a:solidFill>
                  </a:tcPr>
                </a:tc>
                <a:tc>
                  <a:txBody>
                    <a:bodyPr wrap="square"/>
                    <a:lstStyle/>
                    <a:p>
                      <a:r>
                        <a:rPr sz="1200" b="1">
                          <a:solidFill>
                            <a:srgbClr val="FFFFFF"/>
                          </a:solidFill>
                          <a:latin typeface="Segoe UI"/>
                        </a:rPr>
                        <a:t>Observation</a:t>
                      </a:r>
                    </a:p>
                  </a:txBody>
                  <a:tcPr anchor="ctr" marL="91440">
                    <a:solidFill>
                      <a:srgbClr val="006D77"/>
                    </a:solidFill>
                  </a:tcPr>
                </a:tc>
                <a:tc>
                  <a:txBody>
                    <a:bodyPr wrap="square"/>
                    <a:lstStyle/>
                    <a:p>
                      <a:r>
                        <a:rPr sz="1200" b="1">
                          <a:solidFill>
                            <a:srgbClr val="FFFFFF"/>
                          </a:solidFill>
                          <a:latin typeface="Segoe UI"/>
                        </a:rPr>
                        <a:t>Confidence</a:t>
                      </a:r>
                    </a:p>
                  </a:txBody>
                  <a:tcPr anchor="ctr" marL="91440">
                    <a:solidFill>
                      <a:srgbClr val="006D77"/>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6D77"/>
                    </a:solidFill>
                  </a:tcPr>
                </a:tc>
                <a:tc>
                  <a:txBody>
                    <a:bodyPr wrap="square"/>
                    <a:lstStyle/>
                    <a:p>
                      <a:r>
                        <a:rPr sz="1150" b="1">
                          <a:solidFill>
                            <a:srgbClr val="FFFFFF"/>
                          </a:solidFill>
                          <a:latin typeface="Segoe UI"/>
                        </a:rPr>
                        <a:t>Severity</a:t>
                      </a:r>
                    </a:p>
                  </a:txBody>
                  <a:tcPr anchor="ctr" marL="91440">
                    <a:solidFill>
                      <a:srgbClr val="006D77"/>
                    </a:solidFill>
                  </a:tcPr>
                </a:tc>
                <a:tc>
                  <a:txBody>
                    <a:bodyPr wrap="square"/>
                    <a:lstStyle/>
                    <a:p>
                      <a:r>
                        <a:rPr sz="1150" b="1">
                          <a:solidFill>
                            <a:srgbClr val="FFFFFF"/>
                          </a:solidFill>
                          <a:latin typeface="Segoe UI"/>
                        </a:rPr>
                        <a:t>Required analysis</a:t>
                      </a:r>
                    </a:p>
                  </a:txBody>
                  <a:tcPr anchor="ctr" marL="91440">
                    <a:solidFill>
                      <a:srgbClr val="006D77"/>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content unavailable</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Business review of 27 correspondence rules; re-author as templates</a:t>
                      </a:r>
                    </a:p>
                  </a:txBody>
                  <a:tcPr anchor="ctr" marL="91440" marT="18288" marB="18288">
                    <a:solidFill>
                      <a:srgbClr val="F4F5F7"/>
                    </a:solidFill>
                  </a:tcPr>
                </a:tc>
              </a:tr>
              <a:tr h="274320">
                <a:tc>
                  <a:txBody>
                    <a:bodyPr wrap="square"/>
                    <a:lstStyle/>
                    <a:p>
                      <a:r>
                        <a:rPr sz="1150" b="1">
                          <a:solidFill>
                            <a:srgbClr val="1A1A1A"/>
                          </a:solidFill>
                          <a:latin typeface="Segoe UI"/>
                        </a:rPr>
                        <a:t>Data transform logic unavailable</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Business analysis of 20 transform steps to restate the rules</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 not addressed</a:t>
                      </a:r>
                    </a:p>
                  </a:txBody>
                  <a:tcPr anchor="ctr" marL="91440" marT="18288" marB="18288">
                    <a:solidFill>
                      <a:srgbClr val="F4F5F7"/>
                    </a:solidFill>
                  </a:tcPr>
                </a:tc>
                <a:tc>
                  <a:txBody>
                    <a:bodyPr wrap="square"/>
                    <a:lstStyle/>
                    <a:p>
                      <a:r>
                        <a:rPr sz="1150" b="0">
                          <a:solidFill>
                            <a:srgbClr val="3C3C3C"/>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Assess 30 report definitions for Power BI equivalents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c>
                  <a:txBody>
                    <a:bodyPr wrap="square"/>
                    <a:lstStyle/>
                    <a:p>
                      <a:r>
                        <a:rPr sz="1150" b="1">
                          <a:solidFill>
                            <a:srgbClr val="FFFFFF"/>
                          </a:solidFill>
                          <a:latin typeface="Segoe UI"/>
                        </a:rPr>
                        <a:t>Days</a:t>
                      </a:r>
                    </a:p>
                  </a:txBody>
                  <a:tcPr anchor="ctr" marL="91440">
                    <a:solidFill>
                      <a:srgbClr val="006D77"/>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transform steps</a:t>
                      </a:r>
                    </a:p>
                  </a:txBody>
                  <a:tcPr anchor="ctr" marL="91440" marT="18288" marB="18288">
                    <a:solidFill>
                      <a:srgbClr val="F4F5F7"/>
                    </a:solidFill>
                  </a:tcPr>
                </a:tc>
                <a:tc>
                  <a:txBody>
                    <a:bodyPr wrap="square"/>
                    <a:lstStyle/>
                    <a:p>
                      <a:r>
                        <a:rPr sz="1150" b="0">
                          <a:solidFill>
                            <a:srgbClr val="3C3C3C"/>
                          </a:solidFill>
                          <a:latin typeface="Segoe UI"/>
                        </a:rPr>
                        <a:t>15 - 20</a:t>
                      </a:r>
                    </a:p>
                  </a:txBody>
                  <a:tcPr anchor="ctr" marL="91440" marT="18288" marB="18288">
                    <a:solidFill>
                      <a:srgbClr val="F4F5F7"/>
                    </a:solidFill>
                  </a:tcPr>
                </a:tc>
              </a:tr>
              <a:tr h="274320">
                <a:tc>
                  <a:txBody>
                    <a:bodyPr wrap="square"/>
                    <a:lstStyle/>
                    <a:p>
                      <a:r>
                        <a:rPr sz="1150" b="1">
                          <a:solidFill>
                            <a:srgbClr val="1A1A1A"/>
                          </a:solidFill>
                          <a:latin typeface="Segoe UI"/>
                        </a:rPr>
                        <a:t>Notification implementation</a:t>
                      </a:r>
                    </a:p>
                  </a:txBody>
                  <a:tcPr anchor="ctr" marL="91440" marT="18288" marB="18288">
                    <a:solidFill>
                      <a:srgbClr val="FFFFFF"/>
                    </a:solidFill>
                  </a:tcPr>
                </a:tc>
                <a:tc>
                  <a:txBody>
                    <a:bodyPr wrap="square"/>
                    <a:lstStyle/>
                    <a:p>
                      <a:r>
                        <a:rPr sz="1150" b="0">
                          <a:solidFill>
                            <a:srgbClr val="3C3C3C"/>
                          </a:solidFill>
                          <a:latin typeface="Segoe UI"/>
                        </a:rPr>
                        <a:t>17 steps / 27 rules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87 - 132</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6D77"/>
                    </a:solidFill>
                  </a:tcPr>
                </a:tc>
                <a:tc>
                  <a:txBody>
                    <a:bodyPr wrap="square"/>
                    <a:lstStyle/>
                    <a:p>
                      <a:r>
                        <a:rPr sz="1100" b="1">
                          <a:solidFill>
                            <a:srgbClr val="FFFFFF"/>
                          </a:solidFill>
                          <a:latin typeface="Segoe UI"/>
                        </a:rPr>
                        <a:t>L</a:t>
                      </a:r>
                    </a:p>
                  </a:txBody>
                  <a:tcPr anchor="ctr" marL="91440">
                    <a:solidFill>
                      <a:srgbClr val="006D77"/>
                    </a:solidFill>
                  </a:tcPr>
                </a:tc>
                <a:tc>
                  <a:txBody>
                    <a:bodyPr wrap="square"/>
                    <a:lstStyle/>
                    <a:p>
                      <a:r>
                        <a:rPr sz="1100" b="1">
                          <a:solidFill>
                            <a:srgbClr val="FFFFFF"/>
                          </a:solidFill>
                          <a:latin typeface="Segoe UI"/>
                        </a:rPr>
                        <a:t>I</a:t>
                      </a:r>
                    </a:p>
                  </a:txBody>
                  <a:tcPr anchor="ctr" marL="91440">
                    <a:solidFill>
                      <a:srgbClr val="006D77"/>
                    </a:solidFill>
                  </a:tcPr>
                </a:tc>
                <a:tc>
                  <a:txBody>
                    <a:bodyPr wrap="square"/>
                    <a:lstStyle/>
                    <a:p>
                      <a:r>
                        <a:rPr sz="1100" b="1">
                          <a:solidFill>
                            <a:srgbClr val="FFFFFF"/>
                          </a:solidFill>
                          <a:latin typeface="Segoe UI"/>
                        </a:rPr>
                        <a:t>Mitigation</a:t>
                      </a:r>
                    </a:p>
                  </a:txBody>
                  <a:tcPr anchor="ctr" marL="91440">
                    <a:solidFill>
                      <a:srgbClr val="006D77"/>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6D77"/>
                    </a:solidFill>
                  </a:tcPr>
                </a:tc>
                <a:tc>
                  <a:txBody>
                    <a:bodyPr wrap="square"/>
                    <a:lstStyle/>
                    <a:p>
                      <a:r>
                        <a:rPr sz="1150" b="1">
                          <a:solidFill>
                            <a:srgbClr val="FFFFFF"/>
                          </a:solidFill>
                          <a:latin typeface="Segoe UI"/>
                        </a:rPr>
                        <a:t>Needed for</a:t>
                      </a:r>
                    </a:p>
                  </a:txBody>
                  <a:tcPr anchor="ctr" marL="91440">
                    <a:solidFill>
                      <a:srgbClr val="006D77"/>
                    </a:solidFill>
                  </a:tcPr>
                </a:tc>
                <a:tc>
                  <a:txBody>
                    <a:bodyPr wrap="square"/>
                    <a:lstStyle/>
                    <a:p>
                      <a:r>
                        <a:rPr sz="1150" b="1">
                          <a:solidFill>
                            <a:srgbClr val="FFFFFF"/>
                          </a:solidFill>
                          <a:latin typeface="Segoe UI"/>
                        </a:rPr>
                        <a:t>Timing</a:t>
                      </a:r>
                    </a:p>
                  </a:txBody>
                  <a:tcPr anchor="ctr" marL="91440">
                    <a:solidFill>
                      <a:srgbClr val="006D77"/>
                    </a:solidFill>
                  </a:tcPr>
                </a:tc>
                <a:tc>
                  <a:txBody>
                    <a:bodyPr wrap="square"/>
                    <a:lstStyle/>
                    <a:p>
                      <a:r>
                        <a:rPr sz="1150" b="1">
                          <a:solidFill>
                            <a:srgbClr val="FFFFFF"/>
                          </a:solidFill>
                          <a:latin typeface="Segoe UI"/>
                        </a:rPr>
                        <a:t>Owner</a:t>
                      </a:r>
                    </a:p>
                  </a:txBody>
                  <a:tcPr anchor="ctr" marL="91440">
                    <a:solidFill>
                      <a:srgbClr val="006D77"/>
                    </a:solidFill>
                  </a:tcPr>
                </a:tc>
              </a:tr>
              <a:tr h="274320">
                <a:tc>
                  <a:txBody>
                    <a:bodyPr wrap="square"/>
                    <a:lstStyle/>
                    <a:p>
                      <a:r>
                        <a:rPr sz="1150" b="1">
                          <a:solidFill>
                            <a:srgbClr val="1A1A1A"/>
                          </a:solidFill>
                          <a:latin typeface="Segoe UI"/>
                        </a:rPr>
                        <a:t>Business SME workshops</a:t>
                      </a:r>
                    </a:p>
                  </a:txBody>
                  <a:tcPr anchor="ctr" marL="91440" marT="18288" marB="18288">
                    <a:solidFill>
                      <a:srgbClr val="FFFFFF"/>
                    </a:solidFill>
                  </a:tcPr>
                </a:tc>
                <a:tc>
                  <a:txBody>
                    <a:bodyPr wrap="square"/>
                    <a:lstStyle/>
                    <a:p>
                      <a:r>
                        <a:rPr sz="1150" b="0">
                          <a:solidFill>
                            <a:srgbClr val="3C3C3C"/>
                          </a:solidFill>
                          <a:latin typeface="Segoe UI"/>
                        </a:rPr>
                        <a:t>Agreeing the rework conditions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a:t>
                      </a:r>
                    </a:p>
                  </a:txBody>
                  <a:tcPr anchor="ctr" marL="91440" marT="18288" marB="18288">
                    <a:solidFill>
                      <a:srgbClr val="FFFFFF"/>
                    </a:solidFill>
                  </a:tcPr>
                </a:tc>
                <a:tc>
                  <a:txBody>
                    <a:bodyPr wrap="square"/>
                    <a:lstStyle/>
                    <a:p>
                      <a:r>
                        <a:rPr sz="1150" b="0">
                          <a:solidFill>
                            <a:srgbClr val="3C3C3C"/>
                          </a:solidFill>
                          <a:latin typeface="Segoe UI"/>
                        </a:rPr>
                        <a:t>Restating 20 transforms and 27 notifications</a:t>
                      </a:r>
                    </a:p>
                  </a:txBody>
                  <a:tcPr anchor="ctr" marL="91440" marT="18288" marB="18288">
                    <a:solidFill>
                      <a:srgbClr val="FFFFFF"/>
                    </a:solidFill>
                  </a:tcPr>
                </a:tc>
                <a:tc>
                  <a:txBody>
                    <a:bodyPr wrap="square"/>
                    <a:lstStyle/>
                    <a:p>
                      <a:r>
                        <a:rPr sz="1150" b="0">
                          <a:solidFill>
                            <a:srgbClr val="3C3C3C"/>
                          </a:solidFill>
                          <a:latin typeface="Segoe UI"/>
                        </a:rPr>
                        <a:t>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Secure business SME time before Phase 1 starts. Flow-rule extraction is solved; what remains needs business input, not platform access.</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two-week inception to recover the 35 flow rule bodies and confirm the security model. That retires the highest risk before committing to the full build.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Weeks</a:t>
                      </a:r>
                    </a:p>
                  </a:txBody>
                  <a:tcPr anchor="ctr" marL="91440">
                    <a:solidFill>
                      <a:srgbClr val="006D77"/>
                    </a:solidFill>
                  </a:tcPr>
                </a:tc>
                <a:tc>
                  <a:txBody>
                    <a:bodyPr wrap="square"/>
                    <a:lstStyle/>
                    <a:p>
                      <a:r>
                        <a:rPr sz="1100" b="1">
                          <a:solidFill>
                            <a:srgbClr val="FFFFFF"/>
                          </a:solidFill>
                          <a:latin typeface="Segoe UI"/>
                        </a:rPr>
                        <a:t>Activities</a:t>
                      </a:r>
                    </a:p>
                  </a:txBody>
                  <a:tcPr anchor="ctr" marL="91440">
                    <a:solidFill>
                      <a:srgbClr val="006D77"/>
                    </a:solidFill>
                  </a:tcPr>
                </a:tc>
                <a:tc>
                  <a:txBody>
                    <a:bodyPr wrap="square"/>
                    <a:lstStyle/>
                    <a:p>
                      <a:r>
                        <a:rPr sz="1100" b="1">
                          <a:solidFill>
                            <a:srgbClr val="FFFFFF"/>
                          </a:solidFill>
                          <a:latin typeface="Segoe UI"/>
                        </a:rPr>
                        <a:t>Exit criteria</a:t>
                      </a:r>
                    </a:p>
                  </a:txBody>
                  <a:tcPr anchor="ctr" marL="91440">
                    <a:solidFill>
                      <a:srgbClr val="006D77"/>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Recover flow rule bodies; confirm security model; provision environments</a:t>
                      </a:r>
                    </a:p>
                  </a:txBody>
                  <a:tcPr anchor="ctr" marL="91440" marT="18288" marB="18288">
                    <a:solidFill>
                      <a:srgbClr val="FFFFFF"/>
                    </a:solidFill>
                  </a:tcPr>
                </a:tc>
                <a:tc>
                  <a:txBody>
                    <a:bodyPr wrap="square"/>
                    <a:lstStyle/>
                    <a:p>
                      <a:r>
                        <a:rPr sz="1100" b="0">
                          <a:solidFill>
                            <a:srgbClr val="3C3C3C"/>
                          </a:solidFill>
                          <a:latin typeface="Segoe UI"/>
                        </a:rPr>
                        <a:t>Real guards documented;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6D77"/>
                    </a:solidFill>
                  </a:tcPr>
                </a:tc>
                <a:tc>
                  <a:txBody>
                    <a:bodyPr wrap="square"/>
                    <a:lstStyle/>
                    <a:p>
                      <a:r>
                        <a:rPr sz="1150" b="1">
                          <a:solidFill>
                            <a:srgbClr val="FFFFFF"/>
                          </a:solidFill>
                          <a:latin typeface="Segoe UI"/>
                        </a:rPr>
                        <a:t>Why it matters</a:t>
                      </a:r>
                    </a:p>
                  </a:txBody>
                  <a:tcPr anchor="ctr" marL="91440">
                    <a:solidFill>
                      <a:srgbClr val="006D77"/>
                    </a:solidFill>
                  </a:tcPr>
                </a:tc>
                <a:tc>
                  <a:txBody>
                    <a:bodyPr wrap="square"/>
                    <a:lstStyle/>
                    <a:p>
                      <a:r>
                        <a:rPr sz="1150" b="1">
                          <a:solidFill>
                            <a:srgbClr val="FFFFFF"/>
                          </a:solidFill>
                          <a:latin typeface="Segoe UI"/>
                        </a:rPr>
                        <a:t>Ideal profile</a:t>
                      </a:r>
                    </a:p>
                  </a:txBody>
                  <a:tcPr anchor="ctr" marL="91440">
                    <a:solidFill>
                      <a:srgbClr val="006D77"/>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Business criticality</a:t>
                      </a:r>
                    </a:p>
                  </a:txBody>
                  <a:tcPr anchor="ctr" marL="91440" marT="18288" marB="18288">
                    <a:solidFill>
                      <a:srgbClr val="FFFFFF"/>
                    </a:solidFill>
                  </a:tcPr>
                </a:tc>
                <a:tc>
                  <a:txBody>
                    <a:bodyPr wrap="square"/>
                    <a:lstStyle/>
                    <a:p>
                      <a:r>
                        <a:rPr sz="1150" b="0">
                          <a:solidFill>
                            <a:srgbClr val="3C3C3C"/>
                          </a:solidFill>
                          <a:latin typeface="Segoe UI"/>
                        </a:rPr>
                        <a:t>De-risk before touching tier 1</a:t>
                      </a:r>
                    </a:p>
                  </a:txBody>
                  <a:tcPr anchor="ctr" marL="91440" marT="18288" marB="18288">
                    <a:solidFill>
                      <a:srgbClr val="FFFFFF"/>
                    </a:solidFill>
                  </a:tcPr>
                </a:tc>
                <a:tc>
                  <a:txBody>
                    <a:bodyPr wrap="square"/>
                    <a:lstStyle/>
                    <a:p>
                      <a:r>
                        <a:rPr sz="1150" b="0">
                          <a:solidFill>
                            <a:srgbClr val="3C3C3C"/>
                          </a:solidFill>
                          <a:latin typeface="Segoe UI"/>
                        </a:rPr>
                        <a:t>Start with tier 2 or 3</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6D77"/>
                    </a:solidFill>
                  </a:tcPr>
                </a:tc>
                <a:tc>
                  <a:txBody>
                    <a:bodyPr wrap="square"/>
                    <a:lstStyle/>
                    <a:p>
                      <a:r>
                        <a:rPr sz="1150" b="1">
                          <a:solidFill>
                            <a:srgbClr val="FFFFFF"/>
                          </a:solidFill>
                          <a:latin typeface="Segoe UI"/>
                        </a:rPr>
                        <a:t>Recommendation</a:t>
                      </a:r>
                    </a:p>
                  </a:txBody>
                  <a:tcPr anchor="ctr" marL="91440">
                    <a:solidFill>
                      <a:srgbClr val="006D77"/>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6D77"/>
                    </a:solidFill>
                  </a:tcPr>
                </a:tc>
                <a:tc>
                  <a:txBody>
                    <a:bodyPr wrap="square"/>
                    <a:lstStyle/>
                    <a:p>
                      <a:r>
                        <a:rPr sz="1150" b="1">
                          <a:solidFill>
                            <a:srgbClr val="FFFFFF"/>
                          </a:solidFill>
                          <a:latin typeface="Segoe UI"/>
                        </a:rPr>
                        <a:t>impl</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Engine action</a:t>
                      </a:r>
                    </a:p>
                  </a:txBody>
                  <a:tcPr anchor="ctr" marL="91440">
                    <a:solidFill>
                      <a:srgbClr val="006D77"/>
                    </a:solidFill>
                  </a:tcPr>
                </a:tc>
                <a:tc>
                  <a:txBody>
                    <a:bodyPr wrap="square"/>
                    <a:lstStyle/>
                    <a:p>
                      <a:r>
                        <a:rPr sz="1150" b="1">
                          <a:solidFill>
                            <a:srgbClr val="FFFFFF"/>
                          </a:solidFill>
                          <a:latin typeface="Segoe UI"/>
                        </a:rPr>
                        <a:t>Status</a:t>
                      </a:r>
                    </a:p>
                  </a:txBody>
                  <a:tcPr anchor="ctr" marL="91440">
                    <a:solidFill>
                      <a:srgbClr val="006D77"/>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Step</a:t>
                      </a:r>
                    </a:p>
                  </a:txBody>
                  <a:tcPr anchor="ctr" marL="91440">
                    <a:solidFill>
                      <a:srgbClr val="006D77"/>
                    </a:solidFill>
                  </a:tcPr>
                </a:tc>
                <a:tc>
                  <a:txBody>
                    <a:bodyPr wrap="square"/>
                    <a:lstStyle/>
                    <a:p>
                      <a:r>
                        <a:rPr sz="1100" b="1">
                          <a:solidFill>
                            <a:srgbClr val="FFFFFF"/>
                          </a:solidFill>
                          <a:latin typeface="Segoe UI"/>
                        </a:rPr>
                        <a:t>Guarding decision</a:t>
                      </a:r>
                    </a:p>
                  </a:txBody>
                  <a:tcPr anchor="ctr" marL="91440">
                    <a:solidFill>
                      <a:srgbClr val="006D77"/>
                    </a:solidFill>
                  </a:tcPr>
                </a:tc>
                <a:tc>
                  <a:txBody>
                    <a:bodyPr wrap="square"/>
                    <a:lstStyle/>
                    <a:p>
                      <a:r>
                        <a:rPr sz="1100" b="1">
                          <a:solidFill>
                            <a:srgbClr val="FFFFFF"/>
                          </a:solidFill>
                          <a:latin typeface="Segoe UI"/>
                        </a:rPr>
                        <a:t>Fires on</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6D77"/>
                    </a:solidFill>
                  </a:tcPr>
                </a:tc>
                <a:tc>
                  <a:txBody>
                    <a:bodyPr wrap="square"/>
                    <a:lstStyle/>
                    <a:p>
                      <a:r>
                        <a:rPr sz="1150" b="1">
                          <a:solidFill>
                            <a:srgbClr val="FFFFFF"/>
                          </a:solidFill>
                          <a:latin typeface="Segoe UI"/>
                        </a:rPr>
                        <a:t>Purpose</a:t>
                      </a:r>
                    </a:p>
                  </a:txBody>
                  <a:tcPr anchor="ctr" marL="91440">
                    <a:solidFill>
                      <a:srgbClr val="006D77"/>
                    </a:solidFill>
                  </a:tcPr>
                </a:tc>
                <a:tc>
                  <a:txBody>
                    <a:bodyPr wrap="square"/>
                    <a:lstStyle/>
                    <a:p>
                      <a:r>
                        <a:rPr sz="1150" b="1">
                          <a:solidFill>
                            <a:srgbClr val="FFFFFF"/>
                          </a:solidFill>
                          <a:latin typeface="Segoe UI"/>
                        </a:rPr>
                        <a:t>Reusable</a:t>
                      </a:r>
                    </a:p>
                  </a:txBody>
                  <a:tcPr anchor="ctr" marL="91440">
                    <a:solidFill>
                      <a:srgbClr val="006D77"/>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49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6ECEE"/>
                </a:solidFill>
                <a:latin typeface="Segoe UI"/>
              </a:rPr>
              <a:t>Pega to Power Platform  ·  Lending Due Diligence PoC</a:t>
            </a:r>
          </a:p>
          <a:p>
            <a:pPr algn="l">
              <a:spcBef>
                <a:spcPts val="0"/>
              </a:spcBef>
              <a:spcAft>
                <a:spcPts val="0"/>
              </a:spcAft>
            </a:pPr>
            <a:r>
              <a:rPr sz="1300" b="0" i="0">
                <a:solidFill>
                  <a:srgbClr val="BFDFE3"/>
                </a:solidFill>
                <a:latin typeface="Segoe UI"/>
              </a:rPr>
              <a:t>5 case types  ·  39 stages  ·  80 steps  ·  27 Dataverse tables  ·  49/49 verification checks passing</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