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Be precise about the two different numbers: 41 of 80 step bodies (51%) still need building, which is the effort story; but only 24 of 80 (30%) need business input, because the 17 notification steps had their wording recovered in full from the export.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Two of the five rows have collapsed to nothing since the artefacts were mined properly, and the rest are specific questions against named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58/58</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24 of 80</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needing
business input</a:t>
            </a:r>
          </a:p>
        </p:txBody>
      </p:sp>
      <p:sp>
        <p:nvSpPr>
          <p:cNvPr id="25" name="TextBox 24"/>
          <p:cNvSpPr txBox="1"/>
          <p:nvPr/>
        </p:nvSpPr>
        <p:spPr>
          <a:xfrm>
            <a:off x="566928" y="2926080"/>
            <a:ext cx="11064240" cy="2999740"/>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But 41 steps still needing implementation is not the same as 41 unknowns: notification wording is fully recovered, so only 24 steps require any business input at all.</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6D77"/>
                    </a:solidFill>
                  </a:tcPr>
                </a:tc>
                <a:tc>
                  <a:txBody>
                    <a:bodyPr wrap="square"/>
                    <a:lstStyle/>
                    <a:p>
                      <a:r>
                        <a:rPr sz="1200" b="1">
                          <a:solidFill>
                            <a:srgbClr val="FFFFFF"/>
                          </a:solidFill>
                          <a:latin typeface="Segoe UI"/>
                        </a:rPr>
                        <a:t>This methodology</a:t>
                      </a:r>
                    </a:p>
                  </a:txBody>
                  <a:tcPr anchor="ctr" marL="91440">
                    <a:solidFill>
                      <a:srgbClr val="006D77"/>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6D77"/>
                    </a:solidFill>
                  </a:tcPr>
                </a:tc>
                <a:tc>
                  <a:txBody>
                    <a:bodyPr wrap="square"/>
                    <a:lstStyle/>
                    <a:p>
                      <a:r>
                        <a:rPr sz="1150" b="1">
                          <a:solidFill>
                            <a:srgbClr val="FFFFFF"/>
                          </a:solidFill>
                          <a:latin typeface="Segoe UI"/>
                        </a:rPr>
                        <a:t>Impact today</a:t>
                      </a:r>
                    </a:p>
                  </a:txBody>
                  <a:tcPr anchor="ctr" marL="91440">
                    <a:solidFill>
                      <a:srgbClr val="006D77"/>
                    </a:solidFill>
                  </a:tcPr>
                </a:tc>
                <a:tc>
                  <a:txBody>
                    <a:bodyPr wrap="square"/>
                    <a:lstStyle/>
                    <a:p>
                      <a:r>
                        <a:rPr sz="1150" b="1">
                          <a:solidFill>
                            <a:srgbClr val="FFFFFF"/>
                          </a:solidFill>
                          <a:latin typeface="Segoe UI"/>
                        </a:rPr>
                        <a:t>How the target state responds</a:t>
                      </a:r>
                    </a:p>
                  </a:txBody>
                  <a:tcPr anchor="ctr" marL="91440">
                    <a:solidFill>
                      <a:srgbClr val="006D77"/>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Outbox table + Power Automate flow</a:t>
                      </a:r>
                    </a:p>
                  </a:txBody>
                  <a:tcPr anchor="ctr" marL="91440" marT="18288" marB="18288">
                    <a:solidFill>
                      <a:srgbClr val="F4F5F7"/>
                    </a:solidFill>
                  </a:tcPr>
                </a:tc>
                <a:tc>
                  <a:txBody>
                    <a:bodyPr wrap="square"/>
                    <a:lstStyle/>
                    <a:p>
                      <a:r>
                        <a:rPr sz="1150" b="1">
                          <a:solidFill>
                            <a:srgbClr val="1A1A1A"/>
                          </a:solidFill>
                          <a:latin typeface="Segoe UI"/>
                        </a:rPr>
                        <a:t>Queued by the app; flow sends</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Insights screen + Power BI</a:t>
                      </a:r>
                    </a:p>
                  </a:txBody>
                  <a:tcPr anchor="ctr" marL="91440" marT="18288" marB="18288">
                    <a:solidFill>
                      <a:srgbClr val="FFFFFF"/>
                    </a:solidFill>
                  </a:tcPr>
                </a:tc>
                <a:tc>
                  <a:txBody>
                    <a:bodyPr wrap="square"/>
                    <a:lstStyle/>
                    <a:p>
                      <a:r>
                        <a:rPr sz="1150" b="1">
                          <a:solidFill>
                            <a:srgbClr val="1A1A1A"/>
                          </a:solidFill>
                          <a:latin typeface="Segoe UI"/>
                        </a:rPr>
                        <a:t>No logic to port; capability built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Artefact source</a:t>
                      </a:r>
                    </a:p>
                  </a:txBody>
                  <a:tcPr anchor="ctr" marL="91440">
                    <a:solidFill>
                      <a:srgbClr val="006D77"/>
                    </a:solidFill>
                  </a:tcPr>
                </a:tc>
                <a:tc>
                  <a:txBody>
                    <a:bodyPr wrap="square"/>
                    <a:lstStyle/>
                    <a:p>
                      <a:r>
                        <a:rPr sz="1150" b="1">
                          <a:solidFill>
                            <a:srgbClr val="FFFFFF"/>
                          </a:solidFill>
                          <a:latin typeface="Segoe UI"/>
                        </a:rPr>
                        <a:t>How it is obtained</a:t>
                      </a:r>
                    </a:p>
                  </a:txBody>
                  <a:tcPr anchor="ctr" marL="91440">
                    <a:solidFill>
                      <a:srgbClr val="006D77"/>
                    </a:solidFill>
                  </a:tcPr>
                </a:tc>
                <a:tc>
                  <a:txBody>
                    <a:bodyPr wrap="square"/>
                    <a:lstStyle/>
                    <a:p>
                      <a:r>
                        <a:rPr sz="1150" b="1">
                          <a:solidFill>
                            <a:srgbClr val="FFFFFF"/>
                          </a:solidFill>
                          <a:latin typeface="Segoe UI"/>
                        </a:rPr>
                        <a:t>What it contributes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(58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still
need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messages
fully recovered</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Transforms with no
authored logic</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templates
not exposed</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What the artefacts already give us</a:t>
                      </a:r>
                    </a:p>
                  </a:txBody>
                  <a:tcPr anchor="ctr" marL="91440">
                    <a:solidFill>
                      <a:srgbClr val="006D7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1">
                          <a:solidFill>
                            <a:srgbClr val="1A1A1A"/>
                          </a:solidFill>
                          <a:latin typeface="Segoe UI"/>
                        </a:rPr>
                        <a:t>Content recovered 27/27 and outbox built - only recipients need deciding</a:t>
                      </a:r>
                    </a:p>
                  </a:txBody>
                  <a:tcPr anchor="ctr" marL="91440" marT="18288" marB="18288">
                    <a:solidFill>
                      <a:srgbClr val="FFFFFF"/>
                    </a:solidFill>
                  </a:tcPr>
                </a:tc>
              </a:tr>
              <a:tr h="274320">
                <a:tc>
                  <a:txBody>
                    <a:bodyPr wrap="square"/>
                    <a:lstStyle/>
                    <a:p>
                      <a:r>
                        <a:rPr sz="1150" b="1">
                          <a:solidFill>
                            <a:srgbClr val="1A1A1A"/>
                          </a:solidFill>
                          <a:latin typeface="Segoe UI"/>
                        </a:rPr>
                        <a:t>Data transform behaviour</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1">
                          <a:solidFill>
                            <a:srgbClr val="1A1A1A"/>
                          </a:solidFill>
                          <a:latin typeface="Segoe UI"/>
                        </a:rPr>
                        <a:t>No transform rules authored in the source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Step name and position; templates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Decision branch routing extracted; the rework condition is a business call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Roles and workbaskets imported; the Dataverse mapping is design work</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41 steps still need building - but none of them needs discovering. Every one is named, located, and in the notification case fully written.</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309067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6D77"/>
                    </a:solidFill>
                  </a:tcPr>
                </a:tc>
                <a:tc>
                  <a:txBody>
                    <a:bodyPr wrap="square"/>
                    <a:lstStyle/>
                    <a:p>
                      <a:r>
                        <a:rPr sz="1150" b="1">
                          <a:solidFill>
                            <a:srgbClr val="FFFFFF"/>
                          </a:solidFill>
                          <a:latin typeface="Segoe UI"/>
                        </a:rPr>
                        <a:t>Recovered from artefacts</a:t>
                      </a:r>
                    </a:p>
                  </a:txBody>
                  <a:tcPr anchor="ctr" marL="91440">
                    <a:solidFill>
                      <a:srgbClr val="006D77"/>
                    </a:solidFill>
                  </a:tcPr>
                </a:tc>
                <a:tc>
                  <a:txBody>
                    <a:bodyPr wrap="square"/>
                    <a:lstStyle/>
                    <a:p>
                      <a:r>
                        <a:rPr sz="1150" b="1">
                          <a:solidFill>
                            <a:srgbClr val="FFFFFF"/>
                          </a:solidFill>
                          <a:latin typeface="Segoe UI"/>
                        </a:rPr>
                        <a:t>Workshops needed</a:t>
                      </a:r>
                    </a:p>
                  </a:txBody>
                  <a:tcPr anchor="ctr" marL="91440">
                    <a:solidFill>
                      <a:srgbClr val="006D77"/>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transitions, 26 validated decision branches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User interface</a:t>
                      </a:r>
                    </a:p>
                  </a:txBody>
                  <a:tcPr anchor="ctr" marL="91440" marT="18288" marB="18288">
                    <a:solidFill>
                      <a:srgbClr val="F4F5F7"/>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Data model</a:t>
                      </a:r>
                    </a:p>
                  </a:txBody>
                  <a:tcPr anchor="ctr" marL="91440" marT="18288" marB="18288">
                    <a:solidFill>
                      <a:srgbClr val="FFFFFF"/>
                    </a:solidFill>
                  </a:tcPr>
                </a:tc>
                <a:tc>
                  <a:txBody>
                    <a:bodyPr wrap="square"/>
                    <a:lstStyle/>
                    <a:p>
                      <a:r>
                        <a:rPr sz="1150" b="0">
                          <a:solidFill>
                            <a:srgbClr val="3C3C3C"/>
                          </a:solidFill>
                          <a:latin typeface="Segoe UI"/>
                        </a:rPr>
                        <a:t>10 data objects, 334 properties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Reference data</a:t>
                      </a:r>
                    </a:p>
                  </a:txBody>
                  <a:tcPr anchor="ctr" marL="91440" marT="18288" marB="18288">
                    <a:solidFill>
                      <a:srgbClr val="F4F5F7"/>
                    </a:solidFill>
                  </a:tcPr>
                </a:tc>
                <a:tc>
                  <a:txBody>
                    <a:bodyPr wrap="square"/>
                    <a:lstStyle/>
                    <a:p>
                      <a:r>
                        <a:rPr sz="1150" b="0">
                          <a:solidFill>
                            <a:srgbClr val="3C3C3C"/>
                          </a:solidFill>
                          <a:latin typeface="Segoe UI"/>
                        </a:rPr>
                        <a:t>26 choice sets, 107 values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Notification wording</a:t>
                      </a:r>
                    </a:p>
                  </a:txBody>
                  <a:tcPr anchor="ctr" marL="91440" marT="18288" marB="18288">
                    <a:solidFill>
                      <a:srgbClr val="F4F5F7"/>
                    </a:solidFill>
                  </a:tcPr>
                </a:tc>
                <a:tc>
                  <a:txBody>
                    <a:bodyPr wrap="square"/>
                    <a:lstStyle/>
                    <a:p>
                      <a:r>
                        <a:rPr sz="1150" b="0">
                          <a:solidFill>
                            <a:srgbClr val="3C3C3C"/>
                          </a:solidFill>
                          <a:latin typeface="Segoe UI"/>
                        </a:rPr>
                        <a:t>27 subjects and 27 email bodies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Reporting</a:t>
                      </a:r>
                    </a:p>
                  </a:txBody>
                  <a:tcPr anchor="ctr" marL="91440" marT="18288" marB="18288">
                    <a:solidFill>
                      <a:srgbClr val="FFFFFF"/>
                    </a:solidFill>
                  </a:tcPr>
                </a:tc>
                <a:tc>
                  <a:txBody>
                    <a:bodyPr wrap="square"/>
                    <a:lstStyle/>
                    <a:p>
                      <a:r>
                        <a:rPr sz="1150" b="0">
                          <a:solidFill>
                            <a:srgbClr val="3C3C3C"/>
                          </a:solidFill>
                          <a:latin typeface="Segoe UI"/>
                        </a:rPr>
                        <a:t>30 definitions - all auto-generated scaffolding</a:t>
                      </a:r>
                    </a:p>
                  </a:txBody>
                  <a:tcPr anchor="ctr" marL="91440" marT="18288" marB="18288">
                    <a:solidFill>
                      <a:srgbClr val="FFFFFF"/>
                    </a:solidFill>
                  </a:tcPr>
                </a:tc>
                <a:tc>
                  <a:txBody>
                    <a:bodyPr wrap="square"/>
                    <a:lstStyle/>
                    <a:p>
                      <a:r>
                        <a:rPr sz="1150" b="1">
                          <a:solidFill>
                            <a:srgbClr val="1A1A1A"/>
                          </a:solidFill>
                          <a:latin typeface="Segoe UI"/>
                        </a:rPr>
                        <a:t>None - capability rebuilt natively</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20 transforms and 4 documents, named and located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60167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0167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61081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What is left is small, named and located</a:t>
            </a:r>
          </a:p>
          <a:p>
            <a:pPr algn="l">
              <a:spcBef>
                <a:spcPts val="0"/>
              </a:spcBef>
              <a:spcAft>
                <a:spcPts val="900"/>
              </a:spcAft>
            </a:pPr>
            <a:r>
              <a:rPr sz="1350" b="0" i="0">
                <a:solidFill>
                  <a:srgbClr val="1A1A1A"/>
                </a:solidFill>
                <a:latin typeface="Segoe UI"/>
              </a:rPr>
              <a:t>•  Notification wording is fully recovered, reports need no migration and the transform steps have no authored logic to reconstruct. What remains is a short list of specific decisions, each anchored to a step the business already recognises.</a:t>
            </a:r>
          </a:p>
        </p:txBody>
      </p:sp>
      <p:graphicFrame>
        <p:nvGraphicFramePr>
          <p:cNvPr id="6" name="Table 5"/>
          <p:cNvGraphicFramePr>
            <a:graphicFrameLocks noGrp="1"/>
          </p:cNvGraphicFramePr>
          <p:nvPr/>
        </p:nvGraphicFramePr>
        <p:xfrm>
          <a:off x="566928" y="2788920"/>
          <a:ext cx="11064240" cy="171907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6D77"/>
                    </a:solidFill>
                  </a:tcPr>
                </a:tc>
                <a:tc>
                  <a:txBody>
                    <a:bodyPr wrap="square"/>
                    <a:lstStyle/>
                    <a:p>
                      <a:r>
                        <a:rPr sz="1150" b="1">
                          <a:solidFill>
                            <a:srgbClr val="FFFFFF"/>
                          </a:solidFill>
                          <a:latin typeface="Segoe UI"/>
                        </a:rPr>
                        <a:t>The question becomes</a:t>
                      </a:r>
                    </a:p>
                  </a:txBody>
                  <a:tcPr anchor="ctr" marL="91440">
                    <a:solidFill>
                      <a:srgbClr val="006D77"/>
                    </a:solidFill>
                  </a:tcPr>
                </a:tc>
              </a:tr>
              <a:tr h="274320">
                <a:tc>
                  <a:txBody>
                    <a:bodyPr wrap="square"/>
                    <a:lstStyle/>
                    <a:p>
                      <a:r>
                        <a:rPr sz="1150" b="0">
                          <a:solidFill>
                            <a:srgbClr val="3C3C3C"/>
                          </a:solidFill>
                          <a:latin typeface="Segoe UI"/>
                        </a:rPr>
                        <a:t>What notifications does this process send, and what do they say?</a:t>
                      </a:r>
                    </a:p>
                  </a:txBody>
                  <a:tcPr anchor="ctr" marL="91440" marT="18288" marB="18288">
                    <a:solidFill>
                      <a:srgbClr val="FFFFFF"/>
                    </a:solidFill>
                  </a:tcPr>
                </a:tc>
                <a:tc>
                  <a:txBody>
                    <a:bodyPr wrap="square"/>
                    <a:lstStyle/>
                    <a:p>
                      <a:r>
                        <a:rPr sz="1150" b="1">
                          <a:solidFill>
                            <a:srgbClr val="1A1A1A"/>
                          </a:solidFill>
                          <a:latin typeface="Segoe UI"/>
                        </a:rPr>
                        <a:t>Nothing to ask - 27 subjects and bodies recovered. Only: who receives them?</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no logic exists in Pega; what should it do?</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r h="274320">
                <a:tc>
                  <a:txBody>
                    <a:bodyPr wrap="square"/>
                    <a:lstStyle/>
                    <a:p>
                      <a:r>
                        <a:rPr sz="1150" b="0">
                          <a:solidFill>
                            <a:srgbClr val="3C3C3C"/>
                          </a:solidFill>
                          <a:latin typeface="Segoe UI"/>
                        </a:rPr>
                        <a:t>What reports does the business need?</a:t>
                      </a:r>
                    </a:p>
                  </a:txBody>
                  <a:tcPr anchor="ctr" marL="91440" marT="18288" marB="18288">
                    <a:solidFill>
                      <a:srgbClr val="FFFFFF"/>
                    </a:solidFill>
                  </a:tcPr>
                </a:tc>
                <a:tc>
                  <a:txBody>
                    <a:bodyPr wrap="square"/>
                    <a:lstStyle/>
                    <a:p>
                      <a:r>
                        <a:rPr sz="1150" b="1">
                          <a:solidFill>
                            <a:srgbClr val="1A1A1A"/>
                          </a:solidFill>
                          <a:latin typeface="Segoe UI"/>
                        </a:rPr>
                        <a:t>Nothing to ask - all 30 are platform scaffolding; the equivalent views are built</a:t>
                      </a:r>
                    </a:p>
                  </a:txBody>
                  <a:tcPr anchor="ctr" marL="91440" marT="18288" marB="18288">
                    <a:solidFill>
                      <a:srgbClr val="FFFFFF"/>
                    </a:solidFill>
                  </a:tcPr>
                </a:tc>
              </a:tr>
            </a:tbl>
          </a:graphicData>
        </a:graphic>
      </p:graphicFrame>
      <p:sp>
        <p:nvSpPr>
          <p:cNvPr id="7" name="Rectangle 6"/>
          <p:cNvSpPr/>
          <p:nvPr/>
        </p:nvSpPr>
        <p:spPr>
          <a:xfrm>
            <a:off x="566928" y="51511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5112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425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- 58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58</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No report logic to port; the in-app summary and data browser are built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Outbox built; one flow + recipient mapping</a:t>
                      </a:r>
                    </a:p>
                  </a:txBody>
                  <a:tcPr anchor="ctr" marL="91440" marT="18288" marB="18288">
                    <a:solidFill>
                      <a:srgbClr val="FFFFFF"/>
                    </a:solidFill>
                  </a:tcPr>
                </a:tc>
                <a:tc>
                  <a:txBody>
                    <a:bodyPr wrap="square"/>
                    <a:lstStyle/>
                    <a:p>
                      <a:r>
                        <a:rPr sz="1150" b="0">
                          <a:solidFill>
                            <a:srgbClr val="3C3C3C"/>
                          </a:solidFill>
                          <a:latin typeface="Segoe UI"/>
                        </a:rPr>
                        <a:t>3 - 5</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77 - 120</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sessions</a:t>
                      </a:r>
                    </a:p>
                  </a:txBody>
                  <a:tcPr anchor="ctr" marL="91440" marT="18288" marB="18288">
                    <a:solidFill>
                      <a:srgbClr val="FFFFFF"/>
                    </a:solidFill>
                  </a:tcPr>
                </a:tc>
                <a:tc>
                  <a:txBody>
                    <a:bodyPr wrap="square"/>
                    <a:lstStyle/>
                    <a:p>
                      <a:r>
                        <a:rPr sz="1150" b="0">
                          <a:solidFill>
                            <a:srgbClr val="3C3C3C"/>
                          </a:solidFill>
                          <a:latin typeface="Segoe UI"/>
                        </a:rPr>
                        <a:t>4 rework conditions, 20 transform behaviours, notification recipients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A short list of named decisions - notification wording and reports need no input at all</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4653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465320"/>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5567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one-week inception to settle the security model and the short list of open business decisions. Flow rules, decision routing and notification wording are already recovered.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Artefact extraction (done); short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Open decisions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58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58/58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