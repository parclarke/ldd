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The 51% figure is the honest counterweight to the 100% - be upfront about it, then immediately qualify it: those 41 steps are named and located, so they are a confirmation exercise, not a discovery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You are showing them one that already runs and asking them to confirm 41 specific points, each anchored to a named step they recognise.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49/49</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~51%</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confirmation</a:t>
            </a:r>
          </a:p>
        </p:txBody>
      </p:sp>
      <p:sp>
        <p:nvSpPr>
          <p:cNvPr id="25" name="TextBox 24"/>
          <p:cNvSpPr txBox="1"/>
          <p:nvPr/>
        </p:nvSpPr>
        <p:spPr>
          <a:xfrm>
            <a:off x="566928" y="2926080"/>
            <a:ext cx="11064240" cy="2999740"/>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because Pega does not expose it. But every one of those steps is recovered by name and position, so the residual business conversation is confirmation rather than discovery.</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Power Automate / Office 365 Outlook connector</a:t>
                      </a:r>
                    </a:p>
                  </a:txBody>
                  <a:tcPr anchor="ctr" marL="91440" marT="18288" marB="18288">
                    <a:solidFill>
                      <a:srgbClr val="F4F5F7"/>
                    </a:solidFill>
                  </a:tcPr>
                </a:tc>
                <a:tc>
                  <a:txBody>
                    <a:bodyPr wrap="square"/>
                    <a:lstStyle/>
                    <a:p>
                      <a:r>
                        <a:rPr sz="1150" b="0">
                          <a:solidFill>
                            <a:srgbClr val="3C3C3C"/>
                          </a:solidFill>
                          <a:latin typeface="Segoe UI"/>
                        </a:rPr>
                        <a:t>Audited, not sent</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Power BI over Dataverse</a:t>
                      </a:r>
                    </a:p>
                  </a:txBody>
                  <a:tcPr anchor="ctr" marL="91440" marT="18288" marB="18288">
                    <a:solidFill>
                      <a:srgbClr val="FFFFFF"/>
                    </a:solidFill>
                  </a:tcPr>
                </a:tc>
                <a:tc>
                  <a:txBody>
                    <a:bodyPr wrap="square"/>
                    <a:lstStyle/>
                    <a:p>
                      <a:r>
                        <a:rPr sz="1150" b="1">
                          <a:solidFill>
                            <a:srgbClr val="1A1A1A"/>
                          </a:solidFill>
                          <a:latin typeface="Segoe UI"/>
                        </a:rPr>
                        <a:t>All auto-generated - nothing to port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(49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need
manual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steps</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 transform
steps</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generation
steps</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Why it cannot be automated</a:t>
                      </a:r>
                    </a:p>
                  </a:txBody>
                  <a:tcPr anchor="ctr" marL="91440">
                    <a:solidFill>
                      <a:srgbClr val="006D77"/>
                    </a:solidFill>
                  </a:tcPr>
                </a:tc>
              </a:tr>
              <a:tr h="274320">
                <a:tc>
                  <a:txBody>
                    <a:bodyPr wrap="square"/>
                    <a:lstStyle/>
                    <a:p>
                      <a:r>
                        <a:rPr sz="1150" b="1">
                          <a:solidFill>
                            <a:srgbClr val="1A1A1A"/>
                          </a:solidFill>
                          <a:latin typeface="Segoe UI"/>
                        </a:rPr>
                        <a:t>Notification recipients</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0">
                          <a:solidFill>
                            <a:srgbClr val="3C3C3C"/>
                          </a:solidFill>
                          <a:latin typeface="Segoe UI"/>
                        </a:rPr>
                        <a:t>Subject and body recovered from the export; recipients are not in the rule</a:t>
                      </a:r>
                    </a:p>
                  </a:txBody>
                  <a:tcPr anchor="ctr" marL="91440" marT="18288" marB="18288">
                    <a:solidFill>
                      <a:srgbClr val="FFFFFF"/>
                    </a:solidFill>
                  </a:tcPr>
                </a:tc>
              </a:tr>
              <a:tr h="274320">
                <a:tc>
                  <a:txBody>
                    <a:bodyPr wrap="square"/>
                    <a:lstStyle/>
                    <a:p>
                      <a:r>
                        <a:rPr sz="1150" b="1">
                          <a:solidFill>
                            <a:srgbClr val="1A1A1A"/>
                          </a:solidFill>
                          <a:latin typeface="Segoe UI"/>
                        </a:rPr>
                        <a:t>Data transform logic</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0">
                          <a:solidFill>
                            <a:srgbClr val="3C3C3C"/>
                          </a:solidFill>
                          <a:latin typeface="Segoe UI"/>
                        </a:rPr>
                        <a:t>No transform rules authored in this export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Templates and merge logic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Extraction shows Pega has no conditional transitions at 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Pega and Dataverse security models differ structurally</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This 51% is the number to plan against. It is not a tooling shortfall - no migration approach can extract what the platform does not expose.</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254203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User interface</a:t>
                      </a:r>
                    </a:p>
                  </a:txBody>
                  <a:tcPr anchor="ctr" marL="91440" marT="18288" marB="18288">
                    <a:solidFill>
                      <a:srgbClr val="FFFFFF"/>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Data model</a:t>
                      </a:r>
                    </a:p>
                  </a:txBody>
                  <a:tcPr anchor="ctr" marL="91440" marT="18288" marB="18288">
                    <a:solidFill>
                      <a:srgbClr val="F4F5F7"/>
                    </a:solidFill>
                  </a:tcPr>
                </a:tc>
                <a:tc>
                  <a:txBody>
                    <a:bodyPr wrap="square"/>
                    <a:lstStyle/>
                    <a:p>
                      <a:r>
                        <a:rPr sz="1150" b="0">
                          <a:solidFill>
                            <a:srgbClr val="3C3C3C"/>
                          </a:solidFill>
                          <a:latin typeface="Segoe UI"/>
                        </a:rPr>
                        <a:t>10 data objects, 334 properties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Reference data</a:t>
                      </a:r>
                    </a:p>
                  </a:txBody>
                  <a:tcPr anchor="ctr" marL="91440" marT="18288" marB="18288">
                    <a:solidFill>
                      <a:srgbClr val="FFFFFF"/>
                    </a:solidFill>
                  </a:tcPr>
                </a:tc>
                <a:tc>
                  <a:txBody>
                    <a:bodyPr wrap="square"/>
                    <a:lstStyle/>
                    <a:p>
                      <a:r>
                        <a:rPr sz="1150" b="0">
                          <a:solidFill>
                            <a:srgbClr val="3C3C3C"/>
                          </a:solidFill>
                          <a:latin typeface="Segoe UI"/>
                        </a:rPr>
                        <a:t>26 choice sets, 107 values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Security model</a:t>
                      </a:r>
                    </a:p>
                  </a:txBody>
                  <a:tcPr anchor="ctr" marL="91440" marT="18288" marB="18288">
                    <a:solidFill>
                      <a:srgbClr val="F4F5F7"/>
                    </a:solidFill>
                  </a:tcPr>
                </a:tc>
                <a:tc>
                  <a:txBody>
                    <a:bodyPr wrap="square"/>
                    <a:lstStyle/>
                    <a:p>
                      <a:r>
                        <a:rPr sz="1150" b="0">
                          <a:solidFill>
                            <a:srgbClr val="3C3C3C"/>
                          </a:solidFill>
                          <a:latin typeface="Segoe UI"/>
                        </a:rPr>
                        <a:t>19 roles, 30 grants, 18 workbaskets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connector transitions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41 steps named and located, bodies not exported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565099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565099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57424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The 41 steps are not unknowns</a:t>
            </a:r>
          </a:p>
          <a:p>
            <a:pPr algn="l">
              <a:spcBef>
                <a:spcPts val="0"/>
              </a:spcBef>
              <a:spcAft>
                <a:spcPts val="900"/>
              </a:spcAft>
            </a:pPr>
            <a:r>
              <a:rPr sz="1350" b="0" i="0">
                <a:solidFill>
                  <a:srgbClr val="1A1A1A"/>
                </a:solidFill>
                <a:latin typeface="Segoe UI"/>
              </a:rPr>
              <a:t>•  For every one of them the artefacts already give the case type, the stage, the position in the sequence, the step name and the step type. What is missing is only the body - the wording of a notification, the field derivation inside a transform.</a:t>
            </a:r>
          </a:p>
        </p:txBody>
      </p:sp>
      <p:graphicFrame>
        <p:nvGraphicFramePr>
          <p:cNvPr id="6" name="Table 5"/>
          <p:cNvGraphicFramePr>
            <a:graphicFrameLocks noGrp="1"/>
          </p:cNvGraphicFramePr>
          <p:nvPr/>
        </p:nvGraphicFramePr>
        <p:xfrm>
          <a:off x="566928" y="2788920"/>
          <a:ext cx="11064240" cy="144475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to whom, and when?</a:t>
                      </a:r>
                    </a:p>
                  </a:txBody>
                  <a:tcPr anchor="ctr" marL="91440" marT="18288" marB="18288">
                    <a:solidFill>
                      <a:srgbClr val="FFFFFF"/>
                    </a:solidFill>
                  </a:tcPr>
                </a:tc>
                <a:tc>
                  <a:txBody>
                    <a:bodyPr wrap="square"/>
                    <a:lstStyle/>
                    <a:p>
                      <a:r>
                        <a:rPr sz="1150" b="1">
                          <a:solidFill>
                            <a:srgbClr val="1A1A1A"/>
                          </a:solidFill>
                          <a:latin typeface="Segoe UI"/>
                        </a:rPr>
                        <a:t>Compliance Monitoring / Remediation / 'Notify Stakeholders' - confirm the wording</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confirm the derivation</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bl>
          </a:graphicData>
        </a:graphic>
      </p:graphicFrame>
      <p:sp>
        <p:nvSpPr>
          <p:cNvPr id="7" name="Rectangle 6"/>
          <p:cNvSpPr/>
          <p:nvPr/>
        </p:nvSpPr>
        <p:spPr>
          <a:xfrm>
            <a:off x="566928" y="469239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92396"/>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8383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- 49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c>
                  <a:txBody>
                    <a:bodyPr wrap="square"/>
                    <a:lstStyle/>
                    <a:p>
                      <a:r>
                        <a:rPr sz="1150" b="0">
                          <a:solidFill>
                            <a:srgbClr val="3C3C3C"/>
                          </a:solidFill>
                          <a:latin typeface="Segoe UI"/>
                        </a:rPr>
                        <a:t>All 30 report definitions are auto-generated scaffolding - nothing to port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Wording recovered; wire send + recipients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79 - 123</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workshops</a:t>
                      </a:r>
                    </a:p>
                  </a:txBody>
                  <a:tcPr anchor="ctr" marL="91440" marT="18288" marB="18288">
                    <a:solidFill>
                      <a:srgbClr val="FFFFFF"/>
                    </a:solidFill>
                  </a:tcPr>
                </a:tc>
                <a:tc>
                  <a:txBody>
                    <a:bodyPr wrap="square"/>
                    <a:lstStyle/>
                    <a:p>
                      <a:r>
                        <a:rPr sz="1150" b="0">
                          <a:solidFill>
                            <a:srgbClr val="3C3C3C"/>
                          </a:solidFill>
                          <a:latin typeface="Segoe UI"/>
                        </a:rPr>
                        <a:t>Agreeing the rework conditions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Confirming 41 pre-located step bodies - confirmation, not discovery</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28091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28091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37235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two-week inception to recover the 35 flow rule bodies and confirm the security model. That retires the highest risk before committing to the full build.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Run artefact extraction; time-boxed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41 step bodies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49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49/49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