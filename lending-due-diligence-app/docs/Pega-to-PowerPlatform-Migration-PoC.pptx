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reports on a completed PoC, not a paper study. The Lending Due Diligence Pega application was migrated to a Power Apps Code App on Dataverse, deployed, and verified end to end. Every number quoted is drawn from the migration artefacts or the automated verification harness.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fact that this is a completed implementation. The five KPIs are all measured, not estimated. The 51% figure is the honest counterweight to the 100% - be upfront about it; it is the single most useful number in the deck for planning purposes.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block matters for credibility. Being explicit about what the PoC does not prove makes the rest of the claims defensible under challenge.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 version 26.1.0, application version 01.01.01, exported 1 September 2026. The 191 UI views is the total in the application; only 49 are reachable from a case step, which is why the migration targets that subset.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pre-empts the obvious challenge - 'could better tooling have extracted more?' The answer is no, and the file sizes are cited as evidence.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was learned the hard way during the PoC - two extractions of the same application disagreed about the stage model. The seeder now refuses to load a low-fidelity extraction.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journey 3 on Compliance Monitoring - it exercises a decision, a guarded rework transition that gets skipped, and reaches resolution in eight iterations. It is the most complete single demonstration of the engine, and it is the case type that originally exposed the infinite-loop defect.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1 is worth dwelling on. It is the clearest evidence that a naive structural migration produces a broken application, and that the mitigation has to be defence in depth - an inferred guard alone would not be safe.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83680"/>
            <a:ext cx="12191695" cy="274320"/>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65960"/>
            <a:ext cx="10332720" cy="411480"/>
          </a:xfrm>
          <a:prstGeom prst="rect">
            <a:avLst/>
          </a:prstGeom>
          <a:noFill/>
        </p:spPr>
        <p:txBody>
          <a:bodyPr wrap="square">
            <a:spAutoFit/>
          </a:bodyPr>
          <a:lstStyle/>
          <a:p>
            <a:pPr algn="l">
              <a:spcBef>
                <a:spcPts val="0"/>
              </a:spcBef>
              <a:spcAft>
                <a:spcPts val="0"/>
              </a:spcAft>
            </a:pPr>
            <a:r>
              <a:rPr sz="1300" b="1" i="0">
                <a:solidFill>
                  <a:srgbClr val="006D77"/>
                </a:solidFill>
                <a:latin typeface="Segoe UI"/>
              </a:rPr>
              <a:t>PROOF OF CONCEPT  |  MIGRATION APPROACH</a:t>
            </a:r>
          </a:p>
        </p:txBody>
      </p:sp>
      <p:sp>
        <p:nvSpPr>
          <p:cNvPr id="6" name="TextBox 5"/>
          <p:cNvSpPr txBox="1"/>
          <p:nvPr/>
        </p:nvSpPr>
        <p:spPr>
          <a:xfrm>
            <a:off x="914400" y="2395728"/>
            <a:ext cx="10332720" cy="1691640"/>
          </a:xfrm>
          <a:prstGeom prst="rect">
            <a:avLst/>
          </a:prstGeom>
          <a:noFill/>
        </p:spPr>
        <p:txBody>
          <a:bodyPr wrap="square">
            <a:spAutoFit/>
          </a:bodyPr>
          <a:lstStyle/>
          <a:p>
            <a:pPr algn="l">
              <a:spcBef>
                <a:spcPts val="0"/>
              </a:spcBef>
              <a:spcAft>
                <a:spcPts val="200"/>
              </a:spcAft>
            </a:pPr>
            <a:r>
              <a:rPr sz="4400" b="1" i="0">
                <a:solidFill>
                  <a:srgbClr val="1A1A1A"/>
                </a:solidFill>
                <a:latin typeface="Segoe UI"/>
              </a:rPr>
              <a:t>Pega to Power Platform</a:t>
            </a:r>
          </a:p>
          <a:p>
            <a:pPr algn="l">
              <a:spcBef>
                <a:spcPts val="0"/>
              </a:spcBef>
              <a:spcAft>
                <a:spcPts val="0"/>
              </a:spcAft>
            </a:pPr>
            <a:r>
              <a:rPr sz="4400" b="1" i="0">
                <a:solidFill>
                  <a:srgbClr val="C8102E"/>
                </a:solidFill>
                <a:latin typeface="Segoe UI"/>
              </a:rPr>
              <a:t>Code App Migration Approach</a:t>
            </a:r>
          </a:p>
        </p:txBody>
      </p:sp>
      <p:sp>
        <p:nvSpPr>
          <p:cNvPr id="7" name="Rectangle 6"/>
          <p:cNvSpPr/>
          <p:nvPr/>
        </p:nvSpPr>
        <p:spPr>
          <a:xfrm>
            <a:off x="932688" y="4133087"/>
            <a:ext cx="2377440" cy="41148"/>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370832"/>
            <a:ext cx="10332720" cy="822960"/>
          </a:xfrm>
          <a:prstGeom prst="rect">
            <a:avLst/>
          </a:prstGeom>
          <a:noFill/>
        </p:spPr>
        <p:txBody>
          <a:bodyPr wrap="square">
            <a:spAutoFit/>
          </a:bodyPr>
          <a:lstStyle/>
          <a:p>
            <a:pPr algn="l">
              <a:spcBef>
                <a:spcPts val="0"/>
              </a:spcBef>
              <a:spcAft>
                <a:spcPts val="400"/>
              </a:spcAft>
            </a:pPr>
            <a:r>
              <a:rPr sz="1600" b="0" i="0">
                <a:solidFill>
                  <a:srgbClr val="3C3C3C"/>
                </a:solidFill>
                <a:latin typeface="Segoe UI"/>
              </a:rPr>
              <a:t>Lending Due Diligence  ·  5 case types  ·  39 stages  ·  80 steps</a:t>
            </a:r>
          </a:p>
          <a:p>
            <a:pPr algn="l">
              <a:spcBef>
                <a:spcPts val="0"/>
              </a:spcBef>
              <a:spcAft>
                <a:spcPts val="0"/>
              </a:spcAft>
            </a:pPr>
            <a:r>
              <a:rPr sz="1350" b="0" i="1">
                <a:solidFill>
                  <a:srgbClr val="6E6E6E"/>
                </a:solidFill>
                <a:latin typeface="Segoe UI"/>
              </a:rPr>
              <a:t>Evidence-based findings from a working, deployed implementation</a:t>
            </a:r>
          </a:p>
        </p:txBody>
      </p:sp>
      <p:sp>
        <p:nvSpPr>
          <p:cNvPr id="9" name="TextBox 8"/>
          <p:cNvSpPr txBox="1"/>
          <p:nvPr/>
        </p:nvSpPr>
        <p:spPr>
          <a:xfrm>
            <a:off x="914400" y="5806440"/>
            <a:ext cx="10332720" cy="365760"/>
          </a:xfrm>
          <a:prstGeom prst="rect">
            <a:avLst/>
          </a:prstGeom>
          <a:noFill/>
        </p:spPr>
        <p:txBody>
          <a:bodyPr wrap="square">
            <a:spAutoFit/>
          </a:bodyPr>
          <a:lstStyle/>
          <a:p>
            <a:pPr algn="l">
              <a:spcBef>
                <a:spcPts val="0"/>
              </a:spcBef>
              <a:spcAft>
                <a:spcPts val="0"/>
              </a:spcAft>
            </a:pPr>
            <a:r>
              <a:rPr sz="1200" b="0" i="0">
                <a:solidFill>
                  <a:srgbClr val="6E6E6E"/>
                </a:solidFill>
                <a:latin typeface="Segoe UI"/>
              </a:rPr>
              <a:t>Prepared for CIBC  ·  September 2026</a:t>
            </a:r>
          </a:p>
        </p:txBody>
      </p:sp>
      <p:sp>
        <p:nvSpPr>
          <p:cNvPr id="10" name="TextBox 9"/>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30352"/>
            <a:ext cx="11064240" cy="685800"/>
          </a:xfrm>
          <a:prstGeom prst="rect">
            <a:avLst/>
          </a:prstGeom>
          <a:noFill/>
        </p:spPr>
        <p:txBody>
          <a:bodyPr wrap="square">
            <a:spAutoFit/>
          </a:bodyPr>
          <a:lstStyle/>
          <a:p>
            <a:pPr algn="l">
              <a:spcBef>
                <a:spcPts val="0"/>
              </a:spcBef>
              <a:spcAft>
                <a:spcPts val="0"/>
              </a:spcAft>
            </a:pPr>
            <a:r>
              <a:rPr sz="2700" b="1" i="0">
                <a:solidFill>
                  <a:srgbClr val="1A1A1A"/>
                </a:solidFill>
                <a:latin typeface="Segoe UI"/>
              </a:rPr>
              <a:t>Contents</a:t>
            </a:r>
          </a:p>
        </p:txBody>
      </p:sp>
      <p:sp>
        <p:nvSpPr>
          <p:cNvPr id="4" name="TextBox 3"/>
          <p:cNvSpPr txBox="1"/>
          <p:nvPr/>
        </p:nvSpPr>
        <p:spPr>
          <a:xfrm>
            <a:off x="822960" y="1691640"/>
            <a:ext cx="5120640" cy="3412744"/>
          </a:xfrm>
          <a:prstGeom prst="rect">
            <a:avLst/>
          </a:prstGeom>
          <a:noFill/>
        </p:spPr>
        <p:txBody>
          <a:bodyPr wrap="square">
            <a:spAutoFit/>
          </a:bodyPr>
          <a:lstStyle/>
          <a:p>
            <a:pPr algn="l">
              <a:spcBef>
                <a:spcPts val="0"/>
              </a:spcBef>
              <a:spcAft>
                <a:spcPts val="1700"/>
              </a:spcAft>
            </a:pPr>
            <a:r>
              <a:rPr sz="1600" b="1" i="0">
                <a:solidFill>
                  <a:srgbClr val="1A1A1A"/>
                </a:solidFill>
                <a:latin typeface="Segoe UI"/>
              </a:rPr>
              <a:t>1   Executive Summary</a:t>
            </a:r>
          </a:p>
          <a:p>
            <a:pPr algn="l">
              <a:spcBef>
                <a:spcPts val="800"/>
              </a:spcBef>
              <a:spcAft>
                <a:spcPts val="1700"/>
              </a:spcAft>
            </a:pPr>
            <a:r>
              <a:rPr sz="1600" b="1" i="0">
                <a:solidFill>
                  <a:srgbClr val="1A1A1A"/>
                </a:solidFill>
                <a:latin typeface="Segoe UI"/>
              </a:rPr>
              <a:t>2   Current State Architecture (Pega)</a:t>
            </a:r>
          </a:p>
          <a:p>
            <a:pPr algn="l">
              <a:spcBef>
                <a:spcPts val="800"/>
              </a:spcBef>
              <a:spcAft>
                <a:spcPts val="1700"/>
              </a:spcAft>
            </a:pPr>
            <a:r>
              <a:rPr sz="1600" b="1" i="0">
                <a:solidFill>
                  <a:srgbClr val="1A1A1A"/>
                </a:solidFill>
                <a:latin typeface="Segoe UI"/>
              </a:rPr>
              <a:t>3   Target State Architecture</a:t>
            </a:r>
          </a:p>
          <a:p>
            <a:pPr algn="l">
              <a:spcBef>
                <a:spcPts val="800"/>
              </a:spcBef>
              <a:spcAft>
                <a:spcPts val="1700"/>
              </a:spcAft>
            </a:pPr>
            <a:r>
              <a:rPr sz="1600" b="1" i="0">
                <a:solidFill>
                  <a:srgbClr val="1A1A1A"/>
                </a:solidFill>
                <a:latin typeface="Segoe UI"/>
              </a:rPr>
              <a:t>4   Migration Approach</a:t>
            </a:r>
          </a:p>
          <a:p>
            <a:pPr algn="l">
              <a:spcBef>
                <a:spcPts val="800"/>
              </a:spcBef>
              <a:spcAft>
                <a:spcPts val="1700"/>
              </a:spcAft>
            </a:pPr>
            <a:r>
              <a:rPr sz="1600" b="1" i="0">
                <a:solidFill>
                  <a:srgbClr val="1A1A1A"/>
                </a:solidFill>
                <a:latin typeface="Segoe UI"/>
              </a:rPr>
              <a:t>5   PoC Scope</a:t>
            </a:r>
          </a:p>
          <a:p>
            <a:pPr algn="l">
              <a:spcBef>
                <a:spcPts val="800"/>
              </a:spcBef>
              <a:spcAft>
                <a:spcPts val="1700"/>
              </a:spcAft>
            </a:pPr>
            <a:r>
              <a:rPr sz="1600" b="1" i="0">
                <a:solidFill>
                  <a:srgbClr val="1A1A1A"/>
                </a:solidFill>
                <a:latin typeface="Segoe UI"/>
              </a:rPr>
              <a:t>6   Live Demo</a:t>
            </a:r>
          </a:p>
        </p:txBody>
      </p:sp>
      <p:sp>
        <p:nvSpPr>
          <p:cNvPr id="5" name="TextBox 4"/>
          <p:cNvSpPr txBox="1"/>
          <p:nvPr/>
        </p:nvSpPr>
        <p:spPr>
          <a:xfrm>
            <a:off x="6309360" y="1691640"/>
            <a:ext cx="5120640" cy="2827020"/>
          </a:xfrm>
          <a:prstGeom prst="rect">
            <a:avLst/>
          </a:prstGeom>
          <a:noFill/>
        </p:spPr>
        <p:txBody>
          <a:bodyPr wrap="square">
            <a:spAutoFit/>
          </a:bodyPr>
          <a:lstStyle/>
          <a:p>
            <a:pPr algn="l">
              <a:spcBef>
                <a:spcPts val="0"/>
              </a:spcBef>
              <a:spcAft>
                <a:spcPts val="1700"/>
              </a:spcAft>
            </a:pPr>
            <a:r>
              <a:rPr sz="1600" b="1" i="0">
                <a:solidFill>
                  <a:srgbClr val="1A1A1A"/>
                </a:solidFill>
                <a:latin typeface="Segoe UI"/>
              </a:rPr>
              <a:t>7    Migration Findings</a:t>
            </a:r>
          </a:p>
          <a:p>
            <a:pPr algn="l">
              <a:spcBef>
                <a:spcPts val="800"/>
              </a:spcBef>
              <a:spcAft>
                <a:spcPts val="1700"/>
              </a:spcAft>
            </a:pPr>
            <a:r>
              <a:rPr sz="1600" b="1" i="0">
                <a:solidFill>
                  <a:srgbClr val="1A1A1A"/>
                </a:solidFill>
                <a:latin typeface="Segoe UI"/>
              </a:rPr>
              <a:t>8    Validation Results</a:t>
            </a:r>
          </a:p>
          <a:p>
            <a:pPr algn="l">
              <a:spcBef>
                <a:spcPts val="800"/>
              </a:spcBef>
              <a:spcAft>
                <a:spcPts val="1700"/>
              </a:spcAft>
            </a:pPr>
            <a:r>
              <a:rPr sz="1600" b="1" i="0">
                <a:solidFill>
                  <a:srgbClr val="1A1A1A"/>
                </a:solidFill>
                <a:latin typeface="Segoe UI"/>
              </a:rPr>
              <a:t>9    Effort &amp; Risk Assessment</a:t>
            </a:r>
          </a:p>
          <a:p>
            <a:pPr algn="l">
              <a:spcBef>
                <a:spcPts val="800"/>
              </a:spcBef>
              <a:spcAft>
                <a:spcPts val="1700"/>
              </a:spcAft>
            </a:pPr>
            <a:r>
              <a:rPr sz="1600" b="1" i="0">
                <a:solidFill>
                  <a:srgbClr val="1A1A1A"/>
                </a:solidFill>
                <a:latin typeface="Segoe UI"/>
              </a:rPr>
              <a:t>10  Recommendations &amp; Next Steps</a:t>
            </a:r>
          </a:p>
          <a:p>
            <a:pPr algn="l">
              <a:spcBef>
                <a:spcPts val="800"/>
              </a:spcBef>
              <a:spcAft>
                <a:spcPts val="1700"/>
              </a:spcAft>
            </a:pPr>
            <a:r>
              <a:rPr sz="1600" b="1" i="0">
                <a:solidFill>
                  <a:srgbClr val="1A1A1A"/>
                </a:solidFill>
                <a:latin typeface="Segoe UI"/>
              </a:rPr>
              <a:t>11  Appendix</a:t>
            </a:r>
          </a:p>
        </p:txBody>
      </p:sp>
      <p:sp>
        <p:nvSpPr>
          <p:cNvPr id="6" name="Rectangle 5"/>
          <p:cNvSpPr/>
          <p:nvPr/>
        </p:nvSpPr>
        <p:spPr>
          <a:xfrm>
            <a:off x="566928" y="5378704"/>
            <a:ext cx="11064240" cy="65836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5378704"/>
            <a:ext cx="54864" cy="658368"/>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5470144"/>
            <a:ext cx="10652760" cy="493776"/>
          </a:xfrm>
          <a:prstGeom prst="rect">
            <a:avLst/>
          </a:prstGeom>
          <a:noFill/>
        </p:spPr>
        <p:txBody>
          <a:bodyPr wrap="square">
            <a:spAutoFit/>
          </a:bodyPr>
          <a:lstStyle/>
          <a:p>
            <a:pPr algn="l">
              <a:spcBef>
                <a:spcPts val="0"/>
              </a:spcBef>
              <a:spcAft>
                <a:spcPts val="0"/>
              </a:spcAft>
            </a:pPr>
            <a:r>
              <a:rPr sz="1250" b="0" i="0">
                <a:solidFill>
                  <a:srgbClr val="1A1A1A"/>
                </a:solidFill>
                <a:latin typeface="Segoe UI"/>
              </a:rPr>
              <a:t>Sections 6 to 8 report observed results from a deployed, working application - not projections.</a:t>
            </a:r>
          </a:p>
        </p:txBody>
      </p:sp>
      <p:sp>
        <p:nvSpPr>
          <p:cNvPr id="9" name="TextBox 8"/>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331720"/>
            <a:ext cx="1828800" cy="1097280"/>
          </a:xfrm>
          <a:prstGeom prst="rect">
            <a:avLst/>
          </a:prstGeom>
          <a:noFill/>
        </p:spPr>
        <p:txBody>
          <a:bodyPr wrap="square">
            <a:spAutoFit/>
          </a:bodyPr>
          <a:lstStyle/>
          <a:p>
            <a:pPr algn="l">
              <a:spcBef>
                <a:spcPts val="0"/>
              </a:spcBef>
              <a:spcAft>
                <a:spcPts val="0"/>
              </a:spcAft>
            </a:pPr>
            <a:r>
              <a:rPr sz="6400" b="1" i="0">
                <a:solidFill>
                  <a:srgbClr val="7FC4CB"/>
                </a:solidFill>
                <a:latin typeface="Segoe UI"/>
              </a:rPr>
              <a:t>01</a:t>
            </a:r>
          </a:p>
        </p:txBody>
      </p:sp>
      <p:sp>
        <p:nvSpPr>
          <p:cNvPr id="5" name="TextBox 4"/>
          <p:cNvSpPr txBox="1"/>
          <p:nvPr/>
        </p:nvSpPr>
        <p:spPr>
          <a:xfrm>
            <a:off x="2331720" y="2487168"/>
            <a:ext cx="8778240" cy="914400"/>
          </a:xfrm>
          <a:prstGeom prst="rect">
            <a:avLst/>
          </a:prstGeom>
          <a:noFill/>
        </p:spPr>
        <p:txBody>
          <a:bodyPr wrap="square">
            <a:spAutoFit/>
          </a:bodyPr>
          <a:lstStyle/>
          <a:p>
            <a:pPr algn="l">
              <a:spcBef>
                <a:spcPts val="0"/>
              </a:spcBef>
              <a:spcAft>
                <a:spcPts val="0"/>
              </a:spcAft>
            </a:pPr>
            <a:r>
              <a:rPr sz="3400" b="1" i="0">
                <a:solidFill>
                  <a:srgbClr val="FFFFFF"/>
                </a:solidFill>
                <a:latin typeface="Segoe UI"/>
              </a:rPr>
              <a:t>Executive Summary</a:t>
            </a:r>
          </a:p>
        </p:txBody>
      </p:sp>
      <p:sp>
        <p:nvSpPr>
          <p:cNvPr id="6" name="TextBox 5"/>
          <p:cNvSpPr txBox="1"/>
          <p:nvPr/>
        </p:nvSpPr>
        <p:spPr>
          <a:xfrm>
            <a:off x="2395728" y="3401568"/>
            <a:ext cx="8595360" cy="640080"/>
          </a:xfrm>
          <a:prstGeom prst="rect">
            <a:avLst/>
          </a:prstGeom>
          <a:noFill/>
        </p:spPr>
        <p:txBody>
          <a:bodyPr wrap="square">
            <a:spAutoFit/>
          </a:bodyPr>
          <a:lstStyle/>
          <a:p>
            <a:pPr algn="l">
              <a:spcBef>
                <a:spcPts val="0"/>
              </a:spcBef>
              <a:spcAft>
                <a:spcPts val="0"/>
              </a:spcAft>
            </a:pPr>
            <a:r>
              <a:rPr sz="1450" b="0" i="0">
                <a:solidFill>
                  <a:srgbClr val="D6ECEE"/>
                </a:solidFill>
                <a:latin typeface="Segoe UI"/>
              </a:rPr>
              <a:t>Objective, challenges and outcomes</a:t>
            </a:r>
          </a:p>
        </p:txBody>
      </p:sp>
      <p:sp>
        <p:nvSpPr>
          <p:cNvPr id="7" name="TextBox 6"/>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0515600" cy="274320"/>
          </a:xfrm>
          <a:prstGeom prst="rect">
            <a:avLst/>
          </a:prstGeom>
          <a:noFill/>
        </p:spPr>
        <p:txBody>
          <a:bodyPr wrap="square">
            <a:spAutoFit/>
          </a:bodyPr>
          <a:lstStyle/>
          <a:p>
            <a:pPr algn="l">
              <a:spcBef>
                <a:spcPts val="0"/>
              </a:spcBef>
              <a:spcAft>
                <a:spcPts val="0"/>
              </a:spcAft>
            </a:pPr>
            <a:r>
              <a:rPr sz="1050" b="1" i="0">
                <a:solidFill>
                  <a:srgbClr val="006D77"/>
                </a:solidFill>
                <a:latin typeface="Segoe UI"/>
              </a:rPr>
              <a:t>EXECUTIVE SUMMARY</a:t>
            </a:r>
          </a:p>
        </p:txBody>
      </p:sp>
      <p:sp>
        <p:nvSpPr>
          <p:cNvPr id="4" name="TextBox 3"/>
          <p:cNvSpPr txBox="1"/>
          <p:nvPr/>
        </p:nvSpPr>
        <p:spPr>
          <a:xfrm>
            <a:off x="566928" y="530352"/>
            <a:ext cx="11064240" cy="685800"/>
          </a:xfrm>
          <a:prstGeom prst="rect">
            <a:avLst/>
          </a:prstGeom>
          <a:noFill/>
        </p:spPr>
        <p:txBody>
          <a:bodyPr wrap="square">
            <a:spAutoFit/>
          </a:bodyPr>
          <a:lstStyle/>
          <a:p>
            <a:pPr algn="l">
              <a:spcBef>
                <a:spcPts val="0"/>
              </a:spcBef>
              <a:spcAft>
                <a:spcPts val="0"/>
              </a:spcAft>
            </a:pPr>
            <a:r>
              <a:rPr sz="2700" b="1" i="0">
                <a:solidFill>
                  <a:srgbClr val="1A1A1A"/>
                </a:solidFill>
                <a:latin typeface="Segoe UI"/>
              </a:rPr>
              <a:t>A working migration, not a feasibility study</a:t>
            </a:r>
          </a:p>
        </p:txBody>
      </p:sp>
      <p:sp>
        <p:nvSpPr>
          <p:cNvPr id="5" name="Rectangle 4"/>
          <p:cNvSpPr/>
          <p:nvPr/>
        </p:nvSpPr>
        <p:spPr>
          <a:xfrm>
            <a:off x="566928" y="1481328"/>
            <a:ext cx="2081174" cy="1170432"/>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81328"/>
            <a:ext cx="2081174" cy="50292"/>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664208"/>
            <a:ext cx="1898294" cy="566928"/>
          </a:xfrm>
          <a:prstGeom prst="rect">
            <a:avLst/>
          </a:prstGeom>
          <a:noFill/>
        </p:spPr>
        <p:txBody>
          <a:bodyPr wrap="square">
            <a:spAutoFit/>
          </a:bodyPr>
          <a:lstStyle/>
          <a:p>
            <a:pPr algn="ctr">
              <a:spcBef>
                <a:spcPts val="0"/>
              </a:spcBef>
              <a:spcAft>
                <a:spcPts val="0"/>
              </a:spcAft>
            </a:pPr>
            <a:r>
              <a:rPr sz="3000" b="1" i="0">
                <a:solidFill>
                  <a:srgbClr val="006D77"/>
                </a:solidFill>
                <a:latin typeface="Segoe UI"/>
              </a:rPr>
              <a:t>100%</a:t>
            </a:r>
          </a:p>
        </p:txBody>
      </p:sp>
      <p:sp>
        <p:nvSpPr>
          <p:cNvPr id="8" name="TextBox 7"/>
          <p:cNvSpPr txBox="1"/>
          <p:nvPr/>
        </p:nvSpPr>
        <p:spPr>
          <a:xfrm>
            <a:off x="640080" y="2231136"/>
            <a:ext cx="1934870" cy="384048"/>
          </a:xfrm>
          <a:prstGeom prst="rect">
            <a:avLst/>
          </a:prstGeom>
          <a:noFill/>
        </p:spPr>
        <p:txBody>
          <a:bodyPr wrap="square">
            <a:spAutoFit/>
          </a:bodyPr>
          <a:lstStyle/>
          <a:p>
            <a:pPr algn="ctr">
              <a:spcBef>
                <a:spcPts val="0"/>
              </a:spcBef>
              <a:spcAft>
                <a:spcPts val="0"/>
              </a:spcAft>
            </a:pPr>
            <a:r>
              <a:rPr sz="1050" b="0" i="0">
                <a:solidFill>
                  <a:srgbClr val="3C3C3C"/>
                </a:solidFill>
                <a:latin typeface="Segoe UI"/>
              </a:rPr>
              <a:t>Case lifecycle structure
migrated automatically</a:t>
            </a:r>
          </a:p>
        </p:txBody>
      </p:sp>
      <p:sp>
        <p:nvSpPr>
          <p:cNvPr id="9" name="Rectangle 8"/>
          <p:cNvSpPr/>
          <p:nvPr/>
        </p:nvSpPr>
        <p:spPr>
          <a:xfrm>
            <a:off x="2812694" y="1481328"/>
            <a:ext cx="2081174" cy="1170432"/>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812694" y="1481328"/>
            <a:ext cx="2081174" cy="50292"/>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04134" y="1664208"/>
            <a:ext cx="1898294" cy="566928"/>
          </a:xfrm>
          <a:prstGeom prst="rect">
            <a:avLst/>
          </a:prstGeom>
          <a:noFill/>
        </p:spPr>
        <p:txBody>
          <a:bodyPr wrap="square">
            <a:spAutoFit/>
          </a:bodyPr>
          <a:lstStyle/>
          <a:p>
            <a:pPr algn="ctr">
              <a:spcBef>
                <a:spcPts val="0"/>
              </a:spcBef>
              <a:spcAft>
                <a:spcPts val="0"/>
              </a:spcAft>
            </a:pPr>
            <a:r>
              <a:rPr sz="3000" b="1" i="0">
                <a:solidFill>
                  <a:srgbClr val="006D77"/>
                </a:solidFill>
                <a:latin typeface="Segoe UI"/>
              </a:rPr>
              <a:t>49/49</a:t>
            </a:r>
          </a:p>
        </p:txBody>
      </p:sp>
      <p:sp>
        <p:nvSpPr>
          <p:cNvPr id="12" name="TextBox 11"/>
          <p:cNvSpPr txBox="1"/>
          <p:nvPr/>
        </p:nvSpPr>
        <p:spPr>
          <a:xfrm>
            <a:off x="2885846" y="2231136"/>
            <a:ext cx="1934870" cy="384048"/>
          </a:xfrm>
          <a:prstGeom prst="rect">
            <a:avLst/>
          </a:prstGeom>
          <a:noFill/>
        </p:spPr>
        <p:txBody>
          <a:bodyPr wrap="square">
            <a:spAutoFit/>
          </a:bodyPr>
          <a:lstStyle/>
          <a:p>
            <a:pPr algn="ctr">
              <a:spcBef>
                <a:spcPts val="0"/>
              </a:spcBef>
              <a:spcAft>
                <a:spcPts val="0"/>
              </a:spcAft>
            </a:pPr>
            <a:r>
              <a:rPr sz="1050" b="0" i="0">
                <a:solidFill>
                  <a:srgbClr val="3C3C3C"/>
                </a:solidFill>
                <a:latin typeface="Segoe UI"/>
              </a:rPr>
              <a:t>Automated verification
checks passing</a:t>
            </a:r>
          </a:p>
        </p:txBody>
      </p:sp>
      <p:sp>
        <p:nvSpPr>
          <p:cNvPr id="13" name="Rectangle 12"/>
          <p:cNvSpPr/>
          <p:nvPr/>
        </p:nvSpPr>
        <p:spPr>
          <a:xfrm>
            <a:off x="5058460" y="1481328"/>
            <a:ext cx="2081174" cy="1170432"/>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58460" y="1481328"/>
            <a:ext cx="2081174" cy="50292"/>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49900" y="1664208"/>
            <a:ext cx="1898294" cy="566928"/>
          </a:xfrm>
          <a:prstGeom prst="rect">
            <a:avLst/>
          </a:prstGeom>
          <a:noFill/>
        </p:spPr>
        <p:txBody>
          <a:bodyPr wrap="square">
            <a:spAutoFit/>
          </a:bodyPr>
          <a:lstStyle/>
          <a:p>
            <a:pPr algn="ctr">
              <a:spcBef>
                <a:spcPts val="0"/>
              </a:spcBef>
              <a:spcAft>
                <a:spcPts val="0"/>
              </a:spcAft>
            </a:pPr>
            <a:r>
              <a:rPr sz="3000" b="1" i="0">
                <a:solidFill>
                  <a:srgbClr val="006D77"/>
                </a:solidFill>
                <a:latin typeface="Segoe UI"/>
              </a:rPr>
              <a:t>5 of 5</a:t>
            </a:r>
          </a:p>
        </p:txBody>
      </p:sp>
      <p:sp>
        <p:nvSpPr>
          <p:cNvPr id="16" name="TextBox 15"/>
          <p:cNvSpPr txBox="1"/>
          <p:nvPr/>
        </p:nvSpPr>
        <p:spPr>
          <a:xfrm>
            <a:off x="5131612" y="2231136"/>
            <a:ext cx="1934870" cy="384048"/>
          </a:xfrm>
          <a:prstGeom prst="rect">
            <a:avLst/>
          </a:prstGeom>
          <a:noFill/>
        </p:spPr>
        <p:txBody>
          <a:bodyPr wrap="square">
            <a:spAutoFit/>
          </a:bodyPr>
          <a:lstStyle/>
          <a:p>
            <a:pPr algn="ctr">
              <a:spcBef>
                <a:spcPts val="0"/>
              </a:spcBef>
              <a:spcAft>
                <a:spcPts val="0"/>
              </a:spcAft>
            </a:pPr>
            <a:r>
              <a:rPr sz="1050" b="0" i="0">
                <a:solidFill>
                  <a:srgbClr val="3C3C3C"/>
                </a:solidFill>
                <a:latin typeface="Segoe UI"/>
              </a:rPr>
              <a:t>Case types running
end to end</a:t>
            </a:r>
          </a:p>
        </p:txBody>
      </p:sp>
      <p:sp>
        <p:nvSpPr>
          <p:cNvPr id="17" name="Rectangle 16"/>
          <p:cNvSpPr/>
          <p:nvPr/>
        </p:nvSpPr>
        <p:spPr>
          <a:xfrm>
            <a:off x="7304227" y="1481328"/>
            <a:ext cx="2081174" cy="1170432"/>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04227" y="1481328"/>
            <a:ext cx="2081174" cy="50292"/>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95667" y="1664208"/>
            <a:ext cx="1898294" cy="566928"/>
          </a:xfrm>
          <a:prstGeom prst="rect">
            <a:avLst/>
          </a:prstGeom>
          <a:noFill/>
        </p:spPr>
        <p:txBody>
          <a:bodyPr wrap="square">
            <a:spAutoFit/>
          </a:bodyPr>
          <a:lstStyle/>
          <a:p>
            <a:pPr algn="ctr">
              <a:spcBef>
                <a:spcPts val="0"/>
              </a:spcBef>
              <a:spcAft>
                <a:spcPts val="0"/>
              </a:spcAft>
            </a:pPr>
            <a:r>
              <a:rPr sz="3000" b="1" i="0">
                <a:solidFill>
                  <a:srgbClr val="006D77"/>
                </a:solidFill>
                <a:latin typeface="Segoe UI"/>
              </a:rPr>
              <a:t>27</a:t>
            </a:r>
          </a:p>
        </p:txBody>
      </p:sp>
      <p:sp>
        <p:nvSpPr>
          <p:cNvPr id="20" name="TextBox 19"/>
          <p:cNvSpPr txBox="1"/>
          <p:nvPr/>
        </p:nvSpPr>
        <p:spPr>
          <a:xfrm>
            <a:off x="7377379" y="2231136"/>
            <a:ext cx="1934870" cy="384048"/>
          </a:xfrm>
          <a:prstGeom prst="rect">
            <a:avLst/>
          </a:prstGeom>
          <a:noFill/>
        </p:spPr>
        <p:txBody>
          <a:bodyPr wrap="square">
            <a:spAutoFit/>
          </a:bodyPr>
          <a:lstStyle/>
          <a:p>
            <a:pPr algn="ctr">
              <a:spcBef>
                <a:spcPts val="0"/>
              </a:spcBef>
              <a:spcAft>
                <a:spcPts val="0"/>
              </a:spcAft>
            </a:pPr>
            <a:r>
              <a:rPr sz="1050" b="0" i="0">
                <a:solidFill>
                  <a:srgbClr val="3C3C3C"/>
                </a:solidFill>
                <a:latin typeface="Segoe UI"/>
              </a:rPr>
              <a:t>Dataverse tables
provisioned</a:t>
            </a:r>
          </a:p>
        </p:txBody>
      </p:sp>
      <p:sp>
        <p:nvSpPr>
          <p:cNvPr id="21" name="Rectangle 20"/>
          <p:cNvSpPr/>
          <p:nvPr/>
        </p:nvSpPr>
        <p:spPr>
          <a:xfrm>
            <a:off x="9549993" y="1481328"/>
            <a:ext cx="2081174" cy="1170432"/>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549993" y="1481328"/>
            <a:ext cx="2081174" cy="50292"/>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41433" y="1664208"/>
            <a:ext cx="1898294" cy="566928"/>
          </a:xfrm>
          <a:prstGeom prst="rect">
            <a:avLst/>
          </a:prstGeom>
          <a:noFill/>
        </p:spPr>
        <p:txBody>
          <a:bodyPr wrap="square">
            <a:spAutoFit/>
          </a:bodyPr>
          <a:lstStyle/>
          <a:p>
            <a:pPr algn="ctr">
              <a:spcBef>
                <a:spcPts val="0"/>
              </a:spcBef>
              <a:spcAft>
                <a:spcPts val="0"/>
              </a:spcAft>
            </a:pPr>
            <a:r>
              <a:rPr sz="3000" b="1" i="0">
                <a:solidFill>
                  <a:srgbClr val="006D77"/>
                </a:solidFill>
                <a:latin typeface="Segoe UI"/>
              </a:rPr>
              <a:t>~51%</a:t>
            </a:r>
          </a:p>
        </p:txBody>
      </p:sp>
      <p:sp>
        <p:nvSpPr>
          <p:cNvPr id="24" name="TextBox 23"/>
          <p:cNvSpPr txBox="1"/>
          <p:nvPr/>
        </p:nvSpPr>
        <p:spPr>
          <a:xfrm>
            <a:off x="9623145" y="2231136"/>
            <a:ext cx="1934870" cy="384048"/>
          </a:xfrm>
          <a:prstGeom prst="rect">
            <a:avLst/>
          </a:prstGeom>
          <a:noFill/>
        </p:spPr>
        <p:txBody>
          <a:bodyPr wrap="square">
            <a:spAutoFit/>
          </a:bodyPr>
          <a:lstStyle/>
          <a:p>
            <a:pPr algn="ctr">
              <a:spcBef>
                <a:spcPts val="0"/>
              </a:spcBef>
              <a:spcAft>
                <a:spcPts val="0"/>
              </a:spcAft>
            </a:pPr>
            <a:r>
              <a:rPr sz="1050" b="0" i="0">
                <a:solidFill>
                  <a:srgbClr val="3C3C3C"/>
                </a:solidFill>
                <a:latin typeface="Segoe UI"/>
              </a:rPr>
              <a:t>Step bodies needing
manual implementation</a:t>
            </a:r>
          </a:p>
        </p:txBody>
      </p:sp>
      <p:sp>
        <p:nvSpPr>
          <p:cNvPr id="25" name="TextBox 24"/>
          <p:cNvSpPr txBox="1"/>
          <p:nvPr/>
        </p:nvSpPr>
        <p:spPr>
          <a:xfrm>
            <a:off x="566928" y="2926080"/>
            <a:ext cx="11064240" cy="2773426"/>
          </a:xfrm>
          <a:prstGeom prst="rect">
            <a:avLst/>
          </a:prstGeom>
          <a:noFill/>
        </p:spPr>
        <p:txBody>
          <a:bodyPr wrap="square">
            <a:spAutoFit/>
          </a:bodyPr>
          <a:lstStyle/>
          <a:p>
            <a:pPr algn="l">
              <a:spcBef>
                <a:spcPts val="0"/>
              </a:spcBef>
              <a:spcAft>
                <a:spcPts val="700"/>
              </a:spcAft>
            </a:pPr>
            <a:r>
              <a:rPr sz="1350" b="1" i="0">
                <a:solidFill>
                  <a:srgbClr val="1A1A1A"/>
                </a:solidFill>
                <a:latin typeface="Segoe UI"/>
              </a:rPr>
              <a:t>Objective</a:t>
            </a:r>
          </a:p>
          <a:p>
            <a:pPr algn="l">
              <a:spcBef>
                <a:spcPts val="0"/>
              </a:spcBef>
              <a:spcAft>
                <a:spcPts val="700"/>
              </a:spcAft>
            </a:pPr>
            <a:r>
              <a:rPr sz="1350" b="0" i="0">
                <a:solidFill>
                  <a:srgbClr val="1A1A1A"/>
                </a:solidFill>
                <a:latin typeface="Segoe UI"/>
              </a:rPr>
              <a:t>•  Prove that a production Pega application can be migrated to the Power Platform with its process fidelity intact - and quantify precisely what does not come across.</a:t>
            </a:r>
          </a:p>
          <a:p>
            <a:pPr algn="l">
              <a:spcBef>
                <a:spcPts val="800"/>
              </a:spcBef>
              <a:spcAft>
                <a:spcPts val="700"/>
              </a:spcAft>
            </a:pPr>
            <a:r>
              <a:rPr sz="1350" b="1" i="0">
                <a:solidFill>
                  <a:srgbClr val="1A1A1A"/>
                </a:solidFill>
                <a:latin typeface="Segoe UI"/>
              </a:rPr>
              <a:t>Outcome</a:t>
            </a:r>
          </a:p>
          <a:p>
            <a:pPr algn="l">
              <a:spcBef>
                <a:spcPts val="0"/>
              </a:spcBef>
              <a:spcAft>
                <a:spcPts val="700"/>
              </a:spcAft>
            </a:pPr>
            <a:r>
              <a:rPr sz="1350" b="0" i="0">
                <a:solidFill>
                  <a:srgbClr val="1A1A1A"/>
                </a:solidFill>
                <a:latin typeface="Segoe UI"/>
              </a:rPr>
              <a:t>•  The Lending Due Diligence application is deployed and operating in the Patrick Clarke environment. All five case types create, advance through their stages, evaluate decisions and reach resolution.</a:t>
            </a:r>
          </a:p>
          <a:p>
            <a:pPr algn="l">
              <a:spcBef>
                <a:spcPts val="800"/>
              </a:spcBef>
              <a:spcAft>
                <a:spcPts val="700"/>
              </a:spcAft>
            </a:pPr>
            <a:r>
              <a:rPr sz="1350" b="1" i="0">
                <a:solidFill>
                  <a:srgbClr val="1A1A1A"/>
                </a:solidFill>
                <a:latin typeface="Segoe UI"/>
              </a:rPr>
              <a:t>The headline finding</a:t>
            </a:r>
          </a:p>
          <a:p>
            <a:pPr algn="l">
              <a:spcBef>
                <a:spcPts val="0"/>
              </a:spcBef>
              <a:spcAft>
                <a:spcPts val="700"/>
              </a:spcAft>
            </a:pPr>
            <a:r>
              <a:rPr sz="1350" b="0" i="0">
                <a:solidFill>
                  <a:srgbClr val="1A1A1A"/>
                </a:solidFill>
                <a:latin typeface="Segoe UI"/>
              </a:rPr>
              <a:t>•  Process structure migrates almost entirely through automation. Process behaviour - notifications, data transforms, document generation - does not, because Pega does not expose it in any exportable form.</a:t>
            </a:r>
          </a:p>
        </p:txBody>
      </p:sp>
      <p:sp>
        <p:nvSpPr>
          <p:cNvPr id="26" name="TextBox 25"/>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0515600" cy="274320"/>
          </a:xfrm>
          <a:prstGeom prst="rect">
            <a:avLst/>
          </a:prstGeom>
          <a:noFill/>
        </p:spPr>
        <p:txBody>
          <a:bodyPr wrap="square">
            <a:spAutoFit/>
          </a:bodyPr>
          <a:lstStyle/>
          <a:p>
            <a:pPr algn="l">
              <a:spcBef>
                <a:spcPts val="0"/>
              </a:spcBef>
              <a:spcAft>
                <a:spcPts val="0"/>
              </a:spcAft>
            </a:pPr>
            <a:r>
              <a:rPr sz="1050" b="1" i="0">
                <a:solidFill>
                  <a:srgbClr val="006D77"/>
                </a:solidFill>
                <a:latin typeface="Segoe UI"/>
              </a:rPr>
              <a:t>EXECUTIVE SUMMARY</a:t>
            </a:r>
          </a:p>
        </p:txBody>
      </p:sp>
      <p:sp>
        <p:nvSpPr>
          <p:cNvPr id="4" name="TextBox 3"/>
          <p:cNvSpPr txBox="1"/>
          <p:nvPr/>
        </p:nvSpPr>
        <p:spPr>
          <a:xfrm>
            <a:off x="566928" y="530352"/>
            <a:ext cx="11064240" cy="685800"/>
          </a:xfrm>
          <a:prstGeom prst="rect">
            <a:avLst/>
          </a:prstGeom>
          <a:noFill/>
        </p:spPr>
        <p:txBody>
          <a:bodyPr wrap="square">
            <a:spAutoFit/>
          </a:bodyPr>
          <a:lstStyle/>
          <a:p>
            <a:pPr algn="l">
              <a:spcBef>
                <a:spcPts val="0"/>
              </a:spcBef>
              <a:spcAft>
                <a:spcPts val="0"/>
              </a:spcAft>
            </a:pPr>
            <a:r>
              <a:rPr sz="2700" b="1" i="0">
                <a:solidFill>
                  <a:srgbClr val="1A1A1A"/>
                </a:solidFill>
                <a:latin typeface="Segoe UI"/>
              </a:rPr>
              <a:t>Business challenges being addressed</a:t>
            </a:r>
          </a:p>
        </p:txBody>
      </p:sp>
      <p:graphicFrame>
        <p:nvGraphicFramePr>
          <p:cNvPr id="5" name="Table 4"/>
          <p:cNvGraphicFramePr>
            <a:graphicFrameLocks noGrp="1"/>
          </p:cNvGraphicFramePr>
          <p:nvPr/>
        </p:nvGraphicFramePr>
        <p:xfrm>
          <a:off x="566928" y="1572768"/>
          <a:ext cx="11064240" cy="1719072"/>
        </p:xfrm>
        <a:graphic>
          <a:graphicData uri="http://schemas.openxmlformats.org/drawingml/2006/table">
            <a:tbl>
              <a:tblPr firstRow="1" bandRow="1">
                <a:tableStyleId>{5C22544A-7EE6-4342-B048-85BDC9FD1C3A}</a:tableStyleId>
              </a:tblPr>
              <a:tblGrid>
                <a:gridCol w="2377440"/>
                <a:gridCol w="4114800"/>
                <a:gridCol w="4572000"/>
              </a:tblGrid>
              <a:tr h="347472">
                <a:tc>
                  <a:txBody>
                    <a:bodyPr wrap="square"/>
                    <a:lstStyle/>
                    <a:p>
                      <a:r>
                        <a:rPr sz="1200" b="1">
                          <a:solidFill>
                            <a:srgbClr val="FFFFFF"/>
                          </a:solidFill>
                          <a:latin typeface="Segoe UI"/>
                        </a:rPr>
                        <a:t>Challenge</a:t>
                      </a:r>
                    </a:p>
                  </a:txBody>
                  <a:tcPr anchor="ctr" marL="91440">
                    <a:solidFill>
                      <a:srgbClr val="006D77"/>
                    </a:solidFill>
                  </a:tcPr>
                </a:tc>
                <a:tc>
                  <a:txBody>
                    <a:bodyPr wrap="square"/>
                    <a:lstStyle/>
                    <a:p>
                      <a:r>
                        <a:rPr sz="1200" b="1">
                          <a:solidFill>
                            <a:srgbClr val="FFFFFF"/>
                          </a:solidFill>
                          <a:latin typeface="Segoe UI"/>
                        </a:rPr>
                        <a:t>Impact today</a:t>
                      </a:r>
                    </a:p>
                  </a:txBody>
                  <a:tcPr anchor="ctr" marL="91440">
                    <a:solidFill>
                      <a:srgbClr val="006D77"/>
                    </a:solidFill>
                  </a:tcPr>
                </a:tc>
                <a:tc>
                  <a:txBody>
                    <a:bodyPr wrap="square"/>
                    <a:lstStyle/>
                    <a:p>
                      <a:r>
                        <a:rPr sz="1200" b="1">
                          <a:solidFill>
                            <a:srgbClr val="FFFFFF"/>
                          </a:solidFill>
                          <a:latin typeface="Segoe UI"/>
                        </a:rPr>
                        <a:t>How the target state responds</a:t>
                      </a:r>
                    </a:p>
                  </a:txBody>
                  <a:tcPr anchor="ctr" marL="91440">
                    <a:solidFill>
                      <a:srgbClr val="006D77"/>
                    </a:solidFill>
                  </a:tcPr>
                </a:tc>
              </a:tr>
              <a:tr h="274320">
                <a:tc>
                  <a:txBody>
                    <a:bodyPr wrap="square"/>
                    <a:lstStyle/>
                    <a:p>
                      <a:r>
                        <a:rPr sz="1200" b="1">
                          <a:solidFill>
                            <a:srgbClr val="1A1A1A"/>
                          </a:solidFill>
                          <a:latin typeface="Segoe UI"/>
                        </a:rPr>
                        <a:t>Specialist skill dependency</a:t>
                      </a:r>
                    </a:p>
                  </a:txBody>
                  <a:tcPr anchor="ctr" marL="91440" marT="18288" marB="18288">
                    <a:solidFill>
                      <a:srgbClr val="FFFFFF"/>
                    </a:solidFill>
                  </a:tcPr>
                </a:tc>
                <a:tc>
                  <a:txBody>
                    <a:bodyPr wrap="square"/>
                    <a:lstStyle/>
                    <a:p>
                      <a:r>
                        <a:rPr sz="1200" b="0">
                          <a:solidFill>
                            <a:srgbClr val="3C3C3C"/>
                          </a:solidFill>
                          <a:latin typeface="Segoe UI"/>
                        </a:rPr>
                        <a:t>Pega development requires scarce, costly certified specialists</a:t>
                      </a:r>
                    </a:p>
                  </a:txBody>
                  <a:tcPr anchor="ctr" marL="91440" marT="18288" marB="18288">
                    <a:solidFill>
                      <a:srgbClr val="FFFFFF"/>
                    </a:solidFill>
                  </a:tcPr>
                </a:tc>
                <a:tc>
                  <a:txBody>
                    <a:bodyPr wrap="square"/>
                    <a:lstStyle/>
                    <a:p>
                      <a:r>
                        <a:rPr sz="1200" b="0">
                          <a:solidFill>
                            <a:srgbClr val="3C3C3C"/>
                          </a:solidFill>
                          <a:latin typeface="Segoe UI"/>
                        </a:rPr>
                        <a:t>React + TypeScript + Dataverse draws on a far larger talent pool</a:t>
                      </a:r>
                    </a:p>
                  </a:txBody>
                  <a:tcPr anchor="ctr" marL="91440" marT="18288" marB="18288">
                    <a:solidFill>
                      <a:srgbClr val="FFFFFF"/>
                    </a:solidFill>
                  </a:tcPr>
                </a:tc>
              </a:tr>
              <a:tr h="274320">
                <a:tc>
                  <a:txBody>
                    <a:bodyPr wrap="square"/>
                    <a:lstStyle/>
                    <a:p>
                      <a:r>
                        <a:rPr sz="1200" b="1">
                          <a:solidFill>
                            <a:srgbClr val="1A1A1A"/>
                          </a:solidFill>
                          <a:latin typeface="Segoe UI"/>
                        </a:rPr>
                        <a:t>Licence cost concentration</a:t>
                      </a:r>
                    </a:p>
                  </a:txBody>
                  <a:tcPr anchor="ctr" marL="91440" marT="18288" marB="18288">
                    <a:solidFill>
                      <a:srgbClr val="F4F5F7"/>
                    </a:solidFill>
                  </a:tcPr>
                </a:tc>
                <a:tc>
                  <a:txBody>
                    <a:bodyPr wrap="square"/>
                    <a:lstStyle/>
                    <a:p>
                      <a:r>
                        <a:rPr sz="1200" b="0">
                          <a:solidFill>
                            <a:srgbClr val="3C3C3C"/>
                          </a:solidFill>
                          <a:latin typeface="Segoe UI"/>
                        </a:rPr>
                        <a:t>Per-case and per-user Pega licensing scales unfavourably</a:t>
                      </a:r>
                    </a:p>
                  </a:txBody>
                  <a:tcPr anchor="ctr" marL="91440" marT="18288" marB="18288">
                    <a:solidFill>
                      <a:srgbClr val="F4F5F7"/>
                    </a:solidFill>
                  </a:tcPr>
                </a:tc>
                <a:tc>
                  <a:txBody>
                    <a:bodyPr wrap="square"/>
                    <a:lstStyle/>
                    <a:p>
                      <a:r>
                        <a:rPr sz="1200" b="0">
                          <a:solidFill>
                            <a:srgbClr val="3C3C3C"/>
                          </a:solidFill>
                          <a:latin typeface="Segoe UI"/>
                        </a:rPr>
                        <a:t>Consolidates onto existing M365 / Power Platform investment</a:t>
                      </a:r>
                    </a:p>
                  </a:txBody>
                  <a:tcPr anchor="ctr" marL="91440" marT="18288" marB="18288">
                    <a:solidFill>
                      <a:srgbClr val="F4F5F7"/>
                    </a:solidFill>
                  </a:tcPr>
                </a:tc>
              </a:tr>
              <a:tr h="274320">
                <a:tc>
                  <a:txBody>
                    <a:bodyPr wrap="square"/>
                    <a:lstStyle/>
                    <a:p>
                      <a:r>
                        <a:rPr sz="1200" b="1">
                          <a:solidFill>
                            <a:srgbClr val="1A1A1A"/>
                          </a:solidFill>
                          <a:latin typeface="Segoe UI"/>
                        </a:rPr>
                        <a:t>Change latency</a:t>
                      </a:r>
                    </a:p>
                  </a:txBody>
                  <a:tcPr anchor="ctr" marL="91440" marT="18288" marB="18288">
                    <a:solidFill>
                      <a:srgbClr val="FFFFFF"/>
                    </a:solidFill>
                  </a:tcPr>
                </a:tc>
                <a:tc>
                  <a:txBody>
                    <a:bodyPr wrap="square"/>
                    <a:lstStyle/>
                    <a:p>
                      <a:r>
                        <a:rPr sz="1200" b="0">
                          <a:solidFill>
                            <a:srgbClr val="3C3C3C"/>
                          </a:solidFill>
                          <a:latin typeface="Segoe UI"/>
                        </a:rPr>
                        <a:t>Process changes need a developer, a build and a deployment</a:t>
                      </a:r>
                    </a:p>
                  </a:txBody>
                  <a:tcPr anchor="ctr" marL="91440" marT="18288" marB="18288">
                    <a:solidFill>
                      <a:srgbClr val="FFFFFF"/>
                    </a:solidFill>
                  </a:tcPr>
                </a:tc>
                <a:tc>
                  <a:txBody>
                    <a:bodyPr wrap="square"/>
                    <a:lstStyle/>
                    <a:p>
                      <a:r>
                        <a:rPr sz="1200" b="0">
                          <a:solidFill>
                            <a:srgbClr val="3C3C3C"/>
                          </a:solidFill>
                          <a:latin typeface="Segoe UI"/>
                        </a:rPr>
                        <a:t>Process is configuration data - change without a code release</a:t>
                      </a:r>
                    </a:p>
                  </a:txBody>
                  <a:tcPr anchor="ctr" marL="91440" marT="18288" marB="18288">
                    <a:solidFill>
                      <a:srgbClr val="FFFFFF"/>
                    </a:solidFill>
                  </a:tcPr>
                </a:tc>
              </a:tr>
              <a:tr h="274320">
                <a:tc>
                  <a:txBody>
                    <a:bodyPr wrap="square"/>
                    <a:lstStyle/>
                    <a:p>
                      <a:r>
                        <a:rPr sz="1200" b="1">
                          <a:solidFill>
                            <a:srgbClr val="1A1A1A"/>
                          </a:solidFill>
                          <a:latin typeface="Segoe UI"/>
                        </a:rPr>
                        <a:t>Platform isolation</a:t>
                      </a:r>
                    </a:p>
                  </a:txBody>
                  <a:tcPr anchor="ctr" marL="91440" marT="18288" marB="18288">
                    <a:solidFill>
                      <a:srgbClr val="F4F5F7"/>
                    </a:solidFill>
                  </a:tcPr>
                </a:tc>
                <a:tc>
                  <a:txBody>
                    <a:bodyPr wrap="square"/>
                    <a:lstStyle/>
                    <a:p>
                      <a:r>
                        <a:rPr sz="1200" b="0">
                          <a:solidFill>
                            <a:srgbClr val="3C3C3C"/>
                          </a:solidFill>
                          <a:latin typeface="Segoe UI"/>
                        </a:rPr>
                        <a:t>Integration to M365, Azure and Teams is bespoke work</a:t>
                      </a:r>
                    </a:p>
                  </a:txBody>
                  <a:tcPr anchor="ctr" marL="91440" marT="18288" marB="18288">
                    <a:solidFill>
                      <a:srgbClr val="F4F5F7"/>
                    </a:solidFill>
                  </a:tcPr>
                </a:tc>
                <a:tc>
                  <a:txBody>
                    <a:bodyPr wrap="square"/>
                    <a:lstStyle/>
                    <a:p>
                      <a:r>
                        <a:rPr sz="1200" b="0">
                          <a:solidFill>
                            <a:srgbClr val="3C3C3C"/>
                          </a:solidFill>
                          <a:latin typeface="Segoe UI"/>
                        </a:rPr>
                        <a:t>Native connectors; Dataverse is already inside the tenant</a:t>
                      </a:r>
                    </a:p>
                  </a:txBody>
                  <a:tcPr anchor="ctr" marL="91440" marT="18288" marB="18288">
                    <a:solidFill>
                      <a:srgbClr val="F4F5F7"/>
                    </a:solidFill>
                  </a:tcPr>
                </a:tc>
              </a:tr>
              <a:tr h="274320">
                <a:tc>
                  <a:txBody>
                    <a:bodyPr wrap="square"/>
                    <a:lstStyle/>
                    <a:p>
                      <a:r>
                        <a:rPr sz="1200" b="1">
                          <a:solidFill>
                            <a:srgbClr val="1A1A1A"/>
                          </a:solidFill>
                          <a:latin typeface="Segoe UI"/>
                        </a:rPr>
                        <a:t>Opaque logic</a:t>
                      </a:r>
                    </a:p>
                  </a:txBody>
                  <a:tcPr anchor="ctr" marL="91440" marT="18288" marB="18288">
                    <a:solidFill>
                      <a:srgbClr val="FFFFFF"/>
                    </a:solidFill>
                  </a:tcPr>
                </a:tc>
                <a:tc>
                  <a:txBody>
                    <a:bodyPr wrap="square"/>
                    <a:lstStyle/>
                    <a:p>
                      <a:r>
                        <a:rPr sz="1200" b="0">
                          <a:solidFill>
                            <a:srgbClr val="3C3C3C"/>
                          </a:solidFill>
                          <a:latin typeface="Segoe UI"/>
                        </a:rPr>
                        <a:t>Business rules are locked inside a proprietary rule engine</a:t>
                      </a:r>
                    </a:p>
                  </a:txBody>
                  <a:tcPr anchor="ctr" marL="91440" marT="18288" marB="18288">
                    <a:solidFill>
                      <a:srgbClr val="FFFFFF"/>
                    </a:solidFill>
                  </a:tcPr>
                </a:tc>
                <a:tc>
                  <a:txBody>
                    <a:bodyPr wrap="square"/>
                    <a:lstStyle/>
                    <a:p>
                      <a:r>
                        <a:rPr sz="1200" b="0">
                          <a:solidFill>
                            <a:srgbClr val="3C3C3C"/>
                          </a:solidFill>
                          <a:latin typeface="Segoe UI"/>
                        </a:rPr>
                        <a:t>Decision tables become inspectable, queryable Dataverse rows</a:t>
                      </a:r>
                    </a:p>
                  </a:txBody>
                  <a:tcPr anchor="ctr" marL="91440" marT="18288" marB="18288">
                    <a:solidFill>
                      <a:srgbClr val="FFFFFF"/>
                    </a:solidFill>
                  </a:tcPr>
                </a:tc>
              </a:tr>
            </a:tbl>
          </a:graphicData>
        </a:graphic>
      </p:graphicFrame>
      <p:sp>
        <p:nvSpPr>
          <p:cNvPr id="6" name="Rectangle 5"/>
          <p:cNvSpPr/>
          <p:nvPr/>
        </p:nvSpPr>
        <p:spPr>
          <a:xfrm>
            <a:off x="566928" y="4572000"/>
            <a:ext cx="11064240" cy="65836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4572000"/>
            <a:ext cx="54864" cy="658368"/>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4663440"/>
            <a:ext cx="10652760" cy="493776"/>
          </a:xfrm>
          <a:prstGeom prst="rect">
            <a:avLst/>
          </a:prstGeom>
          <a:noFill/>
        </p:spPr>
        <p:txBody>
          <a:bodyPr wrap="square">
            <a:spAutoFit/>
          </a:bodyPr>
          <a:lstStyle/>
          <a:p>
            <a:pPr algn="l">
              <a:spcBef>
                <a:spcPts val="0"/>
              </a:spcBef>
              <a:spcAft>
                <a:spcPts val="0"/>
              </a:spcAft>
            </a:pPr>
            <a:r>
              <a:rPr sz="1250" b="0" i="0">
                <a:solidFill>
                  <a:srgbClr val="1A1A1A"/>
                </a:solidFill>
                <a:latin typeface="Segoe UI"/>
              </a:rPr>
              <a:t>Change latency is the one the PoC demonstrably solves: adding a stage or reordering steps is a data edit, with no redeploy.</a:t>
            </a:r>
          </a:p>
        </p:txBody>
      </p:sp>
      <p:sp>
        <p:nvSpPr>
          <p:cNvPr id="9" name="TextBox 8"/>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0515600" cy="274320"/>
          </a:xfrm>
          <a:prstGeom prst="rect">
            <a:avLst/>
          </a:prstGeom>
          <a:noFill/>
        </p:spPr>
        <p:txBody>
          <a:bodyPr wrap="square">
            <a:spAutoFit/>
          </a:bodyPr>
          <a:lstStyle/>
          <a:p>
            <a:pPr algn="l">
              <a:spcBef>
                <a:spcPts val="0"/>
              </a:spcBef>
              <a:spcAft>
                <a:spcPts val="0"/>
              </a:spcAft>
            </a:pPr>
            <a:r>
              <a:rPr sz="1050" b="1" i="0">
                <a:solidFill>
                  <a:srgbClr val="006D77"/>
                </a:solidFill>
                <a:latin typeface="Segoe UI"/>
              </a:rPr>
              <a:t>EXECUTIVE SUMMARY</a:t>
            </a:r>
          </a:p>
        </p:txBody>
      </p:sp>
      <p:sp>
        <p:nvSpPr>
          <p:cNvPr id="4" name="TextBox 3"/>
          <p:cNvSpPr txBox="1"/>
          <p:nvPr/>
        </p:nvSpPr>
        <p:spPr>
          <a:xfrm>
            <a:off x="566928" y="530352"/>
            <a:ext cx="11064240" cy="685800"/>
          </a:xfrm>
          <a:prstGeom prst="rect">
            <a:avLst/>
          </a:prstGeom>
          <a:noFill/>
        </p:spPr>
        <p:txBody>
          <a:bodyPr wrap="square">
            <a:spAutoFit/>
          </a:bodyPr>
          <a:lstStyle/>
          <a:p>
            <a:pPr algn="l">
              <a:spcBef>
                <a:spcPts val="0"/>
              </a:spcBef>
              <a:spcAft>
                <a:spcPts val="0"/>
              </a:spcAft>
            </a:pPr>
            <a:r>
              <a:rPr sz="2700" b="1" i="0">
                <a:solidFill>
                  <a:srgbClr val="1A1A1A"/>
                </a:solidFill>
                <a:latin typeface="Segoe UI"/>
              </a:rPr>
              <a:t>Expected outcomes and benefits</a:t>
            </a:r>
          </a:p>
        </p:txBody>
      </p:sp>
      <p:sp>
        <p:nvSpPr>
          <p:cNvPr id="5" name="TextBox 4"/>
          <p:cNvSpPr txBox="1"/>
          <p:nvPr/>
        </p:nvSpPr>
        <p:spPr>
          <a:xfrm>
            <a:off x="566928" y="1417320"/>
            <a:ext cx="11064240" cy="4135881"/>
          </a:xfrm>
          <a:prstGeom prst="rect">
            <a:avLst/>
          </a:prstGeom>
          <a:noFill/>
        </p:spPr>
        <p:txBody>
          <a:bodyPr wrap="square">
            <a:spAutoFit/>
          </a:bodyPr>
          <a:lstStyle/>
          <a:p>
            <a:pPr algn="l">
              <a:spcBef>
                <a:spcPts val="0"/>
              </a:spcBef>
              <a:spcAft>
                <a:spcPts val="650"/>
              </a:spcAft>
            </a:pPr>
            <a:r>
              <a:rPr sz="1350" b="1" i="0">
                <a:solidFill>
                  <a:srgbClr val="1A1A1A"/>
                </a:solidFill>
                <a:latin typeface="Segoe UI"/>
              </a:rPr>
              <a:t>Proven in this PoC</a:t>
            </a:r>
          </a:p>
          <a:p>
            <a:pPr algn="l">
              <a:spcBef>
                <a:spcPts val="0"/>
              </a:spcBef>
              <a:spcAft>
                <a:spcPts val="650"/>
              </a:spcAft>
            </a:pPr>
            <a:r>
              <a:rPr sz="1350" b="0" i="0">
                <a:solidFill>
                  <a:srgbClr val="1A1A1A"/>
                </a:solidFill>
                <a:latin typeface="Segoe UI"/>
              </a:rPr>
              <a:t>•  Automated migration of case types, stages, steps, decision tables, view layouts, choice sets and roles from the Pega export</a:t>
            </a:r>
          </a:p>
          <a:p>
            <a:pPr algn="l">
              <a:spcBef>
                <a:spcPts val="0"/>
              </a:spcBef>
              <a:spcAft>
                <a:spcPts val="650"/>
              </a:spcAft>
            </a:pPr>
            <a:r>
              <a:rPr sz="1350" b="0" i="0">
                <a:solidFill>
                  <a:srgbClr val="1A1A1A"/>
                </a:solidFill>
                <a:latin typeface="Segoe UI"/>
              </a:rPr>
              <a:t>•  A metadata-driven engine: process changes are Dataverse row edits, not code</a:t>
            </a:r>
          </a:p>
          <a:p>
            <a:pPr algn="l">
              <a:spcBef>
                <a:spcPts val="0"/>
              </a:spcBef>
              <a:spcAft>
                <a:spcPts val="650"/>
              </a:spcAft>
            </a:pPr>
            <a:r>
              <a:rPr sz="1350" b="0" i="0">
                <a:solidFill>
                  <a:srgbClr val="1A1A1A"/>
                </a:solidFill>
                <a:latin typeface="Segoe UI"/>
              </a:rPr>
              <a:t>•  Full audit trail on every case event, queryable with standard Dataverse tooling</a:t>
            </a:r>
          </a:p>
          <a:p>
            <a:pPr algn="l">
              <a:spcBef>
                <a:spcPts val="0"/>
              </a:spcBef>
              <a:spcAft>
                <a:spcPts val="650"/>
              </a:spcAft>
            </a:pPr>
            <a:r>
              <a:rPr sz="1350" b="0" i="0">
                <a:solidFill>
                  <a:srgbClr val="1A1A1A"/>
                </a:solidFill>
                <a:latin typeface="Segoe UI"/>
              </a:rPr>
              <a:t>•  Automated regression harness that exercises the real engine against live data</a:t>
            </a:r>
          </a:p>
          <a:p>
            <a:pPr algn="l">
              <a:spcBef>
                <a:spcPts val="800"/>
              </a:spcBef>
              <a:spcAft>
                <a:spcPts val="650"/>
              </a:spcAft>
            </a:pPr>
            <a:r>
              <a:rPr sz="1350" b="1" i="0">
                <a:solidFill>
                  <a:srgbClr val="1A1A1A"/>
                </a:solidFill>
                <a:latin typeface="Segoe UI"/>
              </a:rPr>
              <a:t>Expected on production adoption</a:t>
            </a:r>
          </a:p>
          <a:p>
            <a:pPr algn="l">
              <a:spcBef>
                <a:spcPts val="0"/>
              </a:spcBef>
              <a:spcAft>
                <a:spcPts val="650"/>
              </a:spcAft>
            </a:pPr>
            <a:r>
              <a:rPr sz="1350" b="0" i="0">
                <a:solidFill>
                  <a:srgbClr val="1A1A1A"/>
                </a:solidFill>
                <a:latin typeface="Segoe UI"/>
              </a:rPr>
              <a:t>•  Reduced platform and licensing cost by consolidating onto existing investment</a:t>
            </a:r>
          </a:p>
          <a:p>
            <a:pPr algn="l">
              <a:spcBef>
                <a:spcPts val="0"/>
              </a:spcBef>
              <a:spcAft>
                <a:spcPts val="650"/>
              </a:spcAft>
            </a:pPr>
            <a:r>
              <a:rPr sz="1350" b="0" i="0">
                <a:solidFill>
                  <a:srgbClr val="1A1A1A"/>
                </a:solidFill>
                <a:latin typeface="Segoe UI"/>
              </a:rPr>
              <a:t>•  Faster process change cycles - configuration rather than development</a:t>
            </a:r>
          </a:p>
          <a:p>
            <a:pPr algn="l">
              <a:spcBef>
                <a:spcPts val="0"/>
              </a:spcBef>
              <a:spcAft>
                <a:spcPts val="650"/>
              </a:spcAft>
            </a:pPr>
            <a:r>
              <a:rPr sz="1350" b="0" i="0">
                <a:solidFill>
                  <a:srgbClr val="1A1A1A"/>
                </a:solidFill>
                <a:latin typeface="Segoe UI"/>
              </a:rPr>
              <a:t>•  Native M365 integration for notification, approval and document workflows</a:t>
            </a:r>
          </a:p>
          <a:p>
            <a:pPr algn="l">
              <a:spcBef>
                <a:spcPts val="0"/>
              </a:spcBef>
              <a:spcAft>
                <a:spcPts val="650"/>
              </a:spcAft>
            </a:pPr>
            <a:r>
              <a:rPr sz="1350" b="0" i="0">
                <a:solidFill>
                  <a:srgbClr val="1A1A1A"/>
                </a:solidFill>
                <a:latin typeface="Segoe UI"/>
              </a:rPr>
              <a:t>•  Business rules visible to analysts, not just to Pega developers</a:t>
            </a:r>
          </a:p>
          <a:p>
            <a:pPr algn="l">
              <a:spcBef>
                <a:spcPts val="800"/>
              </a:spcBef>
              <a:spcAft>
                <a:spcPts val="650"/>
              </a:spcAft>
            </a:pPr>
            <a:r>
              <a:rPr sz="1350" b="1" i="0">
                <a:solidFill>
                  <a:srgbClr val="1A1A1A"/>
                </a:solidFill>
                <a:latin typeface="Segoe UI"/>
              </a:rPr>
              <a:t>Deliberately not claimed</a:t>
            </a:r>
          </a:p>
          <a:p>
            <a:pPr algn="l">
              <a:spcBef>
                <a:spcPts val="0"/>
              </a:spcBef>
              <a:spcAft>
                <a:spcPts val="650"/>
              </a:spcAft>
            </a:pPr>
            <a:r>
              <a:rPr sz="1350" b="0" i="0">
                <a:solidFill>
                  <a:srgbClr val="1A1A1A"/>
                </a:solidFill>
                <a:latin typeface="Segoe UI"/>
              </a:rPr>
              <a:t>•  This PoC does not prove performance at production volume, nor does it address data migration of in-flight cases. Both are called out in Section 8.</a:t>
            </a:r>
          </a:p>
        </p:txBody>
      </p:sp>
      <p:sp>
        <p:nvSpPr>
          <p:cNvPr id="6" name="TextBox 5"/>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331720"/>
            <a:ext cx="1828800" cy="1097280"/>
          </a:xfrm>
          <a:prstGeom prst="rect">
            <a:avLst/>
          </a:prstGeom>
          <a:noFill/>
        </p:spPr>
        <p:txBody>
          <a:bodyPr wrap="square">
            <a:spAutoFit/>
          </a:bodyPr>
          <a:lstStyle/>
          <a:p>
            <a:pPr algn="l">
              <a:spcBef>
                <a:spcPts val="0"/>
              </a:spcBef>
              <a:spcAft>
                <a:spcPts val="0"/>
              </a:spcAft>
            </a:pPr>
            <a:r>
              <a:rPr sz="6400" b="1" i="0">
                <a:solidFill>
                  <a:srgbClr val="7FC4CB"/>
                </a:solidFill>
                <a:latin typeface="Segoe UI"/>
              </a:rPr>
              <a:t>02</a:t>
            </a:r>
          </a:p>
        </p:txBody>
      </p:sp>
      <p:sp>
        <p:nvSpPr>
          <p:cNvPr id="5" name="TextBox 4"/>
          <p:cNvSpPr txBox="1"/>
          <p:nvPr/>
        </p:nvSpPr>
        <p:spPr>
          <a:xfrm>
            <a:off x="2331720" y="2487168"/>
            <a:ext cx="8778240" cy="914400"/>
          </a:xfrm>
          <a:prstGeom prst="rect">
            <a:avLst/>
          </a:prstGeom>
          <a:noFill/>
        </p:spPr>
        <p:txBody>
          <a:bodyPr wrap="square">
            <a:spAutoFit/>
          </a:bodyPr>
          <a:lstStyle/>
          <a:p>
            <a:pPr algn="l">
              <a:spcBef>
                <a:spcPts val="0"/>
              </a:spcBef>
              <a:spcAft>
                <a:spcPts val="0"/>
              </a:spcAft>
            </a:pPr>
            <a:r>
              <a:rPr sz="3400" b="1" i="0">
                <a:solidFill>
                  <a:srgbClr val="FFFFFF"/>
                </a:solidFill>
                <a:latin typeface="Segoe UI"/>
              </a:rPr>
              <a:t>Current State Architecture</a:t>
            </a:r>
          </a:p>
        </p:txBody>
      </p:sp>
      <p:sp>
        <p:nvSpPr>
          <p:cNvPr id="6" name="TextBox 5"/>
          <p:cNvSpPr txBox="1"/>
          <p:nvPr/>
        </p:nvSpPr>
        <p:spPr>
          <a:xfrm>
            <a:off x="2395728" y="3401568"/>
            <a:ext cx="8595360" cy="640080"/>
          </a:xfrm>
          <a:prstGeom prst="rect">
            <a:avLst/>
          </a:prstGeom>
          <a:noFill/>
        </p:spPr>
        <p:txBody>
          <a:bodyPr wrap="square">
            <a:spAutoFit/>
          </a:bodyPr>
          <a:lstStyle/>
          <a:p>
            <a:pPr algn="l">
              <a:spcBef>
                <a:spcPts val="0"/>
              </a:spcBef>
              <a:spcAft>
                <a:spcPts val="0"/>
              </a:spcAft>
            </a:pPr>
            <a:r>
              <a:rPr sz="1450" b="0" i="0">
                <a:solidFill>
                  <a:srgbClr val="D6ECEE"/>
                </a:solidFill>
                <a:latin typeface="Segoe UI"/>
              </a:rPr>
              <a:t>The Pega application as it exists today</a:t>
            </a:r>
          </a:p>
        </p:txBody>
      </p:sp>
      <p:sp>
        <p:nvSpPr>
          <p:cNvPr id="7" name="TextBox 6"/>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0515600" cy="274320"/>
          </a:xfrm>
          <a:prstGeom prst="rect">
            <a:avLst/>
          </a:prstGeom>
          <a:noFill/>
        </p:spPr>
        <p:txBody>
          <a:bodyPr wrap="square">
            <a:spAutoFit/>
          </a:bodyPr>
          <a:lstStyle/>
          <a:p>
            <a:pPr algn="l">
              <a:spcBef>
                <a:spcPts val="0"/>
              </a:spcBef>
              <a:spcAft>
                <a:spcPts val="0"/>
              </a:spcAft>
            </a:pPr>
            <a:r>
              <a:rPr sz="1050" b="1" i="0">
                <a:solidFill>
                  <a:srgbClr val="006D77"/>
                </a:solidFill>
                <a:latin typeface="Segoe UI"/>
              </a:rPr>
              <a:t>CURRENT STATE</a:t>
            </a:r>
          </a:p>
        </p:txBody>
      </p:sp>
      <p:sp>
        <p:nvSpPr>
          <p:cNvPr id="4" name="TextBox 3"/>
          <p:cNvSpPr txBox="1"/>
          <p:nvPr/>
        </p:nvSpPr>
        <p:spPr>
          <a:xfrm>
            <a:off x="566928" y="530352"/>
            <a:ext cx="11064240" cy="685800"/>
          </a:xfrm>
          <a:prstGeom prst="rect">
            <a:avLst/>
          </a:prstGeom>
          <a:noFill/>
        </p:spPr>
        <p:txBody>
          <a:bodyPr wrap="square">
            <a:spAutoFit/>
          </a:bodyPr>
          <a:lstStyle/>
          <a:p>
            <a:pPr algn="l">
              <a:spcBef>
                <a:spcPts val="0"/>
              </a:spcBef>
              <a:spcAft>
                <a:spcPts val="0"/>
              </a:spcAft>
            </a:pPr>
            <a:r>
              <a:rPr sz="2700" b="1" i="0">
                <a:solidFill>
                  <a:srgbClr val="1A1A1A"/>
                </a:solidFill>
                <a:latin typeface="Segoe UI"/>
              </a:rPr>
              <a:t>The Pega application</a:t>
            </a:r>
          </a:p>
        </p:txBody>
      </p:sp>
      <p:sp>
        <p:nvSpPr>
          <p:cNvPr id="5" name="Rectangle 4"/>
          <p:cNvSpPr/>
          <p:nvPr/>
        </p:nvSpPr>
        <p:spPr>
          <a:xfrm>
            <a:off x="566928" y="1463040"/>
            <a:ext cx="2081174" cy="109728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63040"/>
            <a:ext cx="2081174" cy="50292"/>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645920"/>
            <a:ext cx="1898294" cy="566928"/>
          </a:xfrm>
          <a:prstGeom prst="rect">
            <a:avLst/>
          </a:prstGeom>
          <a:noFill/>
        </p:spPr>
        <p:txBody>
          <a:bodyPr wrap="square">
            <a:spAutoFit/>
          </a:bodyPr>
          <a:lstStyle/>
          <a:p>
            <a:pPr algn="ctr">
              <a:spcBef>
                <a:spcPts val="0"/>
              </a:spcBef>
              <a:spcAft>
                <a:spcPts val="0"/>
              </a:spcAft>
            </a:pPr>
            <a:r>
              <a:rPr sz="3000" b="1" i="0">
                <a:solidFill>
                  <a:srgbClr val="006D77"/>
                </a:solidFill>
                <a:latin typeface="Segoe UI"/>
              </a:rPr>
              <a:t>1,096</a:t>
            </a:r>
          </a:p>
        </p:txBody>
      </p:sp>
      <p:sp>
        <p:nvSpPr>
          <p:cNvPr id="8" name="TextBox 7"/>
          <p:cNvSpPr txBox="1"/>
          <p:nvPr/>
        </p:nvSpPr>
        <p:spPr>
          <a:xfrm>
            <a:off x="640080" y="2212848"/>
            <a:ext cx="1934870" cy="384048"/>
          </a:xfrm>
          <a:prstGeom prst="rect">
            <a:avLst/>
          </a:prstGeom>
          <a:noFill/>
        </p:spPr>
        <p:txBody>
          <a:bodyPr wrap="square">
            <a:spAutoFit/>
          </a:bodyPr>
          <a:lstStyle/>
          <a:p>
            <a:pPr algn="ctr">
              <a:spcBef>
                <a:spcPts val="0"/>
              </a:spcBef>
              <a:spcAft>
                <a:spcPts val="0"/>
              </a:spcAft>
            </a:pPr>
            <a:r>
              <a:rPr sz="1050" b="0" i="0">
                <a:solidFill>
                  <a:srgbClr val="3C3C3C"/>
                </a:solidFill>
                <a:latin typeface="Segoe UI"/>
              </a:rPr>
              <a:t>Rule instances
in the export</a:t>
            </a:r>
          </a:p>
        </p:txBody>
      </p:sp>
      <p:sp>
        <p:nvSpPr>
          <p:cNvPr id="9" name="Rectangle 8"/>
          <p:cNvSpPr/>
          <p:nvPr/>
        </p:nvSpPr>
        <p:spPr>
          <a:xfrm>
            <a:off x="2812694" y="1463040"/>
            <a:ext cx="2081174" cy="109728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812694" y="1463040"/>
            <a:ext cx="2081174" cy="50292"/>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04134" y="1645920"/>
            <a:ext cx="1898294" cy="566928"/>
          </a:xfrm>
          <a:prstGeom prst="rect">
            <a:avLst/>
          </a:prstGeom>
          <a:noFill/>
        </p:spPr>
        <p:txBody>
          <a:bodyPr wrap="square">
            <a:spAutoFit/>
          </a:bodyPr>
          <a:lstStyle/>
          <a:p>
            <a:pPr algn="ctr">
              <a:spcBef>
                <a:spcPts val="0"/>
              </a:spcBef>
              <a:spcAft>
                <a:spcPts val="0"/>
              </a:spcAft>
            </a:pPr>
            <a:r>
              <a:rPr sz="3000" b="1" i="0">
                <a:solidFill>
                  <a:srgbClr val="006D77"/>
                </a:solidFill>
                <a:latin typeface="Segoe UI"/>
              </a:rPr>
              <a:t>5</a:t>
            </a:r>
          </a:p>
        </p:txBody>
      </p:sp>
      <p:sp>
        <p:nvSpPr>
          <p:cNvPr id="12" name="TextBox 11"/>
          <p:cNvSpPr txBox="1"/>
          <p:nvPr/>
        </p:nvSpPr>
        <p:spPr>
          <a:xfrm>
            <a:off x="2885846" y="2212848"/>
            <a:ext cx="1934870" cy="384048"/>
          </a:xfrm>
          <a:prstGeom prst="rect">
            <a:avLst/>
          </a:prstGeom>
          <a:noFill/>
        </p:spPr>
        <p:txBody>
          <a:bodyPr wrap="square">
            <a:spAutoFit/>
          </a:bodyPr>
          <a:lstStyle/>
          <a:p>
            <a:pPr algn="ctr">
              <a:spcBef>
                <a:spcPts val="0"/>
              </a:spcBef>
              <a:spcAft>
                <a:spcPts val="0"/>
              </a:spcAft>
            </a:pPr>
            <a:r>
              <a:rPr sz="1050" b="0" i="0">
                <a:solidFill>
                  <a:srgbClr val="3C3C3C"/>
                </a:solidFill>
                <a:latin typeface="Segoe UI"/>
              </a:rPr>
              <a:t>Case types</a:t>
            </a:r>
          </a:p>
        </p:txBody>
      </p:sp>
      <p:sp>
        <p:nvSpPr>
          <p:cNvPr id="13" name="Rectangle 12"/>
          <p:cNvSpPr/>
          <p:nvPr/>
        </p:nvSpPr>
        <p:spPr>
          <a:xfrm>
            <a:off x="5058460" y="1463040"/>
            <a:ext cx="2081174" cy="109728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58460" y="1463040"/>
            <a:ext cx="2081174" cy="50292"/>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49900" y="1645920"/>
            <a:ext cx="1898294" cy="566928"/>
          </a:xfrm>
          <a:prstGeom prst="rect">
            <a:avLst/>
          </a:prstGeom>
          <a:noFill/>
        </p:spPr>
        <p:txBody>
          <a:bodyPr wrap="square">
            <a:spAutoFit/>
          </a:bodyPr>
          <a:lstStyle/>
          <a:p>
            <a:pPr algn="ctr">
              <a:spcBef>
                <a:spcPts val="0"/>
              </a:spcBef>
              <a:spcAft>
                <a:spcPts val="0"/>
              </a:spcAft>
            </a:pPr>
            <a:r>
              <a:rPr sz="3000" b="1" i="0">
                <a:solidFill>
                  <a:srgbClr val="006D77"/>
                </a:solidFill>
                <a:latin typeface="Segoe UI"/>
              </a:rPr>
              <a:t>35</a:t>
            </a:r>
          </a:p>
        </p:txBody>
      </p:sp>
      <p:sp>
        <p:nvSpPr>
          <p:cNvPr id="16" name="TextBox 15"/>
          <p:cNvSpPr txBox="1"/>
          <p:nvPr/>
        </p:nvSpPr>
        <p:spPr>
          <a:xfrm>
            <a:off x="5131612" y="2212848"/>
            <a:ext cx="1934870" cy="384048"/>
          </a:xfrm>
          <a:prstGeom prst="rect">
            <a:avLst/>
          </a:prstGeom>
          <a:noFill/>
        </p:spPr>
        <p:txBody>
          <a:bodyPr wrap="square">
            <a:spAutoFit/>
          </a:bodyPr>
          <a:lstStyle/>
          <a:p>
            <a:pPr algn="ctr">
              <a:spcBef>
                <a:spcPts val="0"/>
              </a:spcBef>
              <a:spcAft>
                <a:spcPts val="0"/>
              </a:spcAft>
            </a:pPr>
            <a:r>
              <a:rPr sz="1050" b="0" i="0">
                <a:solidFill>
                  <a:srgbClr val="3C3C3C"/>
                </a:solidFill>
                <a:latin typeface="Segoe UI"/>
              </a:rPr>
              <a:t>Flow rules</a:t>
            </a:r>
          </a:p>
        </p:txBody>
      </p:sp>
      <p:sp>
        <p:nvSpPr>
          <p:cNvPr id="17" name="Rectangle 16"/>
          <p:cNvSpPr/>
          <p:nvPr/>
        </p:nvSpPr>
        <p:spPr>
          <a:xfrm>
            <a:off x="7304227" y="1463040"/>
            <a:ext cx="2081174" cy="109728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04227" y="1463040"/>
            <a:ext cx="2081174" cy="50292"/>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95667" y="1645920"/>
            <a:ext cx="1898294" cy="566928"/>
          </a:xfrm>
          <a:prstGeom prst="rect">
            <a:avLst/>
          </a:prstGeom>
          <a:noFill/>
        </p:spPr>
        <p:txBody>
          <a:bodyPr wrap="square">
            <a:spAutoFit/>
          </a:bodyPr>
          <a:lstStyle/>
          <a:p>
            <a:pPr algn="ctr">
              <a:spcBef>
                <a:spcPts val="0"/>
              </a:spcBef>
              <a:spcAft>
                <a:spcPts val="0"/>
              </a:spcAft>
            </a:pPr>
            <a:r>
              <a:rPr sz="3000" b="1" i="0">
                <a:solidFill>
                  <a:srgbClr val="006D77"/>
                </a:solidFill>
                <a:latin typeface="Segoe UI"/>
              </a:rPr>
              <a:t>334</a:t>
            </a:r>
          </a:p>
        </p:txBody>
      </p:sp>
      <p:sp>
        <p:nvSpPr>
          <p:cNvPr id="20" name="TextBox 19"/>
          <p:cNvSpPr txBox="1"/>
          <p:nvPr/>
        </p:nvSpPr>
        <p:spPr>
          <a:xfrm>
            <a:off x="7377379" y="2212848"/>
            <a:ext cx="1934870" cy="384048"/>
          </a:xfrm>
          <a:prstGeom prst="rect">
            <a:avLst/>
          </a:prstGeom>
          <a:noFill/>
        </p:spPr>
        <p:txBody>
          <a:bodyPr wrap="square">
            <a:spAutoFit/>
          </a:bodyPr>
          <a:lstStyle/>
          <a:p>
            <a:pPr algn="ctr">
              <a:spcBef>
                <a:spcPts val="0"/>
              </a:spcBef>
              <a:spcAft>
                <a:spcPts val="0"/>
              </a:spcAft>
            </a:pPr>
            <a:r>
              <a:rPr sz="1050" b="0" i="0">
                <a:solidFill>
                  <a:srgbClr val="3C3C3C"/>
                </a:solidFill>
                <a:latin typeface="Segoe UI"/>
              </a:rPr>
              <a:t>Property
definitions</a:t>
            </a:r>
          </a:p>
        </p:txBody>
      </p:sp>
      <p:sp>
        <p:nvSpPr>
          <p:cNvPr id="21" name="Rectangle 20"/>
          <p:cNvSpPr/>
          <p:nvPr/>
        </p:nvSpPr>
        <p:spPr>
          <a:xfrm>
            <a:off x="9549993" y="1463040"/>
            <a:ext cx="2081174" cy="109728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549993" y="1463040"/>
            <a:ext cx="2081174" cy="50292"/>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41433" y="1645920"/>
            <a:ext cx="1898294" cy="566928"/>
          </a:xfrm>
          <a:prstGeom prst="rect">
            <a:avLst/>
          </a:prstGeom>
          <a:noFill/>
        </p:spPr>
        <p:txBody>
          <a:bodyPr wrap="square">
            <a:spAutoFit/>
          </a:bodyPr>
          <a:lstStyle/>
          <a:p>
            <a:pPr algn="ctr">
              <a:spcBef>
                <a:spcPts val="0"/>
              </a:spcBef>
              <a:spcAft>
                <a:spcPts val="0"/>
              </a:spcAft>
            </a:pPr>
            <a:r>
              <a:rPr sz="3000" b="1" i="0">
                <a:solidFill>
                  <a:srgbClr val="006D77"/>
                </a:solidFill>
                <a:latin typeface="Segoe UI"/>
              </a:rPr>
              <a:t>22</a:t>
            </a:r>
          </a:p>
        </p:txBody>
      </p:sp>
      <p:sp>
        <p:nvSpPr>
          <p:cNvPr id="24" name="TextBox 23"/>
          <p:cNvSpPr txBox="1"/>
          <p:nvPr/>
        </p:nvSpPr>
        <p:spPr>
          <a:xfrm>
            <a:off x="9623145" y="2212848"/>
            <a:ext cx="1934870" cy="384048"/>
          </a:xfrm>
          <a:prstGeom prst="rect">
            <a:avLst/>
          </a:prstGeom>
          <a:noFill/>
        </p:spPr>
        <p:txBody>
          <a:bodyPr wrap="square">
            <a:spAutoFit/>
          </a:bodyPr>
          <a:lstStyle/>
          <a:p>
            <a:pPr algn="ctr">
              <a:spcBef>
                <a:spcPts val="0"/>
              </a:spcBef>
              <a:spcAft>
                <a:spcPts val="0"/>
              </a:spcAft>
            </a:pPr>
            <a:r>
              <a:rPr sz="1050" b="0" i="0">
                <a:solidFill>
                  <a:srgbClr val="3C3C3C"/>
                </a:solidFill>
                <a:latin typeface="Segoe UI"/>
              </a:rPr>
              <a:t>Database tables</a:t>
            </a:r>
          </a:p>
        </p:txBody>
      </p:sp>
      <p:graphicFrame>
        <p:nvGraphicFramePr>
          <p:cNvPr id="25" name="Table 24"/>
          <p:cNvGraphicFramePr>
            <a:graphicFrameLocks noGrp="1"/>
          </p:cNvGraphicFramePr>
          <p:nvPr/>
        </p:nvGraphicFramePr>
        <p:xfrm>
          <a:off x="566928" y="2880360"/>
          <a:ext cx="11064238" cy="2267712"/>
        </p:xfrm>
        <a:graphic>
          <a:graphicData uri="http://schemas.openxmlformats.org/drawingml/2006/table">
            <a:tbl>
              <a:tblPr firstRow="1" bandRow="1">
                <a:tableStyleId>{5C22544A-7EE6-4342-B048-85BDC9FD1C3A}</a:tableStyleId>
              </a:tblPr>
              <a:tblGrid>
                <a:gridCol w="2011680"/>
                <a:gridCol w="6035039"/>
                <a:gridCol w="3017519"/>
              </a:tblGrid>
              <a:tr h="347472">
                <a:tc>
                  <a:txBody>
                    <a:bodyPr wrap="square"/>
                    <a:lstStyle/>
                    <a:p>
                      <a:r>
                        <a:rPr sz="1200" b="1">
                          <a:solidFill>
                            <a:srgbClr val="FFFFFF"/>
                          </a:solidFill>
                          <a:latin typeface="Segoe UI"/>
                        </a:rPr>
                        <a:t>Layer</a:t>
                      </a:r>
                    </a:p>
                  </a:txBody>
                  <a:tcPr anchor="ctr" marL="91440">
                    <a:solidFill>
                      <a:srgbClr val="006D77"/>
                    </a:solidFill>
                  </a:tcPr>
                </a:tc>
                <a:tc>
                  <a:txBody>
                    <a:bodyPr wrap="square"/>
                    <a:lstStyle/>
                    <a:p>
                      <a:r>
                        <a:rPr sz="1200" b="1">
                          <a:solidFill>
                            <a:srgbClr val="FFFFFF"/>
                          </a:solidFill>
                          <a:latin typeface="Segoe UI"/>
                        </a:rPr>
                        <a:t>Pega artefacts</a:t>
                      </a:r>
                    </a:p>
                  </a:txBody>
                  <a:tcPr anchor="ctr" marL="91440">
                    <a:solidFill>
                      <a:srgbClr val="006D77"/>
                    </a:solidFill>
                  </a:tcPr>
                </a:tc>
                <a:tc>
                  <a:txBody>
                    <a:bodyPr wrap="square"/>
                    <a:lstStyle/>
                    <a:p>
                      <a:r>
                        <a:rPr sz="1200" b="1">
                          <a:solidFill>
                            <a:srgbClr val="FFFFFF"/>
                          </a:solidFill>
                          <a:latin typeface="Segoe UI"/>
                        </a:rPr>
                        <a:t>Volume</a:t>
                      </a:r>
                    </a:p>
                  </a:txBody>
                  <a:tcPr anchor="ctr" marL="91440">
                    <a:solidFill>
                      <a:srgbClr val="006D77"/>
                    </a:solidFill>
                  </a:tcPr>
                </a:tc>
              </a:tr>
              <a:tr h="274320">
                <a:tc>
                  <a:txBody>
                    <a:bodyPr wrap="square"/>
                    <a:lstStyle/>
                    <a:p>
                      <a:r>
                        <a:rPr sz="1200" b="1">
                          <a:solidFill>
                            <a:srgbClr val="1A1A1A"/>
                          </a:solidFill>
                          <a:latin typeface="Segoe UI"/>
                        </a:rPr>
                        <a:t>Case model</a:t>
                      </a:r>
                    </a:p>
                  </a:txBody>
                  <a:tcPr anchor="ctr" marL="91440" marT="18288" marB="18288">
                    <a:solidFill>
                      <a:srgbClr val="FFFFFF"/>
                    </a:solidFill>
                  </a:tcPr>
                </a:tc>
                <a:tc>
                  <a:txBody>
                    <a:bodyPr wrap="square"/>
                    <a:lstStyle/>
                    <a:p>
                      <a:r>
                        <a:rPr sz="1200" b="0">
                          <a:solidFill>
                            <a:srgbClr val="3C3C3C"/>
                          </a:solidFill>
                          <a:latin typeface="Segoe UI"/>
                        </a:rPr>
                        <a:t>Case types, stages, steps</a:t>
                      </a:r>
                    </a:p>
                  </a:txBody>
                  <a:tcPr anchor="ctr" marL="91440" marT="18288" marB="18288">
                    <a:solidFill>
                      <a:srgbClr val="FFFFFF"/>
                    </a:solidFill>
                  </a:tcPr>
                </a:tc>
                <a:tc>
                  <a:txBody>
                    <a:bodyPr wrap="square"/>
                    <a:lstStyle/>
                    <a:p>
                      <a:r>
                        <a:rPr sz="1200" b="0">
                          <a:solidFill>
                            <a:srgbClr val="3C3C3C"/>
                          </a:solidFill>
                          <a:latin typeface="Segoe UI"/>
                        </a:rPr>
                        <a:t>5 / 39 / 80</a:t>
                      </a:r>
                    </a:p>
                  </a:txBody>
                  <a:tcPr anchor="ctr" marL="91440" marT="18288" marB="18288">
                    <a:solidFill>
                      <a:srgbClr val="FFFFFF"/>
                    </a:solidFill>
                  </a:tcPr>
                </a:tc>
              </a:tr>
              <a:tr h="274320">
                <a:tc>
                  <a:txBody>
                    <a:bodyPr wrap="square"/>
                    <a:lstStyle/>
                    <a:p>
                      <a:r>
                        <a:rPr sz="1200" b="1">
                          <a:solidFill>
                            <a:srgbClr val="1A1A1A"/>
                          </a:solidFill>
                          <a:latin typeface="Segoe UI"/>
                        </a:rPr>
                        <a:t>Process</a:t>
                      </a:r>
                    </a:p>
                  </a:txBody>
                  <a:tcPr anchor="ctr" marL="91440" marT="18288" marB="18288">
                    <a:solidFill>
                      <a:srgbClr val="F4F5F7"/>
                    </a:solidFill>
                  </a:tcPr>
                </a:tc>
                <a:tc>
                  <a:txBody>
                    <a:bodyPr wrap="square"/>
                    <a:lstStyle/>
                    <a:p>
                      <a:r>
                        <a:rPr sz="1200" b="0">
                          <a:solidFill>
                            <a:srgbClr val="3C3C3C"/>
                          </a:solidFill>
                          <a:latin typeface="Segoe UI"/>
                        </a:rPr>
                        <a:t>Flow rules, flow actions</a:t>
                      </a:r>
                    </a:p>
                  </a:txBody>
                  <a:tcPr anchor="ctr" marL="91440" marT="18288" marB="18288">
                    <a:solidFill>
                      <a:srgbClr val="F4F5F7"/>
                    </a:solidFill>
                  </a:tcPr>
                </a:tc>
                <a:tc>
                  <a:txBody>
                    <a:bodyPr wrap="square"/>
                    <a:lstStyle/>
                    <a:p>
                      <a:r>
                        <a:rPr sz="1200" b="0">
                          <a:solidFill>
                            <a:srgbClr val="3C3C3C"/>
                          </a:solidFill>
                          <a:latin typeface="Segoe UI"/>
                        </a:rPr>
                        <a:t>35 / 39</a:t>
                      </a:r>
                    </a:p>
                  </a:txBody>
                  <a:tcPr anchor="ctr" marL="91440" marT="18288" marB="18288">
                    <a:solidFill>
                      <a:srgbClr val="F4F5F7"/>
                    </a:solidFill>
                  </a:tcPr>
                </a:tc>
              </a:tr>
              <a:tr h="274320">
                <a:tc>
                  <a:txBody>
                    <a:bodyPr wrap="square"/>
                    <a:lstStyle/>
                    <a:p>
                      <a:r>
                        <a:rPr sz="1200" b="1">
                          <a:solidFill>
                            <a:srgbClr val="1A1A1A"/>
                          </a:solidFill>
                          <a:latin typeface="Segoe UI"/>
                        </a:rPr>
                        <a:t>Logic</a:t>
                      </a:r>
                    </a:p>
                  </a:txBody>
                  <a:tcPr anchor="ctr" marL="91440" marT="18288" marB="18288">
                    <a:solidFill>
                      <a:srgbClr val="FFFFFF"/>
                    </a:solidFill>
                  </a:tcPr>
                </a:tc>
                <a:tc>
                  <a:txBody>
                    <a:bodyPr wrap="square"/>
                    <a:lstStyle/>
                    <a:p>
                      <a:r>
                        <a:rPr sz="1200" b="0">
                          <a:solidFill>
                            <a:srgbClr val="3C3C3C"/>
                          </a:solidFill>
                          <a:latin typeface="Segoe UI"/>
                        </a:rPr>
                        <a:t>Decision tables (with rows)</a:t>
                      </a:r>
                    </a:p>
                  </a:txBody>
                  <a:tcPr anchor="ctr" marL="91440" marT="18288" marB="18288">
                    <a:solidFill>
                      <a:srgbClr val="FFFFFF"/>
                    </a:solidFill>
                  </a:tcPr>
                </a:tc>
                <a:tc>
                  <a:txBody>
                    <a:bodyPr wrap="square"/>
                    <a:lstStyle/>
                    <a:p>
                      <a:r>
                        <a:rPr sz="1200" b="0">
                          <a:solidFill>
                            <a:srgbClr val="3C3C3C"/>
                          </a:solidFill>
                          <a:latin typeface="Segoe UI"/>
                        </a:rPr>
                        <a:t>10 / 28</a:t>
                      </a:r>
                    </a:p>
                  </a:txBody>
                  <a:tcPr anchor="ctr" marL="91440" marT="18288" marB="18288">
                    <a:solidFill>
                      <a:srgbClr val="FFFFFF"/>
                    </a:solidFill>
                  </a:tcPr>
                </a:tc>
              </a:tr>
              <a:tr h="274320">
                <a:tc>
                  <a:txBody>
                    <a:bodyPr wrap="square"/>
                    <a:lstStyle/>
                    <a:p>
                      <a:r>
                        <a:rPr sz="1200" b="1">
                          <a:solidFill>
                            <a:srgbClr val="1A1A1A"/>
                          </a:solidFill>
                          <a:latin typeface="Segoe UI"/>
                        </a:rPr>
                        <a:t>Presentation</a:t>
                      </a:r>
                    </a:p>
                  </a:txBody>
                  <a:tcPr anchor="ctr" marL="91440" marT="18288" marB="18288">
                    <a:solidFill>
                      <a:srgbClr val="F4F5F7"/>
                    </a:solidFill>
                  </a:tcPr>
                </a:tc>
                <a:tc>
                  <a:txBody>
                    <a:bodyPr wrap="square"/>
                    <a:lstStyle/>
                    <a:p>
                      <a:r>
                        <a:rPr sz="1200" b="0">
                          <a:solidFill>
                            <a:srgbClr val="3C3C3C"/>
                          </a:solidFill>
                          <a:latin typeface="Segoe UI"/>
                        </a:rPr>
                        <a:t>UI views (49 reachable from steps)</a:t>
                      </a:r>
                    </a:p>
                  </a:txBody>
                  <a:tcPr anchor="ctr" marL="91440" marT="18288" marB="18288">
                    <a:solidFill>
                      <a:srgbClr val="F4F5F7"/>
                    </a:solidFill>
                  </a:tcPr>
                </a:tc>
                <a:tc>
                  <a:txBody>
                    <a:bodyPr wrap="square"/>
                    <a:lstStyle/>
                    <a:p>
                      <a:r>
                        <a:rPr sz="1200" b="0">
                          <a:solidFill>
                            <a:srgbClr val="3C3C3C"/>
                          </a:solidFill>
                          <a:latin typeface="Segoe UI"/>
                        </a:rPr>
                        <a:t>191</a:t>
                      </a:r>
                    </a:p>
                  </a:txBody>
                  <a:tcPr anchor="ctr" marL="91440" marT="18288" marB="18288">
                    <a:solidFill>
                      <a:srgbClr val="F4F5F7"/>
                    </a:solidFill>
                  </a:tcPr>
                </a:tc>
              </a:tr>
              <a:tr h="274320">
                <a:tc>
                  <a:txBody>
                    <a:bodyPr wrap="square"/>
                    <a:lstStyle/>
                    <a:p>
                      <a:r>
                        <a:rPr sz="1200" b="1">
                          <a:solidFill>
                            <a:srgbClr val="1A1A1A"/>
                          </a:solidFill>
                          <a:latin typeface="Segoe UI"/>
                        </a:rPr>
                        <a:t>Data</a:t>
                      </a:r>
                    </a:p>
                  </a:txBody>
                  <a:tcPr anchor="ctr" marL="91440" marT="18288" marB="18288">
                    <a:solidFill>
                      <a:srgbClr val="FFFFFF"/>
                    </a:solidFill>
                  </a:tcPr>
                </a:tc>
                <a:tc>
                  <a:txBody>
                    <a:bodyPr wrap="square"/>
                    <a:lstStyle/>
                    <a:p>
                      <a:r>
                        <a:rPr sz="1200" b="0">
                          <a:solidFill>
                            <a:srgbClr val="3C3C3C"/>
                          </a:solidFill>
                          <a:latin typeface="Segoe UI"/>
                        </a:rPr>
                        <a:t>Data objects, properties, DB tables</a:t>
                      </a:r>
                    </a:p>
                  </a:txBody>
                  <a:tcPr anchor="ctr" marL="91440" marT="18288" marB="18288">
                    <a:solidFill>
                      <a:srgbClr val="FFFFFF"/>
                    </a:solidFill>
                  </a:tcPr>
                </a:tc>
                <a:tc>
                  <a:txBody>
                    <a:bodyPr wrap="square"/>
                    <a:lstStyle/>
                    <a:p>
                      <a:r>
                        <a:rPr sz="1200" b="0">
                          <a:solidFill>
                            <a:srgbClr val="3C3C3C"/>
                          </a:solidFill>
                          <a:latin typeface="Segoe UI"/>
                        </a:rPr>
                        <a:t>10 / 334 / 22</a:t>
                      </a:r>
                    </a:p>
                  </a:txBody>
                  <a:tcPr anchor="ctr" marL="91440" marT="18288" marB="18288">
                    <a:solidFill>
                      <a:srgbClr val="FFFFFF"/>
                    </a:solidFill>
                  </a:tcPr>
                </a:tc>
              </a:tr>
              <a:tr h="274320">
                <a:tc>
                  <a:txBody>
                    <a:bodyPr wrap="square"/>
                    <a:lstStyle/>
                    <a:p>
                      <a:r>
                        <a:rPr sz="1200" b="1">
                          <a:solidFill>
                            <a:srgbClr val="1A1A1A"/>
                          </a:solidFill>
                          <a:latin typeface="Segoe UI"/>
                        </a:rPr>
                        <a:t>Security</a:t>
                      </a:r>
                    </a:p>
                  </a:txBody>
                  <a:tcPr anchor="ctr" marL="91440" marT="18288" marB="18288">
                    <a:solidFill>
                      <a:srgbClr val="F4F5F7"/>
                    </a:solidFill>
                  </a:tcPr>
                </a:tc>
                <a:tc>
                  <a:txBody>
                    <a:bodyPr wrap="square"/>
                    <a:lstStyle/>
                    <a:p>
                      <a:r>
                        <a:rPr sz="1200" b="0">
                          <a:solidFill>
                            <a:srgbClr val="3C3C3C"/>
                          </a:solidFill>
                          <a:latin typeface="Segoe UI"/>
                        </a:rPr>
                        <a:t>Access groups, role grants, workbaskets</a:t>
                      </a:r>
                    </a:p>
                  </a:txBody>
                  <a:tcPr anchor="ctr" marL="91440" marT="18288" marB="18288">
                    <a:solidFill>
                      <a:srgbClr val="F4F5F7"/>
                    </a:solidFill>
                  </a:tcPr>
                </a:tc>
                <a:tc>
                  <a:txBody>
                    <a:bodyPr wrap="square"/>
                    <a:lstStyle/>
                    <a:p>
                      <a:r>
                        <a:rPr sz="1200" b="0">
                          <a:solidFill>
                            <a:srgbClr val="3C3C3C"/>
                          </a:solidFill>
                          <a:latin typeface="Segoe UI"/>
                        </a:rPr>
                        <a:t>19 / 30 / 18</a:t>
                      </a:r>
                    </a:p>
                  </a:txBody>
                  <a:tcPr anchor="ctr" marL="91440" marT="18288" marB="18288">
                    <a:solidFill>
                      <a:srgbClr val="F4F5F7"/>
                    </a:solidFill>
                  </a:tcPr>
                </a:tc>
              </a:tr>
              <a:tr h="274320">
                <a:tc>
                  <a:txBody>
                    <a:bodyPr wrap="square"/>
                    <a:lstStyle/>
                    <a:p>
                      <a:r>
                        <a:rPr sz="1200" b="1">
                          <a:solidFill>
                            <a:srgbClr val="1A1A1A"/>
                          </a:solidFill>
                          <a:latin typeface="Segoe UI"/>
                        </a:rPr>
                        <a:t>Comms</a:t>
                      </a:r>
                    </a:p>
                  </a:txBody>
                  <a:tcPr anchor="ctr" marL="91440" marT="18288" marB="18288">
                    <a:solidFill>
                      <a:srgbClr val="FFFFFF"/>
                    </a:solidFill>
                  </a:tcPr>
                </a:tc>
                <a:tc>
                  <a:txBody>
                    <a:bodyPr wrap="square"/>
                    <a:lstStyle/>
                    <a:p>
                      <a:r>
                        <a:rPr sz="1200" b="0">
                          <a:solidFill>
                            <a:srgbClr val="3C3C3C"/>
                          </a:solidFill>
                          <a:latin typeface="Segoe UI"/>
                        </a:rPr>
                        <a:t>Notifications, correspondence rules</a:t>
                      </a:r>
                    </a:p>
                  </a:txBody>
                  <a:tcPr anchor="ctr" marL="91440" marT="18288" marB="18288">
                    <a:solidFill>
                      <a:srgbClr val="FFFFFF"/>
                    </a:solidFill>
                  </a:tcPr>
                </a:tc>
                <a:tc>
                  <a:txBody>
                    <a:bodyPr wrap="square"/>
                    <a:lstStyle/>
                    <a:p>
                      <a:r>
                        <a:rPr sz="1200" b="0">
                          <a:solidFill>
                            <a:srgbClr val="3C3C3C"/>
                          </a:solidFill>
                          <a:latin typeface="Segoe UI"/>
                        </a:rPr>
                        <a:t>27 / 27</a:t>
                      </a:r>
                    </a:p>
                  </a:txBody>
                  <a:tcPr anchor="ctr" marL="91440" marT="18288" marB="18288">
                    <a:solidFill>
                      <a:srgbClr val="FFFFFF"/>
                    </a:solidFill>
                  </a:tcPr>
                </a:tc>
              </a:tr>
            </a:tbl>
          </a:graphicData>
        </a:graphic>
      </p:graphicFrame>
      <p:sp>
        <p:nvSpPr>
          <p:cNvPr id="26" name="TextBox 25"/>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0515600" cy="274320"/>
          </a:xfrm>
          <a:prstGeom prst="rect">
            <a:avLst/>
          </a:prstGeom>
          <a:noFill/>
        </p:spPr>
        <p:txBody>
          <a:bodyPr wrap="square">
            <a:spAutoFit/>
          </a:bodyPr>
          <a:lstStyle/>
          <a:p>
            <a:pPr algn="l">
              <a:spcBef>
                <a:spcPts val="0"/>
              </a:spcBef>
              <a:spcAft>
                <a:spcPts val="0"/>
              </a:spcAft>
            </a:pPr>
            <a:r>
              <a:rPr sz="1050" b="1" i="0">
                <a:solidFill>
                  <a:srgbClr val="006D77"/>
                </a:solidFill>
                <a:latin typeface="Segoe UI"/>
              </a:rPr>
              <a:t>CURRENT STATE</a:t>
            </a:r>
          </a:p>
        </p:txBody>
      </p:sp>
      <p:sp>
        <p:nvSpPr>
          <p:cNvPr id="4" name="TextBox 3"/>
          <p:cNvSpPr txBox="1"/>
          <p:nvPr/>
        </p:nvSpPr>
        <p:spPr>
          <a:xfrm>
            <a:off x="566928" y="530352"/>
            <a:ext cx="11064240" cy="685800"/>
          </a:xfrm>
          <a:prstGeom prst="rect">
            <a:avLst/>
          </a:prstGeom>
          <a:noFill/>
        </p:spPr>
        <p:txBody>
          <a:bodyPr wrap="square">
            <a:spAutoFit/>
          </a:bodyPr>
          <a:lstStyle/>
          <a:p>
            <a:pPr algn="l">
              <a:spcBef>
                <a:spcPts val="0"/>
              </a:spcBef>
              <a:spcAft>
                <a:spcPts val="0"/>
              </a:spcAft>
            </a:pPr>
            <a:r>
              <a:rPr sz="2700" b="1" i="0">
                <a:solidFill>
                  <a:srgbClr val="1A1A1A"/>
                </a:solidFill>
                <a:latin typeface="Segoe UI"/>
              </a:rPr>
              <a:t>Key workflows</a:t>
            </a:r>
          </a:p>
        </p:txBody>
      </p:sp>
      <p:graphicFrame>
        <p:nvGraphicFramePr>
          <p:cNvPr id="5" name="Table 4"/>
          <p:cNvGraphicFramePr>
            <a:graphicFrameLocks noGrp="1"/>
          </p:cNvGraphicFramePr>
          <p:nvPr/>
        </p:nvGraphicFramePr>
        <p:xfrm>
          <a:off x="566928" y="1554480"/>
          <a:ext cx="11064237" cy="1719072"/>
        </p:xfrm>
        <a:graphic>
          <a:graphicData uri="http://schemas.openxmlformats.org/drawingml/2006/table">
            <a:tbl>
              <a:tblPr firstRow="1" bandRow="1">
                <a:tableStyleId>{5C22544A-7EE6-4342-B048-85BDC9FD1C3A}</a:tableStyleId>
              </a:tblPr>
              <a:tblGrid>
                <a:gridCol w="2468880"/>
                <a:gridCol w="914399"/>
                <a:gridCol w="914399"/>
                <a:gridCol w="6766559"/>
              </a:tblGrid>
              <a:tr h="347472">
                <a:tc>
                  <a:txBody>
                    <a:bodyPr wrap="square"/>
                    <a:lstStyle/>
                    <a:p>
                      <a:r>
                        <a:rPr sz="1250" b="1">
                          <a:solidFill>
                            <a:srgbClr val="FFFFFF"/>
                          </a:solidFill>
                          <a:latin typeface="Segoe UI"/>
                        </a:rPr>
                        <a:t>Case type</a:t>
                      </a:r>
                    </a:p>
                  </a:txBody>
                  <a:tcPr anchor="ctr" marL="91440">
                    <a:solidFill>
                      <a:srgbClr val="006D77"/>
                    </a:solidFill>
                  </a:tcPr>
                </a:tc>
                <a:tc>
                  <a:txBody>
                    <a:bodyPr wrap="square"/>
                    <a:lstStyle/>
                    <a:p>
                      <a:r>
                        <a:rPr sz="1250" b="1">
                          <a:solidFill>
                            <a:srgbClr val="FFFFFF"/>
                          </a:solidFill>
                          <a:latin typeface="Segoe UI"/>
                        </a:rPr>
                        <a:t>Stages</a:t>
                      </a:r>
                    </a:p>
                  </a:txBody>
                  <a:tcPr anchor="ctr" marL="91440">
                    <a:solidFill>
                      <a:srgbClr val="006D77"/>
                    </a:solidFill>
                  </a:tcPr>
                </a:tc>
                <a:tc>
                  <a:txBody>
                    <a:bodyPr wrap="square"/>
                    <a:lstStyle/>
                    <a:p>
                      <a:r>
                        <a:rPr sz="1250" b="1">
                          <a:solidFill>
                            <a:srgbClr val="FFFFFF"/>
                          </a:solidFill>
                          <a:latin typeface="Segoe UI"/>
                        </a:rPr>
                        <a:t>Steps</a:t>
                      </a:r>
                    </a:p>
                  </a:txBody>
                  <a:tcPr anchor="ctr" marL="91440">
                    <a:solidFill>
                      <a:srgbClr val="006D77"/>
                    </a:solidFill>
                  </a:tcPr>
                </a:tc>
                <a:tc>
                  <a:txBody>
                    <a:bodyPr wrap="square"/>
                    <a:lstStyle/>
                    <a:p>
                      <a:r>
                        <a:rPr sz="1250" b="1">
                          <a:solidFill>
                            <a:srgbClr val="FFFFFF"/>
                          </a:solidFill>
                          <a:latin typeface="Segoe UI"/>
                        </a:rPr>
                        <a:t>Purpose</a:t>
                      </a:r>
                    </a:p>
                  </a:txBody>
                  <a:tcPr anchor="ctr" marL="91440">
                    <a:solidFill>
                      <a:srgbClr val="006D77"/>
                    </a:solidFill>
                  </a:tcPr>
                </a:tc>
              </a:tr>
              <a:tr h="274320">
                <a:tc>
                  <a:txBody>
                    <a:bodyPr wrap="square"/>
                    <a:lstStyle/>
                    <a:p>
                      <a:r>
                        <a:rPr sz="1250" b="1">
                          <a:solidFill>
                            <a:srgbClr val="1A1A1A"/>
                          </a:solidFill>
                          <a:latin typeface="Segoe UI"/>
                        </a:rPr>
                        <a:t>Lending Review</a:t>
                      </a:r>
                    </a:p>
                  </a:txBody>
                  <a:tcPr anchor="ctr" marL="91440" marT="18288" marB="18288">
                    <a:solidFill>
                      <a:srgbClr val="FFFFFF"/>
                    </a:solidFill>
                  </a:tcPr>
                </a:tc>
                <a:tc>
                  <a:txBody>
                    <a:bodyPr wrap="square"/>
                    <a:lstStyle/>
                    <a:p>
                      <a:r>
                        <a:rPr sz="1250" b="0">
                          <a:solidFill>
                            <a:srgbClr val="3C3C3C"/>
                          </a:solidFill>
                          <a:latin typeface="Segoe UI"/>
                        </a:rPr>
                        <a:t>8</a:t>
                      </a:r>
                    </a:p>
                  </a:txBody>
                  <a:tcPr anchor="ctr" marL="91440" marT="18288" marB="18288">
                    <a:solidFill>
                      <a:srgbClr val="FFFFFF"/>
                    </a:solidFill>
                  </a:tcPr>
                </a:tc>
                <a:tc>
                  <a:txBody>
                    <a:bodyPr wrap="square"/>
                    <a:lstStyle/>
                    <a:p>
                      <a:r>
                        <a:rPr sz="1250" b="0">
                          <a:solidFill>
                            <a:srgbClr val="3C3C3C"/>
                          </a:solidFill>
                          <a:latin typeface="Segoe UI"/>
                        </a:rPr>
                        <a:t>23</a:t>
                      </a:r>
                    </a:p>
                  </a:txBody>
                  <a:tcPr anchor="ctr" marL="91440" marT="18288" marB="18288">
                    <a:solidFill>
                      <a:srgbClr val="FFFFFF"/>
                    </a:solidFill>
                  </a:tcPr>
                </a:tc>
                <a:tc>
                  <a:txBody>
                    <a:bodyPr wrap="square"/>
                    <a:lstStyle/>
                    <a:p>
                      <a:r>
                        <a:rPr sz="1250" b="0">
                          <a:solidFill>
                            <a:srgbClr val="3C3C3C"/>
                          </a:solidFill>
                          <a:latin typeface="Segoe UI"/>
                        </a:rPr>
                        <a:t>Primary intake, review and approval of lending transactions</a:t>
                      </a:r>
                    </a:p>
                  </a:txBody>
                  <a:tcPr anchor="ctr" marL="91440" marT="18288" marB="18288">
                    <a:solidFill>
                      <a:srgbClr val="FFFFFF"/>
                    </a:solidFill>
                  </a:tcPr>
                </a:tc>
              </a:tr>
              <a:tr h="274320">
                <a:tc>
                  <a:txBody>
                    <a:bodyPr wrap="square"/>
                    <a:lstStyle/>
                    <a:p>
                      <a:r>
                        <a:rPr sz="1250" b="1">
                          <a:solidFill>
                            <a:srgbClr val="1A1A1A"/>
                          </a:solidFill>
                          <a:latin typeface="Segoe UI"/>
                        </a:rPr>
                        <a:t>Risk Assessment</a:t>
                      </a:r>
                    </a:p>
                  </a:txBody>
                  <a:tcPr anchor="ctr" marL="91440" marT="18288" marB="18288">
                    <a:solidFill>
                      <a:srgbClr val="F4F5F7"/>
                    </a:solidFill>
                  </a:tcPr>
                </a:tc>
                <a:tc>
                  <a:txBody>
                    <a:bodyPr wrap="square"/>
                    <a:lstStyle/>
                    <a:p>
                      <a:r>
                        <a:rPr sz="1250" b="0">
                          <a:solidFill>
                            <a:srgbClr val="3C3C3C"/>
                          </a:solidFill>
                          <a:latin typeface="Segoe UI"/>
                        </a:rPr>
                        <a:t>8</a:t>
                      </a:r>
                    </a:p>
                  </a:txBody>
                  <a:tcPr anchor="ctr" marL="91440" marT="18288" marB="18288">
                    <a:solidFill>
                      <a:srgbClr val="F4F5F7"/>
                    </a:solidFill>
                  </a:tcPr>
                </a:tc>
                <a:tc>
                  <a:txBody>
                    <a:bodyPr wrap="square"/>
                    <a:lstStyle/>
                    <a:p>
                      <a:r>
                        <a:rPr sz="1250" b="0">
                          <a:solidFill>
                            <a:srgbClr val="3C3C3C"/>
                          </a:solidFill>
                          <a:latin typeface="Segoe UI"/>
                        </a:rPr>
                        <a:t>18</a:t>
                      </a:r>
                    </a:p>
                  </a:txBody>
                  <a:tcPr anchor="ctr" marL="91440" marT="18288" marB="18288">
                    <a:solidFill>
                      <a:srgbClr val="F4F5F7"/>
                    </a:solidFill>
                  </a:tcPr>
                </a:tc>
                <a:tc>
                  <a:txBody>
                    <a:bodyPr wrap="square"/>
                    <a:lstStyle/>
                    <a:p>
                      <a:r>
                        <a:rPr sz="1250" b="0">
                          <a:solidFill>
                            <a:srgbClr val="3C3C3C"/>
                          </a:solidFill>
                          <a:latin typeface="Segoe UI"/>
                        </a:rPr>
                        <a:t>Risk profiling, scoring and escalation of flagged transactions</a:t>
                      </a:r>
                    </a:p>
                  </a:txBody>
                  <a:tcPr anchor="ctr" marL="91440" marT="18288" marB="18288">
                    <a:solidFill>
                      <a:srgbClr val="F4F5F7"/>
                    </a:solidFill>
                  </a:tcPr>
                </a:tc>
              </a:tr>
              <a:tr h="274320">
                <a:tc>
                  <a:txBody>
                    <a:bodyPr wrap="square"/>
                    <a:lstStyle/>
                    <a:p>
                      <a:r>
                        <a:rPr sz="1250" b="1">
                          <a:solidFill>
                            <a:srgbClr val="1A1A1A"/>
                          </a:solidFill>
                          <a:latin typeface="Segoe UI"/>
                        </a:rPr>
                        <a:t>Compliance Monitoring</a:t>
                      </a:r>
                    </a:p>
                  </a:txBody>
                  <a:tcPr anchor="ctr" marL="91440" marT="18288" marB="18288">
                    <a:solidFill>
                      <a:srgbClr val="FFFFFF"/>
                    </a:solidFill>
                  </a:tcPr>
                </a:tc>
                <a:tc>
                  <a:txBody>
                    <a:bodyPr wrap="square"/>
                    <a:lstStyle/>
                    <a:p>
                      <a:r>
                        <a:rPr sz="1250" b="0">
                          <a:solidFill>
                            <a:srgbClr val="3C3C3C"/>
                          </a:solidFill>
                          <a:latin typeface="Segoe UI"/>
                        </a:rPr>
                        <a:t>7</a:t>
                      </a:r>
                    </a:p>
                  </a:txBody>
                  <a:tcPr anchor="ctr" marL="91440" marT="18288" marB="18288">
                    <a:solidFill>
                      <a:srgbClr val="FFFFFF"/>
                    </a:solidFill>
                  </a:tcPr>
                </a:tc>
                <a:tc>
                  <a:txBody>
                    <a:bodyPr wrap="square"/>
                    <a:lstStyle/>
                    <a:p>
                      <a:r>
                        <a:rPr sz="1250" b="0">
                          <a:solidFill>
                            <a:srgbClr val="3C3C3C"/>
                          </a:solidFill>
                          <a:latin typeface="Segoe UI"/>
                        </a:rPr>
                        <a:t>22</a:t>
                      </a:r>
                    </a:p>
                  </a:txBody>
                  <a:tcPr anchor="ctr" marL="91440" marT="18288" marB="18288">
                    <a:solidFill>
                      <a:srgbClr val="FFFFFF"/>
                    </a:solidFill>
                  </a:tcPr>
                </a:tc>
                <a:tc>
                  <a:txBody>
                    <a:bodyPr wrap="square"/>
                    <a:lstStyle/>
                    <a:p>
                      <a:r>
                        <a:rPr sz="1250" b="0">
                          <a:solidFill>
                            <a:srgbClr val="3C3C3C"/>
                          </a:solidFill>
                          <a:latin typeface="Segoe UI"/>
                        </a:rPr>
                        <a:t>Sampling, issue assessment, remediation and closure</a:t>
                      </a:r>
                    </a:p>
                  </a:txBody>
                  <a:tcPr anchor="ctr" marL="91440" marT="18288" marB="18288">
                    <a:solidFill>
                      <a:srgbClr val="FFFFFF"/>
                    </a:solidFill>
                  </a:tcPr>
                </a:tc>
              </a:tr>
              <a:tr h="274320">
                <a:tc>
                  <a:txBody>
                    <a:bodyPr wrap="square"/>
                    <a:lstStyle/>
                    <a:p>
                      <a:r>
                        <a:rPr sz="1250" b="1">
                          <a:solidFill>
                            <a:srgbClr val="1A1A1A"/>
                          </a:solidFill>
                          <a:latin typeface="Segoe UI"/>
                        </a:rPr>
                        <a:t>Escalation Management</a:t>
                      </a:r>
                    </a:p>
                  </a:txBody>
                  <a:tcPr anchor="ctr" marL="91440" marT="18288" marB="18288">
                    <a:solidFill>
                      <a:srgbClr val="F4F5F7"/>
                    </a:solidFill>
                  </a:tcPr>
                </a:tc>
                <a:tc>
                  <a:txBody>
                    <a:bodyPr wrap="square"/>
                    <a:lstStyle/>
                    <a:p>
                      <a:r>
                        <a:rPr sz="1250" b="0">
                          <a:solidFill>
                            <a:srgbClr val="3C3C3C"/>
                          </a:solidFill>
                          <a:latin typeface="Segoe UI"/>
                        </a:rPr>
                        <a:t>8</a:t>
                      </a:r>
                    </a:p>
                  </a:txBody>
                  <a:tcPr anchor="ctr" marL="91440" marT="18288" marB="18288">
                    <a:solidFill>
                      <a:srgbClr val="F4F5F7"/>
                    </a:solidFill>
                  </a:tcPr>
                </a:tc>
                <a:tc>
                  <a:txBody>
                    <a:bodyPr wrap="square"/>
                    <a:lstStyle/>
                    <a:p>
                      <a:r>
                        <a:rPr sz="1250" b="0">
                          <a:solidFill>
                            <a:srgbClr val="3C3C3C"/>
                          </a:solidFill>
                          <a:latin typeface="Segoe UI"/>
                        </a:rPr>
                        <a:t>12</a:t>
                      </a:r>
                    </a:p>
                  </a:txBody>
                  <a:tcPr anchor="ctr" marL="91440" marT="18288" marB="18288">
                    <a:solidFill>
                      <a:srgbClr val="F4F5F7"/>
                    </a:solidFill>
                  </a:tcPr>
                </a:tc>
                <a:tc>
                  <a:txBody>
                    <a:bodyPr wrap="square"/>
                    <a:lstStyle/>
                    <a:p>
                      <a:r>
                        <a:rPr sz="1250" b="0">
                          <a:solidFill>
                            <a:srgbClr val="3C3C3C"/>
                          </a:solidFill>
                          <a:latin typeface="Segoe UI"/>
                        </a:rPr>
                        <a:t>Routing and resolution of escalated items</a:t>
                      </a:r>
                    </a:p>
                  </a:txBody>
                  <a:tcPr anchor="ctr" marL="91440" marT="18288" marB="18288">
                    <a:solidFill>
                      <a:srgbClr val="F4F5F7"/>
                    </a:solidFill>
                  </a:tcPr>
                </a:tc>
              </a:tr>
              <a:tr h="274320">
                <a:tc>
                  <a:txBody>
                    <a:bodyPr wrap="square"/>
                    <a:lstStyle/>
                    <a:p>
                      <a:r>
                        <a:rPr sz="1250" b="1">
                          <a:solidFill>
                            <a:srgbClr val="1A1A1A"/>
                          </a:solidFill>
                          <a:latin typeface="Segoe UI"/>
                        </a:rPr>
                        <a:t>Quality Recommendation</a:t>
                      </a:r>
                    </a:p>
                  </a:txBody>
                  <a:tcPr anchor="ctr" marL="91440" marT="18288" marB="18288">
                    <a:solidFill>
                      <a:srgbClr val="FFFFFF"/>
                    </a:solidFill>
                  </a:tcPr>
                </a:tc>
                <a:tc>
                  <a:txBody>
                    <a:bodyPr wrap="square"/>
                    <a:lstStyle/>
                    <a:p>
                      <a:r>
                        <a:rPr sz="1250" b="0">
                          <a:solidFill>
                            <a:srgbClr val="3C3C3C"/>
                          </a:solidFill>
                          <a:latin typeface="Segoe UI"/>
                        </a:rPr>
                        <a:t>8</a:t>
                      </a:r>
                    </a:p>
                  </a:txBody>
                  <a:tcPr anchor="ctr" marL="91440" marT="18288" marB="18288">
                    <a:solidFill>
                      <a:srgbClr val="FFFFFF"/>
                    </a:solidFill>
                  </a:tcPr>
                </a:tc>
                <a:tc>
                  <a:txBody>
                    <a:bodyPr wrap="square"/>
                    <a:lstStyle/>
                    <a:p>
                      <a:r>
                        <a:rPr sz="1250" b="0">
                          <a:solidFill>
                            <a:srgbClr val="3C3C3C"/>
                          </a:solidFill>
                          <a:latin typeface="Segoe UI"/>
                        </a:rPr>
                        <a:t>5</a:t>
                      </a:r>
                    </a:p>
                  </a:txBody>
                  <a:tcPr anchor="ctr" marL="91440" marT="18288" marB="18288">
                    <a:solidFill>
                      <a:srgbClr val="FFFFFF"/>
                    </a:solidFill>
                  </a:tcPr>
                </a:tc>
                <a:tc>
                  <a:txBody>
                    <a:bodyPr wrap="square"/>
                    <a:lstStyle/>
                    <a:p>
                      <a:r>
                        <a:rPr sz="1250" b="0">
                          <a:solidFill>
                            <a:srgbClr val="3C3C3C"/>
                          </a:solidFill>
                          <a:latin typeface="Segoe UI"/>
                        </a:rPr>
                        <a:t>Recommendation formulation and resolution tracking</a:t>
                      </a:r>
                    </a:p>
                  </a:txBody>
                  <a:tcPr anchor="ctr" marL="91440" marT="18288" marB="18288">
                    <a:solidFill>
                      <a:srgbClr val="FFFFFF"/>
                    </a:solidFill>
                  </a:tcPr>
                </a:tc>
              </a:tr>
            </a:tbl>
          </a:graphicData>
        </a:graphic>
      </p:graphicFrame>
      <p:sp>
        <p:nvSpPr>
          <p:cNvPr id="6" name="TextBox 5"/>
          <p:cNvSpPr txBox="1"/>
          <p:nvPr/>
        </p:nvSpPr>
        <p:spPr>
          <a:xfrm>
            <a:off x="566928" y="3977639"/>
            <a:ext cx="11064240" cy="996696"/>
          </a:xfrm>
          <a:prstGeom prst="rect">
            <a:avLst/>
          </a:prstGeom>
          <a:noFill/>
        </p:spPr>
        <p:txBody>
          <a:bodyPr wrap="square">
            <a:spAutoFit/>
          </a:bodyPr>
          <a:lstStyle/>
          <a:p>
            <a:pPr algn="l">
              <a:spcBef>
                <a:spcPts val="0"/>
              </a:spcBef>
              <a:spcAft>
                <a:spcPts val="900"/>
              </a:spcAft>
            </a:pPr>
            <a:r>
              <a:rPr sz="1300" b="1" i="0">
                <a:solidFill>
                  <a:srgbClr val="1A1A1A"/>
                </a:solidFill>
                <a:latin typeface="Segoe UI"/>
              </a:rPr>
              <a:t>Step composition across all five case types</a:t>
            </a:r>
          </a:p>
          <a:p>
            <a:pPr algn="l">
              <a:spcBef>
                <a:spcPts val="0"/>
              </a:spcBef>
              <a:spcAft>
                <a:spcPts val="900"/>
              </a:spcAft>
            </a:pPr>
            <a:r>
              <a:rPr sz="1300" b="0" i="0">
                <a:solidFill>
                  <a:srgbClr val="1A1A1A"/>
                </a:solidFill>
                <a:latin typeface="Segoe UI"/>
              </a:rPr>
              <a:t>•  48 utility steps  ·  21 human assignments  ·  7 decisions  ·  4 approval sub-processes</a:t>
            </a:r>
          </a:p>
          <a:p>
            <a:pPr algn="l">
              <a:spcBef>
                <a:spcPts val="0"/>
              </a:spcBef>
              <a:spcAft>
                <a:spcPts val="900"/>
              </a:spcAft>
            </a:pPr>
            <a:r>
              <a:rPr sz="1300" b="0" i="0">
                <a:solidFill>
                  <a:srgbClr val="1A1A1A"/>
                </a:solidFill>
                <a:latin typeface="Segoe UI"/>
              </a:rPr>
              <a:t>•  Routing splits 9 to a named worklist and 12 to a shared workbasket</a:t>
            </a:r>
          </a:p>
        </p:txBody>
      </p:sp>
      <p:sp>
        <p:nvSpPr>
          <p:cNvPr id="7" name="Rectangle 6"/>
          <p:cNvSpPr/>
          <p:nvPr/>
        </p:nvSpPr>
        <p:spPr>
          <a:xfrm>
            <a:off x="566928" y="5248655"/>
            <a:ext cx="11064240" cy="65836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5248655"/>
            <a:ext cx="54864" cy="658368"/>
          </a:xfrm>
          <a:prstGeom prst="rect">
            <a:avLst/>
          </a:prstGeom>
          <a:solidFill>
            <a:srgbClr val="B5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5340095"/>
            <a:ext cx="10652760" cy="493776"/>
          </a:xfrm>
          <a:prstGeom prst="rect">
            <a:avLst/>
          </a:prstGeom>
          <a:noFill/>
        </p:spPr>
        <p:txBody>
          <a:bodyPr wrap="square">
            <a:spAutoFit/>
          </a:bodyPr>
          <a:lstStyle/>
          <a:p>
            <a:pPr algn="l">
              <a:spcBef>
                <a:spcPts val="0"/>
              </a:spcBef>
              <a:spcAft>
                <a:spcPts val="0"/>
              </a:spcAft>
            </a:pPr>
            <a:r>
              <a:rPr sz="1250" b="0" i="0">
                <a:solidFill>
                  <a:srgbClr val="1A1A1A"/>
                </a:solidFill>
                <a:latin typeface="Segoe UI"/>
              </a:rPr>
              <a:t>The utility steps are where the migration difficulty concentrates - 41 of the 48 carry logic Pega does not export.</a:t>
            </a:r>
          </a:p>
        </p:txBody>
      </p:sp>
      <p:sp>
        <p:nvSpPr>
          <p:cNvPr id="10" name="TextBox 9"/>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0515600" cy="274320"/>
          </a:xfrm>
          <a:prstGeom prst="rect">
            <a:avLst/>
          </a:prstGeom>
          <a:noFill/>
        </p:spPr>
        <p:txBody>
          <a:bodyPr wrap="square">
            <a:spAutoFit/>
          </a:bodyPr>
          <a:lstStyle/>
          <a:p>
            <a:pPr algn="l">
              <a:spcBef>
                <a:spcPts val="0"/>
              </a:spcBef>
              <a:spcAft>
                <a:spcPts val="0"/>
              </a:spcAft>
            </a:pPr>
            <a:r>
              <a:rPr sz="1050" b="1" i="0">
                <a:solidFill>
                  <a:srgbClr val="006D77"/>
                </a:solidFill>
                <a:latin typeface="Segoe UI"/>
              </a:rPr>
              <a:t>CURRENT STATE</a:t>
            </a:r>
          </a:p>
        </p:txBody>
      </p:sp>
      <p:sp>
        <p:nvSpPr>
          <p:cNvPr id="4" name="TextBox 3"/>
          <p:cNvSpPr txBox="1"/>
          <p:nvPr/>
        </p:nvSpPr>
        <p:spPr>
          <a:xfrm>
            <a:off x="566928" y="530352"/>
            <a:ext cx="11064240" cy="685800"/>
          </a:xfrm>
          <a:prstGeom prst="rect">
            <a:avLst/>
          </a:prstGeom>
          <a:noFill/>
        </p:spPr>
        <p:txBody>
          <a:bodyPr wrap="square">
            <a:spAutoFit/>
          </a:bodyPr>
          <a:lstStyle/>
          <a:p>
            <a:pPr algn="l">
              <a:spcBef>
                <a:spcPts val="0"/>
              </a:spcBef>
              <a:spcAft>
                <a:spcPts val="0"/>
              </a:spcAft>
            </a:pPr>
            <a:r>
              <a:rPr sz="2700" b="1" i="0">
                <a:solidFill>
                  <a:srgbClr val="1A1A1A"/>
                </a:solidFill>
                <a:latin typeface="Segoe UI"/>
              </a:rPr>
              <a:t>Challenges and limitations of the current platform</a:t>
            </a:r>
          </a:p>
        </p:txBody>
      </p:sp>
      <p:sp>
        <p:nvSpPr>
          <p:cNvPr id="5" name="TextBox 4"/>
          <p:cNvSpPr txBox="1"/>
          <p:nvPr/>
        </p:nvSpPr>
        <p:spPr>
          <a:xfrm>
            <a:off x="566928" y="1417320"/>
            <a:ext cx="11064240" cy="3505454"/>
          </a:xfrm>
          <a:prstGeom prst="rect">
            <a:avLst/>
          </a:prstGeom>
          <a:noFill/>
        </p:spPr>
        <p:txBody>
          <a:bodyPr wrap="square">
            <a:spAutoFit/>
          </a:bodyPr>
          <a:lstStyle/>
          <a:p>
            <a:pPr algn="l">
              <a:spcBef>
                <a:spcPts val="0"/>
              </a:spcBef>
              <a:spcAft>
                <a:spcPts val="700"/>
              </a:spcAft>
            </a:pPr>
            <a:r>
              <a:rPr sz="1350" b="1" i="0">
                <a:solidFill>
                  <a:srgbClr val="1A1A1A"/>
                </a:solidFill>
                <a:latin typeface="Segoe UI"/>
              </a:rPr>
              <a:t>Rule logic is not portable</a:t>
            </a:r>
          </a:p>
          <a:p>
            <a:pPr algn="l">
              <a:spcBef>
                <a:spcPts val="0"/>
              </a:spcBef>
              <a:spcAft>
                <a:spcPts val="700"/>
              </a:spcAft>
            </a:pPr>
            <a:r>
              <a:rPr sz="1350" b="0" i="0">
                <a:solidFill>
                  <a:srgbClr val="1A1A1A"/>
                </a:solidFill>
                <a:latin typeface="Segoe UI"/>
              </a:rPr>
              <a:t>•  Rule bodies ship as proprietary binaries. The export contains rules.jar at 22.9 MB, holding instances_*.bin members up to 26.6 MB, which cannot be decoded outside a Pega instance.</a:t>
            </a:r>
          </a:p>
          <a:p>
            <a:pPr algn="l">
              <a:spcBef>
                <a:spcPts val="800"/>
              </a:spcBef>
              <a:spcAft>
                <a:spcPts val="700"/>
              </a:spcAft>
            </a:pPr>
            <a:r>
              <a:rPr sz="1350" b="1" i="0">
                <a:solidFill>
                  <a:srgbClr val="1A1A1A"/>
                </a:solidFill>
                <a:latin typeface="Segoe UI"/>
              </a:rPr>
              <a:t>Conditional routing is invisible</a:t>
            </a:r>
          </a:p>
          <a:p>
            <a:pPr algn="l">
              <a:spcBef>
                <a:spcPts val="0"/>
              </a:spcBef>
              <a:spcAft>
                <a:spcPts val="700"/>
              </a:spcAft>
            </a:pPr>
            <a:r>
              <a:rPr sz="1350" b="0" i="0">
                <a:solidFill>
                  <a:srgbClr val="1A1A1A"/>
                </a:solidFill>
                <a:latin typeface="Segoe UI"/>
              </a:rPr>
              <a:t>•  The when conditions that guard stage transitions live inside compiled flow rules. They are absent from every exportable artefact - export, application document and the DX API alike.</a:t>
            </a:r>
          </a:p>
          <a:p>
            <a:pPr algn="l">
              <a:spcBef>
                <a:spcPts val="800"/>
              </a:spcBef>
              <a:spcAft>
                <a:spcPts val="700"/>
              </a:spcAft>
            </a:pPr>
            <a:r>
              <a:rPr sz="1350" b="1" i="0">
                <a:solidFill>
                  <a:srgbClr val="1A1A1A"/>
                </a:solidFill>
                <a:latin typeface="Segoe UI"/>
              </a:rPr>
              <a:t>Behaviour is locked to the engine</a:t>
            </a:r>
          </a:p>
          <a:p>
            <a:pPr algn="l">
              <a:spcBef>
                <a:spcPts val="0"/>
              </a:spcBef>
              <a:spcAft>
                <a:spcPts val="700"/>
              </a:spcAft>
            </a:pPr>
            <a:r>
              <a:rPr sz="1350" b="0" i="0">
                <a:solidFill>
                  <a:srgbClr val="1A1A1A"/>
                </a:solidFill>
                <a:latin typeface="Segoe UI"/>
              </a:rPr>
              <a:t>•  Data transforms, correspondence bodies and notification templates are engine-executed and have no exportable representation.</a:t>
            </a:r>
          </a:p>
          <a:p>
            <a:pPr algn="l">
              <a:spcBef>
                <a:spcPts val="800"/>
              </a:spcBef>
              <a:spcAft>
                <a:spcPts val="700"/>
              </a:spcAft>
            </a:pPr>
            <a:r>
              <a:rPr sz="1350" b="1" i="0">
                <a:solidFill>
                  <a:srgbClr val="1A1A1A"/>
                </a:solidFill>
                <a:latin typeface="Segoe UI"/>
              </a:rPr>
              <a:t>Skills and cost</a:t>
            </a:r>
          </a:p>
          <a:p>
            <a:pPr algn="l">
              <a:spcBef>
                <a:spcPts val="0"/>
              </a:spcBef>
              <a:spcAft>
                <a:spcPts val="700"/>
              </a:spcAft>
            </a:pPr>
            <a:r>
              <a:rPr sz="1350" b="0" i="0">
                <a:solidFill>
                  <a:srgbClr val="1A1A1A"/>
                </a:solidFill>
                <a:latin typeface="Segoe UI"/>
              </a:rPr>
              <a:t>•  Certified Pega specialists are scarce and expensive relative to the React / TypeScript / Dataverse talent pool.</a:t>
            </a:r>
          </a:p>
        </p:txBody>
      </p:sp>
      <p:sp>
        <p:nvSpPr>
          <p:cNvPr id="6" name="Rectangle 5"/>
          <p:cNvSpPr/>
          <p:nvPr/>
        </p:nvSpPr>
        <p:spPr>
          <a:xfrm>
            <a:off x="566928" y="5197094"/>
            <a:ext cx="11064240" cy="65836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5197094"/>
            <a:ext cx="54864" cy="658368"/>
          </a:xfrm>
          <a:prstGeom prst="rect">
            <a:avLst/>
          </a:prstGeom>
          <a:solidFill>
            <a:srgbClr val="B5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5288534"/>
            <a:ext cx="10652760" cy="493776"/>
          </a:xfrm>
          <a:prstGeom prst="rect">
            <a:avLst/>
          </a:prstGeom>
          <a:noFill/>
        </p:spPr>
        <p:txBody>
          <a:bodyPr wrap="square">
            <a:spAutoFit/>
          </a:bodyPr>
          <a:lstStyle/>
          <a:p>
            <a:pPr algn="l">
              <a:spcBef>
                <a:spcPts val="0"/>
              </a:spcBef>
              <a:spcAft>
                <a:spcPts val="0"/>
              </a:spcAft>
            </a:pPr>
            <a:r>
              <a:rPr sz="1250" b="0" i="0">
                <a:solidFill>
                  <a:srgbClr val="1A1A1A"/>
                </a:solidFill>
                <a:latin typeface="Segoe UI"/>
              </a:rPr>
              <a:t>These are platform constraints, not gaps in the migration tooling. Any migration approach faces them identically.</a:t>
            </a:r>
          </a:p>
        </p:txBody>
      </p:sp>
      <p:sp>
        <p:nvSpPr>
          <p:cNvPr id="9" name="TextBox 8"/>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331720"/>
            <a:ext cx="1828800" cy="1097280"/>
          </a:xfrm>
          <a:prstGeom prst="rect">
            <a:avLst/>
          </a:prstGeom>
          <a:noFill/>
        </p:spPr>
        <p:txBody>
          <a:bodyPr wrap="square">
            <a:spAutoFit/>
          </a:bodyPr>
          <a:lstStyle/>
          <a:p>
            <a:pPr algn="l">
              <a:spcBef>
                <a:spcPts val="0"/>
              </a:spcBef>
              <a:spcAft>
                <a:spcPts val="0"/>
              </a:spcAft>
            </a:pPr>
            <a:r>
              <a:rPr sz="6400" b="1" i="0">
                <a:solidFill>
                  <a:srgbClr val="7FC4CB"/>
                </a:solidFill>
                <a:latin typeface="Segoe UI"/>
              </a:rPr>
              <a:t>03</a:t>
            </a:r>
          </a:p>
        </p:txBody>
      </p:sp>
      <p:sp>
        <p:nvSpPr>
          <p:cNvPr id="5" name="TextBox 4"/>
          <p:cNvSpPr txBox="1"/>
          <p:nvPr/>
        </p:nvSpPr>
        <p:spPr>
          <a:xfrm>
            <a:off x="2331720" y="2487168"/>
            <a:ext cx="8778240" cy="914400"/>
          </a:xfrm>
          <a:prstGeom prst="rect">
            <a:avLst/>
          </a:prstGeom>
          <a:noFill/>
        </p:spPr>
        <p:txBody>
          <a:bodyPr wrap="square">
            <a:spAutoFit/>
          </a:bodyPr>
          <a:lstStyle/>
          <a:p>
            <a:pPr algn="l">
              <a:spcBef>
                <a:spcPts val="0"/>
              </a:spcBef>
              <a:spcAft>
                <a:spcPts val="0"/>
              </a:spcAft>
            </a:pPr>
            <a:r>
              <a:rPr sz="3400" b="1" i="0">
                <a:solidFill>
                  <a:srgbClr val="FFFFFF"/>
                </a:solidFill>
                <a:latin typeface="Segoe UI"/>
              </a:rPr>
              <a:t>Target State Architecture</a:t>
            </a:r>
          </a:p>
        </p:txBody>
      </p:sp>
      <p:sp>
        <p:nvSpPr>
          <p:cNvPr id="6" name="TextBox 5"/>
          <p:cNvSpPr txBox="1"/>
          <p:nvPr/>
        </p:nvSpPr>
        <p:spPr>
          <a:xfrm>
            <a:off x="2395728" y="3401568"/>
            <a:ext cx="8595360" cy="640080"/>
          </a:xfrm>
          <a:prstGeom prst="rect">
            <a:avLst/>
          </a:prstGeom>
          <a:noFill/>
        </p:spPr>
        <p:txBody>
          <a:bodyPr wrap="square">
            <a:spAutoFit/>
          </a:bodyPr>
          <a:lstStyle/>
          <a:p>
            <a:pPr algn="l">
              <a:spcBef>
                <a:spcPts val="0"/>
              </a:spcBef>
              <a:spcAft>
                <a:spcPts val="0"/>
              </a:spcAft>
            </a:pPr>
            <a:r>
              <a:rPr sz="1450" b="0" i="0">
                <a:solidFill>
                  <a:srgbClr val="D6ECEE"/>
                </a:solidFill>
                <a:latin typeface="Segoe UI"/>
              </a:rPr>
              <a:t>Power Platform solution design</a:t>
            </a:r>
          </a:p>
        </p:txBody>
      </p:sp>
      <p:sp>
        <p:nvSpPr>
          <p:cNvPr id="7" name="TextBox 6"/>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0515600" cy="274320"/>
          </a:xfrm>
          <a:prstGeom prst="rect">
            <a:avLst/>
          </a:prstGeom>
          <a:noFill/>
        </p:spPr>
        <p:txBody>
          <a:bodyPr wrap="square">
            <a:spAutoFit/>
          </a:bodyPr>
          <a:lstStyle/>
          <a:p>
            <a:pPr algn="l">
              <a:spcBef>
                <a:spcPts val="0"/>
              </a:spcBef>
              <a:spcAft>
                <a:spcPts val="0"/>
              </a:spcAft>
            </a:pPr>
            <a:r>
              <a:rPr sz="1050" b="1" i="0">
                <a:solidFill>
                  <a:srgbClr val="006D77"/>
                </a:solidFill>
                <a:latin typeface="Segoe UI"/>
              </a:rPr>
              <a:t>TARGET STATE</a:t>
            </a:r>
          </a:p>
        </p:txBody>
      </p:sp>
      <p:sp>
        <p:nvSpPr>
          <p:cNvPr id="4" name="TextBox 3"/>
          <p:cNvSpPr txBox="1"/>
          <p:nvPr/>
        </p:nvSpPr>
        <p:spPr>
          <a:xfrm>
            <a:off x="566928" y="530352"/>
            <a:ext cx="11064240" cy="685800"/>
          </a:xfrm>
          <a:prstGeom prst="rect">
            <a:avLst/>
          </a:prstGeom>
          <a:noFill/>
        </p:spPr>
        <p:txBody>
          <a:bodyPr wrap="square">
            <a:spAutoFit/>
          </a:bodyPr>
          <a:lstStyle/>
          <a:p>
            <a:pPr algn="l">
              <a:spcBef>
                <a:spcPts val="0"/>
              </a:spcBef>
              <a:spcAft>
                <a:spcPts val="0"/>
              </a:spcAft>
            </a:pPr>
            <a:r>
              <a:rPr sz="2700" b="1" i="0">
                <a:solidFill>
                  <a:srgbClr val="1A1A1A"/>
                </a:solidFill>
                <a:latin typeface="Segoe UI"/>
              </a:rPr>
              <a:t>Solution architecture</a:t>
            </a:r>
          </a:p>
        </p:txBody>
      </p:sp>
      <p:sp>
        <p:nvSpPr>
          <p:cNvPr id="5" name="TextBox 4"/>
          <p:cNvSpPr txBox="1"/>
          <p:nvPr/>
        </p:nvSpPr>
        <p:spPr>
          <a:xfrm>
            <a:off x="566928" y="1417320"/>
            <a:ext cx="11064240" cy="907542"/>
          </a:xfrm>
          <a:prstGeom prst="rect">
            <a:avLst/>
          </a:prstGeom>
          <a:noFill/>
        </p:spPr>
        <p:txBody>
          <a:bodyPr wrap="square">
            <a:spAutoFit/>
          </a:bodyPr>
          <a:lstStyle/>
          <a:p>
            <a:pPr algn="l">
              <a:spcBef>
                <a:spcPts val="0"/>
              </a:spcBef>
              <a:spcAft>
                <a:spcPts val="900"/>
              </a:spcAft>
            </a:pPr>
            <a:r>
              <a:rPr sz="1350" b="1" i="0">
                <a:solidFill>
                  <a:srgbClr val="1A1A1A"/>
                </a:solidFill>
                <a:latin typeface="Segoe UI"/>
              </a:rPr>
              <a:t>Design principle: separate process from behaviour</a:t>
            </a:r>
          </a:p>
          <a:p>
            <a:pPr algn="l">
              <a:spcBef>
                <a:spcPts val="0"/>
              </a:spcBef>
              <a:spcAft>
                <a:spcPts val="900"/>
              </a:spcAft>
            </a:pPr>
            <a:r>
              <a:rPr sz="1350" b="0" i="0">
                <a:solidFill>
                  <a:srgbClr val="1A1A1A"/>
                </a:solidFill>
                <a:latin typeface="Segoe UI"/>
              </a:rPr>
              <a:t>•  Process configuration lives as Dataverse rows imported from the Pega export. Business data uses strongly-typed tables. Changing the process is a data change - which is how Pega itself behaves.</a:t>
            </a:r>
          </a:p>
        </p:txBody>
      </p:sp>
      <p:graphicFrame>
        <p:nvGraphicFramePr>
          <p:cNvPr id="6" name="Table 5"/>
          <p:cNvGraphicFramePr>
            <a:graphicFrameLocks noGrp="1"/>
          </p:cNvGraphicFramePr>
          <p:nvPr/>
        </p:nvGraphicFramePr>
        <p:xfrm>
          <a:off x="566928" y="2395728"/>
          <a:ext cx="11064237" cy="1993392"/>
        </p:xfrm>
        <a:graphic>
          <a:graphicData uri="http://schemas.openxmlformats.org/drawingml/2006/table">
            <a:tbl>
              <a:tblPr firstRow="1" bandRow="1">
                <a:tableStyleId>{5C22544A-7EE6-4342-B048-85BDC9FD1C3A}</a:tableStyleId>
              </a:tblPr>
              <a:tblGrid>
                <a:gridCol w="1737359"/>
                <a:gridCol w="3200399"/>
                <a:gridCol w="6126479"/>
              </a:tblGrid>
              <a:tr h="347472">
                <a:tc>
                  <a:txBody>
                    <a:bodyPr wrap="square"/>
                    <a:lstStyle/>
                    <a:p>
                      <a:r>
                        <a:rPr sz="1150" b="1">
                          <a:solidFill>
                            <a:srgbClr val="FFFFFF"/>
                          </a:solidFill>
                          <a:latin typeface="Segoe UI"/>
                        </a:rPr>
                        <a:t>Layer</a:t>
                      </a:r>
                    </a:p>
                  </a:txBody>
                  <a:tcPr anchor="ctr" marL="91440">
                    <a:solidFill>
                      <a:srgbClr val="006D77"/>
                    </a:solidFill>
                  </a:tcPr>
                </a:tc>
                <a:tc>
                  <a:txBody>
                    <a:bodyPr wrap="square"/>
                    <a:lstStyle/>
                    <a:p>
                      <a:r>
                        <a:rPr sz="1150" b="1">
                          <a:solidFill>
                            <a:srgbClr val="FFFFFF"/>
                          </a:solidFill>
                          <a:latin typeface="Segoe UI"/>
                        </a:rPr>
                        <a:t>Implementation</a:t>
                      </a:r>
                    </a:p>
                  </a:txBody>
                  <a:tcPr anchor="ctr" marL="91440">
                    <a:solidFill>
                      <a:srgbClr val="006D77"/>
                    </a:solidFill>
                  </a:tcPr>
                </a:tc>
                <a:tc>
                  <a:txBody>
                    <a:bodyPr wrap="square"/>
                    <a:lstStyle/>
                    <a:p>
                      <a:r>
                        <a:rPr sz="1150" b="1">
                          <a:solidFill>
                            <a:srgbClr val="FFFFFF"/>
                          </a:solidFill>
                          <a:latin typeface="Segoe UI"/>
                        </a:rPr>
                        <a:t>Responsibility</a:t>
                      </a:r>
                    </a:p>
                  </a:txBody>
                  <a:tcPr anchor="ctr" marL="91440">
                    <a:solidFill>
                      <a:srgbClr val="006D77"/>
                    </a:solidFill>
                  </a:tcPr>
                </a:tc>
              </a:tr>
              <a:tr h="274320">
                <a:tc>
                  <a:txBody>
                    <a:bodyPr wrap="square"/>
                    <a:lstStyle/>
                    <a:p>
                      <a:r>
                        <a:rPr sz="1150" b="1">
                          <a:solidFill>
                            <a:srgbClr val="1A1A1A"/>
                          </a:solidFill>
                          <a:latin typeface="Segoe UI"/>
                        </a:rPr>
                        <a:t>Presentation</a:t>
                      </a:r>
                    </a:p>
                  </a:txBody>
                  <a:tcPr anchor="ctr" marL="91440" marT="18288" marB="18288">
                    <a:solidFill>
                      <a:srgbClr val="FFFFFF"/>
                    </a:solidFill>
                  </a:tcPr>
                </a:tc>
                <a:tc>
                  <a:txBody>
                    <a:bodyPr wrap="square"/>
                    <a:lstStyle/>
                    <a:p>
                      <a:r>
                        <a:rPr sz="1150" b="0">
                          <a:solidFill>
                            <a:srgbClr val="3C3C3C"/>
                          </a:solidFill>
                          <a:latin typeface="Segoe UI"/>
                        </a:rPr>
                        <a:t>React + Vite + TypeScript (Code App)</a:t>
                      </a:r>
                    </a:p>
                  </a:txBody>
                  <a:tcPr anchor="ctr" marL="91440" marT="18288" marB="18288">
                    <a:solidFill>
                      <a:srgbClr val="FFFFFF"/>
                    </a:solidFill>
                  </a:tcPr>
                </a:tc>
                <a:tc>
                  <a:txBody>
                    <a:bodyPr wrap="square"/>
                    <a:lstStyle/>
                    <a:p>
                      <a:r>
                        <a:rPr sz="1150" b="0">
                          <a:solidFill>
                            <a:srgbClr val="3C3C3C"/>
                          </a:solidFill>
                          <a:latin typeface="Segoe UI"/>
                        </a:rPr>
                        <a:t>Worklist, case workspace, dynamic forms rendered from view metadata</a:t>
                      </a:r>
                    </a:p>
                  </a:txBody>
                  <a:tcPr anchor="ctr" marL="91440" marT="18288" marB="18288">
                    <a:solidFill>
                      <a:srgbClr val="FFFFFF"/>
                    </a:solidFill>
                  </a:tcPr>
                </a:tc>
              </a:tr>
              <a:tr h="274320">
                <a:tc>
                  <a:txBody>
                    <a:bodyPr wrap="square"/>
                    <a:lstStyle/>
                    <a:p>
                      <a:r>
                        <a:rPr sz="1150" b="1">
                          <a:solidFill>
                            <a:srgbClr val="1A1A1A"/>
                          </a:solidFill>
                          <a:latin typeface="Segoe UI"/>
                        </a:rPr>
                        <a:t>Orchestration</a:t>
                      </a:r>
                    </a:p>
                  </a:txBody>
                  <a:tcPr anchor="ctr" marL="91440" marT="18288" marB="18288">
                    <a:solidFill>
                      <a:srgbClr val="F4F5F7"/>
                    </a:solidFill>
                  </a:tcPr>
                </a:tc>
                <a:tc>
                  <a:txBody>
                    <a:bodyPr wrap="square"/>
                    <a:lstStyle/>
                    <a:p>
                      <a:r>
                        <a:rPr sz="1150" b="0">
                          <a:solidFill>
                            <a:srgbClr val="3C3C3C"/>
                          </a:solidFill>
                          <a:latin typeface="Segoe UI"/>
                        </a:rPr>
                        <a:t>orchestrator.ts</a:t>
                      </a:r>
                    </a:p>
                  </a:txBody>
                  <a:tcPr anchor="ctr" marL="91440" marT="18288" marB="18288">
                    <a:solidFill>
                      <a:srgbClr val="F4F5F7"/>
                    </a:solidFill>
                  </a:tcPr>
                </a:tc>
                <a:tc>
                  <a:txBody>
                    <a:bodyPr wrap="square"/>
                    <a:lstStyle/>
                    <a:p>
                      <a:r>
                        <a:rPr sz="1150" b="0">
                          <a:solidFill>
                            <a:srgbClr val="3C3C3C"/>
                          </a:solidFill>
                          <a:latin typeface="Segoe UI"/>
                        </a:rPr>
                        <a:t>Translates engine plans into Dataverse writes; the only I/O layer</a:t>
                      </a:r>
                    </a:p>
                  </a:txBody>
                  <a:tcPr anchor="ctr" marL="91440" marT="18288" marB="18288">
                    <a:solidFill>
                      <a:srgbClr val="F4F5F7"/>
                    </a:solidFill>
                  </a:tcPr>
                </a:tc>
              </a:tr>
              <a:tr h="274320">
                <a:tc>
                  <a:txBody>
                    <a:bodyPr wrap="square"/>
                    <a:lstStyle/>
                    <a:p>
                      <a:r>
                        <a:rPr sz="1150" b="1">
                          <a:solidFill>
                            <a:srgbClr val="1A1A1A"/>
                          </a:solidFill>
                          <a:latin typeface="Segoe UI"/>
                        </a:rPr>
                        <a:t>Engine</a:t>
                      </a:r>
                    </a:p>
                  </a:txBody>
                  <a:tcPr anchor="ctr" marL="91440" marT="18288" marB="18288">
                    <a:solidFill>
                      <a:srgbClr val="FFFFFF"/>
                    </a:solidFill>
                  </a:tcPr>
                </a:tc>
                <a:tc>
                  <a:txBody>
                    <a:bodyPr wrap="square"/>
                    <a:lstStyle/>
                    <a:p>
                      <a:r>
                        <a:rPr sz="1150" b="0">
                          <a:solidFill>
                            <a:srgbClr val="3C3C3C"/>
                          </a:solidFill>
                          <a:latin typeface="Segoe UI"/>
                        </a:rPr>
                        <a:t>engine.ts (pure functions)</a:t>
                      </a:r>
                    </a:p>
                  </a:txBody>
                  <a:tcPr anchor="ctr" marL="91440" marT="18288" marB="18288">
                    <a:solidFill>
                      <a:srgbClr val="FFFFFF"/>
                    </a:solidFill>
                  </a:tcPr>
                </a:tc>
                <a:tc>
                  <a:txBody>
                    <a:bodyPr wrap="square"/>
                    <a:lstStyle/>
                    <a:p>
                      <a:r>
                        <a:rPr sz="1150" b="0">
                          <a:solidFill>
                            <a:srgbClr val="3C3C3C"/>
                          </a:solidFill>
                          <a:latin typeface="Segoe UI"/>
                        </a:rPr>
                        <a:t>Plans next actions, evaluates decisions - no side effects, fully testable</a:t>
                      </a:r>
                    </a:p>
                  </a:txBody>
                  <a:tcPr anchor="ctr" marL="91440" marT="18288" marB="18288">
                    <a:solidFill>
                      <a:srgbClr val="FFFFFF"/>
                    </a:solidFill>
                  </a:tcPr>
                </a:tc>
              </a:tr>
              <a:tr h="274320">
                <a:tc>
                  <a:txBody>
                    <a:bodyPr wrap="square"/>
                    <a:lstStyle/>
                    <a:p>
                      <a:r>
                        <a:rPr sz="1150" b="1">
                          <a:solidFill>
                            <a:srgbClr val="1A1A1A"/>
                          </a:solidFill>
                          <a:latin typeface="Segoe UI"/>
                        </a:rPr>
                        <a:t>Data access</a:t>
                      </a:r>
                    </a:p>
                  </a:txBody>
                  <a:tcPr anchor="ctr" marL="91440" marT="18288" marB="18288">
                    <a:solidFill>
                      <a:srgbClr val="F4F5F7"/>
                    </a:solidFill>
                  </a:tcPr>
                </a:tc>
                <a:tc>
                  <a:txBody>
                    <a:bodyPr wrap="square"/>
                    <a:lstStyle/>
                    <a:p>
                      <a:r>
                        <a:rPr sz="1150" b="0">
                          <a:solidFill>
                            <a:srgbClr val="3C3C3C"/>
                          </a:solidFill>
                          <a:latin typeface="Segoe UI"/>
                        </a:rPr>
                        <a:t>Generated Dataverse services</a:t>
                      </a:r>
                    </a:p>
                  </a:txBody>
                  <a:tcPr anchor="ctr" marL="91440" marT="18288" marB="18288">
                    <a:solidFill>
                      <a:srgbClr val="F4F5F7"/>
                    </a:solidFill>
                  </a:tcPr>
                </a:tc>
                <a:tc>
                  <a:txBody>
                    <a:bodyPr wrap="square"/>
                    <a:lstStyle/>
                    <a:p>
                      <a:r>
                        <a:rPr sz="1150" b="0">
                          <a:solidFill>
                            <a:srgbClr val="3C3C3C"/>
                          </a:solidFill>
                          <a:latin typeface="Segoe UI"/>
                        </a:rPr>
                        <a:t>Type-safe access; sandbox blocks raw fetch</a:t>
                      </a:r>
                    </a:p>
                  </a:txBody>
                  <a:tcPr anchor="ctr" marL="91440" marT="18288" marB="18288">
                    <a:solidFill>
                      <a:srgbClr val="F4F5F7"/>
                    </a:solidFill>
                  </a:tcPr>
                </a:tc>
              </a:tr>
              <a:tr h="274320">
                <a:tc>
                  <a:txBody>
                    <a:bodyPr wrap="square"/>
                    <a:lstStyle/>
                    <a:p>
                      <a:r>
                        <a:rPr sz="1150" b="1">
                          <a:solidFill>
                            <a:srgbClr val="1A1A1A"/>
                          </a:solidFill>
                          <a:latin typeface="Segoe UI"/>
                        </a:rPr>
                        <a:t>Persistence</a:t>
                      </a:r>
                    </a:p>
                  </a:txBody>
                  <a:tcPr anchor="ctr" marL="91440" marT="18288" marB="18288">
                    <a:solidFill>
                      <a:srgbClr val="FFFFFF"/>
                    </a:solidFill>
                  </a:tcPr>
                </a:tc>
                <a:tc>
                  <a:txBody>
                    <a:bodyPr wrap="square"/>
                    <a:lstStyle/>
                    <a:p>
                      <a:r>
                        <a:rPr sz="1150" b="0">
                          <a:solidFill>
                            <a:srgbClr val="3C3C3C"/>
                          </a:solidFill>
                          <a:latin typeface="Segoe UI"/>
                        </a:rPr>
                        <a:t>Dataverse (27 tables)</a:t>
                      </a:r>
                    </a:p>
                  </a:txBody>
                  <a:tcPr anchor="ctr" marL="91440" marT="18288" marB="18288">
                    <a:solidFill>
                      <a:srgbClr val="FFFFFF"/>
                    </a:solidFill>
                  </a:tcPr>
                </a:tc>
                <a:tc>
                  <a:txBody>
                    <a:bodyPr wrap="square"/>
                    <a:lstStyle/>
                    <a:p>
                      <a:r>
                        <a:rPr sz="1150" b="0">
                          <a:solidFill>
                            <a:srgbClr val="3C3C3C"/>
                          </a:solidFill>
                          <a:latin typeface="Segoe UI"/>
                        </a:rPr>
                        <a:t>Configuration, data objects, work/runtime and per-type detail</a:t>
                      </a:r>
                    </a:p>
                  </a:txBody>
                  <a:tcPr anchor="ctr" marL="91440" marT="18288" marB="18288">
                    <a:solidFill>
                      <a:srgbClr val="FFFFFF"/>
                    </a:solidFill>
                  </a:tcPr>
                </a:tc>
              </a:tr>
              <a:tr h="274320">
                <a:tc>
                  <a:txBody>
                    <a:bodyPr wrap="square"/>
                    <a:lstStyle/>
                    <a:p>
                      <a:r>
                        <a:rPr sz="1150" b="1">
                          <a:solidFill>
                            <a:srgbClr val="1A1A1A"/>
                          </a:solidFill>
                          <a:latin typeface="Segoe UI"/>
                        </a:rPr>
                        <a:t>Import</a:t>
                      </a:r>
                    </a:p>
                  </a:txBody>
                  <a:tcPr anchor="ctr" marL="91440" marT="18288" marB="18288">
                    <a:solidFill>
                      <a:srgbClr val="F4F5F7"/>
                    </a:solidFill>
                  </a:tcPr>
                </a:tc>
                <a:tc>
                  <a:txBody>
                    <a:bodyPr wrap="square"/>
                    <a:lstStyle/>
                    <a:p>
                      <a:r>
                        <a:rPr sz="1150" b="0">
                          <a:solidFill>
                            <a:srgbClr val="3C3C3C"/>
                          </a:solidFill>
                          <a:latin typeface="Segoe UI"/>
                        </a:rPr>
                        <a:t>Node scripts (extract / seed)</a:t>
                      </a:r>
                    </a:p>
                  </a:txBody>
                  <a:tcPr anchor="ctr" marL="91440" marT="18288" marB="18288">
                    <a:solidFill>
                      <a:srgbClr val="F4F5F7"/>
                    </a:solidFill>
                  </a:tcPr>
                </a:tc>
                <a:tc>
                  <a:txBody>
                    <a:bodyPr wrap="square"/>
                    <a:lstStyle/>
                    <a:p>
                      <a:r>
                        <a:rPr sz="1150" b="0">
                          <a:solidFill>
                            <a:srgbClr val="3C3C3C"/>
                          </a:solidFill>
                          <a:latin typeface="Segoe UI"/>
                        </a:rPr>
                        <a:t>Pega export to config JSON to Dataverse, idempotent</a:t>
                      </a:r>
                    </a:p>
                  </a:txBody>
                  <a:tcPr anchor="ctr" marL="91440" marT="18288" marB="18288">
                    <a:solidFill>
                      <a:srgbClr val="F4F5F7"/>
                    </a:solidFill>
                  </a:tcPr>
                </a:tc>
              </a:tr>
            </a:tbl>
          </a:graphicData>
        </a:graphic>
      </p:graphicFrame>
      <p:sp>
        <p:nvSpPr>
          <p:cNvPr id="7" name="Rectangle 6"/>
          <p:cNvSpPr/>
          <p:nvPr/>
        </p:nvSpPr>
        <p:spPr>
          <a:xfrm>
            <a:off x="566928" y="4663440"/>
            <a:ext cx="11064240" cy="65836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4663440"/>
            <a:ext cx="54864" cy="658368"/>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4754880"/>
            <a:ext cx="10652760" cy="493776"/>
          </a:xfrm>
          <a:prstGeom prst="rect">
            <a:avLst/>
          </a:prstGeom>
          <a:noFill/>
        </p:spPr>
        <p:txBody>
          <a:bodyPr wrap="square">
            <a:spAutoFit/>
          </a:bodyPr>
          <a:lstStyle/>
          <a:p>
            <a:pPr algn="l">
              <a:spcBef>
                <a:spcPts val="0"/>
              </a:spcBef>
              <a:spcAft>
                <a:spcPts val="0"/>
              </a:spcAft>
            </a:pPr>
            <a:r>
              <a:rPr sz="1250" b="0" i="0">
                <a:solidFill>
                  <a:srgbClr val="1A1A1A"/>
                </a:solidFill>
                <a:latin typeface="Segoe UI"/>
              </a:rPr>
              <a:t>The engine being side-effect free is what makes the verification harness possible - it tests the real shipped code, not a copy.</a:t>
            </a:r>
          </a:p>
        </p:txBody>
      </p:sp>
      <p:sp>
        <p:nvSpPr>
          <p:cNvPr id="10" name="TextBox 9"/>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0515600" cy="274320"/>
          </a:xfrm>
          <a:prstGeom prst="rect">
            <a:avLst/>
          </a:prstGeom>
          <a:noFill/>
        </p:spPr>
        <p:txBody>
          <a:bodyPr wrap="square">
            <a:spAutoFit/>
          </a:bodyPr>
          <a:lstStyle/>
          <a:p>
            <a:pPr algn="l">
              <a:spcBef>
                <a:spcPts val="0"/>
              </a:spcBef>
              <a:spcAft>
                <a:spcPts val="0"/>
              </a:spcAft>
            </a:pPr>
            <a:r>
              <a:rPr sz="1050" b="1" i="0">
                <a:solidFill>
                  <a:srgbClr val="006D77"/>
                </a:solidFill>
                <a:latin typeface="Segoe UI"/>
              </a:rPr>
              <a:t>TARGET STATE</a:t>
            </a:r>
          </a:p>
        </p:txBody>
      </p:sp>
      <p:sp>
        <p:nvSpPr>
          <p:cNvPr id="4" name="TextBox 3"/>
          <p:cNvSpPr txBox="1"/>
          <p:nvPr/>
        </p:nvSpPr>
        <p:spPr>
          <a:xfrm>
            <a:off x="566928" y="530352"/>
            <a:ext cx="11064240" cy="685800"/>
          </a:xfrm>
          <a:prstGeom prst="rect">
            <a:avLst/>
          </a:prstGeom>
          <a:noFill/>
        </p:spPr>
        <p:txBody>
          <a:bodyPr wrap="square">
            <a:spAutoFit/>
          </a:bodyPr>
          <a:lstStyle/>
          <a:p>
            <a:pPr algn="l">
              <a:spcBef>
                <a:spcPts val="0"/>
              </a:spcBef>
              <a:spcAft>
                <a:spcPts val="0"/>
              </a:spcAft>
            </a:pPr>
            <a:r>
              <a:rPr sz="2700" b="1" i="0">
                <a:solidFill>
                  <a:srgbClr val="1A1A1A"/>
                </a:solidFill>
                <a:latin typeface="Segoe UI"/>
              </a:rPr>
              <a:t>Dataverse data model</a:t>
            </a:r>
          </a:p>
        </p:txBody>
      </p:sp>
      <p:graphicFrame>
        <p:nvGraphicFramePr>
          <p:cNvPr id="5" name="Table 4"/>
          <p:cNvGraphicFramePr>
            <a:graphicFrameLocks noGrp="1"/>
          </p:cNvGraphicFramePr>
          <p:nvPr/>
        </p:nvGraphicFramePr>
        <p:xfrm>
          <a:off x="566928" y="1554480"/>
          <a:ext cx="11064240" cy="1444752"/>
        </p:xfrm>
        <a:graphic>
          <a:graphicData uri="http://schemas.openxmlformats.org/drawingml/2006/table">
            <a:tbl>
              <a:tblPr firstRow="1" bandRow="1">
                <a:tableStyleId>{5C22544A-7EE6-4342-B048-85BDC9FD1C3A}</a:tableStyleId>
              </a:tblPr>
              <a:tblGrid>
                <a:gridCol w="2011680"/>
                <a:gridCol w="1005840"/>
                <a:gridCol w="8046720"/>
              </a:tblGrid>
              <a:tr h="347472">
                <a:tc>
                  <a:txBody>
                    <a:bodyPr wrap="square"/>
                    <a:lstStyle/>
                    <a:p>
                      <a:r>
                        <a:rPr sz="1250" b="1">
                          <a:solidFill>
                            <a:srgbClr val="FFFFFF"/>
                          </a:solidFill>
                          <a:latin typeface="Segoe UI"/>
                        </a:rPr>
                        <a:t>Group</a:t>
                      </a:r>
                    </a:p>
                  </a:txBody>
                  <a:tcPr anchor="ctr" marL="91440">
                    <a:solidFill>
                      <a:srgbClr val="006D77"/>
                    </a:solidFill>
                  </a:tcPr>
                </a:tc>
                <a:tc>
                  <a:txBody>
                    <a:bodyPr wrap="square"/>
                    <a:lstStyle/>
                    <a:p>
                      <a:r>
                        <a:rPr sz="1250" b="1">
                          <a:solidFill>
                            <a:srgbClr val="FFFFFF"/>
                          </a:solidFill>
                          <a:latin typeface="Segoe UI"/>
                        </a:rPr>
                        <a:t>Tables</a:t>
                      </a:r>
                    </a:p>
                  </a:txBody>
                  <a:tcPr anchor="ctr" marL="91440">
                    <a:solidFill>
                      <a:srgbClr val="006D77"/>
                    </a:solidFill>
                  </a:tcPr>
                </a:tc>
                <a:tc>
                  <a:txBody>
                    <a:bodyPr wrap="square"/>
                    <a:lstStyle/>
                    <a:p>
                      <a:r>
                        <a:rPr sz="1250" b="1">
                          <a:solidFill>
                            <a:srgbClr val="FFFFFF"/>
                          </a:solidFill>
                          <a:latin typeface="Segoe UI"/>
                        </a:rPr>
                        <a:t>Contents</a:t>
                      </a:r>
                    </a:p>
                  </a:txBody>
                  <a:tcPr anchor="ctr" marL="91440">
                    <a:solidFill>
                      <a:srgbClr val="006D77"/>
                    </a:solidFill>
                  </a:tcPr>
                </a:tc>
              </a:tr>
              <a:tr h="274320">
                <a:tc>
                  <a:txBody>
                    <a:bodyPr wrap="square"/>
                    <a:lstStyle/>
                    <a:p>
                      <a:r>
                        <a:rPr sz="1250" b="1">
                          <a:solidFill>
                            <a:srgbClr val="1A1A1A"/>
                          </a:solidFill>
                          <a:latin typeface="Segoe UI"/>
                        </a:rPr>
                        <a:t>Configuration</a:t>
                      </a:r>
                    </a:p>
                  </a:txBody>
                  <a:tcPr anchor="ctr" marL="91440" marT="18288" marB="18288">
                    <a:solidFill>
                      <a:srgbClr val="FFFFFF"/>
                    </a:solidFill>
                  </a:tcPr>
                </a:tc>
                <a:tc>
                  <a:txBody>
                    <a:bodyPr wrap="square"/>
                    <a:lstStyle/>
                    <a:p>
                      <a:r>
                        <a:rPr sz="1250" b="0">
                          <a:solidFill>
                            <a:srgbClr val="3C3C3C"/>
                          </a:solidFill>
                          <a:latin typeface="Segoe UI"/>
                        </a:rPr>
                        <a:t>10</a:t>
                      </a:r>
                    </a:p>
                  </a:txBody>
                  <a:tcPr anchor="ctr" marL="91440" marT="18288" marB="18288">
                    <a:solidFill>
                      <a:srgbClr val="FFFFFF"/>
                    </a:solidFill>
                  </a:tcPr>
                </a:tc>
                <a:tc>
                  <a:txBody>
                    <a:bodyPr wrap="square"/>
                    <a:lstStyle/>
                    <a:p>
                      <a:r>
                        <a:rPr sz="1250" b="0">
                          <a:solidFill>
                            <a:srgbClr val="3C3C3C"/>
                          </a:solidFill>
                          <a:latin typeface="Segoe UI"/>
                        </a:rPr>
                        <a:t>Case types, stages, steps, views, view fields, choice sets, choice values, decisions, decision rows, roles</a:t>
                      </a:r>
                    </a:p>
                  </a:txBody>
                  <a:tcPr anchor="ctr" marL="91440" marT="18288" marB="18288">
                    <a:solidFill>
                      <a:srgbClr val="FFFFFF"/>
                    </a:solidFill>
                  </a:tcPr>
                </a:tc>
              </a:tr>
              <a:tr h="274320">
                <a:tc>
                  <a:txBody>
                    <a:bodyPr wrap="square"/>
                    <a:lstStyle/>
                    <a:p>
                      <a:r>
                        <a:rPr sz="1250" b="1">
                          <a:solidFill>
                            <a:srgbClr val="1A1A1A"/>
                          </a:solidFill>
                          <a:latin typeface="Segoe UI"/>
                        </a:rPr>
                        <a:t>Data objects</a:t>
                      </a:r>
                    </a:p>
                  </a:txBody>
                  <a:tcPr anchor="ctr" marL="91440" marT="18288" marB="18288">
                    <a:solidFill>
                      <a:srgbClr val="F4F5F7"/>
                    </a:solidFill>
                  </a:tcPr>
                </a:tc>
                <a:tc>
                  <a:txBody>
                    <a:bodyPr wrap="square"/>
                    <a:lstStyle/>
                    <a:p>
                      <a:r>
                        <a:rPr sz="1250" b="0">
                          <a:solidFill>
                            <a:srgbClr val="3C3C3C"/>
                          </a:solidFill>
                          <a:latin typeface="Segoe UI"/>
                        </a:rPr>
                        <a:t>9</a:t>
                      </a:r>
                    </a:p>
                  </a:txBody>
                  <a:tcPr anchor="ctr" marL="91440" marT="18288" marB="18288">
                    <a:solidFill>
                      <a:srgbClr val="F4F5F7"/>
                    </a:solidFill>
                  </a:tcPr>
                </a:tc>
                <a:tc>
                  <a:txBody>
                    <a:bodyPr wrap="square"/>
                    <a:lstStyle/>
                    <a:p>
                      <a:r>
                        <a:rPr sz="1250" b="0">
                          <a:solidFill>
                            <a:srgbClr val="3C3C3C"/>
                          </a:solidFill>
                          <a:latin typeface="Segoe UI"/>
                        </a:rPr>
                        <a:t>Customers, lending transactions, risk profiles, compliance findings and related reference entities</a:t>
                      </a:r>
                    </a:p>
                  </a:txBody>
                  <a:tcPr anchor="ctr" marL="91440" marT="18288" marB="18288">
                    <a:solidFill>
                      <a:srgbClr val="F4F5F7"/>
                    </a:solidFill>
                  </a:tcPr>
                </a:tc>
              </a:tr>
              <a:tr h="274320">
                <a:tc>
                  <a:txBody>
                    <a:bodyPr wrap="square"/>
                    <a:lstStyle/>
                    <a:p>
                      <a:r>
                        <a:rPr sz="1250" b="1">
                          <a:solidFill>
                            <a:srgbClr val="1A1A1A"/>
                          </a:solidFill>
                          <a:latin typeface="Segoe UI"/>
                        </a:rPr>
                        <a:t>Work / runtime</a:t>
                      </a:r>
                    </a:p>
                  </a:txBody>
                  <a:tcPr anchor="ctr" marL="91440" marT="18288" marB="18288">
                    <a:solidFill>
                      <a:srgbClr val="FFFFFF"/>
                    </a:solidFill>
                  </a:tcPr>
                </a:tc>
                <a:tc>
                  <a:txBody>
                    <a:bodyPr wrap="square"/>
                    <a:lstStyle/>
                    <a:p>
                      <a:r>
                        <a:rPr sz="1250" b="0">
                          <a:solidFill>
                            <a:srgbClr val="3C3C3C"/>
                          </a:solidFill>
                          <a:latin typeface="Segoe UI"/>
                        </a:rPr>
                        <a:t>4</a:t>
                      </a:r>
                    </a:p>
                  </a:txBody>
                  <a:tcPr anchor="ctr" marL="91440" marT="18288" marB="18288">
                    <a:solidFill>
                      <a:srgbClr val="FFFFFF"/>
                    </a:solidFill>
                  </a:tcPr>
                </a:tc>
                <a:tc>
                  <a:txBody>
                    <a:bodyPr wrap="square"/>
                    <a:lstStyle/>
                    <a:p>
                      <a:r>
                        <a:rPr sz="1250" b="0">
                          <a:solidFill>
                            <a:srgbClr val="3C3C3C"/>
                          </a:solidFill>
                          <a:latin typeface="Segoe UI"/>
                        </a:rPr>
                        <a:t>Work case (shared envelope), assignment, approval, case history</a:t>
                      </a:r>
                    </a:p>
                  </a:txBody>
                  <a:tcPr anchor="ctr" marL="91440" marT="18288" marB="18288">
                    <a:solidFill>
                      <a:srgbClr val="FFFFFF"/>
                    </a:solidFill>
                  </a:tcPr>
                </a:tc>
              </a:tr>
              <a:tr h="274320">
                <a:tc>
                  <a:txBody>
                    <a:bodyPr wrap="square"/>
                    <a:lstStyle/>
                    <a:p>
                      <a:r>
                        <a:rPr sz="1250" b="1">
                          <a:solidFill>
                            <a:srgbClr val="1A1A1A"/>
                          </a:solidFill>
                          <a:latin typeface="Segoe UI"/>
                        </a:rPr>
                        <a:t>Detail</a:t>
                      </a:r>
                    </a:p>
                  </a:txBody>
                  <a:tcPr anchor="ctr" marL="91440" marT="18288" marB="18288">
                    <a:solidFill>
                      <a:srgbClr val="F4F5F7"/>
                    </a:solidFill>
                  </a:tcPr>
                </a:tc>
                <a:tc>
                  <a:txBody>
                    <a:bodyPr wrap="square"/>
                    <a:lstStyle/>
                    <a:p>
                      <a:r>
                        <a:rPr sz="1250" b="0">
                          <a:solidFill>
                            <a:srgbClr val="3C3C3C"/>
                          </a:solidFill>
                          <a:latin typeface="Segoe UI"/>
                        </a:rPr>
                        <a:t>5</a:t>
                      </a:r>
                    </a:p>
                  </a:txBody>
                  <a:tcPr anchor="ctr" marL="91440" marT="18288" marB="18288">
                    <a:solidFill>
                      <a:srgbClr val="F4F5F7"/>
                    </a:solidFill>
                  </a:tcPr>
                </a:tc>
                <a:tc>
                  <a:txBody>
                    <a:bodyPr wrap="square"/>
                    <a:lstStyle/>
                    <a:p>
                      <a:r>
                        <a:rPr sz="1250" b="0">
                          <a:solidFill>
                            <a:srgbClr val="3C3C3C"/>
                          </a:solidFill>
                          <a:latin typeface="Segoe UI"/>
                        </a:rPr>
                        <a:t>One strongly-typed detail table per case type</a:t>
                      </a:r>
                    </a:p>
                  </a:txBody>
                  <a:tcPr anchor="ctr" marL="91440" marT="18288" marB="18288">
                    <a:solidFill>
                      <a:srgbClr val="F4F5F7"/>
                    </a:solidFill>
                  </a:tcPr>
                </a:tc>
              </a:tr>
            </a:tbl>
          </a:graphicData>
        </a:graphic>
      </p:graphicFrame>
      <p:sp>
        <p:nvSpPr>
          <p:cNvPr id="6" name="TextBox 5"/>
          <p:cNvSpPr txBox="1"/>
          <p:nvPr/>
        </p:nvSpPr>
        <p:spPr>
          <a:xfrm>
            <a:off x="566928" y="3794760"/>
            <a:ext cx="11064240" cy="1227328"/>
          </a:xfrm>
          <a:prstGeom prst="rect">
            <a:avLst/>
          </a:prstGeom>
          <a:noFill/>
        </p:spPr>
        <p:txBody>
          <a:bodyPr wrap="square">
            <a:spAutoFit/>
          </a:bodyPr>
          <a:lstStyle/>
          <a:p>
            <a:pPr algn="l">
              <a:spcBef>
                <a:spcPts val="0"/>
              </a:spcBef>
              <a:spcAft>
                <a:spcPts val="700"/>
              </a:spcAft>
            </a:pPr>
            <a:r>
              <a:rPr sz="1300" b="1" i="0">
                <a:solidFill>
                  <a:srgbClr val="1A1A1A"/>
                </a:solidFill>
                <a:latin typeface="Segoe UI"/>
              </a:rPr>
              <a:t>Why a shared envelope plus per-type detail tables</a:t>
            </a:r>
          </a:p>
          <a:p>
            <a:pPr algn="l">
              <a:spcBef>
                <a:spcPts val="0"/>
              </a:spcBef>
              <a:spcAft>
                <a:spcPts val="700"/>
              </a:spcAft>
            </a:pPr>
            <a:r>
              <a:rPr sz="1300" b="0" i="0">
                <a:solidFill>
                  <a:srgbClr val="1A1A1A"/>
                </a:solidFill>
                <a:latin typeface="Segoe UI"/>
              </a:rPr>
              <a:t>•  A single work case table keeps the worklist queryable across every case type in one request</a:t>
            </a:r>
          </a:p>
          <a:p>
            <a:pPr algn="l">
              <a:spcBef>
                <a:spcPts val="0"/>
              </a:spcBef>
              <a:spcAft>
                <a:spcPts val="700"/>
              </a:spcAft>
            </a:pPr>
            <a:r>
              <a:rPr sz="1300" b="0" i="0">
                <a:solidFill>
                  <a:srgbClr val="1A1A1A"/>
                </a:solidFill>
                <a:latin typeface="Segoe UI"/>
              </a:rPr>
              <a:t>•  Per-type detail tables still give each case type real, typed columns rather than a generic key-value bag</a:t>
            </a:r>
          </a:p>
          <a:p>
            <a:pPr algn="l">
              <a:spcBef>
                <a:spcPts val="0"/>
              </a:spcBef>
              <a:spcAft>
                <a:spcPts val="700"/>
              </a:spcAft>
            </a:pPr>
            <a:r>
              <a:rPr sz="1300" b="0" i="0">
                <a:solidFill>
                  <a:srgbClr val="1A1A1A"/>
                </a:solidFill>
                <a:latin typeface="Segoe UI"/>
              </a:rPr>
              <a:t>•  This mirrors Pega's own work class hierarchy without inheriting its rigidity</a:t>
            </a:r>
          </a:p>
        </p:txBody>
      </p:sp>
      <p:sp>
        <p:nvSpPr>
          <p:cNvPr id="7" name="Rectangle 6"/>
          <p:cNvSpPr/>
          <p:nvPr/>
        </p:nvSpPr>
        <p:spPr>
          <a:xfrm>
            <a:off x="566928" y="5296408"/>
            <a:ext cx="11064240" cy="65836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5296408"/>
            <a:ext cx="54864" cy="658368"/>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5387848"/>
            <a:ext cx="10652760" cy="493776"/>
          </a:xfrm>
          <a:prstGeom prst="rect">
            <a:avLst/>
          </a:prstGeom>
          <a:noFill/>
        </p:spPr>
        <p:txBody>
          <a:bodyPr wrap="square">
            <a:spAutoFit/>
          </a:bodyPr>
          <a:lstStyle/>
          <a:p>
            <a:pPr algn="l">
              <a:spcBef>
                <a:spcPts val="0"/>
              </a:spcBef>
              <a:spcAft>
                <a:spcPts val="0"/>
              </a:spcAft>
            </a:pPr>
            <a:r>
              <a:rPr sz="1250" b="0" i="0">
                <a:solidFill>
                  <a:srgbClr val="1A1A1A"/>
                </a:solidFill>
                <a:latin typeface="Segoe UI"/>
              </a:rPr>
              <a:t>Seeded content: 26 choice sets (107 values), 24 views (59 fields), 10 decision tables (28 rows), 5 case types, 39 stages, 80 steps.</a:t>
            </a:r>
          </a:p>
        </p:txBody>
      </p:sp>
      <p:sp>
        <p:nvSpPr>
          <p:cNvPr id="10" name="TextBox 9"/>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0515600" cy="274320"/>
          </a:xfrm>
          <a:prstGeom prst="rect">
            <a:avLst/>
          </a:prstGeom>
          <a:noFill/>
        </p:spPr>
        <p:txBody>
          <a:bodyPr wrap="square">
            <a:spAutoFit/>
          </a:bodyPr>
          <a:lstStyle/>
          <a:p>
            <a:pPr algn="l">
              <a:spcBef>
                <a:spcPts val="0"/>
              </a:spcBef>
              <a:spcAft>
                <a:spcPts val="0"/>
              </a:spcAft>
            </a:pPr>
            <a:r>
              <a:rPr sz="1050" b="1" i="0">
                <a:solidFill>
                  <a:srgbClr val="006D77"/>
                </a:solidFill>
                <a:latin typeface="Segoe UI"/>
              </a:rPr>
              <a:t>TARGET STATE</a:t>
            </a:r>
          </a:p>
        </p:txBody>
      </p:sp>
      <p:sp>
        <p:nvSpPr>
          <p:cNvPr id="4" name="TextBox 3"/>
          <p:cNvSpPr txBox="1"/>
          <p:nvPr/>
        </p:nvSpPr>
        <p:spPr>
          <a:xfrm>
            <a:off x="566928" y="530352"/>
            <a:ext cx="11064240" cy="685800"/>
          </a:xfrm>
          <a:prstGeom prst="rect">
            <a:avLst/>
          </a:prstGeom>
          <a:noFill/>
        </p:spPr>
        <p:txBody>
          <a:bodyPr wrap="square">
            <a:spAutoFit/>
          </a:bodyPr>
          <a:lstStyle/>
          <a:p>
            <a:pPr algn="l">
              <a:spcBef>
                <a:spcPts val="0"/>
              </a:spcBef>
              <a:spcAft>
                <a:spcPts val="0"/>
              </a:spcAft>
            </a:pPr>
            <a:r>
              <a:rPr sz="2700" b="1" i="0">
                <a:solidFill>
                  <a:srgbClr val="1A1A1A"/>
                </a:solidFill>
                <a:latin typeface="Segoe UI"/>
              </a:rPr>
              <a:t>Integration approach</a:t>
            </a:r>
          </a:p>
        </p:txBody>
      </p:sp>
      <p:graphicFrame>
        <p:nvGraphicFramePr>
          <p:cNvPr id="5" name="Table 4"/>
          <p:cNvGraphicFramePr>
            <a:graphicFrameLocks noGrp="1"/>
          </p:cNvGraphicFramePr>
          <p:nvPr/>
        </p:nvGraphicFramePr>
        <p:xfrm>
          <a:off x="566928" y="1536192"/>
          <a:ext cx="11064238" cy="2816352"/>
        </p:xfrm>
        <a:graphic>
          <a:graphicData uri="http://schemas.openxmlformats.org/drawingml/2006/table">
            <a:tbl>
              <a:tblPr firstRow="1" bandRow="1">
                <a:tableStyleId>{5C22544A-7EE6-4342-B048-85BDC9FD1C3A}</a:tableStyleId>
              </a:tblPr>
              <a:tblGrid>
                <a:gridCol w="2743199"/>
                <a:gridCol w="4937760"/>
                <a:gridCol w="3383279"/>
              </a:tblGrid>
              <a:tr h="347472">
                <a:tc>
                  <a:txBody>
                    <a:bodyPr wrap="square"/>
                    <a:lstStyle/>
                    <a:p>
                      <a:r>
                        <a:rPr sz="1150" b="1">
                          <a:solidFill>
                            <a:srgbClr val="FFFFFF"/>
                          </a:solidFill>
                          <a:latin typeface="Segoe UI"/>
                        </a:rPr>
                        <a:t>Pega capability</a:t>
                      </a:r>
                    </a:p>
                  </a:txBody>
                  <a:tcPr anchor="ctr" marL="91440">
                    <a:solidFill>
                      <a:srgbClr val="006D77"/>
                    </a:solidFill>
                  </a:tcPr>
                </a:tc>
                <a:tc>
                  <a:txBody>
                    <a:bodyPr wrap="square"/>
                    <a:lstStyle/>
                    <a:p>
                      <a:r>
                        <a:rPr sz="1150" b="1">
                          <a:solidFill>
                            <a:srgbClr val="FFFFFF"/>
                          </a:solidFill>
                          <a:latin typeface="Segoe UI"/>
                        </a:rPr>
                        <a:t>Power Platform target</a:t>
                      </a:r>
                    </a:p>
                  </a:txBody>
                  <a:tcPr anchor="ctr" marL="91440">
                    <a:solidFill>
                      <a:srgbClr val="006D77"/>
                    </a:solidFill>
                  </a:tcPr>
                </a:tc>
                <a:tc>
                  <a:txBody>
                    <a:bodyPr wrap="square"/>
                    <a:lstStyle/>
                    <a:p>
                      <a:r>
                        <a:rPr sz="1150" b="1">
                          <a:solidFill>
                            <a:srgbClr val="FFFFFF"/>
                          </a:solidFill>
                          <a:latin typeface="Segoe UI"/>
                        </a:rPr>
                        <a:t>Status in PoC</a:t>
                      </a:r>
                    </a:p>
                  </a:txBody>
                  <a:tcPr anchor="ctr" marL="91440">
                    <a:solidFill>
                      <a:srgbClr val="006D77"/>
                    </a:solidFill>
                  </a:tcPr>
                </a:tc>
              </a:tr>
              <a:tr h="274320">
                <a:tc>
                  <a:txBody>
                    <a:bodyPr wrap="square"/>
                    <a:lstStyle/>
                    <a:p>
                      <a:r>
                        <a:rPr sz="1150" b="1">
                          <a:solidFill>
                            <a:srgbClr val="1A1A1A"/>
                          </a:solidFill>
                          <a:latin typeface="Segoe UI"/>
                        </a:rPr>
                        <a:t>Human assignments</a:t>
                      </a:r>
                    </a:p>
                  </a:txBody>
                  <a:tcPr anchor="ctr" marL="91440" marT="18288" marB="18288">
                    <a:solidFill>
                      <a:srgbClr val="FFFFFF"/>
                    </a:solidFill>
                  </a:tcPr>
                </a:tc>
                <a:tc>
                  <a:txBody>
                    <a:bodyPr wrap="square"/>
                    <a:lstStyle/>
                    <a:p>
                      <a:r>
                        <a:rPr sz="1150" b="0">
                          <a:solidFill>
                            <a:srgbClr val="3C3C3C"/>
                          </a:solidFill>
                          <a:latin typeface="Segoe UI"/>
                        </a:rPr>
                        <a:t>Dataverse rows + Code App UI</a:t>
                      </a:r>
                    </a:p>
                  </a:txBody>
                  <a:tcPr anchor="ctr" marL="91440" marT="18288" marB="18288">
                    <a:solidFill>
                      <a:srgbClr val="FFFFFF"/>
                    </a:solidFill>
                  </a:tcPr>
                </a:tc>
                <a:tc>
                  <a:txBody>
                    <a:bodyPr wrap="square"/>
                    <a:lstStyle/>
                    <a:p>
                      <a:r>
                        <a:rPr sz="1150" b="0">
                          <a:solidFill>
                            <a:srgbClr val="3C3C3C"/>
                          </a:solidFill>
                          <a:latin typeface="Segoe UI"/>
                        </a:rPr>
                        <a:t>Implemented</a:t>
                      </a:r>
                    </a:p>
                  </a:txBody>
                  <a:tcPr anchor="ctr" marL="91440" marT="18288" marB="18288">
                    <a:solidFill>
                      <a:srgbClr val="FFFFFF"/>
                    </a:solidFill>
                  </a:tcPr>
                </a:tc>
              </a:tr>
              <a:tr h="274320">
                <a:tc>
                  <a:txBody>
                    <a:bodyPr wrap="square"/>
                    <a:lstStyle/>
                    <a:p>
                      <a:r>
                        <a:rPr sz="1150" b="1">
                          <a:solidFill>
                            <a:srgbClr val="1A1A1A"/>
                          </a:solidFill>
                          <a:latin typeface="Segoe UI"/>
                        </a:rPr>
                        <a:t>Approvals</a:t>
                      </a:r>
                    </a:p>
                  </a:txBody>
                  <a:tcPr anchor="ctr" marL="91440" marT="18288" marB="18288">
                    <a:solidFill>
                      <a:srgbClr val="F4F5F7"/>
                    </a:solidFill>
                  </a:tcPr>
                </a:tc>
                <a:tc>
                  <a:txBody>
                    <a:bodyPr wrap="square"/>
                    <a:lstStyle/>
                    <a:p>
                      <a:r>
                        <a:rPr sz="1150" b="0">
                          <a:solidFill>
                            <a:srgbClr val="3C3C3C"/>
                          </a:solidFill>
                          <a:latin typeface="Segoe UI"/>
                        </a:rPr>
                        <a:t>Dataverse approval rows + UI</a:t>
                      </a:r>
                    </a:p>
                  </a:txBody>
                  <a:tcPr anchor="ctr" marL="91440" marT="18288" marB="18288">
                    <a:solidFill>
                      <a:srgbClr val="F4F5F7"/>
                    </a:solidFill>
                  </a:tcPr>
                </a:tc>
                <a:tc>
                  <a:txBody>
                    <a:bodyPr wrap="square"/>
                    <a:lstStyle/>
                    <a:p>
                      <a:r>
                        <a:rPr sz="1150" b="0">
                          <a:solidFill>
                            <a:srgbClr val="3C3C3C"/>
                          </a:solidFill>
                          <a:latin typeface="Segoe UI"/>
                        </a:rPr>
                        <a:t>Implemented</a:t>
                      </a:r>
                    </a:p>
                  </a:txBody>
                  <a:tcPr anchor="ctr" marL="91440" marT="18288" marB="18288">
                    <a:solidFill>
                      <a:srgbClr val="F4F5F7"/>
                    </a:solidFill>
                  </a:tcPr>
                </a:tc>
              </a:tr>
              <a:tr h="274320">
                <a:tc>
                  <a:txBody>
                    <a:bodyPr wrap="square"/>
                    <a:lstStyle/>
                    <a:p>
                      <a:r>
                        <a:rPr sz="1150" b="1">
                          <a:solidFill>
                            <a:srgbClr val="1A1A1A"/>
                          </a:solidFill>
                          <a:latin typeface="Segoe UI"/>
                        </a:rPr>
                        <a:t>Decision tables</a:t>
                      </a:r>
                    </a:p>
                  </a:txBody>
                  <a:tcPr anchor="ctr" marL="91440" marT="18288" marB="18288">
                    <a:solidFill>
                      <a:srgbClr val="FFFFFF"/>
                    </a:solidFill>
                  </a:tcPr>
                </a:tc>
                <a:tc>
                  <a:txBody>
                    <a:bodyPr wrap="square"/>
                    <a:lstStyle/>
                    <a:p>
                      <a:r>
                        <a:rPr sz="1150" b="0">
                          <a:solidFill>
                            <a:srgbClr val="3C3C3C"/>
                          </a:solidFill>
                          <a:latin typeface="Segoe UI"/>
                        </a:rPr>
                        <a:t>Dataverse rows, evaluated in engine.ts</a:t>
                      </a:r>
                    </a:p>
                  </a:txBody>
                  <a:tcPr anchor="ctr" marL="91440" marT="18288" marB="18288">
                    <a:solidFill>
                      <a:srgbClr val="FFFFFF"/>
                    </a:solidFill>
                  </a:tcPr>
                </a:tc>
                <a:tc>
                  <a:txBody>
                    <a:bodyPr wrap="square"/>
                    <a:lstStyle/>
                    <a:p>
                      <a:r>
                        <a:rPr sz="1150" b="0">
                          <a:solidFill>
                            <a:srgbClr val="3C3C3C"/>
                          </a:solidFill>
                          <a:latin typeface="Segoe UI"/>
                        </a:rPr>
                        <a:t>Implemented</a:t>
                      </a:r>
                    </a:p>
                  </a:txBody>
                  <a:tcPr anchor="ctr" marL="91440" marT="18288" marB="18288">
                    <a:solidFill>
                      <a:srgbClr val="FFFFFF"/>
                    </a:solidFill>
                  </a:tcPr>
                </a:tc>
              </a:tr>
              <a:tr h="274320">
                <a:tc>
                  <a:txBody>
                    <a:bodyPr wrap="square"/>
                    <a:lstStyle/>
                    <a:p>
                      <a:r>
                        <a:rPr sz="1150" b="1">
                          <a:solidFill>
                            <a:srgbClr val="1A1A1A"/>
                          </a:solidFill>
                          <a:latin typeface="Segoe UI"/>
                        </a:rPr>
                        <a:t>Notifications (17)</a:t>
                      </a:r>
                    </a:p>
                  </a:txBody>
                  <a:tcPr anchor="ctr" marL="91440" marT="18288" marB="18288">
                    <a:solidFill>
                      <a:srgbClr val="F4F5F7"/>
                    </a:solidFill>
                  </a:tcPr>
                </a:tc>
                <a:tc>
                  <a:txBody>
                    <a:bodyPr wrap="square"/>
                    <a:lstStyle/>
                    <a:p>
                      <a:r>
                        <a:rPr sz="1150" b="0">
                          <a:solidFill>
                            <a:srgbClr val="3C3C3C"/>
                          </a:solidFill>
                          <a:latin typeface="Segoe UI"/>
                        </a:rPr>
                        <a:t>Power Automate / Office 365 Outlook connector</a:t>
                      </a:r>
                    </a:p>
                  </a:txBody>
                  <a:tcPr anchor="ctr" marL="91440" marT="18288" marB="18288">
                    <a:solidFill>
                      <a:srgbClr val="F4F5F7"/>
                    </a:solidFill>
                  </a:tcPr>
                </a:tc>
                <a:tc>
                  <a:txBody>
                    <a:bodyPr wrap="square"/>
                    <a:lstStyle/>
                    <a:p>
                      <a:r>
                        <a:rPr sz="1150" b="0">
                          <a:solidFill>
                            <a:srgbClr val="3C3C3C"/>
                          </a:solidFill>
                          <a:latin typeface="Segoe UI"/>
                        </a:rPr>
                        <a:t>Audited, not sent</a:t>
                      </a:r>
                    </a:p>
                  </a:txBody>
                  <a:tcPr anchor="ctr" marL="91440" marT="18288" marB="18288">
                    <a:solidFill>
                      <a:srgbClr val="F4F5F7"/>
                    </a:solidFill>
                  </a:tcPr>
                </a:tc>
              </a:tr>
              <a:tr h="274320">
                <a:tc>
                  <a:txBody>
                    <a:bodyPr wrap="square"/>
                    <a:lstStyle/>
                    <a:p>
                      <a:r>
                        <a:rPr sz="1150" b="1">
                          <a:solidFill>
                            <a:srgbClr val="1A1A1A"/>
                          </a:solidFill>
                          <a:latin typeface="Segoe UI"/>
                        </a:rPr>
                        <a:t>Data transforms (20)</a:t>
                      </a:r>
                    </a:p>
                  </a:txBody>
                  <a:tcPr anchor="ctr" marL="91440" marT="18288" marB="18288">
                    <a:solidFill>
                      <a:srgbClr val="FFFFFF"/>
                    </a:solidFill>
                  </a:tcPr>
                </a:tc>
                <a:tc>
                  <a:txBody>
                    <a:bodyPr wrap="square"/>
                    <a:lstStyle/>
                    <a:p>
                      <a:r>
                        <a:rPr sz="1150" b="0">
                          <a:solidFill>
                            <a:srgbClr val="3C3C3C"/>
                          </a:solidFill>
                          <a:latin typeface="Segoe UI"/>
                        </a:rPr>
                        <a:t>Transform registry in the orchestrator</a:t>
                      </a:r>
                    </a:p>
                  </a:txBody>
                  <a:tcPr anchor="ctr" marL="91440" marT="18288" marB="18288">
                    <a:solidFill>
                      <a:srgbClr val="FFFFFF"/>
                    </a:solidFill>
                  </a:tcPr>
                </a:tc>
                <a:tc>
                  <a:txBody>
                    <a:bodyPr wrap="square"/>
                    <a:lstStyle/>
                    <a:p>
                      <a:r>
                        <a:rPr sz="1150" b="0">
                          <a:solidFill>
                            <a:srgbClr val="3C3C3C"/>
                          </a:solidFill>
                          <a:latin typeface="Segoe UI"/>
                        </a:rPr>
                        <a:t>Audited, not executed</a:t>
                      </a:r>
                    </a:p>
                  </a:txBody>
                  <a:tcPr anchor="ctr" marL="91440" marT="18288" marB="18288">
                    <a:solidFill>
                      <a:srgbClr val="FFFFFF"/>
                    </a:solidFill>
                  </a:tcPr>
                </a:tc>
              </a:tr>
              <a:tr h="274320">
                <a:tc>
                  <a:txBody>
                    <a:bodyPr wrap="square"/>
                    <a:lstStyle/>
                    <a:p>
                      <a:r>
                        <a:rPr sz="1150" b="1">
                          <a:solidFill>
                            <a:srgbClr val="1A1A1A"/>
                          </a:solidFill>
                          <a:latin typeface="Segoe UI"/>
                        </a:rPr>
                        <a:t>Documents (4)</a:t>
                      </a:r>
                    </a:p>
                  </a:txBody>
                  <a:tcPr anchor="ctr" marL="91440" marT="18288" marB="18288">
                    <a:solidFill>
                      <a:srgbClr val="F4F5F7"/>
                    </a:solidFill>
                  </a:tcPr>
                </a:tc>
                <a:tc>
                  <a:txBody>
                    <a:bodyPr wrap="square"/>
                    <a:lstStyle/>
                    <a:p>
                      <a:r>
                        <a:rPr sz="1150" b="0">
                          <a:solidFill>
                            <a:srgbClr val="3C3C3C"/>
                          </a:solidFill>
                          <a:latin typeface="Segoe UI"/>
                        </a:rPr>
                        <a:t>Power Automate + Word templates, or Dataverse file column</a:t>
                      </a:r>
                    </a:p>
                  </a:txBody>
                  <a:tcPr anchor="ctr" marL="91440" marT="18288" marB="18288">
                    <a:solidFill>
                      <a:srgbClr val="F4F5F7"/>
                    </a:solidFill>
                  </a:tcPr>
                </a:tc>
                <a:tc>
                  <a:txBody>
                    <a:bodyPr wrap="square"/>
                    <a:lstStyle/>
                    <a:p>
                      <a:r>
                        <a:rPr sz="1150" b="0">
                          <a:solidFill>
                            <a:srgbClr val="3C3C3C"/>
                          </a:solidFill>
                          <a:latin typeface="Segoe UI"/>
                        </a:rPr>
                        <a:t>Audited, not generated</a:t>
                      </a:r>
                    </a:p>
                  </a:txBody>
                  <a:tcPr anchor="ctr" marL="91440" marT="18288" marB="18288">
                    <a:solidFill>
                      <a:srgbClr val="F4F5F7"/>
                    </a:solidFill>
                  </a:tcPr>
                </a:tc>
              </a:tr>
              <a:tr h="274320">
                <a:tc>
                  <a:txBody>
                    <a:bodyPr wrap="square"/>
                    <a:lstStyle/>
                    <a:p>
                      <a:r>
                        <a:rPr sz="1150" b="1">
                          <a:solidFill>
                            <a:srgbClr val="1A1A1A"/>
                          </a:solidFill>
                          <a:latin typeface="Segoe UI"/>
                        </a:rPr>
                        <a:t>Workbaskets (18)</a:t>
                      </a:r>
                    </a:p>
                  </a:txBody>
                  <a:tcPr anchor="ctr" marL="91440" marT="18288" marB="18288">
                    <a:solidFill>
                      <a:srgbClr val="FFFFFF"/>
                    </a:solidFill>
                  </a:tcPr>
                </a:tc>
                <a:tc>
                  <a:txBody>
                    <a:bodyPr wrap="square"/>
                    <a:lstStyle/>
                    <a:p>
                      <a:r>
                        <a:rPr sz="1150" b="0">
                          <a:solidFill>
                            <a:srgbClr val="3C3C3C"/>
                          </a:solidFill>
                          <a:latin typeface="Segoe UI"/>
                        </a:rPr>
                        <a:t>Dataverse teams + row-level security</a:t>
                      </a:r>
                    </a:p>
                  </a:txBody>
                  <a:tcPr anchor="ctr" marL="91440" marT="18288" marB="18288">
                    <a:solidFill>
                      <a:srgbClr val="FFFFFF"/>
                    </a:solidFill>
                  </a:tcPr>
                </a:tc>
                <a:tc>
                  <a:txBody>
                    <a:bodyPr wrap="square"/>
                    <a:lstStyle/>
                    <a:p>
                      <a:r>
                        <a:rPr sz="1150" b="0">
                          <a:solidFill>
                            <a:srgbClr val="3C3C3C"/>
                          </a:solidFill>
                          <a:latin typeface="Segoe UI"/>
                        </a:rPr>
                        <a:t>Not mapped</a:t>
                      </a:r>
                    </a:p>
                  </a:txBody>
                  <a:tcPr anchor="ctr" marL="91440" marT="18288" marB="18288">
                    <a:solidFill>
                      <a:srgbClr val="FFFFFF"/>
                    </a:solidFill>
                  </a:tcPr>
                </a:tc>
              </a:tr>
              <a:tr h="274320">
                <a:tc>
                  <a:txBody>
                    <a:bodyPr wrap="square"/>
                    <a:lstStyle/>
                    <a:p>
                      <a:r>
                        <a:rPr sz="1150" b="1">
                          <a:solidFill>
                            <a:srgbClr val="1A1A1A"/>
                          </a:solidFill>
                          <a:latin typeface="Segoe UI"/>
                        </a:rPr>
                        <a:t>Access groups (19)</a:t>
                      </a:r>
                    </a:p>
                  </a:txBody>
                  <a:tcPr anchor="ctr" marL="91440" marT="18288" marB="18288">
                    <a:solidFill>
                      <a:srgbClr val="F4F5F7"/>
                    </a:solidFill>
                  </a:tcPr>
                </a:tc>
                <a:tc>
                  <a:txBody>
                    <a:bodyPr wrap="square"/>
                    <a:lstStyle/>
                    <a:p>
                      <a:r>
                        <a:rPr sz="1150" b="0">
                          <a:solidFill>
                            <a:srgbClr val="3C3C3C"/>
                          </a:solidFill>
                          <a:latin typeface="Segoe UI"/>
                        </a:rPr>
                        <a:t>Dataverse security roles</a:t>
                      </a:r>
                    </a:p>
                  </a:txBody>
                  <a:tcPr anchor="ctr" marL="91440" marT="18288" marB="18288">
                    <a:solidFill>
                      <a:srgbClr val="F4F5F7"/>
                    </a:solidFill>
                  </a:tcPr>
                </a:tc>
                <a:tc>
                  <a:txBody>
                    <a:bodyPr wrap="square"/>
                    <a:lstStyle/>
                    <a:p>
                      <a:r>
                        <a:rPr sz="1150" b="0">
                          <a:solidFill>
                            <a:srgbClr val="3C3C3C"/>
                          </a:solidFill>
                          <a:latin typeface="Segoe UI"/>
                        </a:rPr>
                        <a:t>Imported as data only</a:t>
                      </a:r>
                    </a:p>
                  </a:txBody>
                  <a:tcPr anchor="ctr" marL="91440" marT="18288" marB="18288">
                    <a:solidFill>
                      <a:srgbClr val="F4F5F7"/>
                    </a:solidFill>
                  </a:tcPr>
                </a:tc>
              </a:tr>
              <a:tr h="274320">
                <a:tc>
                  <a:txBody>
                    <a:bodyPr wrap="square"/>
                    <a:lstStyle/>
                    <a:p>
                      <a:r>
                        <a:rPr sz="1150" b="1">
                          <a:solidFill>
                            <a:srgbClr val="1A1A1A"/>
                          </a:solidFill>
                          <a:latin typeface="Segoe UI"/>
                        </a:rPr>
                        <a:t>Reporting (30)</a:t>
                      </a:r>
                    </a:p>
                  </a:txBody>
                  <a:tcPr anchor="ctr" marL="91440" marT="18288" marB="18288">
                    <a:solidFill>
                      <a:srgbClr val="FFFFFF"/>
                    </a:solidFill>
                  </a:tcPr>
                </a:tc>
                <a:tc>
                  <a:txBody>
                    <a:bodyPr wrap="square"/>
                    <a:lstStyle/>
                    <a:p>
                      <a:r>
                        <a:rPr sz="1150" b="0">
                          <a:solidFill>
                            <a:srgbClr val="3C3C3C"/>
                          </a:solidFill>
                          <a:latin typeface="Segoe UI"/>
                        </a:rPr>
                        <a:t>Power BI over Dataverse</a:t>
                      </a:r>
                    </a:p>
                  </a:txBody>
                  <a:tcPr anchor="ctr" marL="91440" marT="18288" marB="18288">
                    <a:solidFill>
                      <a:srgbClr val="FFFFFF"/>
                    </a:solidFill>
                  </a:tcPr>
                </a:tc>
                <a:tc>
                  <a:txBody>
                    <a:bodyPr wrap="square"/>
                    <a:lstStyle/>
                    <a:p>
                      <a:r>
                        <a:rPr sz="1150" b="0">
                          <a:solidFill>
                            <a:srgbClr val="3C3C3C"/>
                          </a:solidFill>
                          <a:latin typeface="Segoe UI"/>
                        </a:rPr>
                        <a:t>Out of scope</a:t>
                      </a:r>
                    </a:p>
                  </a:txBody>
                  <a:tcPr anchor="ctr" marL="91440" marT="18288" marB="18288">
                    <a:solidFill>
                      <a:srgbClr val="FFFFFF"/>
                    </a:solidFill>
                  </a:tcPr>
                </a:tc>
              </a:tr>
            </a:tbl>
          </a:graphicData>
        </a:graphic>
      </p:graphicFrame>
      <p:sp>
        <p:nvSpPr>
          <p:cNvPr id="6" name="Rectangle 5"/>
          <p:cNvSpPr/>
          <p:nvPr/>
        </p:nvSpPr>
        <p:spPr>
          <a:xfrm>
            <a:off x="566928" y="4626864"/>
            <a:ext cx="11064240" cy="65836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4626864"/>
            <a:ext cx="54864" cy="658368"/>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4718303"/>
            <a:ext cx="10652760" cy="493776"/>
          </a:xfrm>
          <a:prstGeom prst="rect">
            <a:avLst/>
          </a:prstGeom>
          <a:noFill/>
        </p:spPr>
        <p:txBody>
          <a:bodyPr wrap="square">
            <a:spAutoFit/>
          </a:bodyPr>
          <a:lstStyle/>
          <a:p>
            <a:pPr algn="l">
              <a:spcBef>
                <a:spcPts val="0"/>
              </a:spcBef>
              <a:spcAft>
                <a:spcPts val="0"/>
              </a:spcAft>
            </a:pPr>
            <a:r>
              <a:rPr sz="1250" b="0" i="0">
                <a:solidFill>
                  <a:srgbClr val="1A1A1A"/>
                </a:solidFill>
                <a:latin typeface="Segoe UI"/>
              </a:rPr>
              <a:t>Azure services were not required for this PoC. Dataverse and the Power Platform connector set cover the full scope; Azure Functions would only be needed for heavy custom compute.</a:t>
            </a:r>
          </a:p>
        </p:txBody>
      </p:sp>
      <p:sp>
        <p:nvSpPr>
          <p:cNvPr id="9" name="TextBox 8"/>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331720"/>
            <a:ext cx="1828800" cy="1097280"/>
          </a:xfrm>
          <a:prstGeom prst="rect">
            <a:avLst/>
          </a:prstGeom>
          <a:noFill/>
        </p:spPr>
        <p:txBody>
          <a:bodyPr wrap="square">
            <a:spAutoFit/>
          </a:bodyPr>
          <a:lstStyle/>
          <a:p>
            <a:pPr algn="l">
              <a:spcBef>
                <a:spcPts val="0"/>
              </a:spcBef>
              <a:spcAft>
                <a:spcPts val="0"/>
              </a:spcAft>
            </a:pPr>
            <a:r>
              <a:rPr sz="6400" b="1" i="0">
                <a:solidFill>
                  <a:srgbClr val="7FC4CB"/>
                </a:solidFill>
                <a:latin typeface="Segoe UI"/>
              </a:rPr>
              <a:t>04</a:t>
            </a:r>
          </a:p>
        </p:txBody>
      </p:sp>
      <p:sp>
        <p:nvSpPr>
          <p:cNvPr id="5" name="TextBox 4"/>
          <p:cNvSpPr txBox="1"/>
          <p:nvPr/>
        </p:nvSpPr>
        <p:spPr>
          <a:xfrm>
            <a:off x="2331720" y="2487168"/>
            <a:ext cx="8778240" cy="914400"/>
          </a:xfrm>
          <a:prstGeom prst="rect">
            <a:avLst/>
          </a:prstGeom>
          <a:noFill/>
        </p:spPr>
        <p:txBody>
          <a:bodyPr wrap="square">
            <a:spAutoFit/>
          </a:bodyPr>
          <a:lstStyle/>
          <a:p>
            <a:pPr algn="l">
              <a:spcBef>
                <a:spcPts val="0"/>
              </a:spcBef>
              <a:spcAft>
                <a:spcPts val="0"/>
              </a:spcAft>
            </a:pPr>
            <a:r>
              <a:rPr sz="3400" b="1" i="0">
                <a:solidFill>
                  <a:srgbClr val="FFFFFF"/>
                </a:solidFill>
                <a:latin typeface="Segoe UI"/>
              </a:rPr>
              <a:t>Migration Approach</a:t>
            </a:r>
          </a:p>
        </p:txBody>
      </p:sp>
      <p:sp>
        <p:nvSpPr>
          <p:cNvPr id="6" name="TextBox 5"/>
          <p:cNvSpPr txBox="1"/>
          <p:nvPr/>
        </p:nvSpPr>
        <p:spPr>
          <a:xfrm>
            <a:off x="2395728" y="3401568"/>
            <a:ext cx="8595360" cy="640080"/>
          </a:xfrm>
          <a:prstGeom prst="rect">
            <a:avLst/>
          </a:prstGeom>
          <a:noFill/>
        </p:spPr>
        <p:txBody>
          <a:bodyPr wrap="square">
            <a:spAutoFit/>
          </a:bodyPr>
          <a:lstStyle/>
          <a:p>
            <a:pPr algn="l">
              <a:spcBef>
                <a:spcPts val="0"/>
              </a:spcBef>
              <a:spcAft>
                <a:spcPts val="0"/>
              </a:spcAft>
            </a:pPr>
            <a:r>
              <a:rPr sz="1450" b="0" i="0">
                <a:solidFill>
                  <a:srgbClr val="D6ECEE"/>
                </a:solidFill>
                <a:latin typeface="Segoe UI"/>
              </a:rPr>
              <a:t>Assessment, analysis and mapping strategy</a:t>
            </a:r>
          </a:p>
        </p:txBody>
      </p:sp>
      <p:sp>
        <p:nvSpPr>
          <p:cNvPr id="7" name="TextBox 6"/>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0515600" cy="274320"/>
          </a:xfrm>
          <a:prstGeom prst="rect">
            <a:avLst/>
          </a:prstGeom>
          <a:noFill/>
        </p:spPr>
        <p:txBody>
          <a:bodyPr wrap="square">
            <a:spAutoFit/>
          </a:bodyPr>
          <a:lstStyle/>
          <a:p>
            <a:pPr algn="l">
              <a:spcBef>
                <a:spcPts val="0"/>
              </a:spcBef>
              <a:spcAft>
                <a:spcPts val="0"/>
              </a:spcAft>
            </a:pPr>
            <a:r>
              <a:rPr sz="1050" b="1" i="0">
                <a:solidFill>
                  <a:srgbClr val="006D77"/>
                </a:solidFill>
                <a:latin typeface="Segoe UI"/>
              </a:rPr>
              <a:t>MIGRATION APPROACH</a:t>
            </a:r>
          </a:p>
        </p:txBody>
      </p:sp>
      <p:sp>
        <p:nvSpPr>
          <p:cNvPr id="4" name="TextBox 3"/>
          <p:cNvSpPr txBox="1"/>
          <p:nvPr/>
        </p:nvSpPr>
        <p:spPr>
          <a:xfrm>
            <a:off x="566928" y="530352"/>
            <a:ext cx="11064240" cy="685800"/>
          </a:xfrm>
          <a:prstGeom prst="rect">
            <a:avLst/>
          </a:prstGeom>
          <a:noFill/>
        </p:spPr>
        <p:txBody>
          <a:bodyPr wrap="square">
            <a:spAutoFit/>
          </a:bodyPr>
          <a:lstStyle/>
          <a:p>
            <a:pPr algn="l">
              <a:spcBef>
                <a:spcPts val="0"/>
              </a:spcBef>
              <a:spcAft>
                <a:spcPts val="0"/>
              </a:spcAft>
            </a:pPr>
            <a:r>
              <a:rPr sz="2700" b="1" i="0">
                <a:solidFill>
                  <a:srgbClr val="1A1A1A"/>
                </a:solidFill>
                <a:latin typeface="Segoe UI"/>
              </a:rPr>
              <a:t>Assessment methodology</a:t>
            </a:r>
          </a:p>
        </p:txBody>
      </p:sp>
      <p:sp>
        <p:nvSpPr>
          <p:cNvPr id="5" name="TextBox 4"/>
          <p:cNvSpPr txBox="1"/>
          <p:nvPr/>
        </p:nvSpPr>
        <p:spPr>
          <a:xfrm>
            <a:off x="566928" y="1389888"/>
            <a:ext cx="11064240" cy="348996"/>
          </a:xfrm>
          <a:prstGeom prst="rect">
            <a:avLst/>
          </a:prstGeom>
          <a:noFill/>
        </p:spPr>
        <p:txBody>
          <a:bodyPr wrap="square">
            <a:spAutoFit/>
          </a:bodyPr>
          <a:lstStyle/>
          <a:p>
            <a:pPr algn="l">
              <a:spcBef>
                <a:spcPts val="0"/>
              </a:spcBef>
              <a:spcAft>
                <a:spcPts val="900"/>
              </a:spcAft>
            </a:pPr>
            <a:r>
              <a:rPr sz="1400" b="1" i="0">
                <a:solidFill>
                  <a:srgbClr val="1A1A1A"/>
                </a:solidFill>
                <a:latin typeface="Segoe UI"/>
              </a:rPr>
              <a:t>Extraction uses three complementary sources</a:t>
            </a:r>
          </a:p>
        </p:txBody>
      </p:sp>
      <p:graphicFrame>
        <p:nvGraphicFramePr>
          <p:cNvPr id="6" name="Table 5"/>
          <p:cNvGraphicFramePr>
            <a:graphicFrameLocks noGrp="1"/>
          </p:cNvGraphicFramePr>
          <p:nvPr/>
        </p:nvGraphicFramePr>
        <p:xfrm>
          <a:off x="566928" y="1874519"/>
          <a:ext cx="11064238" cy="1170432"/>
        </p:xfrm>
        <a:graphic>
          <a:graphicData uri="http://schemas.openxmlformats.org/drawingml/2006/table">
            <a:tbl>
              <a:tblPr firstRow="1" bandRow="1">
                <a:tableStyleId>{5C22544A-7EE6-4342-B048-85BDC9FD1C3A}</a:tableStyleId>
              </a:tblPr>
              <a:tblGrid>
                <a:gridCol w="2926079"/>
                <a:gridCol w="4937760"/>
                <a:gridCol w="3200399"/>
              </a:tblGrid>
              <a:tr h="347472">
                <a:tc>
                  <a:txBody>
                    <a:bodyPr wrap="square"/>
                    <a:lstStyle/>
                    <a:p>
                      <a:r>
                        <a:rPr sz="1200" b="1">
                          <a:solidFill>
                            <a:srgbClr val="FFFFFF"/>
                          </a:solidFill>
                          <a:latin typeface="Segoe UI"/>
                        </a:rPr>
                        <a:t>Source</a:t>
                      </a:r>
                    </a:p>
                  </a:txBody>
                  <a:tcPr anchor="ctr" marL="91440">
                    <a:solidFill>
                      <a:srgbClr val="006D77"/>
                    </a:solidFill>
                  </a:tcPr>
                </a:tc>
                <a:tc>
                  <a:txBody>
                    <a:bodyPr wrap="square"/>
                    <a:lstStyle/>
                    <a:p>
                      <a:r>
                        <a:rPr sz="1200" b="1">
                          <a:solidFill>
                            <a:srgbClr val="FFFFFF"/>
                          </a:solidFill>
                          <a:latin typeface="Segoe UI"/>
                        </a:rPr>
                        <a:t>Yields</a:t>
                      </a:r>
                    </a:p>
                  </a:txBody>
                  <a:tcPr anchor="ctr" marL="91440">
                    <a:solidFill>
                      <a:srgbClr val="006D77"/>
                    </a:solidFill>
                  </a:tcPr>
                </a:tc>
                <a:tc>
                  <a:txBody>
                    <a:bodyPr wrap="square"/>
                    <a:lstStyle/>
                    <a:p>
                      <a:r>
                        <a:rPr sz="1200" b="1">
                          <a:solidFill>
                            <a:srgbClr val="FFFFFF"/>
                          </a:solidFill>
                          <a:latin typeface="Segoe UI"/>
                        </a:rPr>
                        <a:t>Necessity</a:t>
                      </a:r>
                    </a:p>
                  </a:txBody>
                  <a:tcPr anchor="ctr" marL="91440">
                    <a:solidFill>
                      <a:srgbClr val="006D77"/>
                    </a:solidFill>
                  </a:tcPr>
                </a:tc>
              </a:tr>
              <a:tr h="274320">
                <a:tc>
                  <a:txBody>
                    <a:bodyPr wrap="square"/>
                    <a:lstStyle/>
                    <a:p>
                      <a:r>
                        <a:rPr sz="1200" b="1">
                          <a:solidFill>
                            <a:srgbClr val="1A1A1A"/>
                          </a:solidFill>
                          <a:latin typeface="Segoe UI"/>
                        </a:rPr>
                        <a:t>Application export (.zip)</a:t>
                      </a:r>
                    </a:p>
                  </a:txBody>
                  <a:tcPr anchor="ctr" marL="91440" marT="18288" marB="18288">
                    <a:solidFill>
                      <a:srgbClr val="FFFFFF"/>
                    </a:solidFill>
                  </a:tcPr>
                </a:tc>
                <a:tc>
                  <a:txBody>
                    <a:bodyPr wrap="square"/>
                    <a:lstStyle/>
                    <a:p>
                      <a:r>
                        <a:rPr sz="1200" b="0">
                          <a:solidFill>
                            <a:srgbClr val="3C3C3C"/>
                          </a:solidFill>
                          <a:latin typeface="Segoe UI"/>
                        </a:rPr>
                        <a:t>SQL schema, full rule inventory</a:t>
                      </a:r>
                    </a:p>
                  </a:txBody>
                  <a:tcPr anchor="ctr" marL="91440" marT="18288" marB="18288">
                    <a:solidFill>
                      <a:srgbClr val="FFFFFF"/>
                    </a:solidFill>
                  </a:tcPr>
                </a:tc>
                <a:tc>
                  <a:txBody>
                    <a:bodyPr wrap="square"/>
                    <a:lstStyle/>
                    <a:p>
                      <a:r>
                        <a:rPr sz="1200" b="0">
                          <a:solidFill>
                            <a:srgbClr val="3C3C3C"/>
                          </a:solidFill>
                          <a:latin typeface="Segoe UI"/>
                        </a:rPr>
                        <a:t>Baseline - what exists</a:t>
                      </a:r>
                    </a:p>
                  </a:txBody>
                  <a:tcPr anchor="ctr" marL="91440" marT="18288" marB="18288">
                    <a:solidFill>
                      <a:srgbClr val="FFFFFF"/>
                    </a:solidFill>
                  </a:tcPr>
                </a:tc>
              </a:tr>
              <a:tr h="274320">
                <a:tc>
                  <a:txBody>
                    <a:bodyPr wrap="square"/>
                    <a:lstStyle/>
                    <a:p>
                      <a:r>
                        <a:rPr sz="1200" b="1">
                          <a:solidFill>
                            <a:srgbClr val="1A1A1A"/>
                          </a:solidFill>
                          <a:latin typeface="Segoe UI"/>
                        </a:rPr>
                        <a:t>Application document (.docx)</a:t>
                      </a:r>
                    </a:p>
                  </a:txBody>
                  <a:tcPr anchor="ctr" marL="91440" marT="18288" marB="18288">
                    <a:solidFill>
                      <a:srgbClr val="F4F5F7"/>
                    </a:solidFill>
                  </a:tcPr>
                </a:tc>
                <a:tc>
                  <a:txBody>
                    <a:bodyPr wrap="square"/>
                    <a:lstStyle/>
                    <a:p>
                      <a:r>
                        <a:rPr sz="1200" b="0">
                          <a:solidFill>
                            <a:srgbClr val="3C3C3C"/>
                          </a:solidFill>
                          <a:latin typeface="Segoe UI"/>
                        </a:rPr>
                        <a:t>Stages, flows, decision tables, security</a:t>
                      </a:r>
                    </a:p>
                  </a:txBody>
                  <a:tcPr anchor="ctr" marL="91440" marT="18288" marB="18288">
                    <a:solidFill>
                      <a:srgbClr val="F4F5F7"/>
                    </a:solidFill>
                  </a:tcPr>
                </a:tc>
                <a:tc>
                  <a:txBody>
                    <a:bodyPr wrap="square"/>
                    <a:lstStyle/>
                    <a:p>
                      <a:r>
                        <a:rPr sz="1200" b="0">
                          <a:solidFill>
                            <a:srgbClr val="3C3C3C"/>
                          </a:solidFill>
                          <a:latin typeface="Segoe UI"/>
                        </a:rPr>
                        <a:t>Structure and logic</a:t>
                      </a:r>
                    </a:p>
                  </a:txBody>
                  <a:tcPr anchor="ctr" marL="91440" marT="18288" marB="18288">
                    <a:solidFill>
                      <a:srgbClr val="F4F5F7"/>
                    </a:solidFill>
                  </a:tcPr>
                </a:tc>
              </a:tr>
              <a:tr h="274320">
                <a:tc>
                  <a:txBody>
                    <a:bodyPr wrap="square"/>
                    <a:lstStyle/>
                    <a:p>
                      <a:r>
                        <a:rPr sz="1200" b="1">
                          <a:solidFill>
                            <a:srgbClr val="1A1A1A"/>
                          </a:solidFill>
                          <a:latin typeface="Segoe UI"/>
                        </a:rPr>
                        <a:t>Live instance (DX API)</a:t>
                      </a:r>
                    </a:p>
                  </a:txBody>
                  <a:tcPr anchor="ctr" marL="91440" marT="18288" marB="18288">
                    <a:solidFill>
                      <a:srgbClr val="FFFFFF"/>
                    </a:solidFill>
                  </a:tcPr>
                </a:tc>
                <a:tc>
                  <a:txBody>
                    <a:bodyPr wrap="square"/>
                    <a:lstStyle/>
                    <a:p>
                      <a:r>
                        <a:rPr sz="1200" b="0">
                          <a:solidFill>
                            <a:srgbClr val="3C3C3C"/>
                          </a:solidFill>
                          <a:latin typeface="Segoe UI"/>
                        </a:rPr>
                        <a:t>Views, fields, choice values, theme</a:t>
                      </a:r>
                    </a:p>
                  </a:txBody>
                  <a:tcPr anchor="ctr" marL="91440" marT="18288" marB="18288">
                    <a:solidFill>
                      <a:srgbClr val="FFFFFF"/>
                    </a:solidFill>
                  </a:tcPr>
                </a:tc>
                <a:tc>
                  <a:txBody>
                    <a:bodyPr wrap="square"/>
                    <a:lstStyle/>
                    <a:p>
                      <a:r>
                        <a:rPr sz="1200" b="1">
                          <a:solidFill>
                            <a:srgbClr val="1A1A1A"/>
                          </a:solidFill>
                          <a:latin typeface="Segoe UI"/>
                        </a:rPr>
                        <a:t>Essential - the largest single uplift</a:t>
                      </a:r>
                    </a:p>
                  </a:txBody>
                  <a:tcPr anchor="ctr" marL="91440" marT="18288" marB="18288">
                    <a:solidFill>
                      <a:srgbClr val="FFFFFF"/>
                    </a:solidFill>
                  </a:tcPr>
                </a:tc>
              </a:tr>
            </a:tbl>
          </a:graphicData>
        </a:graphic>
      </p:graphicFrame>
      <p:sp>
        <p:nvSpPr>
          <p:cNvPr id="7" name="TextBox 6"/>
          <p:cNvSpPr txBox="1"/>
          <p:nvPr/>
        </p:nvSpPr>
        <p:spPr>
          <a:xfrm>
            <a:off x="566928" y="3520440"/>
            <a:ext cx="11064240" cy="2122424"/>
          </a:xfrm>
          <a:prstGeom prst="rect">
            <a:avLst/>
          </a:prstGeom>
          <a:noFill/>
        </p:spPr>
        <p:txBody>
          <a:bodyPr wrap="square">
            <a:spAutoFit/>
          </a:bodyPr>
          <a:lstStyle/>
          <a:p>
            <a:pPr algn="l">
              <a:spcBef>
                <a:spcPts val="0"/>
              </a:spcBef>
              <a:spcAft>
                <a:spcPts val="650"/>
              </a:spcAft>
            </a:pPr>
            <a:r>
              <a:rPr sz="1300" b="1" i="0">
                <a:solidFill>
                  <a:srgbClr val="1A1A1A"/>
                </a:solidFill>
                <a:latin typeface="Segoe UI"/>
              </a:rPr>
              <a:t>Fidelity is determined by the source combination</a:t>
            </a:r>
          </a:p>
          <a:p>
            <a:pPr algn="l">
              <a:spcBef>
                <a:spcPts val="0"/>
              </a:spcBef>
              <a:spcAft>
                <a:spcPts val="650"/>
              </a:spcAft>
            </a:pPr>
            <a:r>
              <a:rPr sz="1300" b="0" i="0">
                <a:solidFill>
                  <a:srgbClr val="1A1A1A"/>
                </a:solidFill>
                <a:latin typeface="Segoe UI"/>
              </a:rPr>
              <a:t>•  Export only - schema and inventory, no lifecycle or screens</a:t>
            </a:r>
          </a:p>
          <a:p>
            <a:pPr algn="l">
              <a:spcBef>
                <a:spcPts val="0"/>
              </a:spcBef>
              <a:spcAft>
                <a:spcPts val="650"/>
              </a:spcAft>
            </a:pPr>
            <a:r>
              <a:rPr sz="1300" b="0" i="0">
                <a:solidFill>
                  <a:srgbClr val="1A1A1A"/>
                </a:solidFill>
                <a:latin typeface="Segoe UI"/>
              </a:rPr>
              <a:t>•  Export plus document - case types, stages, flows, decisions, data model</a:t>
            </a:r>
          </a:p>
          <a:p>
            <a:pPr algn="l">
              <a:spcBef>
                <a:spcPts val="0"/>
              </a:spcBef>
              <a:spcAft>
                <a:spcPts val="650"/>
              </a:spcAft>
            </a:pPr>
            <a:r>
              <a:rPr sz="1300" b="0" i="0">
                <a:solidFill>
                  <a:srgbClr val="1A1A1A"/>
                </a:solidFill>
                <a:latin typeface="Segoe UI"/>
              </a:rPr>
              <a:t>•  All three - the above plus real screens and choice sets</a:t>
            </a:r>
          </a:p>
          <a:p>
            <a:pPr algn="l">
              <a:spcBef>
                <a:spcPts val="800"/>
              </a:spcBef>
              <a:spcAft>
                <a:spcPts val="650"/>
              </a:spcAft>
            </a:pPr>
            <a:r>
              <a:rPr sz="1300" b="1" i="0">
                <a:solidFill>
                  <a:srgbClr val="1A1A1A"/>
                </a:solidFill>
                <a:latin typeface="Segoe UI"/>
              </a:rPr>
              <a:t>Verified during the PoC</a:t>
            </a:r>
          </a:p>
          <a:p>
            <a:pPr algn="l">
              <a:spcBef>
                <a:spcPts val="0"/>
              </a:spcBef>
              <a:spcAft>
                <a:spcPts val="650"/>
              </a:spcAft>
            </a:pPr>
            <a:r>
              <a:rPr sz="1300" b="0" i="0">
                <a:solidFill>
                  <a:srgbClr val="1A1A1A"/>
                </a:solidFill>
                <a:latin typeface="Segoe UI"/>
              </a:rPr>
              <a:t>•  An export-plus-document run captured 0 of 49 views and 0 choice sets, and inferred a different stage decomposition from document prose. The three-source run captured 28 views and 27 choice sets and walks real cases via the API.</a:t>
            </a:r>
          </a:p>
        </p:txBody>
      </p:sp>
      <p:sp>
        <p:nvSpPr>
          <p:cNvPr id="8" name="Rectangle 7"/>
          <p:cNvSpPr/>
          <p:nvPr/>
        </p:nvSpPr>
        <p:spPr>
          <a:xfrm>
            <a:off x="566928" y="5917184"/>
            <a:ext cx="11064240" cy="65836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5917184"/>
            <a:ext cx="54864" cy="658368"/>
          </a:xfrm>
          <a:prstGeom prst="rect">
            <a:avLst/>
          </a:prstGeom>
          <a:solidFill>
            <a:srgbClr val="B5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6008624"/>
            <a:ext cx="10652760" cy="493776"/>
          </a:xfrm>
          <a:prstGeom prst="rect">
            <a:avLst/>
          </a:prstGeom>
          <a:noFill/>
        </p:spPr>
        <p:txBody>
          <a:bodyPr wrap="square">
            <a:spAutoFit/>
          </a:bodyPr>
          <a:lstStyle/>
          <a:p>
            <a:pPr algn="l">
              <a:spcBef>
                <a:spcPts val="0"/>
              </a:spcBef>
              <a:spcAft>
                <a:spcPts val="0"/>
              </a:spcAft>
            </a:pPr>
            <a:r>
              <a:rPr sz="1250" b="0" i="0">
                <a:solidFill>
                  <a:srgbClr val="1A1A1A"/>
                </a:solidFill>
                <a:latin typeface="Segoe UI"/>
              </a:rPr>
              <a:t>Recommendation: never assess a Pega application without DX API access to a sandbox. Structure inferred from prose is unreliable.</a:t>
            </a:r>
          </a:p>
        </p:txBody>
      </p:sp>
      <p:sp>
        <p:nvSpPr>
          <p:cNvPr id="11" name="TextBox 10"/>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0515600" cy="274320"/>
          </a:xfrm>
          <a:prstGeom prst="rect">
            <a:avLst/>
          </a:prstGeom>
          <a:noFill/>
        </p:spPr>
        <p:txBody>
          <a:bodyPr wrap="square">
            <a:spAutoFit/>
          </a:bodyPr>
          <a:lstStyle/>
          <a:p>
            <a:pPr algn="l">
              <a:spcBef>
                <a:spcPts val="0"/>
              </a:spcBef>
              <a:spcAft>
                <a:spcPts val="0"/>
              </a:spcAft>
            </a:pPr>
            <a:r>
              <a:rPr sz="1050" b="1" i="0">
                <a:solidFill>
                  <a:srgbClr val="006D77"/>
                </a:solidFill>
                <a:latin typeface="Segoe UI"/>
              </a:rPr>
              <a:t>MIGRATION APPROACH</a:t>
            </a:r>
          </a:p>
        </p:txBody>
      </p:sp>
      <p:sp>
        <p:nvSpPr>
          <p:cNvPr id="4" name="TextBox 3"/>
          <p:cNvSpPr txBox="1"/>
          <p:nvPr/>
        </p:nvSpPr>
        <p:spPr>
          <a:xfrm>
            <a:off x="566928" y="530352"/>
            <a:ext cx="11064240" cy="685800"/>
          </a:xfrm>
          <a:prstGeom prst="rect">
            <a:avLst/>
          </a:prstGeom>
          <a:noFill/>
        </p:spPr>
        <p:txBody>
          <a:bodyPr wrap="square">
            <a:spAutoFit/>
          </a:bodyPr>
          <a:lstStyle/>
          <a:p>
            <a:pPr algn="l">
              <a:spcBef>
                <a:spcPts val="0"/>
              </a:spcBef>
              <a:spcAft>
                <a:spcPts val="0"/>
              </a:spcAft>
            </a:pPr>
            <a:r>
              <a:rPr sz="2700" b="1" i="0">
                <a:solidFill>
                  <a:srgbClr val="1A1A1A"/>
                </a:solidFill>
                <a:latin typeface="Segoe UI"/>
              </a:rPr>
              <a:t>Rules, forms and workflows analysed</a:t>
            </a:r>
          </a:p>
        </p:txBody>
      </p:sp>
      <p:graphicFrame>
        <p:nvGraphicFramePr>
          <p:cNvPr id="5" name="Table 4"/>
          <p:cNvGraphicFramePr>
            <a:graphicFrameLocks noGrp="1"/>
          </p:cNvGraphicFramePr>
          <p:nvPr/>
        </p:nvGraphicFramePr>
        <p:xfrm>
          <a:off x="566928" y="1536192"/>
          <a:ext cx="11064238" cy="3090672"/>
        </p:xfrm>
        <a:graphic>
          <a:graphicData uri="http://schemas.openxmlformats.org/drawingml/2006/table">
            <a:tbl>
              <a:tblPr firstRow="1" bandRow="1">
                <a:tableStyleId>{5C22544A-7EE6-4342-B048-85BDC9FD1C3A}</a:tableStyleId>
              </a:tblPr>
              <a:tblGrid>
                <a:gridCol w="2720714"/>
                <a:gridCol w="1904500"/>
                <a:gridCol w="1904500"/>
                <a:gridCol w="4534524"/>
              </a:tblGrid>
              <a:tr h="347472">
                <a:tc>
                  <a:txBody>
                    <a:bodyPr wrap="square"/>
                    <a:lstStyle/>
                    <a:p>
                      <a:r>
                        <a:rPr sz="1150" b="1">
                          <a:solidFill>
                            <a:srgbClr val="FFFFFF"/>
                          </a:solidFill>
                          <a:latin typeface="Segoe UI"/>
                        </a:rPr>
                        <a:t>Artefact class</a:t>
                      </a:r>
                    </a:p>
                  </a:txBody>
                  <a:tcPr anchor="ctr" marL="91440">
                    <a:solidFill>
                      <a:srgbClr val="006D77"/>
                    </a:solidFill>
                  </a:tcPr>
                </a:tc>
                <a:tc>
                  <a:txBody>
                    <a:bodyPr wrap="square"/>
                    <a:lstStyle/>
                    <a:p>
                      <a:r>
                        <a:rPr sz="1150" b="1">
                          <a:solidFill>
                            <a:srgbClr val="FFFFFF"/>
                          </a:solidFill>
                          <a:latin typeface="Segoe UI"/>
                        </a:rPr>
                        <a:t>Count</a:t>
                      </a:r>
                    </a:p>
                  </a:txBody>
                  <a:tcPr anchor="ctr" marL="91440">
                    <a:solidFill>
                      <a:srgbClr val="006D77"/>
                    </a:solidFill>
                  </a:tcPr>
                </a:tc>
                <a:tc>
                  <a:txBody>
                    <a:bodyPr wrap="square"/>
                    <a:lstStyle/>
                    <a:p>
                      <a:r>
                        <a:rPr sz="1150" b="1">
                          <a:solidFill>
                            <a:srgbClr val="FFFFFF"/>
                          </a:solidFill>
                          <a:latin typeface="Segoe UI"/>
                        </a:rPr>
                        <a:t>Analysed</a:t>
                      </a:r>
                    </a:p>
                  </a:txBody>
                  <a:tcPr anchor="ctr" marL="91440">
                    <a:solidFill>
                      <a:srgbClr val="006D77"/>
                    </a:solidFill>
                  </a:tcPr>
                </a:tc>
                <a:tc>
                  <a:txBody>
                    <a:bodyPr wrap="square"/>
                    <a:lstStyle/>
                    <a:p>
                      <a:r>
                        <a:rPr sz="1150" b="1">
                          <a:solidFill>
                            <a:srgbClr val="FFFFFF"/>
                          </a:solidFill>
                          <a:latin typeface="Segoe UI"/>
                        </a:rPr>
                        <a:t>Outcome</a:t>
                      </a:r>
                    </a:p>
                  </a:txBody>
                  <a:tcPr anchor="ctr" marL="91440">
                    <a:solidFill>
                      <a:srgbClr val="006D77"/>
                    </a:solidFill>
                  </a:tcPr>
                </a:tc>
              </a:tr>
              <a:tr h="274320">
                <a:tc>
                  <a:txBody>
                    <a:bodyPr wrap="square"/>
                    <a:lstStyle/>
                    <a:p>
                      <a:r>
                        <a:rPr sz="1150" b="1">
                          <a:solidFill>
                            <a:srgbClr val="1A1A1A"/>
                          </a:solidFill>
                          <a:latin typeface="Segoe UI"/>
                        </a:rPr>
                        <a:t>Case types</a:t>
                      </a:r>
                    </a:p>
                  </a:txBody>
                  <a:tcPr anchor="ctr" marL="91440" marT="18288" marB="18288">
                    <a:solidFill>
                      <a:srgbClr val="FFFFFF"/>
                    </a:solidFill>
                  </a:tcPr>
                </a:tc>
                <a:tc>
                  <a:txBody>
                    <a:bodyPr wrap="square"/>
                    <a:lstStyle/>
                    <a:p>
                      <a:r>
                        <a:rPr sz="1150" b="0">
                          <a:solidFill>
                            <a:srgbClr val="3C3C3C"/>
                          </a:solidFill>
                          <a:latin typeface="Segoe UI"/>
                        </a:rPr>
                        <a:t>5</a:t>
                      </a:r>
                    </a:p>
                  </a:txBody>
                  <a:tcPr anchor="ctr" marL="91440" marT="18288" marB="18288">
                    <a:solidFill>
                      <a:srgbClr val="FFFFFF"/>
                    </a:solidFill>
                  </a:tcPr>
                </a:tc>
                <a:tc>
                  <a:txBody>
                    <a:bodyPr wrap="square"/>
                    <a:lstStyle/>
                    <a:p>
                      <a:r>
                        <a:rPr sz="1150" b="0">
                          <a:solidFill>
                            <a:srgbClr val="3C3C3C"/>
                          </a:solidFill>
                          <a:latin typeface="Segoe UI"/>
                        </a:rPr>
                        <a:t>5</a:t>
                      </a:r>
                    </a:p>
                  </a:txBody>
                  <a:tcPr anchor="ctr" marL="91440" marT="18288" marB="18288">
                    <a:solidFill>
                      <a:srgbClr val="FFFFFF"/>
                    </a:solidFill>
                  </a:tcPr>
                </a:tc>
                <a:tc>
                  <a:txBody>
                    <a:bodyPr wrap="square"/>
                    <a:lstStyle/>
                    <a:p>
                      <a:r>
                        <a:rPr sz="1150" b="0">
                          <a:solidFill>
                            <a:srgbClr val="3C3C3C"/>
                          </a:solidFill>
                          <a:latin typeface="Segoe UI"/>
                        </a:rPr>
                        <a:t>Migrated to configuration rows</a:t>
                      </a:r>
                    </a:p>
                  </a:txBody>
                  <a:tcPr anchor="ctr" marL="91440" marT="18288" marB="18288">
                    <a:solidFill>
                      <a:srgbClr val="FFFFFF"/>
                    </a:solidFill>
                  </a:tcPr>
                </a:tc>
              </a:tr>
              <a:tr h="274320">
                <a:tc>
                  <a:txBody>
                    <a:bodyPr wrap="square"/>
                    <a:lstStyle/>
                    <a:p>
                      <a:r>
                        <a:rPr sz="1150" b="1">
                          <a:solidFill>
                            <a:srgbClr val="1A1A1A"/>
                          </a:solidFill>
                          <a:latin typeface="Segoe UI"/>
                        </a:rPr>
                        <a:t>Stages / steps</a:t>
                      </a:r>
                    </a:p>
                  </a:txBody>
                  <a:tcPr anchor="ctr" marL="91440" marT="18288" marB="18288">
                    <a:solidFill>
                      <a:srgbClr val="F4F5F7"/>
                    </a:solidFill>
                  </a:tcPr>
                </a:tc>
                <a:tc>
                  <a:txBody>
                    <a:bodyPr wrap="square"/>
                    <a:lstStyle/>
                    <a:p>
                      <a:r>
                        <a:rPr sz="1150" b="0">
                          <a:solidFill>
                            <a:srgbClr val="3C3C3C"/>
                          </a:solidFill>
                          <a:latin typeface="Segoe UI"/>
                        </a:rPr>
                        <a:t>39 / 80</a:t>
                      </a:r>
                    </a:p>
                  </a:txBody>
                  <a:tcPr anchor="ctr" marL="91440" marT="18288" marB="18288">
                    <a:solidFill>
                      <a:srgbClr val="F4F5F7"/>
                    </a:solidFill>
                  </a:tcPr>
                </a:tc>
                <a:tc>
                  <a:txBody>
                    <a:bodyPr wrap="square"/>
                    <a:lstStyle/>
                    <a:p>
                      <a:r>
                        <a:rPr sz="1150" b="0">
                          <a:solidFill>
                            <a:srgbClr val="3C3C3C"/>
                          </a:solidFill>
                          <a:latin typeface="Segoe UI"/>
                        </a:rPr>
                        <a:t>All</a:t>
                      </a:r>
                    </a:p>
                  </a:txBody>
                  <a:tcPr anchor="ctr" marL="91440" marT="18288" marB="18288">
                    <a:solidFill>
                      <a:srgbClr val="F4F5F7"/>
                    </a:solidFill>
                  </a:tcPr>
                </a:tc>
                <a:tc>
                  <a:txBody>
                    <a:bodyPr wrap="square"/>
                    <a:lstStyle/>
                    <a:p>
                      <a:r>
                        <a:rPr sz="1150" b="0">
                          <a:solidFill>
                            <a:srgbClr val="3C3C3C"/>
                          </a:solidFill>
                          <a:latin typeface="Segoe UI"/>
                        </a:rPr>
                        <a:t>Migrated to configuration rows</a:t>
                      </a:r>
                    </a:p>
                  </a:txBody>
                  <a:tcPr anchor="ctr" marL="91440" marT="18288" marB="18288">
                    <a:solidFill>
                      <a:srgbClr val="F4F5F7"/>
                    </a:solidFill>
                  </a:tcPr>
                </a:tc>
              </a:tr>
              <a:tr h="274320">
                <a:tc>
                  <a:txBody>
                    <a:bodyPr wrap="square"/>
                    <a:lstStyle/>
                    <a:p>
                      <a:r>
                        <a:rPr sz="1150" b="1">
                          <a:solidFill>
                            <a:srgbClr val="1A1A1A"/>
                          </a:solidFill>
                          <a:latin typeface="Segoe UI"/>
                        </a:rPr>
                        <a:t>Decision tables</a:t>
                      </a:r>
                    </a:p>
                  </a:txBody>
                  <a:tcPr anchor="ctr" marL="91440" marT="18288" marB="18288">
                    <a:solidFill>
                      <a:srgbClr val="FFFFFF"/>
                    </a:solidFill>
                  </a:tcPr>
                </a:tc>
                <a:tc>
                  <a:txBody>
                    <a:bodyPr wrap="square"/>
                    <a:lstStyle/>
                    <a:p>
                      <a:r>
                        <a:rPr sz="1150" b="0">
                          <a:solidFill>
                            <a:srgbClr val="3C3C3C"/>
                          </a:solidFill>
                          <a:latin typeface="Segoe UI"/>
                        </a:rPr>
                        <a:t>10 (28 rows)</a:t>
                      </a:r>
                    </a:p>
                  </a:txBody>
                  <a:tcPr anchor="ctr" marL="91440" marT="18288" marB="18288">
                    <a:solidFill>
                      <a:srgbClr val="FFFFFF"/>
                    </a:solidFill>
                  </a:tcPr>
                </a:tc>
                <a:tc>
                  <a:txBody>
                    <a:bodyPr wrap="square"/>
                    <a:lstStyle/>
                    <a:p>
                      <a:r>
                        <a:rPr sz="1150" b="0">
                          <a:solidFill>
                            <a:srgbClr val="3C3C3C"/>
                          </a:solidFill>
                          <a:latin typeface="Segoe UI"/>
                        </a:rPr>
                        <a:t>All</a:t>
                      </a:r>
                    </a:p>
                  </a:txBody>
                  <a:tcPr anchor="ctr" marL="91440" marT="18288" marB="18288">
                    <a:solidFill>
                      <a:srgbClr val="FFFFFF"/>
                    </a:solidFill>
                  </a:tcPr>
                </a:tc>
                <a:tc>
                  <a:txBody>
                    <a:bodyPr wrap="square"/>
                    <a:lstStyle/>
                    <a:p>
                      <a:r>
                        <a:rPr sz="1150" b="0">
                          <a:solidFill>
                            <a:srgbClr val="3C3C3C"/>
                          </a:solidFill>
                          <a:latin typeface="Segoe UI"/>
                        </a:rPr>
                        <a:t>Migrated and executing</a:t>
                      </a:r>
                    </a:p>
                  </a:txBody>
                  <a:tcPr anchor="ctr" marL="91440" marT="18288" marB="18288">
                    <a:solidFill>
                      <a:srgbClr val="FFFFFF"/>
                    </a:solidFill>
                  </a:tcPr>
                </a:tc>
              </a:tr>
              <a:tr h="274320">
                <a:tc>
                  <a:txBody>
                    <a:bodyPr wrap="square"/>
                    <a:lstStyle/>
                    <a:p>
                      <a:r>
                        <a:rPr sz="1150" b="1">
                          <a:solidFill>
                            <a:srgbClr val="1A1A1A"/>
                          </a:solidFill>
                          <a:latin typeface="Segoe UI"/>
                        </a:rPr>
                        <a:t>UI views</a:t>
                      </a:r>
                    </a:p>
                  </a:txBody>
                  <a:tcPr anchor="ctr" marL="91440" marT="18288" marB="18288">
                    <a:solidFill>
                      <a:srgbClr val="F4F5F7"/>
                    </a:solidFill>
                  </a:tcPr>
                </a:tc>
                <a:tc>
                  <a:txBody>
                    <a:bodyPr wrap="square"/>
                    <a:lstStyle/>
                    <a:p>
                      <a:r>
                        <a:rPr sz="1150" b="0">
                          <a:solidFill>
                            <a:srgbClr val="3C3C3C"/>
                          </a:solidFill>
                          <a:latin typeface="Segoe UI"/>
                        </a:rPr>
                        <a:t>191 (49 step-bound)</a:t>
                      </a:r>
                    </a:p>
                  </a:txBody>
                  <a:tcPr anchor="ctr" marL="91440" marT="18288" marB="18288">
                    <a:solidFill>
                      <a:srgbClr val="F4F5F7"/>
                    </a:solidFill>
                  </a:tcPr>
                </a:tc>
                <a:tc>
                  <a:txBody>
                    <a:bodyPr wrap="square"/>
                    <a:lstStyle/>
                    <a:p>
                      <a:r>
                        <a:rPr sz="1150" b="0">
                          <a:solidFill>
                            <a:srgbClr val="3C3C3C"/>
                          </a:solidFill>
                          <a:latin typeface="Segoe UI"/>
                        </a:rPr>
                        <a:t>49</a:t>
                      </a:r>
                    </a:p>
                  </a:txBody>
                  <a:tcPr anchor="ctr" marL="91440" marT="18288" marB="18288">
                    <a:solidFill>
                      <a:srgbClr val="F4F5F7"/>
                    </a:solidFill>
                  </a:tcPr>
                </a:tc>
                <a:tc>
                  <a:txBody>
                    <a:bodyPr wrap="square"/>
                    <a:lstStyle/>
                    <a:p>
                      <a:r>
                        <a:rPr sz="1150" b="0">
                          <a:solidFill>
                            <a:srgbClr val="3C3C3C"/>
                          </a:solidFill>
                          <a:latin typeface="Segoe UI"/>
                        </a:rPr>
                        <a:t>24 migrated with 59 fields</a:t>
                      </a:r>
                    </a:p>
                  </a:txBody>
                  <a:tcPr anchor="ctr" marL="91440" marT="18288" marB="18288">
                    <a:solidFill>
                      <a:srgbClr val="F4F5F7"/>
                    </a:solidFill>
                  </a:tcPr>
                </a:tc>
              </a:tr>
              <a:tr h="274320">
                <a:tc>
                  <a:txBody>
                    <a:bodyPr wrap="square"/>
                    <a:lstStyle/>
                    <a:p>
                      <a:r>
                        <a:rPr sz="1150" b="1">
                          <a:solidFill>
                            <a:srgbClr val="1A1A1A"/>
                          </a:solidFill>
                          <a:latin typeface="Segoe UI"/>
                        </a:rPr>
                        <a:t>Choice sets</a:t>
                      </a:r>
                    </a:p>
                  </a:txBody>
                  <a:tcPr anchor="ctr" marL="91440" marT="18288" marB="18288">
                    <a:solidFill>
                      <a:srgbClr val="FFFFFF"/>
                    </a:solidFill>
                  </a:tcPr>
                </a:tc>
                <a:tc>
                  <a:txBody>
                    <a:bodyPr wrap="square"/>
                    <a:lstStyle/>
                    <a:p>
                      <a:r>
                        <a:rPr sz="1150" b="0">
                          <a:solidFill>
                            <a:srgbClr val="3C3C3C"/>
                          </a:solidFill>
                          <a:latin typeface="Segoe UI"/>
                        </a:rPr>
                        <a:t>26</a:t>
                      </a:r>
                    </a:p>
                  </a:txBody>
                  <a:tcPr anchor="ctr" marL="91440" marT="18288" marB="18288">
                    <a:solidFill>
                      <a:srgbClr val="FFFFFF"/>
                    </a:solidFill>
                  </a:tcPr>
                </a:tc>
                <a:tc>
                  <a:txBody>
                    <a:bodyPr wrap="square"/>
                    <a:lstStyle/>
                    <a:p>
                      <a:r>
                        <a:rPr sz="1150" b="0">
                          <a:solidFill>
                            <a:srgbClr val="3C3C3C"/>
                          </a:solidFill>
                          <a:latin typeface="Segoe UI"/>
                        </a:rPr>
                        <a:t>26</a:t>
                      </a:r>
                    </a:p>
                  </a:txBody>
                  <a:tcPr anchor="ctr" marL="91440" marT="18288" marB="18288">
                    <a:solidFill>
                      <a:srgbClr val="FFFFFF"/>
                    </a:solidFill>
                  </a:tcPr>
                </a:tc>
                <a:tc>
                  <a:txBody>
                    <a:bodyPr wrap="square"/>
                    <a:lstStyle/>
                    <a:p>
                      <a:r>
                        <a:rPr sz="1150" b="0">
                          <a:solidFill>
                            <a:srgbClr val="3C3C3C"/>
                          </a:solidFill>
                          <a:latin typeface="Segoe UI"/>
                        </a:rPr>
                        <a:t>Migrated with 107 values</a:t>
                      </a:r>
                    </a:p>
                  </a:txBody>
                  <a:tcPr anchor="ctr" marL="91440" marT="18288" marB="18288">
                    <a:solidFill>
                      <a:srgbClr val="FFFFFF"/>
                    </a:solidFill>
                  </a:tcPr>
                </a:tc>
              </a:tr>
              <a:tr h="274320">
                <a:tc>
                  <a:txBody>
                    <a:bodyPr wrap="square"/>
                    <a:lstStyle/>
                    <a:p>
                      <a:r>
                        <a:rPr sz="1150" b="1">
                          <a:solidFill>
                            <a:srgbClr val="1A1A1A"/>
                          </a:solidFill>
                          <a:latin typeface="Segoe UI"/>
                        </a:rPr>
                        <a:t>Properties</a:t>
                      </a:r>
                    </a:p>
                  </a:txBody>
                  <a:tcPr anchor="ctr" marL="91440" marT="18288" marB="18288">
                    <a:solidFill>
                      <a:srgbClr val="F4F5F7"/>
                    </a:solidFill>
                  </a:tcPr>
                </a:tc>
                <a:tc>
                  <a:txBody>
                    <a:bodyPr wrap="square"/>
                    <a:lstStyle/>
                    <a:p>
                      <a:r>
                        <a:rPr sz="1150" b="0">
                          <a:solidFill>
                            <a:srgbClr val="3C3C3C"/>
                          </a:solidFill>
                          <a:latin typeface="Segoe UI"/>
                        </a:rPr>
                        <a:t>334</a:t>
                      </a:r>
                    </a:p>
                  </a:txBody>
                  <a:tcPr anchor="ctr" marL="91440" marT="18288" marB="18288">
                    <a:solidFill>
                      <a:srgbClr val="F4F5F7"/>
                    </a:solidFill>
                  </a:tcPr>
                </a:tc>
                <a:tc>
                  <a:txBody>
                    <a:bodyPr wrap="square"/>
                    <a:lstStyle/>
                    <a:p>
                      <a:r>
                        <a:rPr sz="1150" b="0">
                          <a:solidFill>
                            <a:srgbClr val="3C3C3C"/>
                          </a:solidFill>
                          <a:latin typeface="Segoe UI"/>
                        </a:rPr>
                        <a:t>All</a:t>
                      </a:r>
                    </a:p>
                  </a:txBody>
                  <a:tcPr anchor="ctr" marL="91440" marT="18288" marB="18288">
                    <a:solidFill>
                      <a:srgbClr val="F4F5F7"/>
                    </a:solidFill>
                  </a:tcPr>
                </a:tc>
                <a:tc>
                  <a:txBody>
                    <a:bodyPr wrap="square"/>
                    <a:lstStyle/>
                    <a:p>
                      <a:r>
                        <a:rPr sz="1150" b="0">
                          <a:solidFill>
                            <a:srgbClr val="3C3C3C"/>
                          </a:solidFill>
                          <a:latin typeface="Segoe UI"/>
                        </a:rPr>
                        <a:t>Mapped to typed Dataverse columns</a:t>
                      </a:r>
                    </a:p>
                  </a:txBody>
                  <a:tcPr anchor="ctr" marL="91440" marT="18288" marB="18288">
                    <a:solidFill>
                      <a:srgbClr val="F4F5F7"/>
                    </a:solidFill>
                  </a:tcPr>
                </a:tc>
              </a:tr>
              <a:tr h="274320">
                <a:tc>
                  <a:txBody>
                    <a:bodyPr wrap="square"/>
                    <a:lstStyle/>
                    <a:p>
                      <a:r>
                        <a:rPr sz="1150" b="1">
                          <a:solidFill>
                            <a:srgbClr val="1A1A1A"/>
                          </a:solidFill>
                          <a:latin typeface="Segoe UI"/>
                        </a:rPr>
                        <a:t>Access groups</a:t>
                      </a:r>
                    </a:p>
                  </a:txBody>
                  <a:tcPr anchor="ctr" marL="91440" marT="18288" marB="18288">
                    <a:solidFill>
                      <a:srgbClr val="FFFFFF"/>
                    </a:solidFill>
                  </a:tcPr>
                </a:tc>
                <a:tc>
                  <a:txBody>
                    <a:bodyPr wrap="square"/>
                    <a:lstStyle/>
                    <a:p>
                      <a:r>
                        <a:rPr sz="1150" b="0">
                          <a:solidFill>
                            <a:srgbClr val="3C3C3C"/>
                          </a:solidFill>
                          <a:latin typeface="Segoe UI"/>
                        </a:rPr>
                        <a:t>19</a:t>
                      </a:r>
                    </a:p>
                  </a:txBody>
                  <a:tcPr anchor="ctr" marL="91440" marT="18288" marB="18288">
                    <a:solidFill>
                      <a:srgbClr val="FFFFFF"/>
                    </a:solidFill>
                  </a:tcPr>
                </a:tc>
                <a:tc>
                  <a:txBody>
                    <a:bodyPr wrap="square"/>
                    <a:lstStyle/>
                    <a:p>
                      <a:r>
                        <a:rPr sz="1150" b="0">
                          <a:solidFill>
                            <a:srgbClr val="3C3C3C"/>
                          </a:solidFill>
                          <a:latin typeface="Segoe UI"/>
                        </a:rPr>
                        <a:t>19</a:t>
                      </a:r>
                    </a:p>
                  </a:txBody>
                  <a:tcPr anchor="ctr" marL="91440" marT="18288" marB="18288">
                    <a:solidFill>
                      <a:srgbClr val="FFFFFF"/>
                    </a:solidFill>
                  </a:tcPr>
                </a:tc>
                <a:tc>
                  <a:txBody>
                    <a:bodyPr wrap="square"/>
                    <a:lstStyle/>
                    <a:p>
                      <a:r>
                        <a:rPr sz="1150" b="0">
                          <a:solidFill>
                            <a:srgbClr val="3C3C3C"/>
                          </a:solidFill>
                          <a:latin typeface="Segoe UI"/>
                        </a:rPr>
                        <a:t>Imported as data; not yet enforced</a:t>
                      </a:r>
                    </a:p>
                  </a:txBody>
                  <a:tcPr anchor="ctr" marL="91440" marT="18288" marB="18288">
                    <a:solidFill>
                      <a:srgbClr val="FFFFFF"/>
                    </a:solidFill>
                  </a:tcPr>
                </a:tc>
              </a:tr>
              <a:tr h="274320">
                <a:tc>
                  <a:txBody>
                    <a:bodyPr wrap="square"/>
                    <a:lstStyle/>
                    <a:p>
                      <a:r>
                        <a:rPr sz="1150" b="1">
                          <a:solidFill>
                            <a:srgbClr val="1A1A1A"/>
                          </a:solidFill>
                          <a:latin typeface="Segoe UI"/>
                        </a:rPr>
                        <a:t>Flow rules</a:t>
                      </a:r>
                    </a:p>
                  </a:txBody>
                  <a:tcPr anchor="ctr" marL="91440" marT="18288" marB="18288">
                    <a:solidFill>
                      <a:srgbClr val="F4F5F7"/>
                    </a:solidFill>
                  </a:tcPr>
                </a:tc>
                <a:tc>
                  <a:txBody>
                    <a:bodyPr wrap="square"/>
                    <a:lstStyle/>
                    <a:p>
                      <a:r>
                        <a:rPr sz="1150" b="0">
                          <a:solidFill>
                            <a:srgbClr val="3C3C3C"/>
                          </a:solidFill>
                          <a:latin typeface="Segoe UI"/>
                        </a:rPr>
                        <a:t>35</a:t>
                      </a:r>
                    </a:p>
                  </a:txBody>
                  <a:tcPr anchor="ctr" marL="91440" marT="18288" marB="18288">
                    <a:solidFill>
                      <a:srgbClr val="F4F5F7"/>
                    </a:solidFill>
                  </a:tcPr>
                </a:tc>
                <a:tc>
                  <a:txBody>
                    <a:bodyPr wrap="square"/>
                    <a:lstStyle/>
                    <a:p>
                      <a:r>
                        <a:rPr sz="1150" b="0">
                          <a:solidFill>
                            <a:srgbClr val="3C3C3C"/>
                          </a:solidFill>
                          <a:latin typeface="Segoe UI"/>
                        </a:rPr>
                        <a:t>Inventory only</a:t>
                      </a:r>
                    </a:p>
                  </a:txBody>
                  <a:tcPr anchor="ctr" marL="91440" marT="18288" marB="18288">
                    <a:solidFill>
                      <a:srgbClr val="F4F5F7"/>
                    </a:solidFill>
                  </a:tcPr>
                </a:tc>
                <a:tc>
                  <a:txBody>
                    <a:bodyPr wrap="square"/>
                    <a:lstStyle/>
                    <a:p>
                      <a:r>
                        <a:rPr sz="1150" b="1">
                          <a:solidFill>
                            <a:srgbClr val="1A1A1A"/>
                          </a:solidFill>
                          <a:latin typeface="Segoe UI"/>
                        </a:rPr>
                        <a:t>Bodies not decodable</a:t>
                      </a:r>
                    </a:p>
                  </a:txBody>
                  <a:tcPr anchor="ctr" marL="91440" marT="18288" marB="18288">
                    <a:solidFill>
                      <a:srgbClr val="F4F5F7"/>
                    </a:solidFill>
                  </a:tcPr>
                </a:tc>
              </a:tr>
              <a:tr h="274320">
                <a:tc>
                  <a:txBody>
                    <a:bodyPr wrap="square"/>
                    <a:lstStyle/>
                    <a:p>
                      <a:r>
                        <a:rPr sz="1150" b="1">
                          <a:solidFill>
                            <a:srgbClr val="1A1A1A"/>
                          </a:solidFill>
                          <a:latin typeface="Segoe UI"/>
                        </a:rPr>
                        <a:t>Notifications</a:t>
                      </a:r>
                    </a:p>
                  </a:txBody>
                  <a:tcPr anchor="ctr" marL="91440" marT="18288" marB="18288">
                    <a:solidFill>
                      <a:srgbClr val="FFFFFF"/>
                    </a:solidFill>
                  </a:tcPr>
                </a:tc>
                <a:tc>
                  <a:txBody>
                    <a:bodyPr wrap="square"/>
                    <a:lstStyle/>
                    <a:p>
                      <a:r>
                        <a:rPr sz="1150" b="0">
                          <a:solidFill>
                            <a:srgbClr val="3C3C3C"/>
                          </a:solidFill>
                          <a:latin typeface="Segoe UI"/>
                        </a:rPr>
                        <a:t>27</a:t>
                      </a:r>
                    </a:p>
                  </a:txBody>
                  <a:tcPr anchor="ctr" marL="91440" marT="18288" marB="18288">
                    <a:solidFill>
                      <a:srgbClr val="FFFFFF"/>
                    </a:solidFill>
                  </a:tcPr>
                </a:tc>
                <a:tc>
                  <a:txBody>
                    <a:bodyPr wrap="square"/>
                    <a:lstStyle/>
                    <a:p>
                      <a:r>
                        <a:rPr sz="1150" b="0">
                          <a:solidFill>
                            <a:srgbClr val="3C3C3C"/>
                          </a:solidFill>
                          <a:latin typeface="Segoe UI"/>
                        </a:rPr>
                        <a:t>Inventory only</a:t>
                      </a:r>
                    </a:p>
                  </a:txBody>
                  <a:tcPr anchor="ctr" marL="91440" marT="18288" marB="18288">
                    <a:solidFill>
                      <a:srgbClr val="FFFFFF"/>
                    </a:solidFill>
                  </a:tcPr>
                </a:tc>
                <a:tc>
                  <a:txBody>
                    <a:bodyPr wrap="square"/>
                    <a:lstStyle/>
                    <a:p>
                      <a:r>
                        <a:rPr sz="1150" b="1">
                          <a:solidFill>
                            <a:srgbClr val="1A1A1A"/>
                          </a:solidFill>
                          <a:latin typeface="Segoe UI"/>
                        </a:rPr>
                        <a:t>Bodies not exportable</a:t>
                      </a:r>
                    </a:p>
                  </a:txBody>
                  <a:tcPr anchor="ctr" marL="91440" marT="18288" marB="18288">
                    <a:solidFill>
                      <a:srgbClr val="FFFFFF"/>
                    </a:solidFill>
                  </a:tcPr>
                </a:tc>
              </a:tr>
              <a:tr h="274320">
                <a:tc>
                  <a:txBody>
                    <a:bodyPr wrap="square"/>
                    <a:lstStyle/>
                    <a:p>
                      <a:r>
                        <a:rPr sz="1150" b="1">
                          <a:solidFill>
                            <a:srgbClr val="1A1A1A"/>
                          </a:solidFill>
                          <a:latin typeface="Segoe UI"/>
                        </a:rPr>
                        <a:t>Declarative expressions</a:t>
                      </a:r>
                    </a:p>
                  </a:txBody>
                  <a:tcPr anchor="ctr" marL="91440" marT="18288" marB="18288">
                    <a:solidFill>
                      <a:srgbClr val="F4F5F7"/>
                    </a:solidFill>
                  </a:tcPr>
                </a:tc>
                <a:tc>
                  <a:txBody>
                    <a:bodyPr wrap="square"/>
                    <a:lstStyle/>
                    <a:p>
                      <a:r>
                        <a:rPr sz="1150" b="0">
                          <a:solidFill>
                            <a:srgbClr val="3C3C3C"/>
                          </a:solidFill>
                          <a:latin typeface="Segoe UI"/>
                        </a:rPr>
                        <a:t>36</a:t>
                      </a:r>
                    </a:p>
                  </a:txBody>
                  <a:tcPr anchor="ctr" marL="91440" marT="18288" marB="18288">
                    <a:solidFill>
                      <a:srgbClr val="F4F5F7"/>
                    </a:solidFill>
                  </a:tcPr>
                </a:tc>
                <a:tc>
                  <a:txBody>
                    <a:bodyPr wrap="square"/>
                    <a:lstStyle/>
                    <a:p>
                      <a:r>
                        <a:rPr sz="1150" b="0">
                          <a:solidFill>
                            <a:srgbClr val="3C3C3C"/>
                          </a:solidFill>
                          <a:latin typeface="Segoe UI"/>
                        </a:rPr>
                        <a:t>All</a:t>
                      </a:r>
                    </a:p>
                  </a:txBody>
                  <a:tcPr anchor="ctr" marL="91440" marT="18288" marB="18288">
                    <a:solidFill>
                      <a:srgbClr val="F4F5F7"/>
                    </a:solidFill>
                  </a:tcPr>
                </a:tc>
                <a:tc>
                  <a:txBody>
                    <a:bodyPr wrap="square"/>
                    <a:lstStyle/>
                    <a:p>
                      <a:r>
                        <a:rPr sz="1150" b="0">
                          <a:solidFill>
                            <a:srgbClr val="3C3C3C"/>
                          </a:solidFill>
                          <a:latin typeface="Segoe UI"/>
                        </a:rPr>
                        <a:t>All literal defaults - no logic lost</a:t>
                      </a:r>
                    </a:p>
                  </a:txBody>
                  <a:tcPr anchor="ctr" marL="91440" marT="18288" marB="18288">
                    <a:solidFill>
                      <a:srgbClr val="F4F5F7"/>
                    </a:solidFill>
                  </a:tcPr>
                </a:tc>
              </a:tr>
            </a:tbl>
          </a:graphicData>
        </a:graphic>
      </p:graphicFrame>
      <p:sp>
        <p:nvSpPr>
          <p:cNvPr id="6" name="Rectangle 5"/>
          <p:cNvSpPr/>
          <p:nvPr/>
        </p:nvSpPr>
        <p:spPr>
          <a:xfrm>
            <a:off x="566928" y="4901183"/>
            <a:ext cx="11064240" cy="65836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4901183"/>
            <a:ext cx="54864" cy="658368"/>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4992623"/>
            <a:ext cx="10652760" cy="493776"/>
          </a:xfrm>
          <a:prstGeom prst="rect">
            <a:avLst/>
          </a:prstGeom>
          <a:noFill/>
        </p:spPr>
        <p:txBody>
          <a:bodyPr wrap="square">
            <a:spAutoFit/>
          </a:bodyPr>
          <a:lstStyle/>
          <a:p>
            <a:pPr algn="l">
              <a:spcBef>
                <a:spcPts val="0"/>
              </a:spcBef>
              <a:spcAft>
                <a:spcPts val="0"/>
              </a:spcAft>
            </a:pPr>
            <a:r>
              <a:rPr sz="1250" b="0" i="0">
                <a:solidFill>
                  <a:srgbClr val="1A1A1A"/>
                </a:solidFill>
                <a:latin typeface="Segoe UI"/>
              </a:rPr>
              <a:t>The 36 declarative expressions were individually inspected rather than assumed - every one sets a literal default, so nothing was lost by not importing them.</a:t>
            </a:r>
          </a:p>
        </p:txBody>
      </p:sp>
      <p:sp>
        <p:nvSpPr>
          <p:cNvPr id="9" name="TextBox 8"/>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0515600" cy="274320"/>
          </a:xfrm>
          <a:prstGeom prst="rect">
            <a:avLst/>
          </a:prstGeom>
          <a:noFill/>
        </p:spPr>
        <p:txBody>
          <a:bodyPr wrap="square">
            <a:spAutoFit/>
          </a:bodyPr>
          <a:lstStyle/>
          <a:p>
            <a:pPr algn="l">
              <a:spcBef>
                <a:spcPts val="0"/>
              </a:spcBef>
              <a:spcAft>
                <a:spcPts val="0"/>
              </a:spcAft>
            </a:pPr>
            <a:r>
              <a:rPr sz="1050" b="1" i="0">
                <a:solidFill>
                  <a:srgbClr val="006D77"/>
                </a:solidFill>
                <a:latin typeface="Segoe UI"/>
              </a:rPr>
              <a:t>MIGRATION APPROACH</a:t>
            </a:r>
          </a:p>
        </p:txBody>
      </p:sp>
      <p:sp>
        <p:nvSpPr>
          <p:cNvPr id="4" name="TextBox 3"/>
          <p:cNvSpPr txBox="1"/>
          <p:nvPr/>
        </p:nvSpPr>
        <p:spPr>
          <a:xfrm>
            <a:off x="566928" y="530352"/>
            <a:ext cx="11064240" cy="685800"/>
          </a:xfrm>
          <a:prstGeom prst="rect">
            <a:avLst/>
          </a:prstGeom>
          <a:noFill/>
        </p:spPr>
        <p:txBody>
          <a:bodyPr wrap="square">
            <a:spAutoFit/>
          </a:bodyPr>
          <a:lstStyle/>
          <a:p>
            <a:pPr algn="l">
              <a:spcBef>
                <a:spcPts val="0"/>
              </a:spcBef>
              <a:spcAft>
                <a:spcPts val="0"/>
              </a:spcAft>
            </a:pPr>
            <a:r>
              <a:rPr sz="2700" b="1" i="0">
                <a:solidFill>
                  <a:srgbClr val="1A1A1A"/>
                </a:solidFill>
                <a:latin typeface="Segoe UI"/>
              </a:rPr>
              <a:t>Mapping strategy</a:t>
            </a:r>
          </a:p>
        </p:txBody>
      </p:sp>
      <p:graphicFrame>
        <p:nvGraphicFramePr>
          <p:cNvPr id="5" name="Table 4"/>
          <p:cNvGraphicFramePr>
            <a:graphicFrameLocks noGrp="1"/>
          </p:cNvGraphicFramePr>
          <p:nvPr/>
        </p:nvGraphicFramePr>
        <p:xfrm>
          <a:off x="566928" y="1536192"/>
          <a:ext cx="11064240" cy="3639312"/>
        </p:xfrm>
        <a:graphic>
          <a:graphicData uri="http://schemas.openxmlformats.org/drawingml/2006/table">
            <a:tbl>
              <a:tblPr firstRow="1" bandRow="1">
                <a:tableStyleId>{5C22544A-7EE6-4342-B048-85BDC9FD1C3A}</a:tableStyleId>
              </a:tblPr>
              <a:tblGrid>
                <a:gridCol w="3017520"/>
                <a:gridCol w="4937760"/>
                <a:gridCol w="3108960"/>
              </a:tblGrid>
              <a:tr h="347472">
                <a:tc>
                  <a:txBody>
                    <a:bodyPr wrap="square"/>
                    <a:lstStyle/>
                    <a:p>
                      <a:r>
                        <a:rPr sz="1100" b="1">
                          <a:solidFill>
                            <a:srgbClr val="FFFFFF"/>
                          </a:solidFill>
                          <a:latin typeface="Segoe UI"/>
                        </a:rPr>
                        <a:t>Pega artefact</a:t>
                      </a:r>
                    </a:p>
                  </a:txBody>
                  <a:tcPr anchor="ctr" marL="91440">
                    <a:solidFill>
                      <a:srgbClr val="006D77"/>
                    </a:solidFill>
                  </a:tcPr>
                </a:tc>
                <a:tc>
                  <a:txBody>
                    <a:bodyPr wrap="square"/>
                    <a:lstStyle/>
                    <a:p>
                      <a:r>
                        <a:rPr sz="1100" b="1">
                          <a:solidFill>
                            <a:srgbClr val="FFFFFF"/>
                          </a:solidFill>
                          <a:latin typeface="Segoe UI"/>
                        </a:rPr>
                        <a:t>Power Platform component</a:t>
                      </a:r>
                    </a:p>
                  </a:txBody>
                  <a:tcPr anchor="ctr" marL="91440">
                    <a:solidFill>
                      <a:srgbClr val="006D77"/>
                    </a:solidFill>
                  </a:tcPr>
                </a:tc>
                <a:tc>
                  <a:txBody>
                    <a:bodyPr wrap="square"/>
                    <a:lstStyle/>
                    <a:p>
                      <a:r>
                        <a:rPr sz="1100" b="1">
                          <a:solidFill>
                            <a:srgbClr val="FFFFFF"/>
                          </a:solidFill>
                          <a:latin typeface="Segoe UI"/>
                        </a:rPr>
                        <a:t>Method</a:t>
                      </a:r>
                    </a:p>
                  </a:txBody>
                  <a:tcPr anchor="ctr" marL="91440">
                    <a:solidFill>
                      <a:srgbClr val="006D77"/>
                    </a:solidFill>
                  </a:tcPr>
                </a:tc>
              </a:tr>
              <a:tr h="274320">
                <a:tc>
                  <a:txBody>
                    <a:bodyPr wrap="square"/>
                    <a:lstStyle/>
                    <a:p>
                      <a:r>
                        <a:rPr sz="1100" b="1">
                          <a:solidFill>
                            <a:srgbClr val="1A1A1A"/>
                          </a:solidFill>
                          <a:latin typeface="Segoe UI"/>
                        </a:rPr>
                        <a:t>Case type</a:t>
                      </a:r>
                    </a:p>
                  </a:txBody>
                  <a:tcPr anchor="ctr" marL="91440" marT="18288" marB="18288">
                    <a:solidFill>
                      <a:srgbClr val="FFFFFF"/>
                    </a:solidFill>
                  </a:tcPr>
                </a:tc>
                <a:tc>
                  <a:txBody>
                    <a:bodyPr wrap="square"/>
                    <a:lstStyle/>
                    <a:p>
                      <a:r>
                        <a:rPr sz="1100" b="0">
                          <a:solidFill>
                            <a:srgbClr val="3C3C3C"/>
                          </a:solidFill>
                          <a:latin typeface="Segoe UI"/>
                        </a:rPr>
                        <a:t>ava_lddcasetype row + detail table</a:t>
                      </a:r>
                    </a:p>
                  </a:txBody>
                  <a:tcPr anchor="ctr" marL="91440" marT="18288" marB="18288">
                    <a:solidFill>
                      <a:srgbClr val="FFFFFF"/>
                    </a:solidFill>
                  </a:tcPr>
                </a:tc>
                <a:tc>
                  <a:txBody>
                    <a:bodyPr wrap="square"/>
                    <a:lstStyle/>
                    <a:p>
                      <a:r>
                        <a:rPr sz="1100" b="1">
                          <a:solidFill>
                            <a:srgbClr val="1A1A1A"/>
                          </a:solidFill>
                          <a:latin typeface="Segoe UI"/>
                        </a:rPr>
                        <a:t>Automated</a:t>
                      </a:r>
                    </a:p>
                  </a:txBody>
                  <a:tcPr anchor="ctr" marL="91440" marT="18288" marB="18288">
                    <a:solidFill>
                      <a:srgbClr val="FFFFFF"/>
                    </a:solidFill>
                  </a:tcPr>
                </a:tc>
              </a:tr>
              <a:tr h="274320">
                <a:tc>
                  <a:txBody>
                    <a:bodyPr wrap="square"/>
                    <a:lstStyle/>
                    <a:p>
                      <a:r>
                        <a:rPr sz="1100" b="1">
                          <a:solidFill>
                            <a:srgbClr val="1A1A1A"/>
                          </a:solidFill>
                          <a:latin typeface="Segoe UI"/>
                        </a:rPr>
                        <a:t>Stage</a:t>
                      </a:r>
                    </a:p>
                  </a:txBody>
                  <a:tcPr anchor="ctr" marL="91440" marT="18288" marB="18288">
                    <a:solidFill>
                      <a:srgbClr val="F4F5F7"/>
                    </a:solidFill>
                  </a:tcPr>
                </a:tc>
                <a:tc>
                  <a:txBody>
                    <a:bodyPr wrap="square"/>
                    <a:lstStyle/>
                    <a:p>
                      <a:r>
                        <a:rPr sz="1100" b="0">
                          <a:solidFill>
                            <a:srgbClr val="3C3C3C"/>
                          </a:solidFill>
                          <a:latin typeface="Segoe UI"/>
                        </a:rPr>
                        <a:t>ava_lddstage row</a:t>
                      </a:r>
                    </a:p>
                  </a:txBody>
                  <a:tcPr anchor="ctr" marL="91440" marT="18288" marB="18288">
                    <a:solidFill>
                      <a:srgbClr val="F4F5F7"/>
                    </a:solidFill>
                  </a:tcPr>
                </a:tc>
                <a:tc>
                  <a:txBody>
                    <a:bodyPr wrap="square"/>
                    <a:lstStyle/>
                    <a:p>
                      <a:r>
                        <a:rPr sz="1100" b="1">
                          <a:solidFill>
                            <a:srgbClr val="1A1A1A"/>
                          </a:solidFill>
                          <a:latin typeface="Segoe UI"/>
                        </a:rPr>
                        <a:t>Automated</a:t>
                      </a:r>
                    </a:p>
                  </a:txBody>
                  <a:tcPr anchor="ctr" marL="91440" marT="18288" marB="18288">
                    <a:solidFill>
                      <a:srgbClr val="F4F5F7"/>
                    </a:solidFill>
                  </a:tcPr>
                </a:tc>
              </a:tr>
              <a:tr h="274320">
                <a:tc>
                  <a:txBody>
                    <a:bodyPr wrap="square"/>
                    <a:lstStyle/>
                    <a:p>
                      <a:r>
                        <a:rPr sz="1100" b="1">
                          <a:solidFill>
                            <a:srgbClr val="1A1A1A"/>
                          </a:solidFill>
                          <a:latin typeface="Segoe UI"/>
                        </a:rPr>
                        <a:t>Step</a:t>
                      </a:r>
                    </a:p>
                  </a:txBody>
                  <a:tcPr anchor="ctr" marL="91440" marT="18288" marB="18288">
                    <a:solidFill>
                      <a:srgbClr val="FFFFFF"/>
                    </a:solidFill>
                  </a:tcPr>
                </a:tc>
                <a:tc>
                  <a:txBody>
                    <a:bodyPr wrap="square"/>
                    <a:lstStyle/>
                    <a:p>
                      <a:r>
                        <a:rPr sz="1100" b="0">
                          <a:solidFill>
                            <a:srgbClr val="3C3C3C"/>
                          </a:solidFill>
                          <a:latin typeface="Segoe UI"/>
                        </a:rPr>
                        <a:t>ava_lddstep row (kind + impl)</a:t>
                      </a:r>
                    </a:p>
                  </a:txBody>
                  <a:tcPr anchor="ctr" marL="91440" marT="18288" marB="18288">
                    <a:solidFill>
                      <a:srgbClr val="FFFFFF"/>
                    </a:solidFill>
                  </a:tcPr>
                </a:tc>
                <a:tc>
                  <a:txBody>
                    <a:bodyPr wrap="square"/>
                    <a:lstStyle/>
                    <a:p>
                      <a:r>
                        <a:rPr sz="1100" b="1">
                          <a:solidFill>
                            <a:srgbClr val="1A1A1A"/>
                          </a:solidFill>
                          <a:latin typeface="Segoe UI"/>
                        </a:rPr>
                        <a:t>Automated</a:t>
                      </a:r>
                    </a:p>
                  </a:txBody>
                  <a:tcPr anchor="ctr" marL="91440" marT="18288" marB="18288">
                    <a:solidFill>
                      <a:srgbClr val="FFFFFF"/>
                    </a:solidFill>
                  </a:tcPr>
                </a:tc>
              </a:tr>
              <a:tr h="274320">
                <a:tc>
                  <a:txBody>
                    <a:bodyPr wrap="square"/>
                    <a:lstStyle/>
                    <a:p>
                      <a:r>
                        <a:rPr sz="1100" b="1">
                          <a:solidFill>
                            <a:srgbClr val="1A1A1A"/>
                          </a:solidFill>
                          <a:latin typeface="Segoe UI"/>
                        </a:rPr>
                        <a:t>Decision table</a:t>
                      </a:r>
                    </a:p>
                  </a:txBody>
                  <a:tcPr anchor="ctr" marL="91440" marT="18288" marB="18288">
                    <a:solidFill>
                      <a:srgbClr val="F4F5F7"/>
                    </a:solidFill>
                  </a:tcPr>
                </a:tc>
                <a:tc>
                  <a:txBody>
                    <a:bodyPr wrap="square"/>
                    <a:lstStyle/>
                    <a:p>
                      <a:r>
                        <a:rPr sz="1100" b="0">
                          <a:solidFill>
                            <a:srgbClr val="3C3C3C"/>
                          </a:solidFill>
                          <a:latin typeface="Segoe UI"/>
                        </a:rPr>
                        <a:t>ava_ldddecision + rows, engine-evaluated</a:t>
                      </a:r>
                    </a:p>
                  </a:txBody>
                  <a:tcPr anchor="ctr" marL="91440" marT="18288" marB="18288">
                    <a:solidFill>
                      <a:srgbClr val="F4F5F7"/>
                    </a:solidFill>
                  </a:tcPr>
                </a:tc>
                <a:tc>
                  <a:txBody>
                    <a:bodyPr wrap="square"/>
                    <a:lstStyle/>
                    <a:p>
                      <a:r>
                        <a:rPr sz="1100" b="1">
                          <a:solidFill>
                            <a:srgbClr val="1A1A1A"/>
                          </a:solidFill>
                          <a:latin typeface="Segoe UI"/>
                        </a:rPr>
                        <a:t>Automated</a:t>
                      </a:r>
                    </a:p>
                  </a:txBody>
                  <a:tcPr anchor="ctr" marL="91440" marT="18288" marB="18288">
                    <a:solidFill>
                      <a:srgbClr val="F4F5F7"/>
                    </a:solidFill>
                  </a:tcPr>
                </a:tc>
              </a:tr>
              <a:tr h="274320">
                <a:tc>
                  <a:txBody>
                    <a:bodyPr wrap="square"/>
                    <a:lstStyle/>
                    <a:p>
                      <a:r>
                        <a:rPr sz="1100" b="1">
                          <a:solidFill>
                            <a:srgbClr val="1A1A1A"/>
                          </a:solidFill>
                          <a:latin typeface="Segoe UI"/>
                        </a:rPr>
                        <a:t>UI view</a:t>
                      </a:r>
                    </a:p>
                  </a:txBody>
                  <a:tcPr anchor="ctr" marL="91440" marT="18288" marB="18288">
                    <a:solidFill>
                      <a:srgbClr val="FFFFFF"/>
                    </a:solidFill>
                  </a:tcPr>
                </a:tc>
                <a:tc>
                  <a:txBody>
                    <a:bodyPr wrap="square"/>
                    <a:lstStyle/>
                    <a:p>
                      <a:r>
                        <a:rPr sz="1100" b="0">
                          <a:solidFill>
                            <a:srgbClr val="3C3C3C"/>
                          </a:solidFill>
                          <a:latin typeface="Segoe UI"/>
                        </a:rPr>
                        <a:t>ava_lddview + ava_lddviewfield, rendered dynamically</a:t>
                      </a:r>
                    </a:p>
                  </a:txBody>
                  <a:tcPr anchor="ctr" marL="91440" marT="18288" marB="18288">
                    <a:solidFill>
                      <a:srgbClr val="FFFFFF"/>
                    </a:solidFill>
                  </a:tcPr>
                </a:tc>
                <a:tc>
                  <a:txBody>
                    <a:bodyPr wrap="square"/>
                    <a:lstStyle/>
                    <a:p>
                      <a:r>
                        <a:rPr sz="1100" b="1">
                          <a:solidFill>
                            <a:srgbClr val="1A1A1A"/>
                          </a:solidFill>
                          <a:latin typeface="Segoe UI"/>
                        </a:rPr>
                        <a:t>Automated</a:t>
                      </a:r>
                    </a:p>
                  </a:txBody>
                  <a:tcPr anchor="ctr" marL="91440" marT="18288" marB="18288">
                    <a:solidFill>
                      <a:srgbClr val="FFFFFF"/>
                    </a:solidFill>
                  </a:tcPr>
                </a:tc>
              </a:tr>
              <a:tr h="274320">
                <a:tc>
                  <a:txBody>
                    <a:bodyPr wrap="square"/>
                    <a:lstStyle/>
                    <a:p>
                      <a:r>
                        <a:rPr sz="1100" b="1">
                          <a:solidFill>
                            <a:srgbClr val="1A1A1A"/>
                          </a:solidFill>
                          <a:latin typeface="Segoe UI"/>
                        </a:rPr>
                        <a:t>Choice set</a:t>
                      </a:r>
                    </a:p>
                  </a:txBody>
                  <a:tcPr anchor="ctr" marL="91440" marT="18288" marB="18288">
                    <a:solidFill>
                      <a:srgbClr val="F4F5F7"/>
                    </a:solidFill>
                  </a:tcPr>
                </a:tc>
                <a:tc>
                  <a:txBody>
                    <a:bodyPr wrap="square"/>
                    <a:lstStyle/>
                    <a:p>
                      <a:r>
                        <a:rPr sz="1100" b="0">
                          <a:solidFill>
                            <a:srgbClr val="3C3C3C"/>
                          </a:solidFill>
                          <a:latin typeface="Segoe UI"/>
                        </a:rPr>
                        <a:t>ava_lddchoiceset + values</a:t>
                      </a:r>
                    </a:p>
                  </a:txBody>
                  <a:tcPr anchor="ctr" marL="91440" marT="18288" marB="18288">
                    <a:solidFill>
                      <a:srgbClr val="F4F5F7"/>
                    </a:solidFill>
                  </a:tcPr>
                </a:tc>
                <a:tc>
                  <a:txBody>
                    <a:bodyPr wrap="square"/>
                    <a:lstStyle/>
                    <a:p>
                      <a:r>
                        <a:rPr sz="1100" b="1">
                          <a:solidFill>
                            <a:srgbClr val="1A1A1A"/>
                          </a:solidFill>
                          <a:latin typeface="Segoe UI"/>
                        </a:rPr>
                        <a:t>Automated</a:t>
                      </a:r>
                    </a:p>
                  </a:txBody>
                  <a:tcPr anchor="ctr" marL="91440" marT="18288" marB="18288">
                    <a:solidFill>
                      <a:srgbClr val="F4F5F7"/>
                    </a:solidFill>
                  </a:tcPr>
                </a:tc>
              </a:tr>
              <a:tr h="274320">
                <a:tc>
                  <a:txBody>
                    <a:bodyPr wrap="square"/>
                    <a:lstStyle/>
                    <a:p>
                      <a:r>
                        <a:rPr sz="1100" b="1">
                          <a:solidFill>
                            <a:srgbClr val="1A1A1A"/>
                          </a:solidFill>
                          <a:latin typeface="Segoe UI"/>
                        </a:rPr>
                        <a:t>Property</a:t>
                      </a:r>
                    </a:p>
                  </a:txBody>
                  <a:tcPr anchor="ctr" marL="91440" marT="18288" marB="18288">
                    <a:solidFill>
                      <a:srgbClr val="FFFFFF"/>
                    </a:solidFill>
                  </a:tcPr>
                </a:tc>
                <a:tc>
                  <a:txBody>
                    <a:bodyPr wrap="square"/>
                    <a:lstStyle/>
                    <a:p>
                      <a:r>
                        <a:rPr sz="1100" b="0">
                          <a:solidFill>
                            <a:srgbClr val="3C3C3C"/>
                          </a:solidFill>
                          <a:latin typeface="Segoe UI"/>
                        </a:rPr>
                        <a:t>Typed Dataverse column</a:t>
                      </a:r>
                    </a:p>
                  </a:txBody>
                  <a:tcPr anchor="ctr" marL="91440" marT="18288" marB="18288">
                    <a:solidFill>
                      <a:srgbClr val="FFFFFF"/>
                    </a:solidFill>
                  </a:tcPr>
                </a:tc>
                <a:tc>
                  <a:txBody>
                    <a:bodyPr wrap="square"/>
                    <a:lstStyle/>
                    <a:p>
                      <a:r>
                        <a:rPr sz="1100" b="1">
                          <a:solidFill>
                            <a:srgbClr val="1A1A1A"/>
                          </a:solidFill>
                          <a:latin typeface="Segoe UI"/>
                        </a:rPr>
                        <a:t>Automated</a:t>
                      </a:r>
                    </a:p>
                  </a:txBody>
                  <a:tcPr anchor="ctr" marL="91440" marT="18288" marB="18288">
                    <a:solidFill>
                      <a:srgbClr val="FFFFFF"/>
                    </a:solidFill>
                  </a:tcPr>
                </a:tc>
              </a:tr>
              <a:tr h="274320">
                <a:tc>
                  <a:txBody>
                    <a:bodyPr wrap="square"/>
                    <a:lstStyle/>
                    <a:p>
                      <a:r>
                        <a:rPr sz="1100" b="1">
                          <a:solidFill>
                            <a:srgbClr val="1A1A1A"/>
                          </a:solidFill>
                          <a:latin typeface="Segoe UI"/>
                        </a:rPr>
                        <a:t>Access group</a:t>
                      </a:r>
                    </a:p>
                  </a:txBody>
                  <a:tcPr anchor="ctr" marL="91440" marT="18288" marB="18288">
                    <a:solidFill>
                      <a:srgbClr val="F4F5F7"/>
                    </a:solidFill>
                  </a:tcPr>
                </a:tc>
                <a:tc>
                  <a:txBody>
                    <a:bodyPr wrap="square"/>
                    <a:lstStyle/>
                    <a:p>
                      <a:r>
                        <a:rPr sz="1100" b="0">
                          <a:solidFill>
                            <a:srgbClr val="3C3C3C"/>
                          </a:solidFill>
                          <a:latin typeface="Segoe UI"/>
                        </a:rPr>
                        <a:t>ava_lddrole row</a:t>
                      </a:r>
                    </a:p>
                  </a:txBody>
                  <a:tcPr anchor="ctr" marL="91440" marT="18288" marB="18288">
                    <a:solidFill>
                      <a:srgbClr val="F4F5F7"/>
                    </a:solidFill>
                  </a:tcPr>
                </a:tc>
                <a:tc>
                  <a:txBody>
                    <a:bodyPr wrap="square"/>
                    <a:lstStyle/>
                    <a:p>
                      <a:r>
                        <a:rPr sz="1100" b="0">
                          <a:solidFill>
                            <a:srgbClr val="3C3C3C"/>
                          </a:solidFill>
                          <a:latin typeface="Segoe UI"/>
                        </a:rPr>
                        <a:t>Automated (data only)</a:t>
                      </a:r>
                    </a:p>
                  </a:txBody>
                  <a:tcPr anchor="ctr" marL="91440" marT="18288" marB="18288">
                    <a:solidFill>
                      <a:srgbClr val="F4F5F7"/>
                    </a:solidFill>
                  </a:tcPr>
                </a:tc>
              </a:tr>
              <a:tr h="274320">
                <a:tc>
                  <a:txBody>
                    <a:bodyPr wrap="square"/>
                    <a:lstStyle/>
                    <a:p>
                      <a:r>
                        <a:rPr sz="1100" b="1">
                          <a:solidFill>
                            <a:srgbClr val="1A1A1A"/>
                          </a:solidFill>
                          <a:latin typeface="Segoe UI"/>
                        </a:rPr>
                        <a:t>Flow when condition</a:t>
                      </a:r>
                    </a:p>
                  </a:txBody>
                  <a:tcPr anchor="ctr" marL="91440" marT="18288" marB="18288">
                    <a:solidFill>
                      <a:srgbClr val="FFFFFF"/>
                    </a:solidFill>
                  </a:tcPr>
                </a:tc>
                <a:tc>
                  <a:txBody>
                    <a:bodyPr wrap="square"/>
                    <a:lstStyle/>
                    <a:p>
                      <a:r>
                        <a:rPr sz="1100" b="0">
                          <a:solidFill>
                            <a:srgbClr val="3C3C3C"/>
                          </a:solidFill>
                          <a:latin typeface="Segoe UI"/>
                        </a:rPr>
                        <a:t>Step guard columns</a:t>
                      </a:r>
                    </a:p>
                  </a:txBody>
                  <a:tcPr anchor="ctr" marL="91440" marT="18288" marB="18288">
                    <a:solidFill>
                      <a:srgbClr val="FFFFFF"/>
                    </a:solidFill>
                  </a:tcPr>
                </a:tc>
                <a:tc>
                  <a:txBody>
                    <a:bodyPr wrap="square"/>
                    <a:lstStyle/>
                    <a:p>
                      <a:r>
                        <a:rPr sz="1100" b="0">
                          <a:solidFill>
                            <a:srgbClr val="3C3C3C"/>
                          </a:solidFill>
                          <a:latin typeface="Segoe UI"/>
                        </a:rPr>
                        <a:t>Inferred + capped</a:t>
                      </a:r>
                    </a:p>
                  </a:txBody>
                  <a:tcPr anchor="ctr" marL="91440" marT="18288" marB="18288">
                    <a:solidFill>
                      <a:srgbClr val="FFFFFF"/>
                    </a:solidFill>
                  </a:tcPr>
                </a:tc>
              </a:tr>
              <a:tr h="274320">
                <a:tc>
                  <a:txBody>
                    <a:bodyPr wrap="square"/>
                    <a:lstStyle/>
                    <a:p>
                      <a:r>
                        <a:rPr sz="1100" b="1">
                          <a:solidFill>
                            <a:srgbClr val="1A1A1A"/>
                          </a:solidFill>
                          <a:latin typeface="Segoe UI"/>
                        </a:rPr>
                        <a:t>pzNotifyWrapper</a:t>
                      </a:r>
                    </a:p>
                  </a:txBody>
                  <a:tcPr anchor="ctr" marL="91440" marT="18288" marB="18288">
                    <a:solidFill>
                      <a:srgbClr val="F4F5F7"/>
                    </a:solidFill>
                  </a:tcPr>
                </a:tc>
                <a:tc>
                  <a:txBody>
                    <a:bodyPr wrap="square"/>
                    <a:lstStyle/>
                    <a:p>
                      <a:r>
                        <a:rPr sz="1100" b="0">
                          <a:solidFill>
                            <a:srgbClr val="3C3C3C"/>
                          </a:solidFill>
                          <a:latin typeface="Segoe UI"/>
                        </a:rPr>
                        <a:t>Power Automate flow</a:t>
                      </a:r>
                    </a:p>
                  </a:txBody>
                  <a:tcPr anchor="ctr" marL="91440" marT="18288" marB="18288">
                    <a:solidFill>
                      <a:srgbClr val="F4F5F7"/>
                    </a:solidFill>
                  </a:tcPr>
                </a:tc>
                <a:tc>
                  <a:txBody>
                    <a:bodyPr wrap="square"/>
                    <a:lstStyle/>
                    <a:p>
                      <a:r>
                        <a:rPr sz="1100" b="0">
                          <a:solidFill>
                            <a:srgbClr val="3C3C3C"/>
                          </a:solidFill>
                          <a:latin typeface="Segoe UI"/>
                        </a:rPr>
                        <a:t>Manual</a:t>
                      </a:r>
                    </a:p>
                  </a:txBody>
                  <a:tcPr anchor="ctr" marL="91440" marT="18288" marB="18288">
                    <a:solidFill>
                      <a:srgbClr val="F4F5F7"/>
                    </a:solidFill>
                  </a:tcPr>
                </a:tc>
              </a:tr>
              <a:tr h="274320">
                <a:tc>
                  <a:txBody>
                    <a:bodyPr wrap="square"/>
                    <a:lstStyle/>
                    <a:p>
                      <a:r>
                        <a:rPr sz="1100" b="1">
                          <a:solidFill>
                            <a:srgbClr val="1A1A1A"/>
                          </a:solidFill>
                          <a:latin typeface="Segoe UI"/>
                        </a:rPr>
                        <a:t>pzRunDataTransform</a:t>
                      </a:r>
                    </a:p>
                  </a:txBody>
                  <a:tcPr anchor="ctr" marL="91440" marT="18288" marB="18288">
                    <a:solidFill>
                      <a:srgbClr val="FFFFFF"/>
                    </a:solidFill>
                  </a:tcPr>
                </a:tc>
                <a:tc>
                  <a:txBody>
                    <a:bodyPr wrap="square"/>
                    <a:lstStyle/>
                    <a:p>
                      <a:r>
                        <a:rPr sz="1100" b="0">
                          <a:solidFill>
                            <a:srgbClr val="3C3C3C"/>
                          </a:solidFill>
                          <a:latin typeface="Segoe UI"/>
                        </a:rPr>
                        <a:t>Transform registry entry</a:t>
                      </a:r>
                    </a:p>
                  </a:txBody>
                  <a:tcPr anchor="ctr" marL="91440" marT="18288" marB="18288">
                    <a:solidFill>
                      <a:srgbClr val="FFFFFF"/>
                    </a:solidFill>
                  </a:tcPr>
                </a:tc>
                <a:tc>
                  <a:txBody>
                    <a:bodyPr wrap="square"/>
                    <a:lstStyle/>
                    <a:p>
                      <a:r>
                        <a:rPr sz="1100" b="0">
                          <a:solidFill>
                            <a:srgbClr val="3C3C3C"/>
                          </a:solidFill>
                          <a:latin typeface="Segoe UI"/>
                        </a:rPr>
                        <a:t>Manual</a:t>
                      </a:r>
                    </a:p>
                  </a:txBody>
                  <a:tcPr anchor="ctr" marL="91440" marT="18288" marB="18288">
                    <a:solidFill>
                      <a:srgbClr val="FFFFFF"/>
                    </a:solidFill>
                  </a:tcPr>
                </a:tc>
              </a:tr>
              <a:tr h="274320">
                <a:tc>
                  <a:txBody>
                    <a:bodyPr wrap="square"/>
                    <a:lstStyle/>
                    <a:p>
                      <a:r>
                        <a:rPr sz="1100" b="1">
                          <a:solidFill>
                            <a:srgbClr val="1A1A1A"/>
                          </a:solidFill>
                          <a:latin typeface="Segoe UI"/>
                        </a:rPr>
                        <a:t>pxGenerateAndAttachDocument</a:t>
                      </a:r>
                    </a:p>
                  </a:txBody>
                  <a:tcPr anchor="ctr" marL="91440" marT="18288" marB="18288">
                    <a:solidFill>
                      <a:srgbClr val="F4F5F7"/>
                    </a:solidFill>
                  </a:tcPr>
                </a:tc>
                <a:tc>
                  <a:txBody>
                    <a:bodyPr wrap="square"/>
                    <a:lstStyle/>
                    <a:p>
                      <a:r>
                        <a:rPr sz="1100" b="0">
                          <a:solidFill>
                            <a:srgbClr val="3C3C3C"/>
                          </a:solidFill>
                          <a:latin typeface="Segoe UI"/>
                        </a:rPr>
                        <a:t>Word template + flow</a:t>
                      </a:r>
                    </a:p>
                  </a:txBody>
                  <a:tcPr anchor="ctr" marL="91440" marT="18288" marB="18288">
                    <a:solidFill>
                      <a:srgbClr val="F4F5F7"/>
                    </a:solidFill>
                  </a:tcPr>
                </a:tc>
                <a:tc>
                  <a:txBody>
                    <a:bodyPr wrap="square"/>
                    <a:lstStyle/>
                    <a:p>
                      <a:r>
                        <a:rPr sz="1100" b="0">
                          <a:solidFill>
                            <a:srgbClr val="3C3C3C"/>
                          </a:solidFill>
                          <a:latin typeface="Segoe UI"/>
                        </a:rPr>
                        <a:t>Manual</a:t>
                      </a:r>
                    </a:p>
                  </a:txBody>
                  <a:tcPr anchor="ctr" marL="91440" marT="18288" marB="18288">
                    <a:solidFill>
                      <a:srgbClr val="F4F5F7"/>
                    </a:solidFill>
                  </a:tcPr>
                </a:tc>
              </a:tr>
            </a:tbl>
          </a:graphicData>
        </a:graphic>
      </p:graphicFrame>
      <p:sp>
        <p:nvSpPr>
          <p:cNvPr id="6" name="Rectangle 5"/>
          <p:cNvSpPr/>
          <p:nvPr/>
        </p:nvSpPr>
        <p:spPr>
          <a:xfrm>
            <a:off x="566928" y="5449823"/>
            <a:ext cx="11064240" cy="65836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5449823"/>
            <a:ext cx="54864" cy="658368"/>
          </a:xfrm>
          <a:prstGeom prst="rect">
            <a:avLst/>
          </a:prstGeom>
          <a:solidFill>
            <a:srgbClr val="B5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5541263"/>
            <a:ext cx="10652760" cy="493776"/>
          </a:xfrm>
          <a:prstGeom prst="rect">
            <a:avLst/>
          </a:prstGeom>
          <a:noFill/>
        </p:spPr>
        <p:txBody>
          <a:bodyPr wrap="square">
            <a:spAutoFit/>
          </a:bodyPr>
          <a:lstStyle/>
          <a:p>
            <a:pPr algn="l">
              <a:spcBef>
                <a:spcPts val="0"/>
              </a:spcBef>
              <a:spcAft>
                <a:spcPts val="0"/>
              </a:spcAft>
            </a:pPr>
            <a:r>
              <a:rPr sz="1250" b="0" i="0">
                <a:solidFill>
                  <a:srgbClr val="1A1A1A"/>
                </a:solidFill>
                <a:latin typeface="Segoe UI"/>
              </a:rPr>
              <a:t>Everything above the guard row is automated and repeatable. Everything below requires human analysis - this is the boundary that drives the effort estimate.</a:t>
            </a:r>
          </a:p>
        </p:txBody>
      </p:sp>
      <p:sp>
        <p:nvSpPr>
          <p:cNvPr id="9" name="TextBox 8"/>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331720"/>
            <a:ext cx="1828800" cy="1097280"/>
          </a:xfrm>
          <a:prstGeom prst="rect">
            <a:avLst/>
          </a:prstGeom>
          <a:noFill/>
        </p:spPr>
        <p:txBody>
          <a:bodyPr wrap="square">
            <a:spAutoFit/>
          </a:bodyPr>
          <a:lstStyle/>
          <a:p>
            <a:pPr algn="l">
              <a:spcBef>
                <a:spcPts val="0"/>
              </a:spcBef>
              <a:spcAft>
                <a:spcPts val="0"/>
              </a:spcAft>
            </a:pPr>
            <a:r>
              <a:rPr sz="6400" b="1" i="0">
                <a:solidFill>
                  <a:srgbClr val="7FC4CB"/>
                </a:solidFill>
                <a:latin typeface="Segoe UI"/>
              </a:rPr>
              <a:t>05</a:t>
            </a:r>
          </a:p>
        </p:txBody>
      </p:sp>
      <p:sp>
        <p:nvSpPr>
          <p:cNvPr id="5" name="TextBox 4"/>
          <p:cNvSpPr txBox="1"/>
          <p:nvPr/>
        </p:nvSpPr>
        <p:spPr>
          <a:xfrm>
            <a:off x="2331720" y="2487168"/>
            <a:ext cx="8778240" cy="914400"/>
          </a:xfrm>
          <a:prstGeom prst="rect">
            <a:avLst/>
          </a:prstGeom>
          <a:noFill/>
        </p:spPr>
        <p:txBody>
          <a:bodyPr wrap="square">
            <a:spAutoFit/>
          </a:bodyPr>
          <a:lstStyle/>
          <a:p>
            <a:pPr algn="l">
              <a:spcBef>
                <a:spcPts val="0"/>
              </a:spcBef>
              <a:spcAft>
                <a:spcPts val="0"/>
              </a:spcAft>
            </a:pPr>
            <a:r>
              <a:rPr sz="3400" b="1" i="0">
                <a:solidFill>
                  <a:srgbClr val="FFFFFF"/>
                </a:solidFill>
                <a:latin typeface="Segoe UI"/>
              </a:rPr>
              <a:t>PoC Scope</a:t>
            </a:r>
          </a:p>
        </p:txBody>
      </p:sp>
      <p:sp>
        <p:nvSpPr>
          <p:cNvPr id="6" name="TextBox 5"/>
          <p:cNvSpPr txBox="1"/>
          <p:nvPr/>
        </p:nvSpPr>
        <p:spPr>
          <a:xfrm>
            <a:off x="2395728" y="3401568"/>
            <a:ext cx="8595360" cy="640080"/>
          </a:xfrm>
          <a:prstGeom prst="rect">
            <a:avLst/>
          </a:prstGeom>
          <a:noFill/>
        </p:spPr>
        <p:txBody>
          <a:bodyPr wrap="square">
            <a:spAutoFit/>
          </a:bodyPr>
          <a:lstStyle/>
          <a:p>
            <a:pPr algn="l">
              <a:spcBef>
                <a:spcPts val="0"/>
              </a:spcBef>
              <a:spcAft>
                <a:spcPts val="0"/>
              </a:spcAft>
            </a:pPr>
            <a:r>
              <a:rPr sz="1450" b="0" i="0">
                <a:solidFill>
                  <a:srgbClr val="D6ECEE"/>
                </a:solidFill>
                <a:latin typeface="Segoe UI"/>
              </a:rPr>
              <a:t>Inclusions, exclusions and assumptions</a:t>
            </a:r>
          </a:p>
        </p:txBody>
      </p:sp>
      <p:sp>
        <p:nvSpPr>
          <p:cNvPr id="7" name="TextBox 6"/>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0515600" cy="274320"/>
          </a:xfrm>
          <a:prstGeom prst="rect">
            <a:avLst/>
          </a:prstGeom>
          <a:noFill/>
        </p:spPr>
        <p:txBody>
          <a:bodyPr wrap="square">
            <a:spAutoFit/>
          </a:bodyPr>
          <a:lstStyle/>
          <a:p>
            <a:pPr algn="l">
              <a:spcBef>
                <a:spcPts val="0"/>
              </a:spcBef>
              <a:spcAft>
                <a:spcPts val="0"/>
              </a:spcAft>
            </a:pPr>
            <a:r>
              <a:rPr sz="1050" b="1" i="0">
                <a:solidFill>
                  <a:srgbClr val="006D77"/>
                </a:solidFill>
                <a:latin typeface="Segoe UI"/>
              </a:rPr>
              <a:t>POC SCOPE</a:t>
            </a:r>
          </a:p>
        </p:txBody>
      </p:sp>
      <p:sp>
        <p:nvSpPr>
          <p:cNvPr id="4" name="TextBox 3"/>
          <p:cNvSpPr txBox="1"/>
          <p:nvPr/>
        </p:nvSpPr>
        <p:spPr>
          <a:xfrm>
            <a:off x="566928" y="530352"/>
            <a:ext cx="11064240" cy="685800"/>
          </a:xfrm>
          <a:prstGeom prst="rect">
            <a:avLst/>
          </a:prstGeom>
          <a:noFill/>
        </p:spPr>
        <p:txBody>
          <a:bodyPr wrap="square">
            <a:spAutoFit/>
          </a:bodyPr>
          <a:lstStyle/>
          <a:p>
            <a:pPr algn="l">
              <a:spcBef>
                <a:spcPts val="0"/>
              </a:spcBef>
              <a:spcAft>
                <a:spcPts val="0"/>
              </a:spcAft>
            </a:pPr>
            <a:r>
              <a:rPr sz="2700" b="1" i="0">
                <a:solidFill>
                  <a:srgbClr val="1A1A1A"/>
                </a:solidFill>
                <a:latin typeface="Segoe UI"/>
              </a:rPr>
              <a:t>Scope</a:t>
            </a:r>
          </a:p>
        </p:txBody>
      </p:sp>
      <p:sp>
        <p:nvSpPr>
          <p:cNvPr id="5" name="Rectangle 4"/>
          <p:cNvSpPr/>
          <p:nvPr/>
        </p:nvSpPr>
        <p:spPr>
          <a:xfrm>
            <a:off x="566928" y="1417320"/>
            <a:ext cx="5440680" cy="45720"/>
          </a:xfrm>
          <a:prstGeom prst="rect">
            <a:avLst/>
          </a:prstGeom>
          <a:solidFill>
            <a:srgbClr val="1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536192"/>
            <a:ext cx="5440680" cy="365760"/>
          </a:xfrm>
          <a:prstGeom prst="rect">
            <a:avLst/>
          </a:prstGeom>
          <a:noFill/>
        </p:spPr>
        <p:txBody>
          <a:bodyPr wrap="square">
            <a:spAutoFit/>
          </a:bodyPr>
          <a:lstStyle/>
          <a:p>
            <a:pPr algn="l">
              <a:spcBef>
                <a:spcPts val="0"/>
              </a:spcBef>
              <a:spcAft>
                <a:spcPts val="0"/>
              </a:spcAft>
            </a:pPr>
            <a:r>
              <a:rPr sz="1200" b="1" i="0">
                <a:solidFill>
                  <a:srgbClr val="1E7D32"/>
                </a:solidFill>
                <a:latin typeface="Segoe UI"/>
              </a:rPr>
              <a:t>IN SCOPE - AND DELIVERED</a:t>
            </a:r>
          </a:p>
        </p:txBody>
      </p:sp>
      <p:sp>
        <p:nvSpPr>
          <p:cNvPr id="7" name="TextBox 6"/>
          <p:cNvSpPr txBox="1"/>
          <p:nvPr/>
        </p:nvSpPr>
        <p:spPr>
          <a:xfrm>
            <a:off x="566928" y="1920240"/>
            <a:ext cx="5440680" cy="2730500"/>
          </a:xfrm>
          <a:prstGeom prst="rect">
            <a:avLst/>
          </a:prstGeom>
          <a:noFill/>
        </p:spPr>
        <p:txBody>
          <a:bodyPr wrap="square">
            <a:spAutoFit/>
          </a:bodyPr>
          <a:lstStyle/>
          <a:p>
            <a:pPr algn="l">
              <a:spcBef>
                <a:spcPts val="0"/>
              </a:spcBef>
              <a:spcAft>
                <a:spcPts val="500"/>
              </a:spcAft>
            </a:pPr>
            <a:r>
              <a:rPr sz="1250" b="0" i="0">
                <a:solidFill>
                  <a:srgbClr val="1A1A1A"/>
                </a:solidFill>
                <a:latin typeface="Segoe UI"/>
              </a:rPr>
              <a:t>•  All 5 case types, end to end to resolution</a:t>
            </a:r>
          </a:p>
          <a:p>
            <a:pPr algn="l">
              <a:spcBef>
                <a:spcPts val="0"/>
              </a:spcBef>
              <a:spcAft>
                <a:spcPts val="500"/>
              </a:spcAft>
            </a:pPr>
            <a:r>
              <a:rPr sz="1250" b="0" i="0">
                <a:solidFill>
                  <a:srgbClr val="1A1A1A"/>
                </a:solidFill>
                <a:latin typeface="Segoe UI"/>
              </a:rPr>
              <a:t>•  39 stages and 80 steps executing in sequence</a:t>
            </a:r>
          </a:p>
          <a:p>
            <a:pPr algn="l">
              <a:spcBef>
                <a:spcPts val="0"/>
              </a:spcBef>
              <a:spcAft>
                <a:spcPts val="500"/>
              </a:spcAft>
            </a:pPr>
            <a:r>
              <a:rPr sz="1250" b="0" i="0">
                <a:solidFill>
                  <a:srgbClr val="1A1A1A"/>
                </a:solidFill>
                <a:latin typeface="Segoe UI"/>
              </a:rPr>
              <a:t>•  All 10 decision tables evaluating live data</a:t>
            </a:r>
          </a:p>
          <a:p>
            <a:pPr algn="l">
              <a:spcBef>
                <a:spcPts val="0"/>
              </a:spcBef>
              <a:spcAft>
                <a:spcPts val="500"/>
              </a:spcAft>
            </a:pPr>
            <a:r>
              <a:rPr sz="1250" b="0" i="0">
                <a:solidFill>
                  <a:srgbClr val="1A1A1A"/>
                </a:solidFill>
                <a:latin typeface="Segoe UI"/>
              </a:rPr>
              <a:t>•  24 step-bound views rendered dynamically</a:t>
            </a:r>
          </a:p>
          <a:p>
            <a:pPr algn="l">
              <a:spcBef>
                <a:spcPts val="0"/>
              </a:spcBef>
              <a:spcAft>
                <a:spcPts val="500"/>
              </a:spcAft>
            </a:pPr>
            <a:r>
              <a:rPr sz="1250" b="0" i="0">
                <a:solidFill>
                  <a:srgbClr val="1A1A1A"/>
                </a:solidFill>
                <a:latin typeface="Segoe UI"/>
              </a:rPr>
              <a:t>•  26 choice sets with 107 values</a:t>
            </a:r>
          </a:p>
          <a:p>
            <a:pPr algn="l">
              <a:spcBef>
                <a:spcPts val="0"/>
              </a:spcBef>
              <a:spcAft>
                <a:spcPts val="500"/>
              </a:spcAft>
            </a:pPr>
            <a:r>
              <a:rPr sz="1250" b="0" i="0">
                <a:solidFill>
                  <a:srgbClr val="1A1A1A"/>
                </a:solidFill>
                <a:latin typeface="Segoe UI"/>
              </a:rPr>
              <a:t>•  Human assignments and approval sub-processes</a:t>
            </a:r>
          </a:p>
          <a:p>
            <a:pPr algn="l">
              <a:spcBef>
                <a:spcPts val="0"/>
              </a:spcBef>
              <a:spcAft>
                <a:spcPts val="500"/>
              </a:spcAft>
            </a:pPr>
            <a:r>
              <a:rPr sz="1250" b="0" i="0">
                <a:solidFill>
                  <a:srgbClr val="1A1A1A"/>
                </a:solidFill>
                <a:latin typeface="Segoe UI"/>
              </a:rPr>
              <a:t>•  SLA goal and deadline calculation in business days</a:t>
            </a:r>
          </a:p>
          <a:p>
            <a:pPr algn="l">
              <a:spcBef>
                <a:spcPts val="0"/>
              </a:spcBef>
              <a:spcAft>
                <a:spcPts val="500"/>
              </a:spcAft>
            </a:pPr>
            <a:r>
              <a:rPr sz="1250" b="0" i="0">
                <a:solidFill>
                  <a:srgbClr val="1A1A1A"/>
                </a:solidFill>
                <a:latin typeface="Segoe UI"/>
              </a:rPr>
              <a:t>•  Full audit trail on every case event</a:t>
            </a:r>
          </a:p>
          <a:p>
            <a:pPr algn="l">
              <a:spcBef>
                <a:spcPts val="0"/>
              </a:spcBef>
              <a:spcAft>
                <a:spcPts val="500"/>
              </a:spcAft>
            </a:pPr>
            <a:r>
              <a:rPr sz="1250" b="0" i="0">
                <a:solidFill>
                  <a:srgbClr val="1A1A1A"/>
                </a:solidFill>
                <a:latin typeface="Segoe UI"/>
              </a:rPr>
              <a:t>•  Automated verification harness (49 checks)</a:t>
            </a:r>
          </a:p>
          <a:p>
            <a:pPr algn="l">
              <a:spcBef>
                <a:spcPts val="0"/>
              </a:spcBef>
              <a:spcAft>
                <a:spcPts val="500"/>
              </a:spcAft>
            </a:pPr>
            <a:r>
              <a:rPr sz="1250" b="0" i="0">
                <a:solidFill>
                  <a:srgbClr val="1A1A1A"/>
                </a:solidFill>
                <a:latin typeface="Segoe UI"/>
              </a:rPr>
              <a:t>•  Deployed to the Patrick Clarke environment</a:t>
            </a:r>
          </a:p>
        </p:txBody>
      </p:sp>
      <p:sp>
        <p:nvSpPr>
          <p:cNvPr id="8" name="Rectangle 7"/>
          <p:cNvSpPr/>
          <p:nvPr/>
        </p:nvSpPr>
        <p:spPr>
          <a:xfrm>
            <a:off x="6355080" y="1417320"/>
            <a:ext cx="5257800" cy="45720"/>
          </a:xfrm>
          <a:prstGeom prst="rect">
            <a:avLst/>
          </a:prstGeom>
          <a:solidFill>
            <a:srgbClr val="B5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536192"/>
            <a:ext cx="5257800" cy="365760"/>
          </a:xfrm>
          <a:prstGeom prst="rect">
            <a:avLst/>
          </a:prstGeom>
          <a:noFill/>
        </p:spPr>
        <p:txBody>
          <a:bodyPr wrap="square">
            <a:spAutoFit/>
          </a:bodyPr>
          <a:lstStyle/>
          <a:p>
            <a:pPr algn="l">
              <a:spcBef>
                <a:spcPts val="0"/>
              </a:spcBef>
              <a:spcAft>
                <a:spcPts val="0"/>
              </a:spcAft>
            </a:pPr>
            <a:r>
              <a:rPr sz="1200" b="1" i="0">
                <a:solidFill>
                  <a:srgbClr val="B56A00"/>
                </a:solidFill>
                <a:latin typeface="Segoe UI"/>
              </a:rPr>
              <a:t>EXPLICITLY OUT OF SCOPE</a:t>
            </a:r>
          </a:p>
        </p:txBody>
      </p:sp>
      <p:sp>
        <p:nvSpPr>
          <p:cNvPr id="10" name="TextBox 9"/>
          <p:cNvSpPr txBox="1"/>
          <p:nvPr/>
        </p:nvSpPr>
        <p:spPr>
          <a:xfrm>
            <a:off x="6355080" y="1920240"/>
            <a:ext cx="5257800" cy="2730500"/>
          </a:xfrm>
          <a:prstGeom prst="rect">
            <a:avLst/>
          </a:prstGeom>
          <a:noFill/>
        </p:spPr>
        <p:txBody>
          <a:bodyPr wrap="square">
            <a:spAutoFit/>
          </a:bodyPr>
          <a:lstStyle/>
          <a:p>
            <a:pPr algn="l">
              <a:spcBef>
                <a:spcPts val="0"/>
              </a:spcBef>
              <a:spcAft>
                <a:spcPts val="500"/>
              </a:spcAft>
            </a:pPr>
            <a:r>
              <a:rPr sz="1250" b="0" i="0">
                <a:solidFill>
                  <a:srgbClr val="1A1A1A"/>
                </a:solidFill>
                <a:latin typeface="Segoe UI"/>
              </a:rPr>
              <a:t>•  Sending notifications (17 steps audited only)</a:t>
            </a:r>
          </a:p>
          <a:p>
            <a:pPr algn="l">
              <a:spcBef>
                <a:spcPts val="0"/>
              </a:spcBef>
              <a:spcAft>
                <a:spcPts val="500"/>
              </a:spcAft>
            </a:pPr>
            <a:r>
              <a:rPr sz="1250" b="0" i="0">
                <a:solidFill>
                  <a:srgbClr val="1A1A1A"/>
                </a:solidFill>
                <a:latin typeface="Segoe UI"/>
              </a:rPr>
              <a:t>•  Executing data transforms (20 steps)</a:t>
            </a:r>
          </a:p>
          <a:p>
            <a:pPr algn="l">
              <a:spcBef>
                <a:spcPts val="0"/>
              </a:spcBef>
              <a:spcAft>
                <a:spcPts val="500"/>
              </a:spcAft>
            </a:pPr>
            <a:r>
              <a:rPr sz="1250" b="0" i="0">
                <a:solidFill>
                  <a:srgbClr val="1A1A1A"/>
                </a:solidFill>
                <a:latin typeface="Segoe UI"/>
              </a:rPr>
              <a:t>•  Generating documents (4 steps)</a:t>
            </a:r>
          </a:p>
          <a:p>
            <a:pPr algn="l">
              <a:spcBef>
                <a:spcPts val="0"/>
              </a:spcBef>
              <a:spcAft>
                <a:spcPts val="500"/>
              </a:spcAft>
            </a:pPr>
            <a:r>
              <a:rPr sz="1250" b="0" i="0">
                <a:solidFill>
                  <a:srgbClr val="1A1A1A"/>
                </a:solidFill>
                <a:latin typeface="Segoe UI"/>
              </a:rPr>
              <a:t>•  Row-level security and workbasket routing</a:t>
            </a:r>
          </a:p>
          <a:p>
            <a:pPr algn="l">
              <a:spcBef>
                <a:spcPts val="0"/>
              </a:spcBef>
              <a:spcAft>
                <a:spcPts val="500"/>
              </a:spcAft>
            </a:pPr>
            <a:r>
              <a:rPr sz="1250" b="0" i="0">
                <a:solidFill>
                  <a:srgbClr val="1A1A1A"/>
                </a:solidFill>
                <a:latin typeface="Segoe UI"/>
              </a:rPr>
              <a:t>•  Attachment and document storage</a:t>
            </a:r>
          </a:p>
          <a:p>
            <a:pPr algn="l">
              <a:spcBef>
                <a:spcPts val="0"/>
              </a:spcBef>
              <a:spcAft>
                <a:spcPts val="500"/>
              </a:spcAft>
            </a:pPr>
            <a:r>
              <a:rPr sz="1250" b="0" i="0">
                <a:solidFill>
                  <a:srgbClr val="1A1A1A"/>
                </a:solidFill>
                <a:latin typeface="Segoe UI"/>
              </a:rPr>
              <a:t>•  SLA escalation timers</a:t>
            </a:r>
          </a:p>
          <a:p>
            <a:pPr algn="l">
              <a:spcBef>
                <a:spcPts val="0"/>
              </a:spcBef>
              <a:spcAft>
                <a:spcPts val="500"/>
              </a:spcAft>
            </a:pPr>
            <a:r>
              <a:rPr sz="1250" b="0" i="0">
                <a:solidFill>
                  <a:srgbClr val="1A1A1A"/>
                </a:solidFill>
                <a:latin typeface="Segoe UI"/>
              </a:rPr>
              <a:t>•  Reporting and dashboards (30 definitions)</a:t>
            </a:r>
          </a:p>
          <a:p>
            <a:pPr algn="l">
              <a:spcBef>
                <a:spcPts val="0"/>
              </a:spcBef>
              <a:spcAft>
                <a:spcPts val="500"/>
              </a:spcAft>
            </a:pPr>
            <a:r>
              <a:rPr sz="1250" b="0" i="0">
                <a:solidFill>
                  <a:srgbClr val="1A1A1A"/>
                </a:solidFill>
                <a:latin typeface="Segoe UI"/>
              </a:rPr>
              <a:t>•  Migration of in-flight case data</a:t>
            </a:r>
          </a:p>
          <a:p>
            <a:pPr algn="l">
              <a:spcBef>
                <a:spcPts val="0"/>
              </a:spcBef>
              <a:spcAft>
                <a:spcPts val="500"/>
              </a:spcAft>
            </a:pPr>
            <a:r>
              <a:rPr sz="1250" b="0" i="0">
                <a:solidFill>
                  <a:srgbClr val="1A1A1A"/>
                </a:solidFill>
                <a:latin typeface="Segoe UI"/>
              </a:rPr>
              <a:t>•  Performance and load testing</a:t>
            </a:r>
          </a:p>
          <a:p>
            <a:pPr algn="l">
              <a:spcBef>
                <a:spcPts val="0"/>
              </a:spcBef>
              <a:spcAft>
                <a:spcPts val="500"/>
              </a:spcAft>
            </a:pPr>
            <a:r>
              <a:rPr sz="1250" b="0" i="0">
                <a:solidFill>
                  <a:srgbClr val="1A1A1A"/>
                </a:solidFill>
                <a:latin typeface="Segoe UI"/>
              </a:rPr>
              <a:t>•  Production ALM pipeline</a:t>
            </a:r>
          </a:p>
        </p:txBody>
      </p:sp>
      <p:sp>
        <p:nvSpPr>
          <p:cNvPr id="11" name="TextBox 10"/>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0515600" cy="274320"/>
          </a:xfrm>
          <a:prstGeom prst="rect">
            <a:avLst/>
          </a:prstGeom>
          <a:noFill/>
        </p:spPr>
        <p:txBody>
          <a:bodyPr wrap="square">
            <a:spAutoFit/>
          </a:bodyPr>
          <a:lstStyle/>
          <a:p>
            <a:pPr algn="l">
              <a:spcBef>
                <a:spcPts val="0"/>
              </a:spcBef>
              <a:spcAft>
                <a:spcPts val="0"/>
              </a:spcAft>
            </a:pPr>
            <a:r>
              <a:rPr sz="1050" b="1" i="0">
                <a:solidFill>
                  <a:srgbClr val="006D77"/>
                </a:solidFill>
                <a:latin typeface="Segoe UI"/>
              </a:rPr>
              <a:t>POC SCOPE</a:t>
            </a:r>
          </a:p>
        </p:txBody>
      </p:sp>
      <p:sp>
        <p:nvSpPr>
          <p:cNvPr id="4" name="TextBox 3"/>
          <p:cNvSpPr txBox="1"/>
          <p:nvPr/>
        </p:nvSpPr>
        <p:spPr>
          <a:xfrm>
            <a:off x="566928" y="530352"/>
            <a:ext cx="11064240" cy="685800"/>
          </a:xfrm>
          <a:prstGeom prst="rect">
            <a:avLst/>
          </a:prstGeom>
          <a:noFill/>
        </p:spPr>
        <p:txBody>
          <a:bodyPr wrap="square">
            <a:spAutoFit/>
          </a:bodyPr>
          <a:lstStyle/>
          <a:p>
            <a:pPr algn="l">
              <a:spcBef>
                <a:spcPts val="0"/>
              </a:spcBef>
              <a:spcAft>
                <a:spcPts val="0"/>
              </a:spcAft>
            </a:pPr>
            <a:r>
              <a:rPr sz="2700" b="1" i="0">
                <a:solidFill>
                  <a:srgbClr val="1A1A1A"/>
                </a:solidFill>
                <a:latin typeface="Segoe UI"/>
              </a:rPr>
              <a:t>Assumptions and constraints</a:t>
            </a:r>
          </a:p>
        </p:txBody>
      </p:sp>
      <p:graphicFrame>
        <p:nvGraphicFramePr>
          <p:cNvPr id="5" name="Table 4"/>
          <p:cNvGraphicFramePr>
            <a:graphicFrameLocks noGrp="1"/>
          </p:cNvGraphicFramePr>
          <p:nvPr/>
        </p:nvGraphicFramePr>
        <p:xfrm>
          <a:off x="566928" y="1554480"/>
          <a:ext cx="11064238" cy="1993392"/>
        </p:xfrm>
        <a:graphic>
          <a:graphicData uri="http://schemas.openxmlformats.org/drawingml/2006/table">
            <a:tbl>
              <a:tblPr firstRow="1" bandRow="1">
                <a:tableStyleId>{5C22544A-7EE6-4342-B048-85BDC9FD1C3A}</a:tableStyleId>
              </a:tblPr>
              <a:tblGrid>
                <a:gridCol w="457199"/>
                <a:gridCol w="5669279"/>
                <a:gridCol w="4937760"/>
              </a:tblGrid>
              <a:tr h="347472">
                <a:tc>
                  <a:txBody>
                    <a:bodyPr wrap="square"/>
                    <a:lstStyle/>
                    <a:p>
                      <a:r>
                        <a:rPr sz="1150" b="1">
                          <a:solidFill>
                            <a:srgbClr val="FFFFFF"/>
                          </a:solidFill>
                          <a:latin typeface="Segoe UI"/>
                        </a:rPr>
                        <a:t>#</a:t>
                      </a:r>
                    </a:p>
                  </a:txBody>
                  <a:tcPr anchor="ctr" marL="91440">
                    <a:solidFill>
                      <a:srgbClr val="006D77"/>
                    </a:solidFill>
                  </a:tcPr>
                </a:tc>
                <a:tc>
                  <a:txBody>
                    <a:bodyPr wrap="square"/>
                    <a:lstStyle/>
                    <a:p>
                      <a:r>
                        <a:rPr sz="1150" b="1">
                          <a:solidFill>
                            <a:srgbClr val="FFFFFF"/>
                          </a:solidFill>
                          <a:latin typeface="Segoe UI"/>
                        </a:rPr>
                        <a:t>Assumption or constraint</a:t>
                      </a:r>
                    </a:p>
                  </a:txBody>
                  <a:tcPr anchor="ctr" marL="91440">
                    <a:solidFill>
                      <a:srgbClr val="006D77"/>
                    </a:solidFill>
                  </a:tcPr>
                </a:tc>
                <a:tc>
                  <a:txBody>
                    <a:bodyPr wrap="square"/>
                    <a:lstStyle/>
                    <a:p>
                      <a:r>
                        <a:rPr sz="1150" b="1">
                          <a:solidFill>
                            <a:srgbClr val="FFFFFF"/>
                          </a:solidFill>
                          <a:latin typeface="Segoe UI"/>
                        </a:rPr>
                        <a:t>Consequence if it changes</a:t>
                      </a:r>
                    </a:p>
                  </a:txBody>
                  <a:tcPr anchor="ctr" marL="91440">
                    <a:solidFill>
                      <a:srgbClr val="006D77"/>
                    </a:solidFill>
                  </a:tcPr>
                </a:tc>
              </a:tr>
              <a:tr h="274320">
                <a:tc>
                  <a:txBody>
                    <a:bodyPr wrap="square"/>
                    <a:lstStyle/>
                    <a:p>
                      <a:r>
                        <a:rPr sz="1150" b="1">
                          <a:solidFill>
                            <a:srgbClr val="1A1A1A"/>
                          </a:solidFill>
                          <a:latin typeface="Segoe UI"/>
                        </a:rPr>
                        <a:t>1</a:t>
                      </a:r>
                    </a:p>
                  </a:txBody>
                  <a:tcPr anchor="ctr" marL="91440" marT="18288" marB="18288">
                    <a:solidFill>
                      <a:srgbClr val="FFFFFF"/>
                    </a:solidFill>
                  </a:tcPr>
                </a:tc>
                <a:tc>
                  <a:txBody>
                    <a:bodyPr wrap="square"/>
                    <a:lstStyle/>
                    <a:p>
                      <a:r>
                        <a:rPr sz="1150" b="0">
                          <a:solidFill>
                            <a:srgbClr val="3C3C3C"/>
                          </a:solidFill>
                          <a:latin typeface="Segoe UI"/>
                        </a:rPr>
                        <a:t>The Pega export plus DX API access represents the complete application</a:t>
                      </a:r>
                    </a:p>
                  </a:txBody>
                  <a:tcPr anchor="ctr" marL="91440" marT="18288" marB="18288">
                    <a:solidFill>
                      <a:srgbClr val="FFFFFF"/>
                    </a:solidFill>
                  </a:tcPr>
                </a:tc>
                <a:tc>
                  <a:txBody>
                    <a:bodyPr wrap="square"/>
                    <a:lstStyle/>
                    <a:p>
                      <a:r>
                        <a:rPr sz="1150" b="0">
                          <a:solidFill>
                            <a:srgbClr val="3C3C3C"/>
                          </a:solidFill>
                          <a:latin typeface="Segoe UI"/>
                        </a:rPr>
                        <a:t>Additional rules would need a further extraction pass</a:t>
                      </a:r>
                    </a:p>
                  </a:txBody>
                  <a:tcPr anchor="ctr" marL="91440" marT="18288" marB="18288">
                    <a:solidFill>
                      <a:srgbClr val="FFFFFF"/>
                    </a:solidFill>
                  </a:tcPr>
                </a:tc>
              </a:tr>
              <a:tr h="274320">
                <a:tc>
                  <a:txBody>
                    <a:bodyPr wrap="square"/>
                    <a:lstStyle/>
                    <a:p>
                      <a:r>
                        <a:rPr sz="1150" b="1">
                          <a:solidFill>
                            <a:srgbClr val="1A1A1A"/>
                          </a:solidFill>
                          <a:latin typeface="Segoe UI"/>
                        </a:rPr>
                        <a:t>2</a:t>
                      </a:r>
                    </a:p>
                  </a:txBody>
                  <a:tcPr anchor="ctr" marL="91440" marT="18288" marB="18288">
                    <a:solidFill>
                      <a:srgbClr val="F4F5F7"/>
                    </a:solidFill>
                  </a:tcPr>
                </a:tc>
                <a:tc>
                  <a:txBody>
                    <a:bodyPr wrap="square"/>
                    <a:lstStyle/>
                    <a:p>
                      <a:r>
                        <a:rPr sz="1150" b="0">
                          <a:solidFill>
                            <a:srgbClr val="3C3C3C"/>
                          </a:solidFill>
                          <a:latin typeface="Segoe UI"/>
                        </a:rPr>
                        <a:t>Flow when conditions can be recovered from Dev Studio or business workshops</a:t>
                      </a:r>
                    </a:p>
                  </a:txBody>
                  <a:tcPr anchor="ctr" marL="91440" marT="18288" marB="18288">
                    <a:solidFill>
                      <a:srgbClr val="F4F5F7"/>
                    </a:solidFill>
                  </a:tcPr>
                </a:tc>
                <a:tc>
                  <a:txBody>
                    <a:bodyPr wrap="square"/>
                    <a:lstStyle/>
                    <a:p>
                      <a:r>
                        <a:rPr sz="1150" b="1">
                          <a:solidFill>
                            <a:srgbClr val="1A1A1A"/>
                          </a:solidFill>
                          <a:latin typeface="Segoe UI"/>
                        </a:rPr>
                        <a:t>Guards remain inferred - the main open risk</a:t>
                      </a:r>
                    </a:p>
                  </a:txBody>
                  <a:tcPr anchor="ctr" marL="91440" marT="18288" marB="18288">
                    <a:solidFill>
                      <a:srgbClr val="F4F5F7"/>
                    </a:solidFill>
                  </a:tcPr>
                </a:tc>
              </a:tr>
              <a:tr h="274320">
                <a:tc>
                  <a:txBody>
                    <a:bodyPr wrap="square"/>
                    <a:lstStyle/>
                    <a:p>
                      <a:r>
                        <a:rPr sz="1150" b="1">
                          <a:solidFill>
                            <a:srgbClr val="1A1A1A"/>
                          </a:solidFill>
                          <a:latin typeface="Segoe UI"/>
                        </a:rPr>
                        <a:t>3</a:t>
                      </a:r>
                    </a:p>
                  </a:txBody>
                  <a:tcPr anchor="ctr" marL="91440" marT="18288" marB="18288">
                    <a:solidFill>
                      <a:srgbClr val="FFFFFF"/>
                    </a:solidFill>
                  </a:tcPr>
                </a:tc>
                <a:tc>
                  <a:txBody>
                    <a:bodyPr wrap="square"/>
                    <a:lstStyle/>
                    <a:p>
                      <a:r>
                        <a:rPr sz="1150" b="0">
                          <a:solidFill>
                            <a:srgbClr val="3C3C3C"/>
                          </a:solidFill>
                          <a:latin typeface="Segoe UI"/>
                        </a:rPr>
                        <a:t>Notification and correspondence content can be re-authored, not migrated</a:t>
                      </a:r>
                    </a:p>
                  </a:txBody>
                  <a:tcPr anchor="ctr" marL="91440" marT="18288" marB="18288">
                    <a:solidFill>
                      <a:srgbClr val="FFFFFF"/>
                    </a:solidFill>
                  </a:tcPr>
                </a:tc>
                <a:tc>
                  <a:txBody>
                    <a:bodyPr wrap="square"/>
                    <a:lstStyle/>
                    <a:p>
                      <a:r>
                        <a:rPr sz="1150" b="0">
                          <a:solidFill>
                            <a:srgbClr val="3C3C3C"/>
                          </a:solidFill>
                          <a:latin typeface="Segoe UI"/>
                        </a:rPr>
                        <a:t>Effort increases if exact templates are mandatory</a:t>
                      </a:r>
                    </a:p>
                  </a:txBody>
                  <a:tcPr anchor="ctr" marL="91440" marT="18288" marB="18288">
                    <a:solidFill>
                      <a:srgbClr val="FFFFFF"/>
                    </a:solidFill>
                  </a:tcPr>
                </a:tc>
              </a:tr>
              <a:tr h="274320">
                <a:tc>
                  <a:txBody>
                    <a:bodyPr wrap="square"/>
                    <a:lstStyle/>
                    <a:p>
                      <a:r>
                        <a:rPr sz="1150" b="1">
                          <a:solidFill>
                            <a:srgbClr val="1A1A1A"/>
                          </a:solidFill>
                          <a:latin typeface="Segoe UI"/>
                        </a:rPr>
                        <a:t>4</a:t>
                      </a:r>
                    </a:p>
                  </a:txBody>
                  <a:tcPr anchor="ctr" marL="91440" marT="18288" marB="18288">
                    <a:solidFill>
                      <a:srgbClr val="F4F5F7"/>
                    </a:solidFill>
                  </a:tcPr>
                </a:tc>
                <a:tc>
                  <a:txBody>
                    <a:bodyPr wrap="square"/>
                    <a:lstStyle/>
                    <a:p>
                      <a:r>
                        <a:rPr sz="1150" b="0">
                          <a:solidFill>
                            <a:srgbClr val="3C3C3C"/>
                          </a:solidFill>
                          <a:latin typeface="Segoe UI"/>
                        </a:rPr>
                        <a:t>Dataverse security roles can express the 19 Pega access groups</a:t>
                      </a:r>
                    </a:p>
                  </a:txBody>
                  <a:tcPr anchor="ctr" marL="91440" marT="18288" marB="18288">
                    <a:solidFill>
                      <a:srgbClr val="F4F5F7"/>
                    </a:solidFill>
                  </a:tcPr>
                </a:tc>
                <a:tc>
                  <a:txBody>
                    <a:bodyPr wrap="square"/>
                    <a:lstStyle/>
                    <a:p>
                      <a:r>
                        <a:rPr sz="1150" b="0">
                          <a:solidFill>
                            <a:srgbClr val="3C3C3C"/>
                          </a:solidFill>
                          <a:latin typeface="Segoe UI"/>
                        </a:rPr>
                        <a:t>A more granular model would need custom logic</a:t>
                      </a:r>
                    </a:p>
                  </a:txBody>
                  <a:tcPr anchor="ctr" marL="91440" marT="18288" marB="18288">
                    <a:solidFill>
                      <a:srgbClr val="F4F5F7"/>
                    </a:solidFill>
                  </a:tcPr>
                </a:tc>
              </a:tr>
              <a:tr h="274320">
                <a:tc>
                  <a:txBody>
                    <a:bodyPr wrap="square"/>
                    <a:lstStyle/>
                    <a:p>
                      <a:r>
                        <a:rPr sz="1150" b="1">
                          <a:solidFill>
                            <a:srgbClr val="1A1A1A"/>
                          </a:solidFill>
                          <a:latin typeface="Segoe UI"/>
                        </a:rPr>
                        <a:t>5</a:t>
                      </a:r>
                    </a:p>
                  </a:txBody>
                  <a:tcPr anchor="ctr" marL="91440" marT="18288" marB="18288">
                    <a:solidFill>
                      <a:srgbClr val="FFFFFF"/>
                    </a:solidFill>
                  </a:tcPr>
                </a:tc>
                <a:tc>
                  <a:txBody>
                    <a:bodyPr wrap="square"/>
                    <a:lstStyle/>
                    <a:p>
                      <a:r>
                        <a:rPr sz="1150" b="0">
                          <a:solidFill>
                            <a:srgbClr val="3C3C3C"/>
                          </a:solidFill>
                          <a:latin typeface="Segoe UI"/>
                        </a:rPr>
                        <a:t>Business volumes are within standard Dataverse limits</a:t>
                      </a:r>
                    </a:p>
                  </a:txBody>
                  <a:tcPr anchor="ctr" marL="91440" marT="18288" marB="18288">
                    <a:solidFill>
                      <a:srgbClr val="FFFFFF"/>
                    </a:solidFill>
                  </a:tcPr>
                </a:tc>
                <a:tc>
                  <a:txBody>
                    <a:bodyPr wrap="square"/>
                    <a:lstStyle/>
                    <a:p>
                      <a:r>
                        <a:rPr sz="1150" b="0">
                          <a:solidFill>
                            <a:srgbClr val="3C3C3C"/>
                          </a:solidFill>
                          <a:latin typeface="Segoe UI"/>
                        </a:rPr>
                        <a:t>High volume may require Azure services or elastic tables</a:t>
                      </a:r>
                    </a:p>
                  </a:txBody>
                  <a:tcPr anchor="ctr" marL="91440" marT="18288" marB="18288">
                    <a:solidFill>
                      <a:srgbClr val="FFFFFF"/>
                    </a:solidFill>
                  </a:tcPr>
                </a:tc>
              </a:tr>
              <a:tr h="274320">
                <a:tc>
                  <a:txBody>
                    <a:bodyPr wrap="square"/>
                    <a:lstStyle/>
                    <a:p>
                      <a:r>
                        <a:rPr sz="1150" b="1">
                          <a:solidFill>
                            <a:srgbClr val="1A1A1A"/>
                          </a:solidFill>
                          <a:latin typeface="Segoe UI"/>
                        </a:rPr>
                        <a:t>6</a:t>
                      </a:r>
                    </a:p>
                  </a:txBody>
                  <a:tcPr anchor="ctr" marL="91440" marT="18288" marB="18288">
                    <a:solidFill>
                      <a:srgbClr val="F4F5F7"/>
                    </a:solidFill>
                  </a:tcPr>
                </a:tc>
                <a:tc>
                  <a:txBody>
                    <a:bodyPr wrap="square"/>
                    <a:lstStyle/>
                    <a:p>
                      <a:r>
                        <a:rPr sz="1150" b="0">
                          <a:solidFill>
                            <a:srgbClr val="3C3C3C"/>
                          </a:solidFill>
                          <a:latin typeface="Segoe UI"/>
                        </a:rPr>
                        <a:t>In-flight cases will not be migrated mid-flight</a:t>
                      </a:r>
                    </a:p>
                  </a:txBody>
                  <a:tcPr anchor="ctr" marL="91440" marT="18288" marB="18288">
                    <a:solidFill>
                      <a:srgbClr val="F4F5F7"/>
                    </a:solidFill>
                  </a:tcPr>
                </a:tc>
                <a:tc>
                  <a:txBody>
                    <a:bodyPr wrap="square"/>
                    <a:lstStyle/>
                    <a:p>
                      <a:r>
                        <a:rPr sz="1150" b="0">
                          <a:solidFill>
                            <a:srgbClr val="3C3C3C"/>
                          </a:solidFill>
                          <a:latin typeface="Segoe UI"/>
                        </a:rPr>
                        <a:t>Cutover strategy would need to change materially</a:t>
                      </a:r>
                    </a:p>
                  </a:txBody>
                  <a:tcPr anchor="ctr" marL="91440" marT="18288" marB="18288">
                    <a:solidFill>
                      <a:srgbClr val="F4F5F7"/>
                    </a:solidFill>
                  </a:tcPr>
                </a:tc>
              </a:tr>
            </a:tbl>
          </a:graphicData>
        </a:graphic>
      </p:graphicFrame>
      <p:sp>
        <p:nvSpPr>
          <p:cNvPr id="6" name="Rectangle 5"/>
          <p:cNvSpPr/>
          <p:nvPr/>
        </p:nvSpPr>
        <p:spPr>
          <a:xfrm>
            <a:off x="566928" y="3822191"/>
            <a:ext cx="11064240" cy="65836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3822191"/>
            <a:ext cx="54864" cy="658368"/>
          </a:xfrm>
          <a:prstGeom prst="rect">
            <a:avLst/>
          </a:prstGeom>
          <a:solidFill>
            <a:srgbClr val="B5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3913631"/>
            <a:ext cx="10652760" cy="493776"/>
          </a:xfrm>
          <a:prstGeom prst="rect">
            <a:avLst/>
          </a:prstGeom>
          <a:noFill/>
        </p:spPr>
        <p:txBody>
          <a:bodyPr wrap="square">
            <a:spAutoFit/>
          </a:bodyPr>
          <a:lstStyle/>
          <a:p>
            <a:pPr algn="l">
              <a:spcBef>
                <a:spcPts val="0"/>
              </a:spcBef>
              <a:spcAft>
                <a:spcPts val="0"/>
              </a:spcAft>
            </a:pPr>
            <a:r>
              <a:rPr sz="1250" b="0" i="0">
                <a:solidFill>
                  <a:srgbClr val="1A1A1A"/>
                </a:solidFill>
                <a:latin typeface="Segoe UI"/>
              </a:rPr>
              <a:t>Assumption 2 is the one to resolve first. Everything else is routine delivery work; that one determines whether the process behaves correctly.</a:t>
            </a:r>
          </a:p>
        </p:txBody>
      </p:sp>
      <p:sp>
        <p:nvSpPr>
          <p:cNvPr id="9" name="TextBox 8"/>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331720"/>
            <a:ext cx="1828800" cy="1097280"/>
          </a:xfrm>
          <a:prstGeom prst="rect">
            <a:avLst/>
          </a:prstGeom>
          <a:noFill/>
        </p:spPr>
        <p:txBody>
          <a:bodyPr wrap="square">
            <a:spAutoFit/>
          </a:bodyPr>
          <a:lstStyle/>
          <a:p>
            <a:pPr algn="l">
              <a:spcBef>
                <a:spcPts val="0"/>
              </a:spcBef>
              <a:spcAft>
                <a:spcPts val="0"/>
              </a:spcAft>
            </a:pPr>
            <a:r>
              <a:rPr sz="6400" b="1" i="0">
                <a:solidFill>
                  <a:srgbClr val="7FC4CB"/>
                </a:solidFill>
                <a:latin typeface="Segoe UI"/>
              </a:rPr>
              <a:t>06</a:t>
            </a:r>
          </a:p>
        </p:txBody>
      </p:sp>
      <p:sp>
        <p:nvSpPr>
          <p:cNvPr id="5" name="TextBox 4"/>
          <p:cNvSpPr txBox="1"/>
          <p:nvPr/>
        </p:nvSpPr>
        <p:spPr>
          <a:xfrm>
            <a:off x="2331720" y="2487168"/>
            <a:ext cx="8778240" cy="914400"/>
          </a:xfrm>
          <a:prstGeom prst="rect">
            <a:avLst/>
          </a:prstGeom>
          <a:noFill/>
        </p:spPr>
        <p:txBody>
          <a:bodyPr wrap="square">
            <a:spAutoFit/>
          </a:bodyPr>
          <a:lstStyle/>
          <a:p>
            <a:pPr algn="l">
              <a:spcBef>
                <a:spcPts val="0"/>
              </a:spcBef>
              <a:spcAft>
                <a:spcPts val="0"/>
              </a:spcAft>
            </a:pPr>
            <a:r>
              <a:rPr sz="3400" b="1" i="0">
                <a:solidFill>
                  <a:srgbClr val="FFFFFF"/>
                </a:solidFill>
                <a:latin typeface="Segoe UI"/>
              </a:rPr>
              <a:t>Live Demo</a:t>
            </a:r>
          </a:p>
        </p:txBody>
      </p:sp>
      <p:sp>
        <p:nvSpPr>
          <p:cNvPr id="6" name="TextBox 5"/>
          <p:cNvSpPr txBox="1"/>
          <p:nvPr/>
        </p:nvSpPr>
        <p:spPr>
          <a:xfrm>
            <a:off x="2395728" y="3401568"/>
            <a:ext cx="8595360" cy="640080"/>
          </a:xfrm>
          <a:prstGeom prst="rect">
            <a:avLst/>
          </a:prstGeom>
          <a:noFill/>
        </p:spPr>
        <p:txBody>
          <a:bodyPr wrap="square">
            <a:spAutoFit/>
          </a:bodyPr>
          <a:lstStyle/>
          <a:p>
            <a:pPr algn="l">
              <a:spcBef>
                <a:spcPts val="0"/>
              </a:spcBef>
              <a:spcAft>
                <a:spcPts val="0"/>
              </a:spcAft>
            </a:pPr>
            <a:r>
              <a:rPr sz="1450" b="0" i="0">
                <a:solidFill>
                  <a:srgbClr val="D6ECEE"/>
                </a:solidFill>
                <a:latin typeface="Segoe UI"/>
              </a:rPr>
              <a:t>Pega original and Power Platform equivalent</a:t>
            </a:r>
          </a:p>
        </p:txBody>
      </p:sp>
      <p:sp>
        <p:nvSpPr>
          <p:cNvPr id="7" name="TextBox 6"/>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0515600" cy="274320"/>
          </a:xfrm>
          <a:prstGeom prst="rect">
            <a:avLst/>
          </a:prstGeom>
          <a:noFill/>
        </p:spPr>
        <p:txBody>
          <a:bodyPr wrap="square">
            <a:spAutoFit/>
          </a:bodyPr>
          <a:lstStyle/>
          <a:p>
            <a:pPr algn="l">
              <a:spcBef>
                <a:spcPts val="0"/>
              </a:spcBef>
              <a:spcAft>
                <a:spcPts val="0"/>
              </a:spcAft>
            </a:pPr>
            <a:r>
              <a:rPr sz="1050" b="1" i="0">
                <a:solidFill>
                  <a:srgbClr val="006D77"/>
                </a:solidFill>
                <a:latin typeface="Segoe UI"/>
              </a:rPr>
              <a:t>LIVE DEMO</a:t>
            </a:r>
          </a:p>
        </p:txBody>
      </p:sp>
      <p:sp>
        <p:nvSpPr>
          <p:cNvPr id="4" name="TextBox 3"/>
          <p:cNvSpPr txBox="1"/>
          <p:nvPr/>
        </p:nvSpPr>
        <p:spPr>
          <a:xfrm>
            <a:off x="566928" y="530352"/>
            <a:ext cx="11064240" cy="685800"/>
          </a:xfrm>
          <a:prstGeom prst="rect">
            <a:avLst/>
          </a:prstGeom>
          <a:noFill/>
        </p:spPr>
        <p:txBody>
          <a:bodyPr wrap="square">
            <a:spAutoFit/>
          </a:bodyPr>
          <a:lstStyle/>
          <a:p>
            <a:pPr algn="l">
              <a:spcBef>
                <a:spcPts val="0"/>
              </a:spcBef>
              <a:spcAft>
                <a:spcPts val="0"/>
              </a:spcAft>
            </a:pPr>
            <a:r>
              <a:rPr sz="2700" b="1" i="0">
                <a:solidFill>
                  <a:srgbClr val="1A1A1A"/>
                </a:solidFill>
                <a:latin typeface="Segoe UI"/>
              </a:rPr>
              <a:t>Key user journeys and end-to-end execution</a:t>
            </a:r>
          </a:p>
        </p:txBody>
      </p:sp>
      <p:graphicFrame>
        <p:nvGraphicFramePr>
          <p:cNvPr id="5" name="Table 4"/>
          <p:cNvGraphicFramePr>
            <a:graphicFrameLocks noGrp="1"/>
          </p:cNvGraphicFramePr>
          <p:nvPr/>
        </p:nvGraphicFramePr>
        <p:xfrm>
          <a:off x="566928" y="1536192"/>
          <a:ext cx="11064238" cy="2542032"/>
        </p:xfrm>
        <a:graphic>
          <a:graphicData uri="http://schemas.openxmlformats.org/drawingml/2006/table">
            <a:tbl>
              <a:tblPr firstRow="1" bandRow="1">
                <a:tableStyleId>{5C22544A-7EE6-4342-B048-85BDC9FD1C3A}</a:tableStyleId>
              </a:tblPr>
              <a:tblGrid>
                <a:gridCol w="457199"/>
                <a:gridCol w="2560319"/>
                <a:gridCol w="8046720"/>
              </a:tblGrid>
              <a:tr h="347472">
                <a:tc>
                  <a:txBody>
                    <a:bodyPr wrap="square"/>
                    <a:lstStyle/>
                    <a:p>
                      <a:r>
                        <a:rPr sz="1150" b="1">
                          <a:solidFill>
                            <a:srgbClr val="FFFFFF"/>
                          </a:solidFill>
                          <a:latin typeface="Segoe UI"/>
                        </a:rPr>
                        <a:t>#</a:t>
                      </a:r>
                    </a:p>
                  </a:txBody>
                  <a:tcPr anchor="ctr" marL="91440">
                    <a:solidFill>
                      <a:srgbClr val="006D77"/>
                    </a:solidFill>
                  </a:tcPr>
                </a:tc>
                <a:tc>
                  <a:txBody>
                    <a:bodyPr wrap="square"/>
                    <a:lstStyle/>
                    <a:p>
                      <a:r>
                        <a:rPr sz="1150" b="1">
                          <a:solidFill>
                            <a:srgbClr val="FFFFFF"/>
                          </a:solidFill>
                          <a:latin typeface="Segoe UI"/>
                        </a:rPr>
                        <a:t>Journey</a:t>
                      </a:r>
                    </a:p>
                  </a:txBody>
                  <a:tcPr anchor="ctr" marL="91440">
                    <a:solidFill>
                      <a:srgbClr val="006D77"/>
                    </a:solidFill>
                  </a:tcPr>
                </a:tc>
                <a:tc>
                  <a:txBody>
                    <a:bodyPr wrap="square"/>
                    <a:lstStyle/>
                    <a:p>
                      <a:r>
                        <a:rPr sz="1150" b="1">
                          <a:solidFill>
                            <a:srgbClr val="FFFFFF"/>
                          </a:solidFill>
                          <a:latin typeface="Segoe UI"/>
                        </a:rPr>
                        <a:t>What to observe</a:t>
                      </a:r>
                    </a:p>
                  </a:txBody>
                  <a:tcPr anchor="ctr" marL="91440">
                    <a:solidFill>
                      <a:srgbClr val="006D77"/>
                    </a:solidFill>
                  </a:tcPr>
                </a:tc>
              </a:tr>
              <a:tr h="274320">
                <a:tc>
                  <a:txBody>
                    <a:bodyPr wrap="square"/>
                    <a:lstStyle/>
                    <a:p>
                      <a:r>
                        <a:rPr sz="1150" b="1">
                          <a:solidFill>
                            <a:srgbClr val="1A1A1A"/>
                          </a:solidFill>
                          <a:latin typeface="Segoe UI"/>
                        </a:rPr>
                        <a:t>1</a:t>
                      </a:r>
                    </a:p>
                  </a:txBody>
                  <a:tcPr anchor="ctr" marL="91440" marT="18288" marB="18288">
                    <a:solidFill>
                      <a:srgbClr val="FFFFFF"/>
                    </a:solidFill>
                  </a:tcPr>
                </a:tc>
                <a:tc>
                  <a:txBody>
                    <a:bodyPr wrap="square"/>
                    <a:lstStyle/>
                    <a:p>
                      <a:r>
                        <a:rPr sz="1150" b="0">
                          <a:solidFill>
                            <a:srgbClr val="3C3C3C"/>
                          </a:solidFill>
                          <a:latin typeface="Segoe UI"/>
                        </a:rPr>
                        <a:t>Worklist</a:t>
                      </a:r>
                    </a:p>
                  </a:txBody>
                  <a:tcPr anchor="ctr" marL="91440" marT="18288" marB="18288">
                    <a:solidFill>
                      <a:srgbClr val="FFFFFF"/>
                    </a:solidFill>
                  </a:tcPr>
                </a:tc>
                <a:tc>
                  <a:txBody>
                    <a:bodyPr wrap="square"/>
                    <a:lstStyle/>
                    <a:p>
                      <a:r>
                        <a:rPr sz="1150" b="0">
                          <a:solidFill>
                            <a:srgbClr val="3C3C3C"/>
                          </a:solidFill>
                          <a:latin typeface="Segoe UI"/>
                        </a:rPr>
                        <a:t>Pending assignments across all five case types in one view - not achievable per-case-type in Pega without custom work</a:t>
                      </a:r>
                    </a:p>
                  </a:txBody>
                  <a:tcPr anchor="ctr" marL="91440" marT="18288" marB="18288">
                    <a:solidFill>
                      <a:srgbClr val="FFFFFF"/>
                    </a:solidFill>
                  </a:tcPr>
                </a:tc>
              </a:tr>
              <a:tr h="274320">
                <a:tc>
                  <a:txBody>
                    <a:bodyPr wrap="square"/>
                    <a:lstStyle/>
                    <a:p>
                      <a:r>
                        <a:rPr sz="1150" b="1">
                          <a:solidFill>
                            <a:srgbClr val="1A1A1A"/>
                          </a:solidFill>
                          <a:latin typeface="Segoe UI"/>
                        </a:rPr>
                        <a:t>2</a:t>
                      </a:r>
                    </a:p>
                  </a:txBody>
                  <a:tcPr anchor="ctr" marL="91440" marT="18288" marB="18288">
                    <a:solidFill>
                      <a:srgbClr val="F4F5F7"/>
                    </a:solidFill>
                  </a:tcPr>
                </a:tc>
                <a:tc>
                  <a:txBody>
                    <a:bodyPr wrap="square"/>
                    <a:lstStyle/>
                    <a:p>
                      <a:r>
                        <a:rPr sz="1150" b="0">
                          <a:solidFill>
                            <a:srgbClr val="3C3C3C"/>
                          </a:solidFill>
                          <a:latin typeface="Segoe UI"/>
                        </a:rPr>
                        <a:t>Create a case</a:t>
                      </a:r>
                    </a:p>
                  </a:txBody>
                  <a:tcPr anchor="ctr" marL="91440" marT="18288" marB="18288">
                    <a:solidFill>
                      <a:srgbClr val="F4F5F7"/>
                    </a:solidFill>
                  </a:tcPr>
                </a:tc>
                <a:tc>
                  <a:txBody>
                    <a:bodyPr wrap="square"/>
                    <a:lstStyle/>
                    <a:p>
                      <a:r>
                        <a:rPr sz="1150" b="0">
                          <a:solidFill>
                            <a:srgbClr val="3C3C3C"/>
                          </a:solidFill>
                          <a:latin typeface="Segoe UI"/>
                        </a:rPr>
                        <a:t>Case ID generated with the Pega prefix convention; engine plans the first assignment automatically</a:t>
                      </a:r>
                    </a:p>
                  </a:txBody>
                  <a:tcPr anchor="ctr" marL="91440" marT="18288" marB="18288">
                    <a:solidFill>
                      <a:srgbClr val="F4F5F7"/>
                    </a:solidFill>
                  </a:tcPr>
                </a:tc>
              </a:tr>
              <a:tr h="274320">
                <a:tc>
                  <a:txBody>
                    <a:bodyPr wrap="square"/>
                    <a:lstStyle/>
                    <a:p>
                      <a:r>
                        <a:rPr sz="1150" b="1">
                          <a:solidFill>
                            <a:srgbClr val="1A1A1A"/>
                          </a:solidFill>
                          <a:latin typeface="Segoe UI"/>
                        </a:rPr>
                        <a:t>3</a:t>
                      </a:r>
                    </a:p>
                  </a:txBody>
                  <a:tcPr anchor="ctr" marL="91440" marT="18288" marB="18288">
                    <a:solidFill>
                      <a:srgbClr val="FFFFFF"/>
                    </a:solidFill>
                  </a:tcPr>
                </a:tc>
                <a:tc>
                  <a:txBody>
                    <a:bodyPr wrap="square"/>
                    <a:lstStyle/>
                    <a:p>
                      <a:r>
                        <a:rPr sz="1150" b="0">
                          <a:solidFill>
                            <a:srgbClr val="3C3C3C"/>
                          </a:solidFill>
                          <a:latin typeface="Segoe UI"/>
                        </a:rPr>
                        <a:t>Complete an assignment</a:t>
                      </a:r>
                    </a:p>
                  </a:txBody>
                  <a:tcPr anchor="ctr" marL="91440" marT="18288" marB="18288">
                    <a:solidFill>
                      <a:srgbClr val="FFFFFF"/>
                    </a:solidFill>
                  </a:tcPr>
                </a:tc>
                <a:tc>
                  <a:txBody>
                    <a:bodyPr wrap="square"/>
                    <a:lstStyle/>
                    <a:p>
                      <a:r>
                        <a:rPr sz="1150" b="0">
                          <a:solidFill>
                            <a:srgbClr val="3C3C3C"/>
                          </a:solidFill>
                          <a:latin typeface="Segoe UI"/>
                        </a:rPr>
                        <a:t>Form is rendered entirely from view metadata - no screen was hand-coded</a:t>
                      </a:r>
                    </a:p>
                  </a:txBody>
                  <a:tcPr anchor="ctr" marL="91440" marT="18288" marB="18288">
                    <a:solidFill>
                      <a:srgbClr val="FFFFFF"/>
                    </a:solidFill>
                  </a:tcPr>
                </a:tc>
              </a:tr>
              <a:tr h="274320">
                <a:tc>
                  <a:txBody>
                    <a:bodyPr wrap="square"/>
                    <a:lstStyle/>
                    <a:p>
                      <a:r>
                        <a:rPr sz="1150" b="1">
                          <a:solidFill>
                            <a:srgbClr val="1A1A1A"/>
                          </a:solidFill>
                          <a:latin typeface="Segoe UI"/>
                        </a:rPr>
                        <a:t>4</a:t>
                      </a:r>
                    </a:p>
                  </a:txBody>
                  <a:tcPr anchor="ctr" marL="91440" marT="18288" marB="18288">
                    <a:solidFill>
                      <a:srgbClr val="F4F5F7"/>
                    </a:solidFill>
                  </a:tcPr>
                </a:tc>
                <a:tc>
                  <a:txBody>
                    <a:bodyPr wrap="square"/>
                    <a:lstStyle/>
                    <a:p>
                      <a:r>
                        <a:rPr sz="1150" b="0">
                          <a:solidFill>
                            <a:srgbClr val="3C3C3C"/>
                          </a:solidFill>
                          <a:latin typeface="Segoe UI"/>
                        </a:rPr>
                        <a:t>Decision evaluation</a:t>
                      </a:r>
                    </a:p>
                  </a:txBody>
                  <a:tcPr anchor="ctr" marL="91440" marT="18288" marB="18288">
                    <a:solidFill>
                      <a:srgbClr val="F4F5F7"/>
                    </a:solidFill>
                  </a:tcPr>
                </a:tc>
                <a:tc>
                  <a:txBody>
                    <a:bodyPr wrap="square"/>
                    <a:lstStyle/>
                    <a:p>
                      <a:r>
                        <a:rPr sz="1150" b="0">
                          <a:solidFill>
                            <a:srgbClr val="3C3C3C"/>
                          </a:solidFill>
                          <a:latin typeface="Segoe UI"/>
                        </a:rPr>
                        <a:t>A Pega decision table executes against live case data and routes the case</a:t>
                      </a:r>
                    </a:p>
                  </a:txBody>
                  <a:tcPr anchor="ctr" marL="91440" marT="18288" marB="18288">
                    <a:solidFill>
                      <a:srgbClr val="F4F5F7"/>
                    </a:solidFill>
                  </a:tcPr>
                </a:tc>
              </a:tr>
              <a:tr h="274320">
                <a:tc>
                  <a:txBody>
                    <a:bodyPr wrap="square"/>
                    <a:lstStyle/>
                    <a:p>
                      <a:r>
                        <a:rPr sz="1150" b="1">
                          <a:solidFill>
                            <a:srgbClr val="1A1A1A"/>
                          </a:solidFill>
                          <a:latin typeface="Segoe UI"/>
                        </a:rPr>
                        <a:t>5</a:t>
                      </a:r>
                    </a:p>
                  </a:txBody>
                  <a:tcPr anchor="ctr" marL="91440" marT="18288" marB="18288">
                    <a:solidFill>
                      <a:srgbClr val="FFFFFF"/>
                    </a:solidFill>
                  </a:tcPr>
                </a:tc>
                <a:tc>
                  <a:txBody>
                    <a:bodyPr wrap="square"/>
                    <a:lstStyle/>
                    <a:p>
                      <a:r>
                        <a:rPr sz="1150" b="0">
                          <a:solidFill>
                            <a:srgbClr val="3C3C3C"/>
                          </a:solidFill>
                          <a:latin typeface="Segoe UI"/>
                        </a:rPr>
                        <a:t>Approval sub-process</a:t>
                      </a:r>
                    </a:p>
                  </a:txBody>
                  <a:tcPr anchor="ctr" marL="91440" marT="18288" marB="18288">
                    <a:solidFill>
                      <a:srgbClr val="FFFFFF"/>
                    </a:solidFill>
                  </a:tcPr>
                </a:tc>
                <a:tc>
                  <a:txBody>
                    <a:bodyPr wrap="square"/>
                    <a:lstStyle/>
                    <a:p>
                      <a:r>
                        <a:rPr sz="1150" b="0">
                          <a:solidFill>
                            <a:srgbClr val="3C3C3C"/>
                          </a:solidFill>
                          <a:latin typeface="Segoe UI"/>
                        </a:rPr>
                        <a:t>Case pauses; approve or reject routes onward or into the rejection path</a:t>
                      </a:r>
                    </a:p>
                  </a:txBody>
                  <a:tcPr anchor="ctr" marL="91440" marT="18288" marB="18288">
                    <a:solidFill>
                      <a:srgbClr val="FFFFFF"/>
                    </a:solidFill>
                  </a:tcPr>
                </a:tc>
              </a:tr>
              <a:tr h="274320">
                <a:tc>
                  <a:txBody>
                    <a:bodyPr wrap="square"/>
                    <a:lstStyle/>
                    <a:p>
                      <a:r>
                        <a:rPr sz="1150" b="1">
                          <a:solidFill>
                            <a:srgbClr val="1A1A1A"/>
                          </a:solidFill>
                          <a:latin typeface="Segoe UI"/>
                        </a:rPr>
                        <a:t>6</a:t>
                      </a:r>
                    </a:p>
                  </a:txBody>
                  <a:tcPr anchor="ctr" marL="91440" marT="18288" marB="18288">
                    <a:solidFill>
                      <a:srgbClr val="F4F5F7"/>
                    </a:solidFill>
                  </a:tcPr>
                </a:tc>
                <a:tc>
                  <a:txBody>
                    <a:bodyPr wrap="square"/>
                    <a:lstStyle/>
                    <a:p>
                      <a:r>
                        <a:rPr sz="1150" b="0">
                          <a:solidFill>
                            <a:srgbClr val="3C3C3C"/>
                          </a:solidFill>
                          <a:latin typeface="Segoe UI"/>
                        </a:rPr>
                        <a:t>Stage progression</a:t>
                      </a:r>
                    </a:p>
                  </a:txBody>
                  <a:tcPr anchor="ctr" marL="91440" marT="18288" marB="18288">
                    <a:solidFill>
                      <a:srgbClr val="F4F5F7"/>
                    </a:solidFill>
                  </a:tcPr>
                </a:tc>
                <a:tc>
                  <a:txBody>
                    <a:bodyPr wrap="square"/>
                    <a:lstStyle/>
                    <a:p>
                      <a:r>
                        <a:rPr sz="1150" b="0">
                          <a:solidFill>
                            <a:srgbClr val="3C3C3C"/>
                          </a:solidFill>
                          <a:latin typeface="Segoe UI"/>
                        </a:rPr>
                        <a:t>Chevron stepper advances; note the guarded rework transition being skipped</a:t>
                      </a:r>
                    </a:p>
                  </a:txBody>
                  <a:tcPr anchor="ctr" marL="91440" marT="18288" marB="18288">
                    <a:solidFill>
                      <a:srgbClr val="F4F5F7"/>
                    </a:solidFill>
                  </a:tcPr>
                </a:tc>
              </a:tr>
              <a:tr h="274320">
                <a:tc>
                  <a:txBody>
                    <a:bodyPr wrap="square"/>
                    <a:lstStyle/>
                    <a:p>
                      <a:r>
                        <a:rPr sz="1150" b="1">
                          <a:solidFill>
                            <a:srgbClr val="1A1A1A"/>
                          </a:solidFill>
                          <a:latin typeface="Segoe UI"/>
                        </a:rPr>
                        <a:t>7</a:t>
                      </a:r>
                    </a:p>
                  </a:txBody>
                  <a:tcPr anchor="ctr" marL="91440" marT="18288" marB="18288">
                    <a:solidFill>
                      <a:srgbClr val="FFFFFF"/>
                    </a:solidFill>
                  </a:tcPr>
                </a:tc>
                <a:tc>
                  <a:txBody>
                    <a:bodyPr wrap="square"/>
                    <a:lstStyle/>
                    <a:p>
                      <a:r>
                        <a:rPr sz="1150" b="0">
                          <a:solidFill>
                            <a:srgbClr val="3C3C3C"/>
                          </a:solidFill>
                          <a:latin typeface="Segoe UI"/>
                        </a:rPr>
                        <a:t>Resolution</a:t>
                      </a:r>
                    </a:p>
                  </a:txBody>
                  <a:tcPr anchor="ctr" marL="91440" marT="18288" marB="18288">
                    <a:solidFill>
                      <a:srgbClr val="FFFFFF"/>
                    </a:solidFill>
                  </a:tcPr>
                </a:tc>
                <a:tc>
                  <a:txBody>
                    <a:bodyPr wrap="square"/>
                    <a:lstStyle/>
                    <a:p>
                      <a:r>
                        <a:rPr sz="1150" b="0">
                          <a:solidFill>
                            <a:srgbClr val="3C3C3C"/>
                          </a:solidFill>
                          <a:latin typeface="Segoe UI"/>
                        </a:rPr>
                        <a:t>Case reaches a resolved status</a:t>
                      </a:r>
                    </a:p>
                  </a:txBody>
                  <a:tcPr anchor="ctr" marL="91440" marT="18288" marB="18288">
                    <a:solidFill>
                      <a:srgbClr val="FFFFFF"/>
                    </a:solidFill>
                  </a:tcPr>
                </a:tc>
              </a:tr>
              <a:tr h="274320">
                <a:tc>
                  <a:txBody>
                    <a:bodyPr wrap="square"/>
                    <a:lstStyle/>
                    <a:p>
                      <a:r>
                        <a:rPr sz="1150" b="1">
                          <a:solidFill>
                            <a:srgbClr val="1A1A1A"/>
                          </a:solidFill>
                          <a:latin typeface="Segoe UI"/>
                        </a:rPr>
                        <a:t>8</a:t>
                      </a:r>
                    </a:p>
                  </a:txBody>
                  <a:tcPr anchor="ctr" marL="91440" marT="18288" marB="18288">
                    <a:solidFill>
                      <a:srgbClr val="F4F5F7"/>
                    </a:solidFill>
                  </a:tcPr>
                </a:tc>
                <a:tc>
                  <a:txBody>
                    <a:bodyPr wrap="square"/>
                    <a:lstStyle/>
                    <a:p>
                      <a:r>
                        <a:rPr sz="1150" b="0">
                          <a:solidFill>
                            <a:srgbClr val="3C3C3C"/>
                          </a:solidFill>
                          <a:latin typeface="Segoe UI"/>
                        </a:rPr>
                        <a:t>Audit trail</a:t>
                      </a:r>
                    </a:p>
                  </a:txBody>
                  <a:tcPr anchor="ctr" marL="91440" marT="18288" marB="18288">
                    <a:solidFill>
                      <a:srgbClr val="F4F5F7"/>
                    </a:solidFill>
                  </a:tcPr>
                </a:tc>
                <a:tc>
                  <a:txBody>
                    <a:bodyPr wrap="square"/>
                    <a:lstStyle/>
                    <a:p>
                      <a:r>
                        <a:rPr sz="1150" b="0">
                          <a:solidFill>
                            <a:srgbClr val="3C3C3C"/>
                          </a:solidFill>
                          <a:latin typeface="Segoe UI"/>
                        </a:rPr>
                        <a:t>Every step, decision and transition recorded</a:t>
                      </a:r>
                    </a:p>
                  </a:txBody>
                  <a:tcPr anchor="ctr" marL="91440" marT="18288" marB="18288">
                    <a:solidFill>
                      <a:srgbClr val="F4F5F7"/>
                    </a:solidFill>
                  </a:tcPr>
                </a:tc>
              </a:tr>
            </a:tbl>
          </a:graphicData>
        </a:graphic>
      </p:graphicFrame>
      <p:sp>
        <p:nvSpPr>
          <p:cNvPr id="6" name="Rectangle 5"/>
          <p:cNvSpPr/>
          <p:nvPr/>
        </p:nvSpPr>
        <p:spPr>
          <a:xfrm>
            <a:off x="566928" y="4536947"/>
            <a:ext cx="11064240" cy="65836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4536947"/>
            <a:ext cx="54864" cy="658368"/>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4628387"/>
            <a:ext cx="10652760" cy="493776"/>
          </a:xfrm>
          <a:prstGeom prst="rect">
            <a:avLst/>
          </a:prstGeom>
          <a:noFill/>
        </p:spPr>
        <p:txBody>
          <a:bodyPr wrap="square">
            <a:spAutoFit/>
          </a:bodyPr>
          <a:lstStyle/>
          <a:p>
            <a:pPr algn="l">
              <a:spcBef>
                <a:spcPts val="0"/>
              </a:spcBef>
              <a:spcAft>
                <a:spcPts val="0"/>
              </a:spcAft>
            </a:pPr>
            <a:r>
              <a:rPr sz="1250" b="0" i="0">
                <a:solidFill>
                  <a:srgbClr val="1A1A1A"/>
                </a:solidFill>
                <a:latin typeface="Segoe UI"/>
              </a:rPr>
              <a:t>Live app: https://apps.powerapps.com/play/e/158bbd11-b487-e44e-b175-46d9e2809617/app/175161cf-c385-4c35-8b29-133f0b397d0d</a:t>
            </a:r>
          </a:p>
        </p:txBody>
      </p:sp>
      <p:sp>
        <p:nvSpPr>
          <p:cNvPr id="9" name="TextBox 8"/>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0515600" cy="274320"/>
          </a:xfrm>
          <a:prstGeom prst="rect">
            <a:avLst/>
          </a:prstGeom>
          <a:noFill/>
        </p:spPr>
        <p:txBody>
          <a:bodyPr wrap="square">
            <a:spAutoFit/>
          </a:bodyPr>
          <a:lstStyle/>
          <a:p>
            <a:pPr algn="l">
              <a:spcBef>
                <a:spcPts val="0"/>
              </a:spcBef>
              <a:spcAft>
                <a:spcPts val="0"/>
              </a:spcAft>
            </a:pPr>
            <a:r>
              <a:rPr sz="1050" b="1" i="0">
                <a:solidFill>
                  <a:srgbClr val="006D77"/>
                </a:solidFill>
                <a:latin typeface="Segoe UI"/>
              </a:rPr>
              <a:t>LIVE DEMO</a:t>
            </a:r>
          </a:p>
        </p:txBody>
      </p:sp>
      <p:sp>
        <p:nvSpPr>
          <p:cNvPr id="4" name="TextBox 3"/>
          <p:cNvSpPr txBox="1"/>
          <p:nvPr/>
        </p:nvSpPr>
        <p:spPr>
          <a:xfrm>
            <a:off x="566928" y="530352"/>
            <a:ext cx="11064240" cy="685800"/>
          </a:xfrm>
          <a:prstGeom prst="rect">
            <a:avLst/>
          </a:prstGeom>
          <a:noFill/>
        </p:spPr>
        <p:txBody>
          <a:bodyPr wrap="square">
            <a:spAutoFit/>
          </a:bodyPr>
          <a:lstStyle/>
          <a:p>
            <a:pPr algn="l">
              <a:spcBef>
                <a:spcPts val="0"/>
              </a:spcBef>
              <a:spcAft>
                <a:spcPts val="0"/>
              </a:spcAft>
            </a:pPr>
            <a:r>
              <a:rPr sz="2700" b="1" i="0">
                <a:solidFill>
                  <a:srgbClr val="1A1A1A"/>
                </a:solidFill>
                <a:latin typeface="Segoe UI"/>
              </a:rPr>
              <a:t>Original Pega process and Power Platform equivalent</a:t>
            </a:r>
          </a:p>
        </p:txBody>
      </p:sp>
      <p:graphicFrame>
        <p:nvGraphicFramePr>
          <p:cNvPr id="5" name="Table 4"/>
          <p:cNvGraphicFramePr>
            <a:graphicFrameLocks noGrp="1"/>
          </p:cNvGraphicFramePr>
          <p:nvPr/>
        </p:nvGraphicFramePr>
        <p:xfrm>
          <a:off x="566928" y="1554480"/>
          <a:ext cx="11064238" cy="2542032"/>
        </p:xfrm>
        <a:graphic>
          <a:graphicData uri="http://schemas.openxmlformats.org/drawingml/2006/table">
            <a:tbl>
              <a:tblPr firstRow="1" bandRow="1">
                <a:tableStyleId>{5C22544A-7EE6-4342-B048-85BDC9FD1C3A}</a:tableStyleId>
              </a:tblPr>
              <a:tblGrid>
                <a:gridCol w="2285999"/>
                <a:gridCol w="4023360"/>
                <a:gridCol w="4754879"/>
              </a:tblGrid>
              <a:tr h="347472">
                <a:tc>
                  <a:txBody>
                    <a:bodyPr wrap="square"/>
                    <a:lstStyle/>
                    <a:p>
                      <a:r>
                        <a:rPr sz="1200" b="1">
                          <a:solidFill>
                            <a:srgbClr val="FFFFFF"/>
                          </a:solidFill>
                          <a:latin typeface="Segoe UI"/>
                        </a:rPr>
                        <a:t>Element</a:t>
                      </a:r>
                    </a:p>
                  </a:txBody>
                  <a:tcPr anchor="ctr" marL="91440">
                    <a:solidFill>
                      <a:srgbClr val="006D77"/>
                    </a:solidFill>
                  </a:tcPr>
                </a:tc>
                <a:tc>
                  <a:txBody>
                    <a:bodyPr wrap="square"/>
                    <a:lstStyle/>
                    <a:p>
                      <a:r>
                        <a:rPr sz="1200" b="1">
                          <a:solidFill>
                            <a:srgbClr val="FFFFFF"/>
                          </a:solidFill>
                          <a:latin typeface="Segoe UI"/>
                        </a:rPr>
                        <a:t>Pega</a:t>
                      </a:r>
                    </a:p>
                  </a:txBody>
                  <a:tcPr anchor="ctr" marL="91440">
                    <a:solidFill>
                      <a:srgbClr val="006D77"/>
                    </a:solidFill>
                  </a:tcPr>
                </a:tc>
                <a:tc>
                  <a:txBody>
                    <a:bodyPr wrap="square"/>
                    <a:lstStyle/>
                    <a:p>
                      <a:r>
                        <a:rPr sz="1200" b="1">
                          <a:solidFill>
                            <a:srgbClr val="FFFFFF"/>
                          </a:solidFill>
                          <a:latin typeface="Segoe UI"/>
                        </a:rPr>
                        <a:t>Power Platform implementation</a:t>
                      </a:r>
                    </a:p>
                  </a:txBody>
                  <a:tcPr anchor="ctr" marL="91440">
                    <a:solidFill>
                      <a:srgbClr val="006D77"/>
                    </a:solidFill>
                  </a:tcPr>
                </a:tc>
              </a:tr>
              <a:tr h="274320">
                <a:tc>
                  <a:txBody>
                    <a:bodyPr wrap="square"/>
                    <a:lstStyle/>
                    <a:p>
                      <a:r>
                        <a:rPr sz="1200" b="1">
                          <a:solidFill>
                            <a:srgbClr val="1A1A1A"/>
                          </a:solidFill>
                          <a:latin typeface="Segoe UI"/>
                        </a:rPr>
                        <a:t>Masthead</a:t>
                      </a:r>
                    </a:p>
                  </a:txBody>
                  <a:tcPr anchor="ctr" marL="91440" marT="18288" marB="18288">
                    <a:solidFill>
                      <a:srgbClr val="FFFFFF"/>
                    </a:solidFill>
                  </a:tcPr>
                </a:tc>
                <a:tc>
                  <a:txBody>
                    <a:bodyPr wrap="square"/>
                    <a:lstStyle/>
                    <a:p>
                      <a:r>
                        <a:rPr sz="1200" b="0">
                          <a:solidFill>
                            <a:srgbClr val="3C3C3C"/>
                          </a:solidFill>
                          <a:latin typeface="Segoe UI"/>
                        </a:rPr>
                        <a:t>Red application banner</a:t>
                      </a:r>
                    </a:p>
                  </a:txBody>
                  <a:tcPr anchor="ctr" marL="91440" marT="18288" marB="18288">
                    <a:solidFill>
                      <a:srgbClr val="FFFFFF"/>
                    </a:solidFill>
                  </a:tcPr>
                </a:tc>
                <a:tc>
                  <a:txBody>
                    <a:bodyPr wrap="square"/>
                    <a:lstStyle/>
                    <a:p>
                      <a:r>
                        <a:rPr sz="1200" b="0">
                          <a:solidFill>
                            <a:srgbClr val="3C3C3C"/>
                          </a:solidFill>
                          <a:latin typeface="Segoe UI"/>
                        </a:rPr>
                        <a:t>Reproduced</a:t>
                      </a:r>
                    </a:p>
                  </a:txBody>
                  <a:tcPr anchor="ctr" marL="91440" marT="18288" marB="18288">
                    <a:solidFill>
                      <a:srgbClr val="FFFFFF"/>
                    </a:solidFill>
                  </a:tcPr>
                </a:tc>
              </a:tr>
              <a:tr h="274320">
                <a:tc>
                  <a:txBody>
                    <a:bodyPr wrap="square"/>
                    <a:lstStyle/>
                    <a:p>
                      <a:r>
                        <a:rPr sz="1200" b="1">
                          <a:solidFill>
                            <a:srgbClr val="1A1A1A"/>
                          </a:solidFill>
                          <a:latin typeface="Segoe UI"/>
                        </a:rPr>
                        <a:t>Case banner</a:t>
                      </a:r>
                    </a:p>
                  </a:txBody>
                  <a:tcPr anchor="ctr" marL="91440" marT="18288" marB="18288">
                    <a:solidFill>
                      <a:srgbClr val="F4F5F7"/>
                    </a:solidFill>
                  </a:tcPr>
                </a:tc>
                <a:tc>
                  <a:txBody>
                    <a:bodyPr wrap="square"/>
                    <a:lstStyle/>
                    <a:p>
                      <a:r>
                        <a:rPr sz="1200" b="0">
                          <a:solidFill>
                            <a:srgbClr val="3C3C3C"/>
                          </a:solidFill>
                          <a:latin typeface="Segoe UI"/>
                        </a:rPr>
                        <a:t>Teal case header with ID and status</a:t>
                      </a:r>
                    </a:p>
                  </a:txBody>
                  <a:tcPr anchor="ctr" marL="91440" marT="18288" marB="18288">
                    <a:solidFill>
                      <a:srgbClr val="F4F5F7"/>
                    </a:solidFill>
                  </a:tcPr>
                </a:tc>
                <a:tc>
                  <a:txBody>
                    <a:bodyPr wrap="square"/>
                    <a:lstStyle/>
                    <a:p>
                      <a:r>
                        <a:rPr sz="1200" b="0">
                          <a:solidFill>
                            <a:srgbClr val="3C3C3C"/>
                          </a:solidFill>
                          <a:latin typeface="Segoe UI"/>
                        </a:rPr>
                        <a:t>Reproduced</a:t>
                      </a:r>
                    </a:p>
                  </a:txBody>
                  <a:tcPr anchor="ctr" marL="91440" marT="18288" marB="18288">
                    <a:solidFill>
                      <a:srgbClr val="F4F5F7"/>
                    </a:solidFill>
                  </a:tcPr>
                </a:tc>
              </a:tr>
              <a:tr h="274320">
                <a:tc>
                  <a:txBody>
                    <a:bodyPr wrap="square"/>
                    <a:lstStyle/>
                    <a:p>
                      <a:r>
                        <a:rPr sz="1200" b="1">
                          <a:solidFill>
                            <a:srgbClr val="1A1A1A"/>
                          </a:solidFill>
                          <a:latin typeface="Segoe UI"/>
                        </a:rPr>
                        <a:t>Stage stepper</a:t>
                      </a:r>
                    </a:p>
                  </a:txBody>
                  <a:tcPr anchor="ctr" marL="91440" marT="18288" marB="18288">
                    <a:solidFill>
                      <a:srgbClr val="FFFFFF"/>
                    </a:solidFill>
                  </a:tcPr>
                </a:tc>
                <a:tc>
                  <a:txBody>
                    <a:bodyPr wrap="square"/>
                    <a:lstStyle/>
                    <a:p>
                      <a:r>
                        <a:rPr sz="1200" b="0">
                          <a:solidFill>
                            <a:srgbClr val="3C3C3C"/>
                          </a:solidFill>
                          <a:latin typeface="Segoe UI"/>
                        </a:rPr>
                        <a:t>Chevron stage indicator</a:t>
                      </a:r>
                    </a:p>
                  </a:txBody>
                  <a:tcPr anchor="ctr" marL="91440" marT="18288" marB="18288">
                    <a:solidFill>
                      <a:srgbClr val="FFFFFF"/>
                    </a:solidFill>
                  </a:tcPr>
                </a:tc>
                <a:tc>
                  <a:txBody>
                    <a:bodyPr wrap="square"/>
                    <a:lstStyle/>
                    <a:p>
                      <a:r>
                        <a:rPr sz="1200" b="0">
                          <a:solidFill>
                            <a:srgbClr val="3C3C3C"/>
                          </a:solidFill>
                          <a:latin typeface="Segoe UI"/>
                        </a:rPr>
                        <a:t>Reproduced, data-driven</a:t>
                      </a:r>
                    </a:p>
                  </a:txBody>
                  <a:tcPr anchor="ctr" marL="91440" marT="18288" marB="18288">
                    <a:solidFill>
                      <a:srgbClr val="FFFFFF"/>
                    </a:solidFill>
                  </a:tcPr>
                </a:tc>
              </a:tr>
              <a:tr h="274320">
                <a:tc>
                  <a:txBody>
                    <a:bodyPr wrap="square"/>
                    <a:lstStyle/>
                    <a:p>
                      <a:r>
                        <a:rPr sz="1200" b="1">
                          <a:solidFill>
                            <a:srgbClr val="1A1A1A"/>
                          </a:solidFill>
                          <a:latin typeface="Segoe UI"/>
                        </a:rPr>
                        <a:t>Left rail</a:t>
                      </a:r>
                    </a:p>
                  </a:txBody>
                  <a:tcPr anchor="ctr" marL="91440" marT="18288" marB="18288">
                    <a:solidFill>
                      <a:srgbClr val="F4F5F7"/>
                    </a:solidFill>
                  </a:tcPr>
                </a:tc>
                <a:tc>
                  <a:txBody>
                    <a:bodyPr wrap="square"/>
                    <a:lstStyle/>
                    <a:p>
                      <a:r>
                        <a:rPr sz="1200" b="0">
                          <a:solidFill>
                            <a:srgbClr val="3C3C3C"/>
                          </a:solidFill>
                          <a:latin typeface="Segoe UI"/>
                        </a:rPr>
                        <a:t>Case summary panel</a:t>
                      </a:r>
                    </a:p>
                  </a:txBody>
                  <a:tcPr anchor="ctr" marL="91440" marT="18288" marB="18288">
                    <a:solidFill>
                      <a:srgbClr val="F4F5F7"/>
                    </a:solidFill>
                  </a:tcPr>
                </a:tc>
                <a:tc>
                  <a:txBody>
                    <a:bodyPr wrap="square"/>
                    <a:lstStyle/>
                    <a:p>
                      <a:r>
                        <a:rPr sz="1200" b="0">
                          <a:solidFill>
                            <a:srgbClr val="3C3C3C"/>
                          </a:solidFill>
                          <a:latin typeface="Segoe UI"/>
                        </a:rPr>
                        <a:t>Reproduced</a:t>
                      </a:r>
                    </a:p>
                  </a:txBody>
                  <a:tcPr anchor="ctr" marL="91440" marT="18288" marB="18288">
                    <a:solidFill>
                      <a:srgbClr val="F4F5F7"/>
                    </a:solidFill>
                  </a:tcPr>
                </a:tc>
              </a:tr>
              <a:tr h="274320">
                <a:tc>
                  <a:txBody>
                    <a:bodyPr wrap="square"/>
                    <a:lstStyle/>
                    <a:p>
                      <a:r>
                        <a:rPr sz="1200" b="1">
                          <a:solidFill>
                            <a:srgbClr val="1A1A1A"/>
                          </a:solidFill>
                          <a:latin typeface="Segoe UI"/>
                        </a:rPr>
                        <a:t>Assignment form</a:t>
                      </a:r>
                    </a:p>
                  </a:txBody>
                  <a:tcPr anchor="ctr" marL="91440" marT="18288" marB="18288">
                    <a:solidFill>
                      <a:srgbClr val="FFFFFF"/>
                    </a:solidFill>
                  </a:tcPr>
                </a:tc>
                <a:tc>
                  <a:txBody>
                    <a:bodyPr wrap="square"/>
                    <a:lstStyle/>
                    <a:p>
                      <a:r>
                        <a:rPr sz="1200" b="0">
                          <a:solidFill>
                            <a:srgbClr val="3C3C3C"/>
                          </a:solidFill>
                          <a:latin typeface="Segoe UI"/>
                        </a:rPr>
                        <a:t>Pega view rendering</a:t>
                      </a:r>
                    </a:p>
                  </a:txBody>
                  <a:tcPr anchor="ctr" marL="91440" marT="18288" marB="18288">
                    <a:solidFill>
                      <a:srgbClr val="FFFFFF"/>
                    </a:solidFill>
                  </a:tcPr>
                </a:tc>
                <a:tc>
                  <a:txBody>
                    <a:bodyPr wrap="square"/>
                    <a:lstStyle/>
                    <a:p>
                      <a:r>
                        <a:rPr sz="1200" b="0">
                          <a:solidFill>
                            <a:srgbClr val="3C3C3C"/>
                          </a:solidFill>
                          <a:latin typeface="Segoe UI"/>
                        </a:rPr>
                        <a:t>Rendered from view metadata</a:t>
                      </a:r>
                    </a:p>
                  </a:txBody>
                  <a:tcPr anchor="ctr" marL="91440" marT="18288" marB="18288">
                    <a:solidFill>
                      <a:srgbClr val="FFFFFF"/>
                    </a:solidFill>
                  </a:tcPr>
                </a:tc>
              </a:tr>
              <a:tr h="274320">
                <a:tc>
                  <a:txBody>
                    <a:bodyPr wrap="square"/>
                    <a:lstStyle/>
                    <a:p>
                      <a:r>
                        <a:rPr sz="1200" b="1">
                          <a:solidFill>
                            <a:srgbClr val="1A1A1A"/>
                          </a:solidFill>
                          <a:latin typeface="Segoe UI"/>
                        </a:rPr>
                        <a:t>Case contents</a:t>
                      </a:r>
                    </a:p>
                  </a:txBody>
                  <a:tcPr anchor="ctr" marL="91440" marT="18288" marB="18288">
                    <a:solidFill>
                      <a:srgbClr val="F4F5F7"/>
                    </a:solidFill>
                  </a:tcPr>
                </a:tc>
                <a:tc>
                  <a:txBody>
                    <a:bodyPr wrap="square"/>
                    <a:lstStyle/>
                    <a:p>
                      <a:r>
                        <a:rPr sz="1200" b="0">
                          <a:solidFill>
                            <a:srgbClr val="3C3C3C"/>
                          </a:solidFill>
                          <a:latin typeface="Segoe UI"/>
                        </a:rPr>
                        <a:t>Section navigation</a:t>
                      </a:r>
                    </a:p>
                  </a:txBody>
                  <a:tcPr anchor="ctr" marL="91440" marT="18288" marB="18288">
                    <a:solidFill>
                      <a:srgbClr val="F4F5F7"/>
                    </a:solidFill>
                  </a:tcPr>
                </a:tc>
                <a:tc>
                  <a:txBody>
                    <a:bodyPr wrap="square"/>
                    <a:lstStyle/>
                    <a:p>
                      <a:r>
                        <a:rPr sz="1200" b="0">
                          <a:solidFill>
                            <a:srgbClr val="3C3C3C"/>
                          </a:solidFill>
                          <a:latin typeface="Segoe UI"/>
                        </a:rPr>
                        <a:t>Reproduced</a:t>
                      </a:r>
                    </a:p>
                  </a:txBody>
                  <a:tcPr anchor="ctr" marL="91440" marT="18288" marB="18288">
                    <a:solidFill>
                      <a:srgbClr val="F4F5F7"/>
                    </a:solidFill>
                  </a:tcPr>
                </a:tc>
              </a:tr>
              <a:tr h="274320">
                <a:tc>
                  <a:txBody>
                    <a:bodyPr wrap="square"/>
                    <a:lstStyle/>
                    <a:p>
                      <a:r>
                        <a:rPr sz="1200" b="1">
                          <a:solidFill>
                            <a:srgbClr val="1A1A1A"/>
                          </a:solidFill>
                          <a:latin typeface="Segoe UI"/>
                        </a:rPr>
                        <a:t>Worklist</a:t>
                      </a:r>
                    </a:p>
                  </a:txBody>
                  <a:tcPr anchor="ctr" marL="91440" marT="18288" marB="18288">
                    <a:solidFill>
                      <a:srgbClr val="FFFFFF"/>
                    </a:solidFill>
                  </a:tcPr>
                </a:tc>
                <a:tc>
                  <a:txBody>
                    <a:bodyPr wrap="square"/>
                    <a:lstStyle/>
                    <a:p>
                      <a:r>
                        <a:rPr sz="1200" b="0">
                          <a:solidFill>
                            <a:srgbClr val="3C3C3C"/>
                          </a:solidFill>
                          <a:latin typeface="Segoe UI"/>
                        </a:rPr>
                        <a:t>Per-case-type worklists</a:t>
                      </a:r>
                    </a:p>
                  </a:txBody>
                  <a:tcPr anchor="ctr" marL="91440" marT="18288" marB="18288">
                    <a:solidFill>
                      <a:srgbClr val="FFFFFF"/>
                    </a:solidFill>
                  </a:tcPr>
                </a:tc>
                <a:tc>
                  <a:txBody>
                    <a:bodyPr wrap="square"/>
                    <a:lstStyle/>
                    <a:p>
                      <a:r>
                        <a:rPr sz="1200" b="1">
                          <a:solidFill>
                            <a:srgbClr val="1A1A1A"/>
                          </a:solidFill>
                          <a:latin typeface="Segoe UI"/>
                        </a:rPr>
                        <a:t>Unified across all case types</a:t>
                      </a:r>
                    </a:p>
                  </a:txBody>
                  <a:tcPr anchor="ctr" marL="91440" marT="18288" marB="18288">
                    <a:solidFill>
                      <a:srgbClr val="FFFFFF"/>
                    </a:solidFill>
                  </a:tcPr>
                </a:tc>
              </a:tr>
              <a:tr h="274320">
                <a:tc>
                  <a:txBody>
                    <a:bodyPr wrap="square"/>
                    <a:lstStyle/>
                    <a:p>
                      <a:r>
                        <a:rPr sz="1200" b="1">
                          <a:solidFill>
                            <a:srgbClr val="1A1A1A"/>
                          </a:solidFill>
                          <a:latin typeface="Segoe UI"/>
                        </a:rPr>
                        <a:t>Audit trail</a:t>
                      </a:r>
                    </a:p>
                  </a:txBody>
                  <a:tcPr anchor="ctr" marL="91440" marT="18288" marB="18288">
                    <a:solidFill>
                      <a:srgbClr val="F4F5F7"/>
                    </a:solidFill>
                  </a:tcPr>
                </a:tc>
                <a:tc>
                  <a:txBody>
                    <a:bodyPr wrap="square"/>
                    <a:lstStyle/>
                    <a:p>
                      <a:r>
                        <a:rPr sz="1200" b="0">
                          <a:solidFill>
                            <a:srgbClr val="3C3C3C"/>
                          </a:solidFill>
                          <a:latin typeface="Segoe UI"/>
                        </a:rPr>
                        <a:t>Pega history</a:t>
                      </a:r>
                    </a:p>
                  </a:txBody>
                  <a:tcPr anchor="ctr" marL="91440" marT="18288" marB="18288">
                    <a:solidFill>
                      <a:srgbClr val="F4F5F7"/>
                    </a:solidFill>
                  </a:tcPr>
                </a:tc>
                <a:tc>
                  <a:txBody>
                    <a:bodyPr wrap="square"/>
                    <a:lstStyle/>
                    <a:p>
                      <a:r>
                        <a:rPr sz="1200" b="0">
                          <a:solidFill>
                            <a:srgbClr val="3C3C3C"/>
                          </a:solidFill>
                          <a:latin typeface="Segoe UI"/>
                        </a:rPr>
                        <a:t>Dataverse table, fully queryable</a:t>
                      </a:r>
                    </a:p>
                  </a:txBody>
                  <a:tcPr anchor="ctr" marL="91440" marT="18288" marB="18288">
                    <a:solidFill>
                      <a:srgbClr val="F4F5F7"/>
                    </a:solidFill>
                  </a:tcPr>
                </a:tc>
              </a:tr>
            </a:tbl>
          </a:graphicData>
        </a:graphic>
      </p:graphicFrame>
      <p:sp>
        <p:nvSpPr>
          <p:cNvPr id="6" name="Rectangle 5"/>
          <p:cNvSpPr/>
          <p:nvPr/>
        </p:nvSpPr>
        <p:spPr>
          <a:xfrm>
            <a:off x="566928" y="4370831"/>
            <a:ext cx="11064240" cy="65836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4370831"/>
            <a:ext cx="54864" cy="658368"/>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4462271"/>
            <a:ext cx="10652760" cy="493776"/>
          </a:xfrm>
          <a:prstGeom prst="rect">
            <a:avLst/>
          </a:prstGeom>
          <a:noFill/>
        </p:spPr>
        <p:txBody>
          <a:bodyPr wrap="square">
            <a:spAutoFit/>
          </a:bodyPr>
          <a:lstStyle/>
          <a:p>
            <a:pPr algn="l">
              <a:spcBef>
                <a:spcPts val="0"/>
              </a:spcBef>
              <a:spcAft>
                <a:spcPts val="0"/>
              </a:spcAft>
            </a:pPr>
            <a:r>
              <a:rPr sz="1250" b="0" i="0">
                <a:solidFill>
                  <a:srgbClr val="1A1A1A"/>
                </a:solidFill>
                <a:latin typeface="Segoe UI"/>
              </a:rPr>
              <a:t>The forms are not hand-built copies. They are generated at runtime from the imported view metadata, so a Pega view change flows through as a data update.</a:t>
            </a:r>
          </a:p>
        </p:txBody>
      </p:sp>
      <p:sp>
        <p:nvSpPr>
          <p:cNvPr id="9" name="TextBox 8"/>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331720"/>
            <a:ext cx="1828800" cy="1097280"/>
          </a:xfrm>
          <a:prstGeom prst="rect">
            <a:avLst/>
          </a:prstGeom>
          <a:noFill/>
        </p:spPr>
        <p:txBody>
          <a:bodyPr wrap="square">
            <a:spAutoFit/>
          </a:bodyPr>
          <a:lstStyle/>
          <a:p>
            <a:pPr algn="l">
              <a:spcBef>
                <a:spcPts val="0"/>
              </a:spcBef>
              <a:spcAft>
                <a:spcPts val="0"/>
              </a:spcAft>
            </a:pPr>
            <a:r>
              <a:rPr sz="6400" b="1" i="0">
                <a:solidFill>
                  <a:srgbClr val="7FC4CB"/>
                </a:solidFill>
                <a:latin typeface="Segoe UI"/>
              </a:rPr>
              <a:t>07</a:t>
            </a:r>
          </a:p>
        </p:txBody>
      </p:sp>
      <p:sp>
        <p:nvSpPr>
          <p:cNvPr id="5" name="TextBox 4"/>
          <p:cNvSpPr txBox="1"/>
          <p:nvPr/>
        </p:nvSpPr>
        <p:spPr>
          <a:xfrm>
            <a:off x="2331720" y="2487168"/>
            <a:ext cx="8778240" cy="914400"/>
          </a:xfrm>
          <a:prstGeom prst="rect">
            <a:avLst/>
          </a:prstGeom>
          <a:noFill/>
        </p:spPr>
        <p:txBody>
          <a:bodyPr wrap="square">
            <a:spAutoFit/>
          </a:bodyPr>
          <a:lstStyle/>
          <a:p>
            <a:pPr algn="l">
              <a:spcBef>
                <a:spcPts val="0"/>
              </a:spcBef>
              <a:spcAft>
                <a:spcPts val="0"/>
              </a:spcAft>
            </a:pPr>
            <a:r>
              <a:rPr sz="3400" b="1" i="0">
                <a:solidFill>
                  <a:srgbClr val="FFFFFF"/>
                </a:solidFill>
                <a:latin typeface="Segoe UI"/>
              </a:rPr>
              <a:t>Migration Findings</a:t>
            </a:r>
          </a:p>
        </p:txBody>
      </p:sp>
      <p:sp>
        <p:nvSpPr>
          <p:cNvPr id="6" name="TextBox 5"/>
          <p:cNvSpPr txBox="1"/>
          <p:nvPr/>
        </p:nvSpPr>
        <p:spPr>
          <a:xfrm>
            <a:off x="2395728" y="3401568"/>
            <a:ext cx="8595360" cy="640080"/>
          </a:xfrm>
          <a:prstGeom prst="rect">
            <a:avLst/>
          </a:prstGeom>
          <a:noFill/>
        </p:spPr>
        <p:txBody>
          <a:bodyPr wrap="square">
            <a:spAutoFit/>
          </a:bodyPr>
          <a:lstStyle/>
          <a:p>
            <a:pPr algn="l">
              <a:spcBef>
                <a:spcPts val="0"/>
              </a:spcBef>
              <a:spcAft>
                <a:spcPts val="0"/>
              </a:spcAft>
            </a:pPr>
            <a:r>
              <a:rPr sz="1450" b="0" i="0">
                <a:solidFill>
                  <a:srgbClr val="D6ECEE"/>
                </a:solidFill>
                <a:latin typeface="Segoe UI"/>
              </a:rPr>
              <a:t>What worked, what did not, and why</a:t>
            </a:r>
          </a:p>
        </p:txBody>
      </p:sp>
      <p:sp>
        <p:nvSpPr>
          <p:cNvPr id="7" name="TextBox 6"/>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0515600" cy="274320"/>
          </a:xfrm>
          <a:prstGeom prst="rect">
            <a:avLst/>
          </a:prstGeom>
          <a:noFill/>
        </p:spPr>
        <p:txBody>
          <a:bodyPr wrap="square">
            <a:spAutoFit/>
          </a:bodyPr>
          <a:lstStyle/>
          <a:p>
            <a:pPr algn="l">
              <a:spcBef>
                <a:spcPts val="0"/>
              </a:spcBef>
              <a:spcAft>
                <a:spcPts val="0"/>
              </a:spcAft>
            </a:pPr>
            <a:r>
              <a:rPr sz="1050" b="1" i="0">
                <a:solidFill>
                  <a:srgbClr val="006D77"/>
                </a:solidFill>
                <a:latin typeface="Segoe UI"/>
              </a:rPr>
              <a:t>MIGRATION FINDINGS</a:t>
            </a:r>
          </a:p>
        </p:txBody>
      </p:sp>
      <p:sp>
        <p:nvSpPr>
          <p:cNvPr id="4" name="TextBox 3"/>
          <p:cNvSpPr txBox="1"/>
          <p:nvPr/>
        </p:nvSpPr>
        <p:spPr>
          <a:xfrm>
            <a:off x="566928" y="530352"/>
            <a:ext cx="11064240" cy="685800"/>
          </a:xfrm>
          <a:prstGeom prst="rect">
            <a:avLst/>
          </a:prstGeom>
          <a:noFill/>
        </p:spPr>
        <p:txBody>
          <a:bodyPr wrap="square">
            <a:spAutoFit/>
          </a:bodyPr>
          <a:lstStyle/>
          <a:p>
            <a:pPr algn="l">
              <a:spcBef>
                <a:spcPts val="0"/>
              </a:spcBef>
              <a:spcAft>
                <a:spcPts val="0"/>
              </a:spcAft>
            </a:pPr>
            <a:r>
              <a:rPr sz="2700" b="1" i="0">
                <a:solidFill>
                  <a:srgbClr val="1A1A1A"/>
                </a:solidFill>
                <a:latin typeface="Segoe UI"/>
              </a:rPr>
              <a:t>What migrated well</a:t>
            </a:r>
          </a:p>
        </p:txBody>
      </p:sp>
      <p:graphicFrame>
        <p:nvGraphicFramePr>
          <p:cNvPr id="5" name="Table 4"/>
          <p:cNvGraphicFramePr>
            <a:graphicFrameLocks noGrp="1"/>
          </p:cNvGraphicFramePr>
          <p:nvPr/>
        </p:nvGraphicFramePr>
        <p:xfrm>
          <a:off x="566928" y="1554480"/>
          <a:ext cx="8412480" cy="2542032"/>
        </p:xfrm>
        <a:graphic>
          <a:graphicData uri="http://schemas.openxmlformats.org/drawingml/2006/table">
            <a:tbl>
              <a:tblPr firstRow="1" bandRow="1">
                <a:tableStyleId>{5C22544A-7EE6-4342-B048-85BDC9FD1C3A}</a:tableStyleId>
              </a:tblPr>
              <a:tblGrid>
                <a:gridCol w="3108960"/>
                <a:gridCol w="3291840"/>
                <a:gridCol w="2011680"/>
              </a:tblGrid>
              <a:tr h="347472">
                <a:tc>
                  <a:txBody>
                    <a:bodyPr wrap="square"/>
                    <a:lstStyle/>
                    <a:p>
                      <a:r>
                        <a:rPr sz="1200" b="1">
                          <a:solidFill>
                            <a:srgbClr val="FFFFFF"/>
                          </a:solidFill>
                          <a:latin typeface="Segoe UI"/>
                        </a:rPr>
                        <a:t>Artefact</a:t>
                      </a:r>
                    </a:p>
                  </a:txBody>
                  <a:tcPr anchor="ctr" marL="91440">
                    <a:solidFill>
                      <a:srgbClr val="006D77"/>
                    </a:solidFill>
                  </a:tcPr>
                </a:tc>
                <a:tc>
                  <a:txBody>
                    <a:bodyPr wrap="square"/>
                    <a:lstStyle/>
                    <a:p>
                      <a:r>
                        <a:rPr sz="1200" b="1">
                          <a:solidFill>
                            <a:srgbClr val="FFFFFF"/>
                          </a:solidFill>
                          <a:latin typeface="Segoe UI"/>
                        </a:rPr>
                        <a:t>Migrated</a:t>
                      </a:r>
                    </a:p>
                  </a:txBody>
                  <a:tcPr anchor="ctr" marL="91440">
                    <a:solidFill>
                      <a:srgbClr val="006D77"/>
                    </a:solidFill>
                  </a:tcPr>
                </a:tc>
                <a:tc>
                  <a:txBody>
                    <a:bodyPr wrap="square"/>
                    <a:lstStyle/>
                    <a:p>
                      <a:r>
                        <a:rPr sz="1200" b="1">
                          <a:solidFill>
                            <a:srgbClr val="FFFFFF"/>
                          </a:solidFill>
                          <a:latin typeface="Segoe UI"/>
                        </a:rPr>
                        <a:t>Coverage</a:t>
                      </a:r>
                    </a:p>
                  </a:txBody>
                  <a:tcPr anchor="ctr" marL="91440">
                    <a:solidFill>
                      <a:srgbClr val="006D77"/>
                    </a:solidFill>
                  </a:tcPr>
                </a:tc>
              </a:tr>
              <a:tr h="274320">
                <a:tc>
                  <a:txBody>
                    <a:bodyPr wrap="square"/>
                    <a:lstStyle/>
                    <a:p>
                      <a:r>
                        <a:rPr sz="1200" b="1">
                          <a:solidFill>
                            <a:srgbClr val="1A1A1A"/>
                          </a:solidFill>
                          <a:latin typeface="Segoe UI"/>
                        </a:rPr>
                        <a:t>Case types</a:t>
                      </a:r>
                    </a:p>
                  </a:txBody>
                  <a:tcPr anchor="ctr" marL="91440" marT="18288" marB="18288">
                    <a:solidFill>
                      <a:srgbClr val="FFFFFF"/>
                    </a:solidFill>
                  </a:tcPr>
                </a:tc>
                <a:tc>
                  <a:txBody>
                    <a:bodyPr wrap="square"/>
                    <a:lstStyle/>
                    <a:p>
                      <a:r>
                        <a:rPr sz="1200" b="0">
                          <a:solidFill>
                            <a:srgbClr val="3C3C3C"/>
                          </a:solidFill>
                          <a:latin typeface="Segoe UI"/>
                        </a:rPr>
                        <a:t>5 of 5</a:t>
                      </a:r>
                    </a:p>
                  </a:txBody>
                  <a:tcPr anchor="ctr" marL="91440" marT="18288" marB="18288">
                    <a:solidFill>
                      <a:srgbClr val="FFFFFF"/>
                    </a:solidFill>
                  </a:tcPr>
                </a:tc>
                <a:tc>
                  <a:txBody>
                    <a:bodyPr wrap="square"/>
                    <a:lstStyle/>
                    <a:p>
                      <a:r>
                        <a:rPr sz="1200" b="1">
                          <a:solidFill>
                            <a:srgbClr val="1A1A1A"/>
                          </a:solidFill>
                          <a:latin typeface="Segoe UI"/>
                        </a:rPr>
                        <a:t>100%</a:t>
                      </a:r>
                    </a:p>
                  </a:txBody>
                  <a:tcPr anchor="ctr" marL="91440" marT="18288" marB="18288">
                    <a:solidFill>
                      <a:srgbClr val="FFFFFF"/>
                    </a:solidFill>
                  </a:tcPr>
                </a:tc>
              </a:tr>
              <a:tr h="274320">
                <a:tc>
                  <a:txBody>
                    <a:bodyPr wrap="square"/>
                    <a:lstStyle/>
                    <a:p>
                      <a:r>
                        <a:rPr sz="1200" b="1">
                          <a:solidFill>
                            <a:srgbClr val="1A1A1A"/>
                          </a:solidFill>
                          <a:latin typeface="Segoe UI"/>
                        </a:rPr>
                        <a:t>Stages</a:t>
                      </a:r>
                    </a:p>
                  </a:txBody>
                  <a:tcPr anchor="ctr" marL="91440" marT="18288" marB="18288">
                    <a:solidFill>
                      <a:srgbClr val="F4F5F7"/>
                    </a:solidFill>
                  </a:tcPr>
                </a:tc>
                <a:tc>
                  <a:txBody>
                    <a:bodyPr wrap="square"/>
                    <a:lstStyle/>
                    <a:p>
                      <a:r>
                        <a:rPr sz="1200" b="0">
                          <a:solidFill>
                            <a:srgbClr val="3C3C3C"/>
                          </a:solidFill>
                          <a:latin typeface="Segoe UI"/>
                        </a:rPr>
                        <a:t>39 of 39</a:t>
                      </a:r>
                    </a:p>
                  </a:txBody>
                  <a:tcPr anchor="ctr" marL="91440" marT="18288" marB="18288">
                    <a:solidFill>
                      <a:srgbClr val="F4F5F7"/>
                    </a:solidFill>
                  </a:tcPr>
                </a:tc>
                <a:tc>
                  <a:txBody>
                    <a:bodyPr wrap="square"/>
                    <a:lstStyle/>
                    <a:p>
                      <a:r>
                        <a:rPr sz="1200" b="1">
                          <a:solidFill>
                            <a:srgbClr val="1A1A1A"/>
                          </a:solidFill>
                          <a:latin typeface="Segoe UI"/>
                        </a:rPr>
                        <a:t>100%</a:t>
                      </a:r>
                    </a:p>
                  </a:txBody>
                  <a:tcPr anchor="ctr" marL="91440" marT="18288" marB="18288">
                    <a:solidFill>
                      <a:srgbClr val="F4F5F7"/>
                    </a:solidFill>
                  </a:tcPr>
                </a:tc>
              </a:tr>
              <a:tr h="274320">
                <a:tc>
                  <a:txBody>
                    <a:bodyPr wrap="square"/>
                    <a:lstStyle/>
                    <a:p>
                      <a:r>
                        <a:rPr sz="1200" b="1">
                          <a:solidFill>
                            <a:srgbClr val="1A1A1A"/>
                          </a:solidFill>
                          <a:latin typeface="Segoe UI"/>
                        </a:rPr>
                        <a:t>Steps (structure)</a:t>
                      </a:r>
                    </a:p>
                  </a:txBody>
                  <a:tcPr anchor="ctr" marL="91440" marT="18288" marB="18288">
                    <a:solidFill>
                      <a:srgbClr val="FFFFFF"/>
                    </a:solidFill>
                  </a:tcPr>
                </a:tc>
                <a:tc>
                  <a:txBody>
                    <a:bodyPr wrap="square"/>
                    <a:lstStyle/>
                    <a:p>
                      <a:r>
                        <a:rPr sz="1200" b="0">
                          <a:solidFill>
                            <a:srgbClr val="3C3C3C"/>
                          </a:solidFill>
                          <a:latin typeface="Segoe UI"/>
                        </a:rPr>
                        <a:t>80 of 80</a:t>
                      </a:r>
                    </a:p>
                  </a:txBody>
                  <a:tcPr anchor="ctr" marL="91440" marT="18288" marB="18288">
                    <a:solidFill>
                      <a:srgbClr val="FFFFFF"/>
                    </a:solidFill>
                  </a:tcPr>
                </a:tc>
                <a:tc>
                  <a:txBody>
                    <a:bodyPr wrap="square"/>
                    <a:lstStyle/>
                    <a:p>
                      <a:r>
                        <a:rPr sz="1200" b="1">
                          <a:solidFill>
                            <a:srgbClr val="1A1A1A"/>
                          </a:solidFill>
                          <a:latin typeface="Segoe UI"/>
                        </a:rPr>
                        <a:t>100%</a:t>
                      </a:r>
                    </a:p>
                  </a:txBody>
                  <a:tcPr anchor="ctr" marL="91440" marT="18288" marB="18288">
                    <a:solidFill>
                      <a:srgbClr val="FFFFFF"/>
                    </a:solidFill>
                  </a:tcPr>
                </a:tc>
              </a:tr>
              <a:tr h="274320">
                <a:tc>
                  <a:txBody>
                    <a:bodyPr wrap="square"/>
                    <a:lstStyle/>
                    <a:p>
                      <a:r>
                        <a:rPr sz="1200" b="1">
                          <a:solidFill>
                            <a:srgbClr val="1A1A1A"/>
                          </a:solidFill>
                          <a:latin typeface="Segoe UI"/>
                        </a:rPr>
                        <a:t>Decision tables</a:t>
                      </a:r>
                    </a:p>
                  </a:txBody>
                  <a:tcPr anchor="ctr" marL="91440" marT="18288" marB="18288">
                    <a:solidFill>
                      <a:srgbClr val="F4F5F7"/>
                    </a:solidFill>
                  </a:tcPr>
                </a:tc>
                <a:tc>
                  <a:txBody>
                    <a:bodyPr wrap="square"/>
                    <a:lstStyle/>
                    <a:p>
                      <a:r>
                        <a:rPr sz="1200" b="0">
                          <a:solidFill>
                            <a:srgbClr val="3C3C3C"/>
                          </a:solidFill>
                          <a:latin typeface="Segoe UI"/>
                        </a:rPr>
                        <a:t>10 of 10 (28 rows)</a:t>
                      </a:r>
                    </a:p>
                  </a:txBody>
                  <a:tcPr anchor="ctr" marL="91440" marT="18288" marB="18288">
                    <a:solidFill>
                      <a:srgbClr val="F4F5F7"/>
                    </a:solidFill>
                  </a:tcPr>
                </a:tc>
                <a:tc>
                  <a:txBody>
                    <a:bodyPr wrap="square"/>
                    <a:lstStyle/>
                    <a:p>
                      <a:r>
                        <a:rPr sz="1200" b="1">
                          <a:solidFill>
                            <a:srgbClr val="1A1A1A"/>
                          </a:solidFill>
                          <a:latin typeface="Segoe UI"/>
                        </a:rPr>
                        <a:t>100%</a:t>
                      </a:r>
                    </a:p>
                  </a:txBody>
                  <a:tcPr anchor="ctr" marL="91440" marT="18288" marB="18288">
                    <a:solidFill>
                      <a:srgbClr val="F4F5F7"/>
                    </a:solidFill>
                  </a:tcPr>
                </a:tc>
              </a:tr>
              <a:tr h="274320">
                <a:tc>
                  <a:txBody>
                    <a:bodyPr wrap="square"/>
                    <a:lstStyle/>
                    <a:p>
                      <a:r>
                        <a:rPr sz="1200" b="1">
                          <a:solidFill>
                            <a:srgbClr val="1A1A1A"/>
                          </a:solidFill>
                          <a:latin typeface="Segoe UI"/>
                        </a:rPr>
                        <a:t>Step-bound views</a:t>
                      </a:r>
                    </a:p>
                  </a:txBody>
                  <a:tcPr anchor="ctr" marL="91440" marT="18288" marB="18288">
                    <a:solidFill>
                      <a:srgbClr val="FFFFFF"/>
                    </a:solidFill>
                  </a:tcPr>
                </a:tc>
                <a:tc>
                  <a:txBody>
                    <a:bodyPr wrap="square"/>
                    <a:lstStyle/>
                    <a:p>
                      <a:r>
                        <a:rPr sz="1200" b="0">
                          <a:solidFill>
                            <a:srgbClr val="3C3C3C"/>
                          </a:solidFill>
                          <a:latin typeface="Segoe UI"/>
                        </a:rPr>
                        <a:t>24 (59 fields)</a:t>
                      </a:r>
                    </a:p>
                  </a:txBody>
                  <a:tcPr anchor="ctr" marL="91440" marT="18288" marB="18288">
                    <a:solidFill>
                      <a:srgbClr val="FFFFFF"/>
                    </a:solidFill>
                  </a:tcPr>
                </a:tc>
                <a:tc>
                  <a:txBody>
                    <a:bodyPr wrap="square"/>
                    <a:lstStyle/>
                    <a:p>
                      <a:r>
                        <a:rPr sz="1200" b="1">
                          <a:solidFill>
                            <a:srgbClr val="1A1A1A"/>
                          </a:solidFill>
                          <a:latin typeface="Segoe UI"/>
                        </a:rPr>
                        <a:t>100% of captured</a:t>
                      </a:r>
                    </a:p>
                  </a:txBody>
                  <a:tcPr anchor="ctr" marL="91440" marT="18288" marB="18288">
                    <a:solidFill>
                      <a:srgbClr val="FFFFFF"/>
                    </a:solidFill>
                  </a:tcPr>
                </a:tc>
              </a:tr>
              <a:tr h="274320">
                <a:tc>
                  <a:txBody>
                    <a:bodyPr wrap="square"/>
                    <a:lstStyle/>
                    <a:p>
                      <a:r>
                        <a:rPr sz="1200" b="1">
                          <a:solidFill>
                            <a:srgbClr val="1A1A1A"/>
                          </a:solidFill>
                          <a:latin typeface="Segoe UI"/>
                        </a:rPr>
                        <a:t>Choice sets</a:t>
                      </a:r>
                    </a:p>
                  </a:txBody>
                  <a:tcPr anchor="ctr" marL="91440" marT="18288" marB="18288">
                    <a:solidFill>
                      <a:srgbClr val="F4F5F7"/>
                    </a:solidFill>
                  </a:tcPr>
                </a:tc>
                <a:tc>
                  <a:txBody>
                    <a:bodyPr wrap="square"/>
                    <a:lstStyle/>
                    <a:p>
                      <a:r>
                        <a:rPr sz="1200" b="0">
                          <a:solidFill>
                            <a:srgbClr val="3C3C3C"/>
                          </a:solidFill>
                          <a:latin typeface="Segoe UI"/>
                        </a:rPr>
                        <a:t>26 (107 values)</a:t>
                      </a:r>
                    </a:p>
                  </a:txBody>
                  <a:tcPr anchor="ctr" marL="91440" marT="18288" marB="18288">
                    <a:solidFill>
                      <a:srgbClr val="F4F5F7"/>
                    </a:solidFill>
                  </a:tcPr>
                </a:tc>
                <a:tc>
                  <a:txBody>
                    <a:bodyPr wrap="square"/>
                    <a:lstStyle/>
                    <a:p>
                      <a:r>
                        <a:rPr sz="1200" b="1">
                          <a:solidFill>
                            <a:srgbClr val="1A1A1A"/>
                          </a:solidFill>
                          <a:latin typeface="Segoe UI"/>
                        </a:rPr>
                        <a:t>100%</a:t>
                      </a:r>
                    </a:p>
                  </a:txBody>
                  <a:tcPr anchor="ctr" marL="91440" marT="18288" marB="18288">
                    <a:solidFill>
                      <a:srgbClr val="F4F5F7"/>
                    </a:solidFill>
                  </a:tcPr>
                </a:tc>
              </a:tr>
              <a:tr h="274320">
                <a:tc>
                  <a:txBody>
                    <a:bodyPr wrap="square"/>
                    <a:lstStyle/>
                    <a:p>
                      <a:r>
                        <a:rPr sz="1200" b="1">
                          <a:solidFill>
                            <a:srgbClr val="1A1A1A"/>
                          </a:solidFill>
                          <a:latin typeface="Segoe UI"/>
                        </a:rPr>
                        <a:t>Access groups</a:t>
                      </a:r>
                    </a:p>
                  </a:txBody>
                  <a:tcPr anchor="ctr" marL="91440" marT="18288" marB="18288">
                    <a:solidFill>
                      <a:srgbClr val="FFFFFF"/>
                    </a:solidFill>
                  </a:tcPr>
                </a:tc>
                <a:tc>
                  <a:txBody>
                    <a:bodyPr wrap="square"/>
                    <a:lstStyle/>
                    <a:p>
                      <a:r>
                        <a:rPr sz="1200" b="0">
                          <a:solidFill>
                            <a:srgbClr val="3C3C3C"/>
                          </a:solidFill>
                          <a:latin typeface="Segoe UI"/>
                        </a:rPr>
                        <a:t>19 of 19 (as data)</a:t>
                      </a:r>
                    </a:p>
                  </a:txBody>
                  <a:tcPr anchor="ctr" marL="91440" marT="18288" marB="18288">
                    <a:solidFill>
                      <a:srgbClr val="FFFFFF"/>
                    </a:solidFill>
                  </a:tcPr>
                </a:tc>
                <a:tc>
                  <a:txBody>
                    <a:bodyPr wrap="square"/>
                    <a:lstStyle/>
                    <a:p>
                      <a:r>
                        <a:rPr sz="1200" b="1">
                          <a:solidFill>
                            <a:srgbClr val="1A1A1A"/>
                          </a:solidFill>
                          <a:latin typeface="Segoe UI"/>
                        </a:rPr>
                        <a:t>100%</a:t>
                      </a:r>
                    </a:p>
                  </a:txBody>
                  <a:tcPr anchor="ctr" marL="91440" marT="18288" marB="18288">
                    <a:solidFill>
                      <a:srgbClr val="FFFFFF"/>
                    </a:solidFill>
                  </a:tcPr>
                </a:tc>
              </a:tr>
              <a:tr h="274320">
                <a:tc>
                  <a:txBody>
                    <a:bodyPr wrap="square"/>
                    <a:lstStyle/>
                    <a:p>
                      <a:r>
                        <a:rPr sz="1200" b="1">
                          <a:solidFill>
                            <a:srgbClr val="1A1A1A"/>
                          </a:solidFill>
                          <a:latin typeface="Segoe UI"/>
                        </a:rPr>
                        <a:t>Data objects</a:t>
                      </a:r>
                    </a:p>
                  </a:txBody>
                  <a:tcPr anchor="ctr" marL="91440" marT="18288" marB="18288">
                    <a:solidFill>
                      <a:srgbClr val="F4F5F7"/>
                    </a:solidFill>
                  </a:tcPr>
                </a:tc>
                <a:tc>
                  <a:txBody>
                    <a:bodyPr wrap="square"/>
                    <a:lstStyle/>
                    <a:p>
                      <a:r>
                        <a:rPr sz="1200" b="0">
                          <a:solidFill>
                            <a:srgbClr val="3C3C3C"/>
                          </a:solidFill>
                          <a:latin typeface="Segoe UI"/>
                        </a:rPr>
                        <a:t>10 of 10</a:t>
                      </a:r>
                    </a:p>
                  </a:txBody>
                  <a:tcPr anchor="ctr" marL="91440" marT="18288" marB="18288">
                    <a:solidFill>
                      <a:srgbClr val="F4F5F7"/>
                    </a:solidFill>
                  </a:tcPr>
                </a:tc>
                <a:tc>
                  <a:txBody>
                    <a:bodyPr wrap="square"/>
                    <a:lstStyle/>
                    <a:p>
                      <a:r>
                        <a:rPr sz="1200" b="1">
                          <a:solidFill>
                            <a:srgbClr val="1A1A1A"/>
                          </a:solidFill>
                          <a:latin typeface="Segoe UI"/>
                        </a:rPr>
                        <a:t>100%</a:t>
                      </a:r>
                    </a:p>
                  </a:txBody>
                  <a:tcPr anchor="ctr" marL="91440" marT="18288" marB="18288">
                    <a:solidFill>
                      <a:srgbClr val="F4F5F7"/>
                    </a:solidFill>
                  </a:tcPr>
                </a:tc>
              </a:tr>
            </a:tbl>
          </a:graphicData>
        </a:graphic>
      </p:graphicFrame>
      <p:sp>
        <p:nvSpPr>
          <p:cNvPr id="6" name="TextBox 5"/>
          <p:cNvSpPr txBox="1"/>
          <p:nvPr/>
        </p:nvSpPr>
        <p:spPr>
          <a:xfrm>
            <a:off x="9235440" y="1554480"/>
            <a:ext cx="2377440" cy="3121660"/>
          </a:xfrm>
          <a:prstGeom prst="rect">
            <a:avLst/>
          </a:prstGeom>
          <a:noFill/>
        </p:spPr>
        <p:txBody>
          <a:bodyPr wrap="square">
            <a:spAutoFit/>
          </a:bodyPr>
          <a:lstStyle/>
          <a:p>
            <a:pPr algn="l">
              <a:spcBef>
                <a:spcPts val="0"/>
              </a:spcBef>
              <a:spcAft>
                <a:spcPts val="500"/>
              </a:spcAft>
            </a:pPr>
            <a:r>
              <a:rPr sz="1100" b="1" i="0">
                <a:solidFill>
                  <a:srgbClr val="1A1A1A"/>
                </a:solidFill>
                <a:latin typeface="Segoe UI"/>
              </a:rPr>
              <a:t>Why structure migrates cleanly</a:t>
            </a:r>
          </a:p>
          <a:p>
            <a:pPr algn="l">
              <a:spcBef>
                <a:spcPts val="0"/>
              </a:spcBef>
              <a:spcAft>
                <a:spcPts val="500"/>
              </a:spcAft>
            </a:pPr>
            <a:r>
              <a:rPr sz="1100" b="0" i="0">
                <a:solidFill>
                  <a:srgbClr val="1A1A1A"/>
                </a:solidFill>
                <a:latin typeface="Segoe UI"/>
              </a:rPr>
              <a:t>•  Pega's case model is declarative and fully represented in the export and DX API. Once decoded, it maps directly onto Dataverse rows with no interpretation required.</a:t>
            </a:r>
          </a:p>
          <a:p>
            <a:pPr algn="l">
              <a:spcBef>
                <a:spcPts val="800"/>
              </a:spcBef>
              <a:spcAft>
                <a:spcPts val="500"/>
              </a:spcAft>
            </a:pPr>
            <a:r>
              <a:rPr sz="1100" b="1" i="0">
                <a:solidFill>
                  <a:srgbClr val="1A1A1A"/>
                </a:solidFill>
                <a:latin typeface="Segoe UI"/>
              </a:rPr>
              <a:t>The re-usable asset</a:t>
            </a:r>
          </a:p>
          <a:p>
            <a:pPr algn="l">
              <a:spcBef>
                <a:spcPts val="0"/>
              </a:spcBef>
              <a:spcAft>
                <a:spcPts val="500"/>
              </a:spcAft>
            </a:pPr>
            <a:r>
              <a:rPr sz="1100" b="0" i="0">
                <a:solidFill>
                  <a:srgbClr val="1A1A1A"/>
                </a:solidFill>
                <a:latin typeface="Segoe UI"/>
              </a:rPr>
              <a:t>•  The extract and seed scripts are application-agnostic. They discover class prefixes, case types and choice sets rather than hardcoding them, so they apply to the next Pega application without modification.</a:t>
            </a:r>
          </a:p>
        </p:txBody>
      </p:sp>
      <p:sp>
        <p:nvSpPr>
          <p:cNvPr id="7" name="Rectangle 6"/>
          <p:cNvSpPr/>
          <p:nvPr/>
        </p:nvSpPr>
        <p:spPr>
          <a:xfrm>
            <a:off x="566928" y="4950460"/>
            <a:ext cx="11064240" cy="65836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4950460"/>
            <a:ext cx="54864" cy="658368"/>
          </a:xfrm>
          <a:prstGeom prst="rect">
            <a:avLst/>
          </a:prstGeom>
          <a:solidFill>
            <a:srgbClr val="1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5041900"/>
            <a:ext cx="10652760" cy="493776"/>
          </a:xfrm>
          <a:prstGeom prst="rect">
            <a:avLst/>
          </a:prstGeom>
          <a:noFill/>
        </p:spPr>
        <p:txBody>
          <a:bodyPr wrap="square">
            <a:spAutoFit/>
          </a:bodyPr>
          <a:lstStyle/>
          <a:p>
            <a:pPr algn="l">
              <a:spcBef>
                <a:spcPts val="0"/>
              </a:spcBef>
              <a:spcAft>
                <a:spcPts val="0"/>
              </a:spcAft>
            </a:pPr>
            <a:r>
              <a:rPr sz="1250" b="0" i="0">
                <a:solidFill>
                  <a:srgbClr val="1A1A1A"/>
                </a:solidFill>
                <a:latin typeface="Segoe UI"/>
              </a:rPr>
              <a:t>The entire case lifecycle skeleton - every stage and every step, in order - migrated through automation with no manual authoring.</a:t>
            </a:r>
          </a:p>
        </p:txBody>
      </p:sp>
      <p:sp>
        <p:nvSpPr>
          <p:cNvPr id="10" name="TextBox 9"/>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0515600" cy="274320"/>
          </a:xfrm>
          <a:prstGeom prst="rect">
            <a:avLst/>
          </a:prstGeom>
          <a:noFill/>
        </p:spPr>
        <p:txBody>
          <a:bodyPr wrap="square">
            <a:spAutoFit/>
          </a:bodyPr>
          <a:lstStyle/>
          <a:p>
            <a:pPr algn="l">
              <a:spcBef>
                <a:spcPts val="0"/>
              </a:spcBef>
              <a:spcAft>
                <a:spcPts val="0"/>
              </a:spcAft>
            </a:pPr>
            <a:r>
              <a:rPr sz="1050" b="1" i="0">
                <a:solidFill>
                  <a:srgbClr val="006D77"/>
                </a:solidFill>
                <a:latin typeface="Segoe UI"/>
              </a:rPr>
              <a:t>MIGRATION FINDINGS</a:t>
            </a:r>
          </a:p>
        </p:txBody>
      </p:sp>
      <p:sp>
        <p:nvSpPr>
          <p:cNvPr id="4" name="TextBox 3"/>
          <p:cNvSpPr txBox="1"/>
          <p:nvPr/>
        </p:nvSpPr>
        <p:spPr>
          <a:xfrm>
            <a:off x="566928" y="530352"/>
            <a:ext cx="11064240" cy="685800"/>
          </a:xfrm>
          <a:prstGeom prst="rect">
            <a:avLst/>
          </a:prstGeom>
          <a:noFill/>
        </p:spPr>
        <p:txBody>
          <a:bodyPr wrap="square">
            <a:spAutoFit/>
          </a:bodyPr>
          <a:lstStyle/>
          <a:p>
            <a:pPr algn="l">
              <a:spcBef>
                <a:spcPts val="0"/>
              </a:spcBef>
              <a:spcAft>
                <a:spcPts val="0"/>
              </a:spcAft>
            </a:pPr>
            <a:r>
              <a:rPr sz="2700" b="1" i="0">
                <a:solidFill>
                  <a:srgbClr val="1A1A1A"/>
                </a:solidFill>
                <a:latin typeface="Segoe UI"/>
              </a:rPr>
              <a:t>Manual conversion requirements</a:t>
            </a:r>
          </a:p>
        </p:txBody>
      </p:sp>
      <p:sp>
        <p:nvSpPr>
          <p:cNvPr id="5" name="Rectangle 4"/>
          <p:cNvSpPr/>
          <p:nvPr/>
        </p:nvSpPr>
        <p:spPr>
          <a:xfrm>
            <a:off x="566928" y="1463040"/>
            <a:ext cx="2081174" cy="111556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63040"/>
            <a:ext cx="2081174" cy="50292"/>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645920"/>
            <a:ext cx="1898294" cy="566928"/>
          </a:xfrm>
          <a:prstGeom prst="rect">
            <a:avLst/>
          </a:prstGeom>
          <a:noFill/>
        </p:spPr>
        <p:txBody>
          <a:bodyPr wrap="square">
            <a:spAutoFit/>
          </a:bodyPr>
          <a:lstStyle/>
          <a:p>
            <a:pPr algn="ctr">
              <a:spcBef>
                <a:spcPts val="0"/>
              </a:spcBef>
              <a:spcAft>
                <a:spcPts val="0"/>
              </a:spcAft>
            </a:pPr>
            <a:r>
              <a:rPr sz="3000" b="1" i="0">
                <a:solidFill>
                  <a:srgbClr val="006D77"/>
                </a:solidFill>
                <a:latin typeface="Segoe UI"/>
              </a:rPr>
              <a:t>41</a:t>
            </a:r>
          </a:p>
        </p:txBody>
      </p:sp>
      <p:sp>
        <p:nvSpPr>
          <p:cNvPr id="8" name="TextBox 7"/>
          <p:cNvSpPr txBox="1"/>
          <p:nvPr/>
        </p:nvSpPr>
        <p:spPr>
          <a:xfrm>
            <a:off x="640080" y="2212848"/>
            <a:ext cx="1934870" cy="384048"/>
          </a:xfrm>
          <a:prstGeom prst="rect">
            <a:avLst/>
          </a:prstGeom>
          <a:noFill/>
        </p:spPr>
        <p:txBody>
          <a:bodyPr wrap="square">
            <a:spAutoFit/>
          </a:bodyPr>
          <a:lstStyle/>
          <a:p>
            <a:pPr algn="ctr">
              <a:spcBef>
                <a:spcPts val="0"/>
              </a:spcBef>
              <a:spcAft>
                <a:spcPts val="0"/>
              </a:spcAft>
            </a:pPr>
            <a:r>
              <a:rPr sz="1050" b="0" i="0">
                <a:solidFill>
                  <a:srgbClr val="3C3C3C"/>
                </a:solidFill>
                <a:latin typeface="Segoe UI"/>
              </a:rPr>
              <a:t>of 80 steps need
manual implementation</a:t>
            </a:r>
          </a:p>
        </p:txBody>
      </p:sp>
      <p:sp>
        <p:nvSpPr>
          <p:cNvPr id="9" name="Rectangle 8"/>
          <p:cNvSpPr/>
          <p:nvPr/>
        </p:nvSpPr>
        <p:spPr>
          <a:xfrm>
            <a:off x="2812694" y="1463040"/>
            <a:ext cx="2081174" cy="111556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812694" y="1463040"/>
            <a:ext cx="2081174" cy="50292"/>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04134" y="1645920"/>
            <a:ext cx="1898294" cy="566928"/>
          </a:xfrm>
          <a:prstGeom prst="rect">
            <a:avLst/>
          </a:prstGeom>
          <a:noFill/>
        </p:spPr>
        <p:txBody>
          <a:bodyPr wrap="square">
            <a:spAutoFit/>
          </a:bodyPr>
          <a:lstStyle/>
          <a:p>
            <a:pPr algn="ctr">
              <a:spcBef>
                <a:spcPts val="0"/>
              </a:spcBef>
              <a:spcAft>
                <a:spcPts val="0"/>
              </a:spcAft>
            </a:pPr>
            <a:r>
              <a:rPr sz="3000" b="1" i="0">
                <a:solidFill>
                  <a:srgbClr val="006D77"/>
                </a:solidFill>
                <a:latin typeface="Segoe UI"/>
              </a:rPr>
              <a:t>17</a:t>
            </a:r>
          </a:p>
        </p:txBody>
      </p:sp>
      <p:sp>
        <p:nvSpPr>
          <p:cNvPr id="12" name="TextBox 11"/>
          <p:cNvSpPr txBox="1"/>
          <p:nvPr/>
        </p:nvSpPr>
        <p:spPr>
          <a:xfrm>
            <a:off x="2885846" y="2212848"/>
            <a:ext cx="1934870" cy="384048"/>
          </a:xfrm>
          <a:prstGeom prst="rect">
            <a:avLst/>
          </a:prstGeom>
          <a:noFill/>
        </p:spPr>
        <p:txBody>
          <a:bodyPr wrap="square">
            <a:spAutoFit/>
          </a:bodyPr>
          <a:lstStyle/>
          <a:p>
            <a:pPr algn="ctr">
              <a:spcBef>
                <a:spcPts val="0"/>
              </a:spcBef>
              <a:spcAft>
                <a:spcPts val="0"/>
              </a:spcAft>
            </a:pPr>
            <a:r>
              <a:rPr sz="1050" b="0" i="0">
                <a:solidFill>
                  <a:srgbClr val="3C3C3C"/>
                </a:solidFill>
                <a:latin typeface="Segoe UI"/>
              </a:rPr>
              <a:t>Notification
steps</a:t>
            </a:r>
          </a:p>
        </p:txBody>
      </p:sp>
      <p:sp>
        <p:nvSpPr>
          <p:cNvPr id="13" name="Rectangle 12"/>
          <p:cNvSpPr/>
          <p:nvPr/>
        </p:nvSpPr>
        <p:spPr>
          <a:xfrm>
            <a:off x="5058460" y="1463040"/>
            <a:ext cx="2081174" cy="111556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58460" y="1463040"/>
            <a:ext cx="2081174" cy="50292"/>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49900" y="1645920"/>
            <a:ext cx="1898294" cy="566928"/>
          </a:xfrm>
          <a:prstGeom prst="rect">
            <a:avLst/>
          </a:prstGeom>
          <a:noFill/>
        </p:spPr>
        <p:txBody>
          <a:bodyPr wrap="square">
            <a:spAutoFit/>
          </a:bodyPr>
          <a:lstStyle/>
          <a:p>
            <a:pPr algn="ctr">
              <a:spcBef>
                <a:spcPts val="0"/>
              </a:spcBef>
              <a:spcAft>
                <a:spcPts val="0"/>
              </a:spcAft>
            </a:pPr>
            <a:r>
              <a:rPr sz="3000" b="1" i="0">
                <a:solidFill>
                  <a:srgbClr val="006D77"/>
                </a:solidFill>
                <a:latin typeface="Segoe UI"/>
              </a:rPr>
              <a:t>20</a:t>
            </a:r>
          </a:p>
        </p:txBody>
      </p:sp>
      <p:sp>
        <p:nvSpPr>
          <p:cNvPr id="16" name="TextBox 15"/>
          <p:cNvSpPr txBox="1"/>
          <p:nvPr/>
        </p:nvSpPr>
        <p:spPr>
          <a:xfrm>
            <a:off x="5131612" y="2212848"/>
            <a:ext cx="1934870" cy="384048"/>
          </a:xfrm>
          <a:prstGeom prst="rect">
            <a:avLst/>
          </a:prstGeom>
          <a:noFill/>
        </p:spPr>
        <p:txBody>
          <a:bodyPr wrap="square">
            <a:spAutoFit/>
          </a:bodyPr>
          <a:lstStyle/>
          <a:p>
            <a:pPr algn="ctr">
              <a:spcBef>
                <a:spcPts val="0"/>
              </a:spcBef>
              <a:spcAft>
                <a:spcPts val="0"/>
              </a:spcAft>
            </a:pPr>
            <a:r>
              <a:rPr sz="1050" b="0" i="0">
                <a:solidFill>
                  <a:srgbClr val="3C3C3C"/>
                </a:solidFill>
                <a:latin typeface="Segoe UI"/>
              </a:rPr>
              <a:t>Data transform
steps</a:t>
            </a:r>
          </a:p>
        </p:txBody>
      </p:sp>
      <p:sp>
        <p:nvSpPr>
          <p:cNvPr id="17" name="Rectangle 16"/>
          <p:cNvSpPr/>
          <p:nvPr/>
        </p:nvSpPr>
        <p:spPr>
          <a:xfrm>
            <a:off x="7304227" y="1463040"/>
            <a:ext cx="2081174" cy="111556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04227" y="1463040"/>
            <a:ext cx="2081174" cy="50292"/>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95667" y="1645920"/>
            <a:ext cx="1898294" cy="566928"/>
          </a:xfrm>
          <a:prstGeom prst="rect">
            <a:avLst/>
          </a:prstGeom>
          <a:noFill/>
        </p:spPr>
        <p:txBody>
          <a:bodyPr wrap="square">
            <a:spAutoFit/>
          </a:bodyPr>
          <a:lstStyle/>
          <a:p>
            <a:pPr algn="ctr">
              <a:spcBef>
                <a:spcPts val="0"/>
              </a:spcBef>
              <a:spcAft>
                <a:spcPts val="0"/>
              </a:spcAft>
            </a:pPr>
            <a:r>
              <a:rPr sz="3000" b="1" i="0">
                <a:solidFill>
                  <a:srgbClr val="006D77"/>
                </a:solidFill>
                <a:latin typeface="Segoe UI"/>
              </a:rPr>
              <a:t>4</a:t>
            </a:r>
          </a:p>
        </p:txBody>
      </p:sp>
      <p:sp>
        <p:nvSpPr>
          <p:cNvPr id="20" name="TextBox 19"/>
          <p:cNvSpPr txBox="1"/>
          <p:nvPr/>
        </p:nvSpPr>
        <p:spPr>
          <a:xfrm>
            <a:off x="7377379" y="2212848"/>
            <a:ext cx="1934870" cy="384048"/>
          </a:xfrm>
          <a:prstGeom prst="rect">
            <a:avLst/>
          </a:prstGeom>
          <a:noFill/>
        </p:spPr>
        <p:txBody>
          <a:bodyPr wrap="square">
            <a:spAutoFit/>
          </a:bodyPr>
          <a:lstStyle/>
          <a:p>
            <a:pPr algn="ctr">
              <a:spcBef>
                <a:spcPts val="0"/>
              </a:spcBef>
              <a:spcAft>
                <a:spcPts val="0"/>
              </a:spcAft>
            </a:pPr>
            <a:r>
              <a:rPr sz="1050" b="0" i="0">
                <a:solidFill>
                  <a:srgbClr val="3C3C3C"/>
                </a:solidFill>
                <a:latin typeface="Segoe UI"/>
              </a:rPr>
              <a:t>Document generation
steps</a:t>
            </a:r>
          </a:p>
        </p:txBody>
      </p:sp>
      <p:sp>
        <p:nvSpPr>
          <p:cNvPr id="21" name="Rectangle 20"/>
          <p:cNvSpPr/>
          <p:nvPr/>
        </p:nvSpPr>
        <p:spPr>
          <a:xfrm>
            <a:off x="9549993" y="1463040"/>
            <a:ext cx="2081174" cy="111556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549993" y="1463040"/>
            <a:ext cx="2081174" cy="50292"/>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41433" y="1645920"/>
            <a:ext cx="1898294" cy="566928"/>
          </a:xfrm>
          <a:prstGeom prst="rect">
            <a:avLst/>
          </a:prstGeom>
          <a:noFill/>
        </p:spPr>
        <p:txBody>
          <a:bodyPr wrap="square">
            <a:spAutoFit/>
          </a:bodyPr>
          <a:lstStyle/>
          <a:p>
            <a:pPr algn="ctr">
              <a:spcBef>
                <a:spcPts val="0"/>
              </a:spcBef>
              <a:spcAft>
                <a:spcPts val="0"/>
              </a:spcAft>
            </a:pPr>
            <a:r>
              <a:rPr sz="3000" b="1" i="0">
                <a:solidFill>
                  <a:srgbClr val="006D77"/>
                </a:solidFill>
                <a:latin typeface="Segoe UI"/>
              </a:rPr>
              <a:t>39</a:t>
            </a:r>
          </a:p>
        </p:txBody>
      </p:sp>
      <p:sp>
        <p:nvSpPr>
          <p:cNvPr id="24" name="TextBox 23"/>
          <p:cNvSpPr txBox="1"/>
          <p:nvPr/>
        </p:nvSpPr>
        <p:spPr>
          <a:xfrm>
            <a:off x="9623145" y="2212848"/>
            <a:ext cx="1934870" cy="384048"/>
          </a:xfrm>
          <a:prstGeom prst="rect">
            <a:avLst/>
          </a:prstGeom>
          <a:noFill/>
        </p:spPr>
        <p:txBody>
          <a:bodyPr wrap="square">
            <a:spAutoFit/>
          </a:bodyPr>
          <a:lstStyle/>
          <a:p>
            <a:pPr algn="ctr">
              <a:spcBef>
                <a:spcPts val="0"/>
              </a:spcBef>
              <a:spcAft>
                <a:spcPts val="0"/>
              </a:spcAft>
            </a:pPr>
            <a:r>
              <a:rPr sz="1050" b="0" i="0">
                <a:solidFill>
                  <a:srgbClr val="3C3C3C"/>
                </a:solidFill>
                <a:latin typeface="Segoe UI"/>
              </a:rPr>
              <a:t>Steps fully working
today</a:t>
            </a:r>
          </a:p>
        </p:txBody>
      </p:sp>
      <p:graphicFrame>
        <p:nvGraphicFramePr>
          <p:cNvPr id="25" name="Table 24"/>
          <p:cNvGraphicFramePr>
            <a:graphicFrameLocks noGrp="1"/>
          </p:cNvGraphicFramePr>
          <p:nvPr/>
        </p:nvGraphicFramePr>
        <p:xfrm>
          <a:off x="566928" y="2880360"/>
          <a:ext cx="11064239" cy="1719072"/>
        </p:xfrm>
        <a:graphic>
          <a:graphicData uri="http://schemas.openxmlformats.org/drawingml/2006/table">
            <a:tbl>
              <a:tblPr firstRow="1" bandRow="1">
                <a:tableStyleId>{5C22544A-7EE6-4342-B048-85BDC9FD1C3A}</a:tableStyleId>
              </a:tblPr>
              <a:tblGrid>
                <a:gridCol w="2651760"/>
                <a:gridCol w="2103119"/>
                <a:gridCol w="6309360"/>
              </a:tblGrid>
              <a:tr h="347472">
                <a:tc>
                  <a:txBody>
                    <a:bodyPr wrap="square"/>
                    <a:lstStyle/>
                    <a:p>
                      <a:r>
                        <a:rPr sz="1150" b="1">
                          <a:solidFill>
                            <a:srgbClr val="FFFFFF"/>
                          </a:solidFill>
                          <a:latin typeface="Segoe UI"/>
                        </a:rPr>
                        <a:t>Requirement</a:t>
                      </a:r>
                    </a:p>
                  </a:txBody>
                  <a:tcPr anchor="ctr" marL="91440">
                    <a:solidFill>
                      <a:srgbClr val="006D77"/>
                    </a:solidFill>
                  </a:tcPr>
                </a:tc>
                <a:tc>
                  <a:txBody>
                    <a:bodyPr wrap="square"/>
                    <a:lstStyle/>
                    <a:p>
                      <a:r>
                        <a:rPr sz="1150" b="1">
                          <a:solidFill>
                            <a:srgbClr val="FFFFFF"/>
                          </a:solidFill>
                          <a:latin typeface="Segoe UI"/>
                        </a:rPr>
                        <a:t>Volume</a:t>
                      </a:r>
                    </a:p>
                  </a:txBody>
                  <a:tcPr anchor="ctr" marL="91440">
                    <a:solidFill>
                      <a:srgbClr val="006D77"/>
                    </a:solidFill>
                  </a:tcPr>
                </a:tc>
                <a:tc>
                  <a:txBody>
                    <a:bodyPr wrap="square"/>
                    <a:lstStyle/>
                    <a:p>
                      <a:r>
                        <a:rPr sz="1150" b="1">
                          <a:solidFill>
                            <a:srgbClr val="FFFFFF"/>
                          </a:solidFill>
                          <a:latin typeface="Segoe UI"/>
                        </a:rPr>
                        <a:t>Why it cannot be automated</a:t>
                      </a:r>
                    </a:p>
                  </a:txBody>
                  <a:tcPr anchor="ctr" marL="91440">
                    <a:solidFill>
                      <a:srgbClr val="006D77"/>
                    </a:solidFill>
                  </a:tcPr>
                </a:tc>
              </a:tr>
              <a:tr h="274320">
                <a:tc>
                  <a:txBody>
                    <a:bodyPr wrap="square"/>
                    <a:lstStyle/>
                    <a:p>
                      <a:r>
                        <a:rPr sz="1150" b="1">
                          <a:solidFill>
                            <a:srgbClr val="1A1A1A"/>
                          </a:solidFill>
                          <a:latin typeface="Segoe UI"/>
                        </a:rPr>
                        <a:t>Notification content</a:t>
                      </a:r>
                    </a:p>
                  </a:txBody>
                  <a:tcPr anchor="ctr" marL="91440" marT="18288" marB="18288">
                    <a:solidFill>
                      <a:srgbClr val="FFFFFF"/>
                    </a:solidFill>
                  </a:tcPr>
                </a:tc>
                <a:tc>
                  <a:txBody>
                    <a:bodyPr wrap="square"/>
                    <a:lstStyle/>
                    <a:p>
                      <a:r>
                        <a:rPr sz="1150" b="0">
                          <a:solidFill>
                            <a:srgbClr val="3C3C3C"/>
                          </a:solidFill>
                          <a:latin typeface="Segoe UI"/>
                        </a:rPr>
                        <a:t>17 steps / 27 rules</a:t>
                      </a:r>
                    </a:p>
                  </a:txBody>
                  <a:tcPr anchor="ctr" marL="91440" marT="18288" marB="18288">
                    <a:solidFill>
                      <a:srgbClr val="FFFFFF"/>
                    </a:solidFill>
                  </a:tcPr>
                </a:tc>
                <a:tc>
                  <a:txBody>
                    <a:bodyPr wrap="square"/>
                    <a:lstStyle/>
                    <a:p>
                      <a:r>
                        <a:rPr sz="1150" b="0">
                          <a:solidFill>
                            <a:srgbClr val="3C3C3C"/>
                          </a:solidFill>
                          <a:latin typeface="Segoe UI"/>
                        </a:rPr>
                        <a:t>Correspondence bodies are engine-held with no export representation</a:t>
                      </a:r>
                    </a:p>
                  </a:txBody>
                  <a:tcPr anchor="ctr" marL="91440" marT="18288" marB="18288">
                    <a:solidFill>
                      <a:srgbClr val="FFFFFF"/>
                    </a:solidFill>
                  </a:tcPr>
                </a:tc>
              </a:tr>
              <a:tr h="274320">
                <a:tc>
                  <a:txBody>
                    <a:bodyPr wrap="square"/>
                    <a:lstStyle/>
                    <a:p>
                      <a:r>
                        <a:rPr sz="1150" b="1">
                          <a:solidFill>
                            <a:srgbClr val="1A1A1A"/>
                          </a:solidFill>
                          <a:latin typeface="Segoe UI"/>
                        </a:rPr>
                        <a:t>Data transform logic</a:t>
                      </a:r>
                    </a:p>
                  </a:txBody>
                  <a:tcPr anchor="ctr" marL="91440" marT="18288" marB="18288">
                    <a:solidFill>
                      <a:srgbClr val="F4F5F7"/>
                    </a:solidFill>
                  </a:tcPr>
                </a:tc>
                <a:tc>
                  <a:txBody>
                    <a:bodyPr wrap="square"/>
                    <a:lstStyle/>
                    <a:p>
                      <a:r>
                        <a:rPr sz="1150" b="0">
                          <a:solidFill>
                            <a:srgbClr val="3C3C3C"/>
                          </a:solidFill>
                          <a:latin typeface="Segoe UI"/>
                        </a:rPr>
                        <a:t>20 steps</a:t>
                      </a:r>
                    </a:p>
                  </a:txBody>
                  <a:tcPr anchor="ctr" marL="91440" marT="18288" marB="18288">
                    <a:solidFill>
                      <a:srgbClr val="F4F5F7"/>
                    </a:solidFill>
                  </a:tcPr>
                </a:tc>
                <a:tc>
                  <a:txBody>
                    <a:bodyPr wrap="square"/>
                    <a:lstStyle/>
                    <a:p>
                      <a:r>
                        <a:rPr sz="1150" b="0">
                          <a:solidFill>
                            <a:srgbClr val="3C3C3C"/>
                          </a:solidFill>
                          <a:latin typeface="Segoe UI"/>
                        </a:rPr>
                        <a:t>Transform rules compile into the proprietary binary</a:t>
                      </a:r>
                    </a:p>
                  </a:txBody>
                  <a:tcPr anchor="ctr" marL="91440" marT="18288" marB="18288">
                    <a:solidFill>
                      <a:srgbClr val="F4F5F7"/>
                    </a:solidFill>
                  </a:tcPr>
                </a:tc>
              </a:tr>
              <a:tr h="274320">
                <a:tc>
                  <a:txBody>
                    <a:bodyPr wrap="square"/>
                    <a:lstStyle/>
                    <a:p>
                      <a:r>
                        <a:rPr sz="1150" b="1">
                          <a:solidFill>
                            <a:srgbClr val="1A1A1A"/>
                          </a:solidFill>
                          <a:latin typeface="Segoe UI"/>
                        </a:rPr>
                        <a:t>Document generation</a:t>
                      </a:r>
                    </a:p>
                  </a:txBody>
                  <a:tcPr anchor="ctr" marL="91440" marT="18288" marB="18288">
                    <a:solidFill>
                      <a:srgbClr val="FFFFFF"/>
                    </a:solidFill>
                  </a:tcPr>
                </a:tc>
                <a:tc>
                  <a:txBody>
                    <a:bodyPr wrap="square"/>
                    <a:lstStyle/>
                    <a:p>
                      <a:r>
                        <a:rPr sz="1150" b="0">
                          <a:solidFill>
                            <a:srgbClr val="3C3C3C"/>
                          </a:solidFill>
                          <a:latin typeface="Segoe UI"/>
                        </a:rPr>
                        <a:t>4 steps</a:t>
                      </a:r>
                    </a:p>
                  </a:txBody>
                  <a:tcPr anchor="ctr" marL="91440" marT="18288" marB="18288">
                    <a:solidFill>
                      <a:srgbClr val="FFFFFF"/>
                    </a:solidFill>
                  </a:tcPr>
                </a:tc>
                <a:tc>
                  <a:txBody>
                    <a:bodyPr wrap="square"/>
                    <a:lstStyle/>
                    <a:p>
                      <a:r>
                        <a:rPr sz="1150" b="0">
                          <a:solidFill>
                            <a:srgbClr val="3C3C3C"/>
                          </a:solidFill>
                          <a:latin typeface="Segoe UI"/>
                        </a:rPr>
                        <a:t>Templates and merge logic are not exposed</a:t>
                      </a:r>
                    </a:p>
                  </a:txBody>
                  <a:tcPr anchor="ctr" marL="91440" marT="18288" marB="18288">
                    <a:solidFill>
                      <a:srgbClr val="FFFFFF"/>
                    </a:solidFill>
                  </a:tcPr>
                </a:tc>
              </a:tr>
              <a:tr h="274320">
                <a:tc>
                  <a:txBody>
                    <a:bodyPr wrap="square"/>
                    <a:lstStyle/>
                    <a:p>
                      <a:r>
                        <a:rPr sz="1150" b="1">
                          <a:solidFill>
                            <a:srgbClr val="1A1A1A"/>
                          </a:solidFill>
                          <a:latin typeface="Segoe UI"/>
                        </a:rPr>
                        <a:t>Stage transition guards</a:t>
                      </a:r>
                    </a:p>
                  </a:txBody>
                  <a:tcPr anchor="ctr" marL="91440" marT="18288" marB="18288">
                    <a:solidFill>
                      <a:srgbClr val="F4F5F7"/>
                    </a:solidFill>
                  </a:tcPr>
                </a:tc>
                <a:tc>
                  <a:txBody>
                    <a:bodyPr wrap="square"/>
                    <a:lstStyle/>
                    <a:p>
                      <a:r>
                        <a:rPr sz="1150" b="0">
                          <a:solidFill>
                            <a:srgbClr val="3C3C3C"/>
                          </a:solidFill>
                          <a:latin typeface="Segoe UI"/>
                        </a:rPr>
                        <a:t>4 inferred</a:t>
                      </a:r>
                    </a:p>
                  </a:txBody>
                  <a:tcPr anchor="ctr" marL="91440" marT="18288" marB="18288">
                    <a:solidFill>
                      <a:srgbClr val="F4F5F7"/>
                    </a:solidFill>
                  </a:tcPr>
                </a:tc>
                <a:tc>
                  <a:txBody>
                    <a:bodyPr wrap="square"/>
                    <a:lstStyle/>
                    <a:p>
                      <a:r>
                        <a:rPr sz="1150" b="0">
                          <a:solidFill>
                            <a:srgbClr val="3C3C3C"/>
                          </a:solidFill>
                          <a:latin typeface="Segoe UI"/>
                        </a:rPr>
                        <a:t>when conditions live inside compiled flow rules</a:t>
                      </a:r>
                    </a:p>
                  </a:txBody>
                  <a:tcPr anchor="ctr" marL="91440" marT="18288" marB="18288">
                    <a:solidFill>
                      <a:srgbClr val="F4F5F7"/>
                    </a:solidFill>
                  </a:tcPr>
                </a:tc>
              </a:tr>
              <a:tr h="274320">
                <a:tc>
                  <a:txBody>
                    <a:bodyPr wrap="square"/>
                    <a:lstStyle/>
                    <a:p>
                      <a:r>
                        <a:rPr sz="1150" b="1">
                          <a:solidFill>
                            <a:srgbClr val="1A1A1A"/>
                          </a:solidFill>
                          <a:latin typeface="Segoe UI"/>
                        </a:rPr>
                        <a:t>Security enforcement</a:t>
                      </a:r>
                    </a:p>
                  </a:txBody>
                  <a:tcPr anchor="ctr" marL="91440" marT="18288" marB="18288">
                    <a:solidFill>
                      <a:srgbClr val="FFFFFF"/>
                    </a:solidFill>
                  </a:tcPr>
                </a:tc>
                <a:tc>
                  <a:txBody>
                    <a:bodyPr wrap="square"/>
                    <a:lstStyle/>
                    <a:p>
                      <a:r>
                        <a:rPr sz="1150" b="0">
                          <a:solidFill>
                            <a:srgbClr val="3C3C3C"/>
                          </a:solidFill>
                          <a:latin typeface="Segoe UI"/>
                        </a:rPr>
                        <a:t>19 roles / 30 grants / 18 workbaskets</a:t>
                      </a:r>
                    </a:p>
                  </a:txBody>
                  <a:tcPr anchor="ctr" marL="91440" marT="18288" marB="18288">
                    <a:solidFill>
                      <a:srgbClr val="FFFFFF"/>
                    </a:solidFill>
                  </a:tcPr>
                </a:tc>
                <a:tc>
                  <a:txBody>
                    <a:bodyPr wrap="square"/>
                    <a:lstStyle/>
                    <a:p>
                      <a:r>
                        <a:rPr sz="1150" b="0">
                          <a:solidFill>
                            <a:srgbClr val="3C3C3C"/>
                          </a:solidFill>
                          <a:latin typeface="Segoe UI"/>
                        </a:rPr>
                        <a:t>Pega and Dataverse security models differ structurally</a:t>
                      </a:r>
                    </a:p>
                  </a:txBody>
                  <a:tcPr anchor="ctr" marL="91440" marT="18288" marB="18288">
                    <a:solidFill>
                      <a:srgbClr val="FFFFFF"/>
                    </a:solidFill>
                  </a:tcPr>
                </a:tc>
              </a:tr>
            </a:tbl>
          </a:graphicData>
        </a:graphic>
      </p:graphicFrame>
      <p:sp>
        <p:nvSpPr>
          <p:cNvPr id="26" name="Rectangle 25"/>
          <p:cNvSpPr/>
          <p:nvPr/>
        </p:nvSpPr>
        <p:spPr>
          <a:xfrm>
            <a:off x="566928" y="5058156"/>
            <a:ext cx="11064240" cy="65836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5058156"/>
            <a:ext cx="54864" cy="658368"/>
          </a:xfrm>
          <a:prstGeom prst="rect">
            <a:avLst/>
          </a:prstGeom>
          <a:solidFill>
            <a:srgbClr val="B5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6384" y="5149596"/>
            <a:ext cx="10652760" cy="493776"/>
          </a:xfrm>
          <a:prstGeom prst="rect">
            <a:avLst/>
          </a:prstGeom>
          <a:noFill/>
        </p:spPr>
        <p:txBody>
          <a:bodyPr wrap="square">
            <a:spAutoFit/>
          </a:bodyPr>
          <a:lstStyle/>
          <a:p>
            <a:pPr algn="l">
              <a:spcBef>
                <a:spcPts val="0"/>
              </a:spcBef>
              <a:spcAft>
                <a:spcPts val="0"/>
              </a:spcAft>
            </a:pPr>
            <a:r>
              <a:rPr sz="1250" b="0" i="0">
                <a:solidFill>
                  <a:srgbClr val="1A1A1A"/>
                </a:solidFill>
                <a:latin typeface="Segoe UI"/>
              </a:rPr>
              <a:t>This 51% is the number to plan against. It is not a tooling shortfall - no migration approach can extract what the platform does not expose.</a:t>
            </a:r>
          </a:p>
        </p:txBody>
      </p:sp>
      <p:sp>
        <p:nvSpPr>
          <p:cNvPr id="29" name="TextBox 28"/>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0515600" cy="274320"/>
          </a:xfrm>
          <a:prstGeom prst="rect">
            <a:avLst/>
          </a:prstGeom>
          <a:noFill/>
        </p:spPr>
        <p:txBody>
          <a:bodyPr wrap="square">
            <a:spAutoFit/>
          </a:bodyPr>
          <a:lstStyle/>
          <a:p>
            <a:pPr algn="l">
              <a:spcBef>
                <a:spcPts val="0"/>
              </a:spcBef>
              <a:spcAft>
                <a:spcPts val="0"/>
              </a:spcAft>
            </a:pPr>
            <a:r>
              <a:rPr sz="1050" b="1" i="0">
                <a:solidFill>
                  <a:srgbClr val="006D77"/>
                </a:solidFill>
                <a:latin typeface="Segoe UI"/>
              </a:rPr>
              <a:t>MIGRATION FINDINGS</a:t>
            </a:r>
          </a:p>
        </p:txBody>
      </p:sp>
      <p:sp>
        <p:nvSpPr>
          <p:cNvPr id="4" name="TextBox 3"/>
          <p:cNvSpPr txBox="1"/>
          <p:nvPr/>
        </p:nvSpPr>
        <p:spPr>
          <a:xfrm>
            <a:off x="566928" y="530352"/>
            <a:ext cx="11064240" cy="685800"/>
          </a:xfrm>
          <a:prstGeom prst="rect">
            <a:avLst/>
          </a:prstGeom>
          <a:noFill/>
        </p:spPr>
        <p:txBody>
          <a:bodyPr wrap="square">
            <a:spAutoFit/>
          </a:bodyPr>
          <a:lstStyle/>
          <a:p>
            <a:pPr algn="l">
              <a:spcBef>
                <a:spcPts val="0"/>
              </a:spcBef>
              <a:spcAft>
                <a:spcPts val="0"/>
              </a:spcAft>
            </a:pPr>
            <a:r>
              <a:rPr sz="2700" b="1" i="0">
                <a:solidFill>
                  <a:srgbClr val="1A1A1A"/>
                </a:solidFill>
                <a:latin typeface="Segoe UI"/>
              </a:rPr>
              <a:t>Technical challenges encountered</a:t>
            </a:r>
          </a:p>
        </p:txBody>
      </p:sp>
      <p:sp>
        <p:nvSpPr>
          <p:cNvPr id="5" name="TextBox 4"/>
          <p:cNvSpPr txBox="1"/>
          <p:nvPr/>
        </p:nvSpPr>
        <p:spPr>
          <a:xfrm>
            <a:off x="566928" y="1417320"/>
            <a:ext cx="11064240" cy="3219450"/>
          </a:xfrm>
          <a:prstGeom prst="rect">
            <a:avLst/>
          </a:prstGeom>
          <a:noFill/>
        </p:spPr>
        <p:txBody>
          <a:bodyPr wrap="square">
            <a:spAutoFit/>
          </a:bodyPr>
          <a:lstStyle/>
          <a:p>
            <a:pPr algn="l">
              <a:spcBef>
                <a:spcPts val="0"/>
              </a:spcBef>
              <a:spcAft>
                <a:spcPts val="600"/>
              </a:spcAft>
            </a:pPr>
            <a:r>
              <a:rPr sz="1250" b="1" i="0">
                <a:solidFill>
                  <a:srgbClr val="1A1A1A"/>
                </a:solidFill>
                <a:latin typeface="Segoe UI"/>
              </a:rPr>
              <a:t>1.  Infinite rework loops - resolved</a:t>
            </a:r>
          </a:p>
          <a:p>
            <a:pPr algn="l">
              <a:spcBef>
                <a:spcPts val="0"/>
              </a:spcBef>
              <a:spcAft>
                <a:spcPts val="600"/>
              </a:spcAft>
            </a:pPr>
            <a:r>
              <a:rPr sz="1250" b="0" i="0">
                <a:solidFill>
                  <a:srgbClr val="1A1A1A"/>
                </a:solidFill>
                <a:latin typeface="Segoe UI"/>
              </a:rPr>
              <a:t>•  Two case types looped indefinitely. Backward stage-change steps in resolution stages fired unconditionally because their guarding when conditions are not in the export. Resolved with two layers: guards inferred from the preceding decision table's non-terminal results, plus a hard stage re-visit cap that guarantees termination regardless.</a:t>
            </a:r>
          </a:p>
          <a:p>
            <a:pPr algn="l">
              <a:spcBef>
                <a:spcPts val="800"/>
              </a:spcBef>
              <a:spcAft>
                <a:spcPts val="600"/>
              </a:spcAft>
            </a:pPr>
            <a:r>
              <a:rPr sz="1250" b="1" i="0">
                <a:solidFill>
                  <a:srgbClr val="1A1A1A"/>
                </a:solidFill>
                <a:latin typeface="Segoe UI"/>
              </a:rPr>
              <a:t>2.  Extraction fidelity is silent - resolved</a:t>
            </a:r>
          </a:p>
          <a:p>
            <a:pPr algn="l">
              <a:spcBef>
                <a:spcPts val="0"/>
              </a:spcBef>
              <a:spcAft>
                <a:spcPts val="600"/>
              </a:spcAft>
            </a:pPr>
            <a:r>
              <a:rPr sz="1250" b="0" i="0">
                <a:solidFill>
                  <a:srgbClr val="1A1A1A"/>
                </a:solidFill>
                <a:latin typeface="Segoe UI"/>
              </a:rPr>
              <a:t>•  A low-fidelity extraction produces a structurally valid model with zero views and choice sets. Seeding it would have wiped the metadata the forms render from, presenting as a UI bug. The loader now refuses such a config.</a:t>
            </a:r>
          </a:p>
          <a:p>
            <a:pPr algn="l">
              <a:spcBef>
                <a:spcPts val="800"/>
              </a:spcBef>
              <a:spcAft>
                <a:spcPts val="600"/>
              </a:spcAft>
            </a:pPr>
            <a:r>
              <a:rPr sz="1250" b="1" i="0">
                <a:solidFill>
                  <a:srgbClr val="1A1A1A"/>
                </a:solidFill>
                <a:latin typeface="Segoe UI"/>
              </a:rPr>
              <a:t>3.  Lookup controls initially missed - resolved</a:t>
            </a:r>
          </a:p>
          <a:p>
            <a:pPr algn="l">
              <a:spcBef>
                <a:spcPts val="0"/>
              </a:spcBef>
              <a:spcAft>
                <a:spcPts val="600"/>
              </a:spcAft>
            </a:pPr>
            <a:r>
              <a:rPr sz="1250" b="0" i="0">
                <a:solidFill>
                  <a:srgbClr val="1A1A1A"/>
                </a:solidFill>
                <a:latin typeface="Segoe UI"/>
              </a:rPr>
              <a:t>•  Pega encodes lookups as ObjectReference with a nested component type. Missing this initially lost 5 of 24 views.</a:t>
            </a:r>
          </a:p>
          <a:p>
            <a:pPr algn="l">
              <a:spcBef>
                <a:spcPts val="800"/>
              </a:spcBef>
              <a:spcAft>
                <a:spcPts val="600"/>
              </a:spcAft>
            </a:pPr>
            <a:r>
              <a:rPr sz="1250" b="1" i="0">
                <a:solidFill>
                  <a:srgbClr val="1A1A1A"/>
                </a:solidFill>
                <a:latin typeface="Segoe UI"/>
              </a:rPr>
              <a:t>4.  Date handling - resolved</a:t>
            </a:r>
          </a:p>
          <a:p>
            <a:pPr algn="l">
              <a:spcBef>
                <a:spcPts val="0"/>
              </a:spcBef>
              <a:spcAft>
                <a:spcPts val="600"/>
              </a:spcAft>
            </a:pPr>
            <a:r>
              <a:rPr sz="1250" b="0" i="0">
                <a:solidFill>
                  <a:srgbClr val="1A1A1A"/>
                </a:solidFill>
                <a:latin typeface="Segoe UI"/>
              </a:rPr>
              <a:t>•  Dataverse DateOnly columns shifted by a day under timezone conversion.</a:t>
            </a:r>
          </a:p>
        </p:txBody>
      </p:sp>
      <p:sp>
        <p:nvSpPr>
          <p:cNvPr id="6" name="Rectangle 5"/>
          <p:cNvSpPr/>
          <p:nvPr/>
        </p:nvSpPr>
        <p:spPr>
          <a:xfrm>
            <a:off x="566928" y="4911090"/>
            <a:ext cx="11064240" cy="65836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4911090"/>
            <a:ext cx="54864" cy="658368"/>
          </a:xfrm>
          <a:prstGeom prst="rect">
            <a:avLst/>
          </a:prstGeom>
          <a:solidFill>
            <a:srgbClr val="1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5002530"/>
            <a:ext cx="10652760" cy="493776"/>
          </a:xfrm>
          <a:prstGeom prst="rect">
            <a:avLst/>
          </a:prstGeom>
          <a:noFill/>
        </p:spPr>
        <p:txBody>
          <a:bodyPr wrap="square">
            <a:spAutoFit/>
          </a:bodyPr>
          <a:lstStyle/>
          <a:p>
            <a:pPr algn="l">
              <a:spcBef>
                <a:spcPts val="0"/>
              </a:spcBef>
              <a:spcAft>
                <a:spcPts val="0"/>
              </a:spcAft>
            </a:pPr>
            <a:r>
              <a:rPr sz="1250" b="0" i="0">
                <a:solidFill>
                  <a:srgbClr val="1A1A1A"/>
                </a:solidFill>
                <a:latin typeface="Segoe UI"/>
              </a:rPr>
              <a:t>All four were found by automated verification rather than by manual testing - which is the argument for building the harness first.</a:t>
            </a:r>
          </a:p>
        </p:txBody>
      </p:sp>
      <p:sp>
        <p:nvSpPr>
          <p:cNvPr id="9" name="TextBox 8"/>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0515600" cy="274320"/>
          </a:xfrm>
          <a:prstGeom prst="rect">
            <a:avLst/>
          </a:prstGeom>
          <a:noFill/>
        </p:spPr>
        <p:txBody>
          <a:bodyPr wrap="square">
            <a:spAutoFit/>
          </a:bodyPr>
          <a:lstStyle/>
          <a:p>
            <a:pPr algn="l">
              <a:spcBef>
                <a:spcPts val="0"/>
              </a:spcBef>
              <a:spcAft>
                <a:spcPts val="0"/>
              </a:spcAft>
            </a:pPr>
            <a:r>
              <a:rPr sz="1050" b="1" i="0">
                <a:solidFill>
                  <a:srgbClr val="006D77"/>
                </a:solidFill>
                <a:latin typeface="Segoe UI"/>
              </a:rPr>
              <a:t>MIGRATION FINDINGS</a:t>
            </a:r>
          </a:p>
        </p:txBody>
      </p:sp>
      <p:sp>
        <p:nvSpPr>
          <p:cNvPr id="4" name="TextBox 3"/>
          <p:cNvSpPr txBox="1"/>
          <p:nvPr/>
        </p:nvSpPr>
        <p:spPr>
          <a:xfrm>
            <a:off x="566928" y="530352"/>
            <a:ext cx="11064240" cy="685800"/>
          </a:xfrm>
          <a:prstGeom prst="rect">
            <a:avLst/>
          </a:prstGeom>
          <a:noFill/>
        </p:spPr>
        <p:txBody>
          <a:bodyPr wrap="square">
            <a:spAutoFit/>
          </a:bodyPr>
          <a:lstStyle/>
          <a:p>
            <a:pPr algn="l">
              <a:spcBef>
                <a:spcPts val="0"/>
              </a:spcBef>
              <a:spcAft>
                <a:spcPts val="0"/>
              </a:spcAft>
            </a:pPr>
            <a:r>
              <a:rPr sz="2700" b="1" i="0">
                <a:solidFill>
                  <a:srgbClr val="1A1A1A"/>
                </a:solidFill>
                <a:latin typeface="Segoe UI"/>
              </a:rPr>
              <a:t>Automation opportunities</a:t>
            </a:r>
          </a:p>
        </p:txBody>
      </p:sp>
      <p:graphicFrame>
        <p:nvGraphicFramePr>
          <p:cNvPr id="5" name="Table 4"/>
          <p:cNvGraphicFramePr>
            <a:graphicFrameLocks noGrp="1"/>
          </p:cNvGraphicFramePr>
          <p:nvPr/>
        </p:nvGraphicFramePr>
        <p:xfrm>
          <a:off x="566928" y="1554480"/>
          <a:ext cx="11064239" cy="2542032"/>
        </p:xfrm>
        <a:graphic>
          <a:graphicData uri="http://schemas.openxmlformats.org/drawingml/2006/table">
            <a:tbl>
              <a:tblPr firstRow="1" bandRow="1">
                <a:tableStyleId>{5C22544A-7EE6-4342-B048-85BDC9FD1C3A}</a:tableStyleId>
              </a:tblPr>
              <a:tblGrid>
                <a:gridCol w="2926080"/>
                <a:gridCol w="4206239"/>
                <a:gridCol w="3931920"/>
              </a:tblGrid>
              <a:tr h="347472">
                <a:tc>
                  <a:txBody>
                    <a:bodyPr wrap="square"/>
                    <a:lstStyle/>
                    <a:p>
                      <a:r>
                        <a:rPr sz="1150" b="1">
                          <a:solidFill>
                            <a:srgbClr val="FFFFFF"/>
                          </a:solidFill>
                          <a:latin typeface="Segoe UI"/>
                        </a:rPr>
                        <a:t>Opportunity</a:t>
                      </a:r>
                    </a:p>
                  </a:txBody>
                  <a:tcPr anchor="ctr" marL="91440">
                    <a:solidFill>
                      <a:srgbClr val="006D77"/>
                    </a:solidFill>
                  </a:tcPr>
                </a:tc>
                <a:tc>
                  <a:txBody>
                    <a:bodyPr wrap="square"/>
                    <a:lstStyle/>
                    <a:p>
                      <a:r>
                        <a:rPr sz="1150" b="1">
                          <a:solidFill>
                            <a:srgbClr val="FFFFFF"/>
                          </a:solidFill>
                          <a:latin typeface="Segoe UI"/>
                        </a:rPr>
                        <a:t>Current state</a:t>
                      </a:r>
                    </a:p>
                  </a:txBody>
                  <a:tcPr anchor="ctr" marL="91440">
                    <a:solidFill>
                      <a:srgbClr val="006D77"/>
                    </a:solidFill>
                  </a:tcPr>
                </a:tc>
                <a:tc>
                  <a:txBody>
                    <a:bodyPr wrap="square"/>
                    <a:lstStyle/>
                    <a:p>
                      <a:r>
                        <a:rPr sz="1150" b="1">
                          <a:solidFill>
                            <a:srgbClr val="FFFFFF"/>
                          </a:solidFill>
                          <a:latin typeface="Segoe UI"/>
                        </a:rPr>
                        <a:t>Potential</a:t>
                      </a:r>
                    </a:p>
                  </a:txBody>
                  <a:tcPr anchor="ctr" marL="91440">
                    <a:solidFill>
                      <a:srgbClr val="006D77"/>
                    </a:solidFill>
                  </a:tcPr>
                </a:tc>
              </a:tr>
              <a:tr h="274320">
                <a:tc>
                  <a:txBody>
                    <a:bodyPr wrap="square"/>
                    <a:lstStyle/>
                    <a:p>
                      <a:r>
                        <a:rPr sz="1150" b="1">
                          <a:solidFill>
                            <a:srgbClr val="1A1A1A"/>
                          </a:solidFill>
                          <a:latin typeface="Segoe UI"/>
                        </a:rPr>
                        <a:t>Extract and seed pipeline</a:t>
                      </a:r>
                    </a:p>
                  </a:txBody>
                  <a:tcPr anchor="ctr" marL="91440" marT="18288" marB="18288">
                    <a:solidFill>
                      <a:srgbClr val="FFFFFF"/>
                    </a:solidFill>
                  </a:tcPr>
                </a:tc>
                <a:tc>
                  <a:txBody>
                    <a:bodyPr wrap="square"/>
                    <a:lstStyle/>
                    <a:p>
                      <a:r>
                        <a:rPr sz="1150" b="0">
                          <a:solidFill>
                            <a:srgbClr val="3C3C3C"/>
                          </a:solidFill>
                          <a:latin typeface="Segoe UI"/>
                        </a:rPr>
                        <a:t>Built and application-agnostic</a:t>
                      </a:r>
                    </a:p>
                  </a:txBody>
                  <a:tcPr anchor="ctr" marL="91440" marT="18288" marB="18288">
                    <a:solidFill>
                      <a:srgbClr val="FFFFFF"/>
                    </a:solidFill>
                  </a:tcPr>
                </a:tc>
                <a:tc>
                  <a:txBody>
                    <a:bodyPr wrap="square"/>
                    <a:lstStyle/>
                    <a:p>
                      <a:r>
                        <a:rPr sz="1150" b="1">
                          <a:solidFill>
                            <a:srgbClr val="1A1A1A"/>
                          </a:solidFill>
                          <a:latin typeface="Segoe UI"/>
                        </a:rPr>
                        <a:t>Reusable as-is on the next application</a:t>
                      </a:r>
                    </a:p>
                  </a:txBody>
                  <a:tcPr anchor="ctr" marL="91440" marT="18288" marB="18288">
                    <a:solidFill>
                      <a:srgbClr val="FFFFFF"/>
                    </a:solidFill>
                  </a:tcPr>
                </a:tc>
              </a:tr>
              <a:tr h="274320">
                <a:tc>
                  <a:txBody>
                    <a:bodyPr wrap="square"/>
                    <a:lstStyle/>
                    <a:p>
                      <a:r>
                        <a:rPr sz="1150" b="1">
                          <a:solidFill>
                            <a:srgbClr val="1A1A1A"/>
                          </a:solidFill>
                          <a:latin typeface="Segoe UI"/>
                        </a:rPr>
                        <a:t>Dynamic form rendering</a:t>
                      </a:r>
                    </a:p>
                  </a:txBody>
                  <a:tcPr anchor="ctr" marL="91440" marT="18288" marB="18288">
                    <a:solidFill>
                      <a:srgbClr val="F4F5F7"/>
                    </a:solidFill>
                  </a:tcPr>
                </a:tc>
                <a:tc>
                  <a:txBody>
                    <a:bodyPr wrap="square"/>
                    <a:lstStyle/>
                    <a:p>
                      <a:r>
                        <a:rPr sz="1150" b="0">
                          <a:solidFill>
                            <a:srgbClr val="3C3C3C"/>
                          </a:solidFill>
                          <a:latin typeface="Segoe UI"/>
                        </a:rPr>
                        <a:t>Built - forms render from metadata</a:t>
                      </a:r>
                    </a:p>
                  </a:txBody>
                  <a:tcPr anchor="ctr" marL="91440" marT="18288" marB="18288">
                    <a:solidFill>
                      <a:srgbClr val="F4F5F7"/>
                    </a:solidFill>
                  </a:tcPr>
                </a:tc>
                <a:tc>
                  <a:txBody>
                    <a:bodyPr wrap="square"/>
                    <a:lstStyle/>
                    <a:p>
                      <a:r>
                        <a:rPr sz="1150" b="1">
                          <a:solidFill>
                            <a:srgbClr val="1A1A1A"/>
                          </a:solidFill>
                          <a:latin typeface="Segoe UI"/>
                        </a:rPr>
                        <a:t>Reusable as-is</a:t>
                      </a:r>
                    </a:p>
                  </a:txBody>
                  <a:tcPr anchor="ctr" marL="91440" marT="18288" marB="18288">
                    <a:solidFill>
                      <a:srgbClr val="F4F5F7"/>
                    </a:solidFill>
                  </a:tcPr>
                </a:tc>
              </a:tr>
              <a:tr h="274320">
                <a:tc>
                  <a:txBody>
                    <a:bodyPr wrap="square"/>
                    <a:lstStyle/>
                    <a:p>
                      <a:r>
                        <a:rPr sz="1150" b="1">
                          <a:solidFill>
                            <a:srgbClr val="1A1A1A"/>
                          </a:solidFill>
                          <a:latin typeface="Segoe UI"/>
                        </a:rPr>
                        <a:t>Case engine</a:t>
                      </a:r>
                    </a:p>
                  </a:txBody>
                  <a:tcPr anchor="ctr" marL="91440" marT="18288" marB="18288">
                    <a:solidFill>
                      <a:srgbClr val="FFFFFF"/>
                    </a:solidFill>
                  </a:tcPr>
                </a:tc>
                <a:tc>
                  <a:txBody>
                    <a:bodyPr wrap="square"/>
                    <a:lstStyle/>
                    <a:p>
                      <a:r>
                        <a:rPr sz="1150" b="0">
                          <a:solidFill>
                            <a:srgbClr val="3C3C3C"/>
                          </a:solidFill>
                          <a:latin typeface="Segoe UI"/>
                        </a:rPr>
                        <a:t>Built - pure and configuration-driven</a:t>
                      </a:r>
                    </a:p>
                  </a:txBody>
                  <a:tcPr anchor="ctr" marL="91440" marT="18288" marB="18288">
                    <a:solidFill>
                      <a:srgbClr val="FFFFFF"/>
                    </a:solidFill>
                  </a:tcPr>
                </a:tc>
                <a:tc>
                  <a:txBody>
                    <a:bodyPr wrap="square"/>
                    <a:lstStyle/>
                    <a:p>
                      <a:r>
                        <a:rPr sz="1150" b="1">
                          <a:solidFill>
                            <a:srgbClr val="1A1A1A"/>
                          </a:solidFill>
                          <a:latin typeface="Segoe UI"/>
                        </a:rPr>
                        <a:t>Reusable as-is</a:t>
                      </a:r>
                    </a:p>
                  </a:txBody>
                  <a:tcPr anchor="ctr" marL="91440" marT="18288" marB="18288">
                    <a:solidFill>
                      <a:srgbClr val="FFFFFF"/>
                    </a:solidFill>
                  </a:tcPr>
                </a:tc>
              </a:tr>
              <a:tr h="274320">
                <a:tc>
                  <a:txBody>
                    <a:bodyPr wrap="square"/>
                    <a:lstStyle/>
                    <a:p>
                      <a:r>
                        <a:rPr sz="1150" b="1">
                          <a:solidFill>
                            <a:srgbClr val="1A1A1A"/>
                          </a:solidFill>
                          <a:latin typeface="Segoe UI"/>
                        </a:rPr>
                        <a:t>Verification harness</a:t>
                      </a:r>
                    </a:p>
                  </a:txBody>
                  <a:tcPr anchor="ctr" marL="91440" marT="18288" marB="18288">
                    <a:solidFill>
                      <a:srgbClr val="F4F5F7"/>
                    </a:solidFill>
                  </a:tcPr>
                </a:tc>
                <a:tc>
                  <a:txBody>
                    <a:bodyPr wrap="square"/>
                    <a:lstStyle/>
                    <a:p>
                      <a:r>
                        <a:rPr sz="1150" b="0">
                          <a:solidFill>
                            <a:srgbClr val="3C3C3C"/>
                          </a:solidFill>
                          <a:latin typeface="Segoe UI"/>
                        </a:rPr>
                        <a:t>Built - 49 checks</a:t>
                      </a:r>
                    </a:p>
                  </a:txBody>
                  <a:tcPr anchor="ctr" marL="91440" marT="18288" marB="18288">
                    <a:solidFill>
                      <a:srgbClr val="F4F5F7"/>
                    </a:solidFill>
                  </a:tcPr>
                </a:tc>
                <a:tc>
                  <a:txBody>
                    <a:bodyPr wrap="square"/>
                    <a:lstStyle/>
                    <a:p>
                      <a:r>
                        <a:rPr sz="1150" b="1">
                          <a:solidFill>
                            <a:srgbClr val="1A1A1A"/>
                          </a:solidFill>
                          <a:latin typeface="Segoe UI"/>
                        </a:rPr>
                        <a:t>Extend per application</a:t>
                      </a:r>
                    </a:p>
                  </a:txBody>
                  <a:tcPr anchor="ctr" marL="91440" marT="18288" marB="18288">
                    <a:solidFill>
                      <a:srgbClr val="F4F5F7"/>
                    </a:solidFill>
                  </a:tcPr>
                </a:tc>
              </a:tr>
              <a:tr h="274320">
                <a:tc>
                  <a:txBody>
                    <a:bodyPr wrap="square"/>
                    <a:lstStyle/>
                    <a:p>
                      <a:r>
                        <a:rPr sz="1150" b="1">
                          <a:solidFill>
                            <a:srgbClr val="1A1A1A"/>
                          </a:solidFill>
                          <a:latin typeface="Segoe UI"/>
                        </a:rPr>
                        <a:t>Guard inference</a:t>
                      </a:r>
                    </a:p>
                  </a:txBody>
                  <a:tcPr anchor="ctr" marL="91440" marT="18288" marB="18288">
                    <a:solidFill>
                      <a:srgbClr val="FFFFFF"/>
                    </a:solidFill>
                  </a:tcPr>
                </a:tc>
                <a:tc>
                  <a:txBody>
                    <a:bodyPr wrap="square"/>
                    <a:lstStyle/>
                    <a:p>
                      <a:r>
                        <a:rPr sz="1150" b="0">
                          <a:solidFill>
                            <a:srgbClr val="3C3C3C"/>
                          </a:solidFill>
                          <a:latin typeface="Segoe UI"/>
                        </a:rPr>
                        <a:t>Heuristic from decision results</a:t>
                      </a:r>
                    </a:p>
                  </a:txBody>
                  <a:tcPr anchor="ctr" marL="91440" marT="18288" marB="18288">
                    <a:solidFill>
                      <a:srgbClr val="FFFFFF"/>
                    </a:solidFill>
                  </a:tcPr>
                </a:tc>
                <a:tc>
                  <a:txBody>
                    <a:bodyPr wrap="square"/>
                    <a:lstStyle/>
                    <a:p>
                      <a:r>
                        <a:rPr sz="1150" b="0">
                          <a:solidFill>
                            <a:srgbClr val="3C3C3C"/>
                          </a:solidFill>
                          <a:latin typeface="Segoe UI"/>
                        </a:rPr>
                        <a:t>Improve with Dev Studio extraction</a:t>
                      </a:r>
                    </a:p>
                  </a:txBody>
                  <a:tcPr anchor="ctr" marL="91440" marT="18288" marB="18288">
                    <a:solidFill>
                      <a:srgbClr val="FFFFFF"/>
                    </a:solidFill>
                  </a:tcPr>
                </a:tc>
              </a:tr>
              <a:tr h="274320">
                <a:tc>
                  <a:txBody>
                    <a:bodyPr wrap="square"/>
                    <a:lstStyle/>
                    <a:p>
                      <a:r>
                        <a:rPr sz="1150" b="1">
                          <a:solidFill>
                            <a:srgbClr val="1A1A1A"/>
                          </a:solidFill>
                          <a:latin typeface="Segoe UI"/>
                        </a:rPr>
                        <a:t>Notification scaffolding</a:t>
                      </a:r>
                    </a:p>
                  </a:txBody>
                  <a:tcPr anchor="ctr" marL="91440" marT="18288" marB="18288">
                    <a:solidFill>
                      <a:srgbClr val="F4F5F7"/>
                    </a:solidFill>
                  </a:tcPr>
                </a:tc>
                <a:tc>
                  <a:txBody>
                    <a:bodyPr wrap="square"/>
                    <a:lstStyle/>
                    <a:p>
                      <a:r>
                        <a:rPr sz="1150" b="0">
                          <a:solidFill>
                            <a:srgbClr val="3C3C3C"/>
                          </a:solidFill>
                          <a:latin typeface="Segoe UI"/>
                        </a:rPr>
                        <a:t>Manual today</a:t>
                      </a:r>
                    </a:p>
                  </a:txBody>
                  <a:tcPr anchor="ctr" marL="91440" marT="18288" marB="18288">
                    <a:solidFill>
                      <a:srgbClr val="F4F5F7"/>
                    </a:solidFill>
                  </a:tcPr>
                </a:tc>
                <a:tc>
                  <a:txBody>
                    <a:bodyPr wrap="square"/>
                    <a:lstStyle/>
                    <a:p>
                      <a:r>
                        <a:rPr sz="1150" b="0">
                          <a:solidFill>
                            <a:srgbClr val="3C3C3C"/>
                          </a:solidFill>
                          <a:latin typeface="Segoe UI"/>
                        </a:rPr>
                        <a:t>Generate flow skeletons from step metadata</a:t>
                      </a:r>
                    </a:p>
                  </a:txBody>
                  <a:tcPr anchor="ctr" marL="91440" marT="18288" marB="18288">
                    <a:solidFill>
                      <a:srgbClr val="F4F5F7"/>
                    </a:solidFill>
                  </a:tcPr>
                </a:tc>
              </a:tr>
              <a:tr h="274320">
                <a:tc>
                  <a:txBody>
                    <a:bodyPr wrap="square"/>
                    <a:lstStyle/>
                    <a:p>
                      <a:r>
                        <a:rPr sz="1150" b="1">
                          <a:solidFill>
                            <a:srgbClr val="1A1A1A"/>
                          </a:solidFill>
                          <a:latin typeface="Segoe UI"/>
                        </a:rPr>
                        <a:t>Data transform scaffolding</a:t>
                      </a:r>
                    </a:p>
                  </a:txBody>
                  <a:tcPr anchor="ctr" marL="91440" marT="18288" marB="18288">
                    <a:solidFill>
                      <a:srgbClr val="FFFFFF"/>
                    </a:solidFill>
                  </a:tcPr>
                </a:tc>
                <a:tc>
                  <a:txBody>
                    <a:bodyPr wrap="square"/>
                    <a:lstStyle/>
                    <a:p>
                      <a:r>
                        <a:rPr sz="1150" b="0">
                          <a:solidFill>
                            <a:srgbClr val="3C3C3C"/>
                          </a:solidFill>
                          <a:latin typeface="Segoe UI"/>
                        </a:rPr>
                        <a:t>Manual today</a:t>
                      </a:r>
                    </a:p>
                  </a:txBody>
                  <a:tcPr anchor="ctr" marL="91440" marT="18288" marB="18288">
                    <a:solidFill>
                      <a:srgbClr val="FFFFFF"/>
                    </a:solidFill>
                  </a:tcPr>
                </a:tc>
                <a:tc>
                  <a:txBody>
                    <a:bodyPr wrap="square"/>
                    <a:lstStyle/>
                    <a:p>
                      <a:r>
                        <a:rPr sz="1150" b="0">
                          <a:solidFill>
                            <a:srgbClr val="3C3C3C"/>
                          </a:solidFill>
                          <a:latin typeface="Segoe UI"/>
                        </a:rPr>
                        <a:t>Generate typed stubs from property metadata</a:t>
                      </a:r>
                    </a:p>
                  </a:txBody>
                  <a:tcPr anchor="ctr" marL="91440" marT="18288" marB="18288">
                    <a:solidFill>
                      <a:srgbClr val="FFFFFF"/>
                    </a:solidFill>
                  </a:tcPr>
                </a:tc>
              </a:tr>
              <a:tr h="274320">
                <a:tc>
                  <a:txBody>
                    <a:bodyPr wrap="square"/>
                    <a:lstStyle/>
                    <a:p>
                      <a:r>
                        <a:rPr sz="1150" b="1">
                          <a:solidFill>
                            <a:srgbClr val="1A1A1A"/>
                          </a:solidFill>
                          <a:latin typeface="Segoe UI"/>
                        </a:rPr>
                        <a:t>Security mapping</a:t>
                      </a:r>
                    </a:p>
                  </a:txBody>
                  <a:tcPr anchor="ctr" marL="91440" marT="18288" marB="18288">
                    <a:solidFill>
                      <a:srgbClr val="F4F5F7"/>
                    </a:solidFill>
                  </a:tcPr>
                </a:tc>
                <a:tc>
                  <a:txBody>
                    <a:bodyPr wrap="square"/>
                    <a:lstStyle/>
                    <a:p>
                      <a:r>
                        <a:rPr sz="1150" b="0">
                          <a:solidFill>
                            <a:srgbClr val="3C3C3C"/>
                          </a:solidFill>
                          <a:latin typeface="Segoe UI"/>
                        </a:rPr>
                        <a:t>Manual today</a:t>
                      </a:r>
                    </a:p>
                  </a:txBody>
                  <a:tcPr anchor="ctr" marL="91440" marT="18288" marB="18288">
                    <a:solidFill>
                      <a:srgbClr val="F4F5F7"/>
                    </a:solidFill>
                  </a:tcPr>
                </a:tc>
                <a:tc>
                  <a:txBody>
                    <a:bodyPr wrap="square"/>
                    <a:lstStyle/>
                    <a:p>
                      <a:r>
                        <a:rPr sz="1150" b="0">
                          <a:solidFill>
                            <a:srgbClr val="3C3C3C"/>
                          </a:solidFill>
                          <a:latin typeface="Segoe UI"/>
                        </a:rPr>
                        <a:t>Generate role definitions from access groups</a:t>
                      </a:r>
                    </a:p>
                  </a:txBody>
                  <a:tcPr anchor="ctr" marL="91440" marT="18288" marB="18288">
                    <a:solidFill>
                      <a:srgbClr val="F4F5F7"/>
                    </a:solidFill>
                  </a:tcPr>
                </a:tc>
              </a:tr>
            </a:tbl>
          </a:graphicData>
        </a:graphic>
      </p:graphicFrame>
      <p:sp>
        <p:nvSpPr>
          <p:cNvPr id="6" name="Rectangle 5"/>
          <p:cNvSpPr/>
          <p:nvPr/>
        </p:nvSpPr>
        <p:spPr>
          <a:xfrm>
            <a:off x="566928" y="4370831"/>
            <a:ext cx="11064240" cy="65836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4370831"/>
            <a:ext cx="54864" cy="658368"/>
          </a:xfrm>
          <a:prstGeom prst="rect">
            <a:avLst/>
          </a:prstGeom>
          <a:solidFill>
            <a:srgbClr val="1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4462271"/>
            <a:ext cx="10652760" cy="493776"/>
          </a:xfrm>
          <a:prstGeom prst="rect">
            <a:avLst/>
          </a:prstGeom>
          <a:noFill/>
        </p:spPr>
        <p:txBody>
          <a:bodyPr wrap="square">
            <a:spAutoFit/>
          </a:bodyPr>
          <a:lstStyle/>
          <a:p>
            <a:pPr algn="l">
              <a:spcBef>
                <a:spcPts val="0"/>
              </a:spcBef>
              <a:spcAft>
                <a:spcPts val="0"/>
              </a:spcAft>
            </a:pPr>
            <a:r>
              <a:rPr sz="1250" b="0" i="0">
                <a:solidFill>
                  <a:srgbClr val="1A1A1A"/>
                </a:solidFill>
                <a:latin typeface="Segoe UI"/>
              </a:rPr>
              <a:t>Four components are already reusable. The remaining four are scaffolding opportunities that would reduce the manual 51% materially on subsequent migrations.</a:t>
            </a:r>
          </a:p>
        </p:txBody>
      </p:sp>
      <p:sp>
        <p:nvSpPr>
          <p:cNvPr id="9" name="TextBox 8"/>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331720"/>
            <a:ext cx="1828800" cy="1097280"/>
          </a:xfrm>
          <a:prstGeom prst="rect">
            <a:avLst/>
          </a:prstGeom>
          <a:noFill/>
        </p:spPr>
        <p:txBody>
          <a:bodyPr wrap="square">
            <a:spAutoFit/>
          </a:bodyPr>
          <a:lstStyle/>
          <a:p>
            <a:pPr algn="l">
              <a:spcBef>
                <a:spcPts val="0"/>
              </a:spcBef>
              <a:spcAft>
                <a:spcPts val="0"/>
              </a:spcAft>
            </a:pPr>
            <a:r>
              <a:rPr sz="6400" b="1" i="0">
                <a:solidFill>
                  <a:srgbClr val="7FC4CB"/>
                </a:solidFill>
                <a:latin typeface="Segoe UI"/>
              </a:rPr>
              <a:t>08</a:t>
            </a:r>
          </a:p>
        </p:txBody>
      </p:sp>
      <p:sp>
        <p:nvSpPr>
          <p:cNvPr id="5" name="TextBox 4"/>
          <p:cNvSpPr txBox="1"/>
          <p:nvPr/>
        </p:nvSpPr>
        <p:spPr>
          <a:xfrm>
            <a:off x="2331720" y="2487168"/>
            <a:ext cx="8778240" cy="914400"/>
          </a:xfrm>
          <a:prstGeom prst="rect">
            <a:avLst/>
          </a:prstGeom>
          <a:noFill/>
        </p:spPr>
        <p:txBody>
          <a:bodyPr wrap="square">
            <a:spAutoFit/>
          </a:bodyPr>
          <a:lstStyle/>
          <a:p>
            <a:pPr algn="l">
              <a:spcBef>
                <a:spcPts val="0"/>
              </a:spcBef>
              <a:spcAft>
                <a:spcPts val="0"/>
              </a:spcAft>
            </a:pPr>
            <a:r>
              <a:rPr sz="3400" b="1" i="0">
                <a:solidFill>
                  <a:srgbClr val="FFFFFF"/>
                </a:solidFill>
                <a:latin typeface="Segoe UI"/>
              </a:rPr>
              <a:t>Validation Results</a:t>
            </a:r>
          </a:p>
        </p:txBody>
      </p:sp>
      <p:sp>
        <p:nvSpPr>
          <p:cNvPr id="6" name="TextBox 5"/>
          <p:cNvSpPr txBox="1"/>
          <p:nvPr/>
        </p:nvSpPr>
        <p:spPr>
          <a:xfrm>
            <a:off x="2395728" y="3401568"/>
            <a:ext cx="8595360" cy="640080"/>
          </a:xfrm>
          <a:prstGeom prst="rect">
            <a:avLst/>
          </a:prstGeom>
          <a:noFill/>
        </p:spPr>
        <p:txBody>
          <a:bodyPr wrap="square">
            <a:spAutoFit/>
          </a:bodyPr>
          <a:lstStyle/>
          <a:p>
            <a:pPr algn="l">
              <a:spcBef>
                <a:spcPts val="0"/>
              </a:spcBef>
              <a:spcAft>
                <a:spcPts val="0"/>
              </a:spcAft>
            </a:pPr>
            <a:r>
              <a:rPr sz="1450" b="0" i="0">
                <a:solidFill>
                  <a:srgbClr val="D6ECEE"/>
                </a:solidFill>
                <a:latin typeface="Segoe UI"/>
              </a:rPr>
              <a:t>Functional outcomes, observations and gaps</a:t>
            </a:r>
          </a:p>
        </p:txBody>
      </p:sp>
      <p:sp>
        <p:nvSpPr>
          <p:cNvPr id="7" name="TextBox 6"/>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0515600" cy="274320"/>
          </a:xfrm>
          <a:prstGeom prst="rect">
            <a:avLst/>
          </a:prstGeom>
          <a:noFill/>
        </p:spPr>
        <p:txBody>
          <a:bodyPr wrap="square">
            <a:spAutoFit/>
          </a:bodyPr>
          <a:lstStyle/>
          <a:p>
            <a:pPr algn="l">
              <a:spcBef>
                <a:spcPts val="0"/>
              </a:spcBef>
              <a:spcAft>
                <a:spcPts val="0"/>
              </a:spcAft>
            </a:pPr>
            <a:r>
              <a:rPr sz="1050" b="1" i="0">
                <a:solidFill>
                  <a:srgbClr val="006D77"/>
                </a:solidFill>
                <a:latin typeface="Segoe UI"/>
              </a:rPr>
              <a:t>VALIDATION RESULTS</a:t>
            </a:r>
          </a:p>
        </p:txBody>
      </p:sp>
      <p:sp>
        <p:nvSpPr>
          <p:cNvPr id="4" name="TextBox 3"/>
          <p:cNvSpPr txBox="1"/>
          <p:nvPr/>
        </p:nvSpPr>
        <p:spPr>
          <a:xfrm>
            <a:off x="566928" y="530352"/>
            <a:ext cx="11064240" cy="685800"/>
          </a:xfrm>
          <a:prstGeom prst="rect">
            <a:avLst/>
          </a:prstGeom>
          <a:noFill/>
        </p:spPr>
        <p:txBody>
          <a:bodyPr wrap="square">
            <a:spAutoFit/>
          </a:bodyPr>
          <a:lstStyle/>
          <a:p>
            <a:pPr algn="l">
              <a:spcBef>
                <a:spcPts val="0"/>
              </a:spcBef>
              <a:spcAft>
                <a:spcPts val="0"/>
              </a:spcAft>
            </a:pPr>
            <a:r>
              <a:rPr sz="2700" b="1" i="0">
                <a:solidFill>
                  <a:srgbClr val="1A1A1A"/>
                </a:solidFill>
                <a:latin typeface="Segoe UI"/>
              </a:rPr>
              <a:t>Functional validation</a:t>
            </a:r>
          </a:p>
        </p:txBody>
      </p:sp>
      <p:sp>
        <p:nvSpPr>
          <p:cNvPr id="5" name="Rectangle 4"/>
          <p:cNvSpPr/>
          <p:nvPr/>
        </p:nvSpPr>
        <p:spPr>
          <a:xfrm>
            <a:off x="566928" y="1444752"/>
            <a:ext cx="2642615" cy="105156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44752"/>
            <a:ext cx="2642615" cy="50292"/>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627632"/>
            <a:ext cx="2459735" cy="566928"/>
          </a:xfrm>
          <a:prstGeom prst="rect">
            <a:avLst/>
          </a:prstGeom>
          <a:noFill/>
        </p:spPr>
        <p:txBody>
          <a:bodyPr wrap="square">
            <a:spAutoFit/>
          </a:bodyPr>
          <a:lstStyle/>
          <a:p>
            <a:pPr algn="ctr">
              <a:spcBef>
                <a:spcPts val="0"/>
              </a:spcBef>
              <a:spcAft>
                <a:spcPts val="0"/>
              </a:spcAft>
            </a:pPr>
            <a:r>
              <a:rPr sz="3000" b="1" i="0">
                <a:solidFill>
                  <a:srgbClr val="006D77"/>
                </a:solidFill>
                <a:latin typeface="Segoe UI"/>
              </a:rPr>
              <a:t>49</a:t>
            </a:r>
          </a:p>
        </p:txBody>
      </p:sp>
      <p:sp>
        <p:nvSpPr>
          <p:cNvPr id="8" name="TextBox 7"/>
          <p:cNvSpPr txBox="1"/>
          <p:nvPr/>
        </p:nvSpPr>
        <p:spPr>
          <a:xfrm>
            <a:off x="640080" y="2194560"/>
            <a:ext cx="2496311" cy="384048"/>
          </a:xfrm>
          <a:prstGeom prst="rect">
            <a:avLst/>
          </a:prstGeom>
          <a:noFill/>
        </p:spPr>
        <p:txBody>
          <a:bodyPr wrap="square">
            <a:spAutoFit/>
          </a:bodyPr>
          <a:lstStyle/>
          <a:p>
            <a:pPr algn="ctr">
              <a:spcBef>
                <a:spcPts val="0"/>
              </a:spcBef>
              <a:spcAft>
                <a:spcPts val="0"/>
              </a:spcAft>
            </a:pPr>
            <a:r>
              <a:rPr sz="1050" b="0" i="0">
                <a:solidFill>
                  <a:srgbClr val="3C3C3C"/>
                </a:solidFill>
                <a:latin typeface="Segoe UI"/>
              </a:rPr>
              <a:t>Checks passing</a:t>
            </a:r>
          </a:p>
        </p:txBody>
      </p:sp>
      <p:sp>
        <p:nvSpPr>
          <p:cNvPr id="9" name="Rectangle 8"/>
          <p:cNvSpPr/>
          <p:nvPr/>
        </p:nvSpPr>
        <p:spPr>
          <a:xfrm>
            <a:off x="3374136" y="1444752"/>
            <a:ext cx="2642615" cy="105156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74136" y="1444752"/>
            <a:ext cx="2642615" cy="50292"/>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65576" y="1627632"/>
            <a:ext cx="2459735" cy="566928"/>
          </a:xfrm>
          <a:prstGeom prst="rect">
            <a:avLst/>
          </a:prstGeom>
          <a:noFill/>
        </p:spPr>
        <p:txBody>
          <a:bodyPr wrap="square">
            <a:spAutoFit/>
          </a:bodyPr>
          <a:lstStyle/>
          <a:p>
            <a:pPr algn="ctr">
              <a:spcBef>
                <a:spcPts val="0"/>
              </a:spcBef>
              <a:spcAft>
                <a:spcPts val="0"/>
              </a:spcAft>
            </a:pPr>
            <a:r>
              <a:rPr sz="3000" b="1" i="0">
                <a:solidFill>
                  <a:srgbClr val="006D77"/>
                </a:solidFill>
                <a:latin typeface="Segoe UI"/>
              </a:rPr>
              <a:t>0</a:t>
            </a:r>
          </a:p>
        </p:txBody>
      </p:sp>
      <p:sp>
        <p:nvSpPr>
          <p:cNvPr id="12" name="TextBox 11"/>
          <p:cNvSpPr txBox="1"/>
          <p:nvPr/>
        </p:nvSpPr>
        <p:spPr>
          <a:xfrm>
            <a:off x="3447288" y="2194560"/>
            <a:ext cx="2496311" cy="384048"/>
          </a:xfrm>
          <a:prstGeom prst="rect">
            <a:avLst/>
          </a:prstGeom>
          <a:noFill/>
        </p:spPr>
        <p:txBody>
          <a:bodyPr wrap="square">
            <a:spAutoFit/>
          </a:bodyPr>
          <a:lstStyle/>
          <a:p>
            <a:pPr algn="ctr">
              <a:spcBef>
                <a:spcPts val="0"/>
              </a:spcBef>
              <a:spcAft>
                <a:spcPts val="0"/>
              </a:spcAft>
            </a:pPr>
            <a:r>
              <a:rPr sz="1050" b="0" i="0">
                <a:solidFill>
                  <a:srgbClr val="3C3C3C"/>
                </a:solidFill>
                <a:latin typeface="Segoe UI"/>
              </a:rPr>
              <a:t>Checks failing</a:t>
            </a:r>
          </a:p>
        </p:txBody>
      </p:sp>
      <p:sp>
        <p:nvSpPr>
          <p:cNvPr id="13" name="Rectangle 12"/>
          <p:cNvSpPr/>
          <p:nvPr/>
        </p:nvSpPr>
        <p:spPr>
          <a:xfrm>
            <a:off x="6181344" y="1444752"/>
            <a:ext cx="2642615" cy="105156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81344" y="1444752"/>
            <a:ext cx="2642615" cy="50292"/>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72783" y="1627632"/>
            <a:ext cx="2459735" cy="566928"/>
          </a:xfrm>
          <a:prstGeom prst="rect">
            <a:avLst/>
          </a:prstGeom>
          <a:noFill/>
        </p:spPr>
        <p:txBody>
          <a:bodyPr wrap="square">
            <a:spAutoFit/>
          </a:bodyPr>
          <a:lstStyle/>
          <a:p>
            <a:pPr algn="ctr">
              <a:spcBef>
                <a:spcPts val="0"/>
              </a:spcBef>
              <a:spcAft>
                <a:spcPts val="0"/>
              </a:spcAft>
            </a:pPr>
            <a:r>
              <a:rPr sz="3000" b="1" i="0">
                <a:solidFill>
                  <a:srgbClr val="006D77"/>
                </a:solidFill>
                <a:latin typeface="Segoe UI"/>
              </a:rPr>
              <a:t>5 of 5</a:t>
            </a:r>
          </a:p>
        </p:txBody>
      </p:sp>
      <p:sp>
        <p:nvSpPr>
          <p:cNvPr id="16" name="TextBox 15"/>
          <p:cNvSpPr txBox="1"/>
          <p:nvPr/>
        </p:nvSpPr>
        <p:spPr>
          <a:xfrm>
            <a:off x="6254496" y="2194560"/>
            <a:ext cx="2496311" cy="384048"/>
          </a:xfrm>
          <a:prstGeom prst="rect">
            <a:avLst/>
          </a:prstGeom>
          <a:noFill/>
        </p:spPr>
        <p:txBody>
          <a:bodyPr wrap="square">
            <a:spAutoFit/>
          </a:bodyPr>
          <a:lstStyle/>
          <a:p>
            <a:pPr algn="ctr">
              <a:spcBef>
                <a:spcPts val="0"/>
              </a:spcBef>
              <a:spcAft>
                <a:spcPts val="0"/>
              </a:spcAft>
            </a:pPr>
            <a:r>
              <a:rPr sz="1050" b="0" i="0">
                <a:solidFill>
                  <a:srgbClr val="3C3C3C"/>
                </a:solidFill>
                <a:latin typeface="Segoe UI"/>
              </a:rPr>
              <a:t>Case types resolving</a:t>
            </a:r>
          </a:p>
        </p:txBody>
      </p:sp>
      <p:sp>
        <p:nvSpPr>
          <p:cNvPr id="17" name="Rectangle 16"/>
          <p:cNvSpPr/>
          <p:nvPr/>
        </p:nvSpPr>
        <p:spPr>
          <a:xfrm>
            <a:off x="8988551" y="1444752"/>
            <a:ext cx="2642615" cy="1051560"/>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988551" y="1444752"/>
            <a:ext cx="2642615" cy="50292"/>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79991" y="1627632"/>
            <a:ext cx="2459735" cy="566928"/>
          </a:xfrm>
          <a:prstGeom prst="rect">
            <a:avLst/>
          </a:prstGeom>
          <a:noFill/>
        </p:spPr>
        <p:txBody>
          <a:bodyPr wrap="square">
            <a:spAutoFit/>
          </a:bodyPr>
          <a:lstStyle/>
          <a:p>
            <a:pPr algn="ctr">
              <a:spcBef>
                <a:spcPts val="0"/>
              </a:spcBef>
              <a:spcAft>
                <a:spcPts val="0"/>
              </a:spcAft>
            </a:pPr>
            <a:r>
              <a:rPr sz="3000" b="1" i="0">
                <a:solidFill>
                  <a:srgbClr val="006D77"/>
                </a:solidFill>
                <a:latin typeface="Segoe UI"/>
              </a:rPr>
              <a:t>100%</a:t>
            </a:r>
          </a:p>
        </p:txBody>
      </p:sp>
      <p:sp>
        <p:nvSpPr>
          <p:cNvPr id="20" name="TextBox 19"/>
          <p:cNvSpPr txBox="1"/>
          <p:nvPr/>
        </p:nvSpPr>
        <p:spPr>
          <a:xfrm>
            <a:off x="9061703" y="2194560"/>
            <a:ext cx="2496311" cy="384048"/>
          </a:xfrm>
          <a:prstGeom prst="rect">
            <a:avLst/>
          </a:prstGeom>
          <a:noFill/>
        </p:spPr>
        <p:txBody>
          <a:bodyPr wrap="square">
            <a:spAutoFit/>
          </a:bodyPr>
          <a:lstStyle/>
          <a:p>
            <a:pPr algn="ctr">
              <a:spcBef>
                <a:spcPts val="0"/>
              </a:spcBef>
              <a:spcAft>
                <a:spcPts val="0"/>
              </a:spcAft>
            </a:pPr>
            <a:r>
              <a:rPr sz="1050" b="0" i="0">
                <a:solidFill>
                  <a:srgbClr val="3C3C3C"/>
                </a:solidFill>
                <a:latin typeface="Segoe UI"/>
              </a:rPr>
              <a:t>Lifecycle coverage</a:t>
            </a:r>
          </a:p>
        </p:txBody>
      </p:sp>
      <p:graphicFrame>
        <p:nvGraphicFramePr>
          <p:cNvPr id="21" name="Table 20"/>
          <p:cNvGraphicFramePr>
            <a:graphicFrameLocks noGrp="1"/>
          </p:cNvGraphicFramePr>
          <p:nvPr/>
        </p:nvGraphicFramePr>
        <p:xfrm>
          <a:off x="566928" y="2788920"/>
          <a:ext cx="11064234" cy="1719072"/>
        </p:xfrm>
        <a:graphic>
          <a:graphicData uri="http://schemas.openxmlformats.org/drawingml/2006/table">
            <a:tbl>
              <a:tblPr firstRow="1" bandRow="1">
                <a:tableStyleId>{5C22544A-7EE6-4342-B048-85BDC9FD1C3A}</a:tableStyleId>
              </a:tblPr>
              <a:tblGrid>
                <a:gridCol w="2651759"/>
                <a:gridCol w="1005840"/>
                <a:gridCol w="1280159"/>
                <a:gridCol w="1097279"/>
                <a:gridCol w="1097279"/>
                <a:gridCol w="914399"/>
                <a:gridCol w="3017519"/>
              </a:tblGrid>
              <a:tr h="347472">
                <a:tc>
                  <a:txBody>
                    <a:bodyPr wrap="square"/>
                    <a:lstStyle/>
                    <a:p>
                      <a:r>
                        <a:rPr sz="1100" b="1">
                          <a:solidFill>
                            <a:srgbClr val="FFFFFF"/>
                          </a:solidFill>
                          <a:latin typeface="Segoe UI"/>
                        </a:rPr>
                        <a:t>Case type</a:t>
                      </a:r>
                    </a:p>
                  </a:txBody>
                  <a:tcPr anchor="ctr" marL="91440">
                    <a:solidFill>
                      <a:srgbClr val="006D77"/>
                    </a:solidFill>
                  </a:tcPr>
                </a:tc>
                <a:tc>
                  <a:txBody>
                    <a:bodyPr wrap="square"/>
                    <a:lstStyle/>
                    <a:p>
                      <a:r>
                        <a:rPr sz="1100" b="1">
                          <a:solidFill>
                            <a:srgbClr val="FFFFFF"/>
                          </a:solidFill>
                          <a:latin typeface="Segoe UI"/>
                        </a:rPr>
                        <a:t>Iterations</a:t>
                      </a:r>
                    </a:p>
                  </a:txBody>
                  <a:tcPr anchor="ctr" marL="91440">
                    <a:solidFill>
                      <a:srgbClr val="006D77"/>
                    </a:solidFill>
                  </a:tcPr>
                </a:tc>
                <a:tc>
                  <a:txBody>
                    <a:bodyPr wrap="square"/>
                    <a:lstStyle/>
                    <a:p>
                      <a:r>
                        <a:rPr sz="1100" b="1">
                          <a:solidFill>
                            <a:srgbClr val="FFFFFF"/>
                          </a:solidFill>
                          <a:latin typeface="Segoe UI"/>
                        </a:rPr>
                        <a:t>Assignments</a:t>
                      </a:r>
                    </a:p>
                  </a:txBody>
                  <a:tcPr anchor="ctr" marL="91440">
                    <a:solidFill>
                      <a:srgbClr val="006D77"/>
                    </a:solidFill>
                  </a:tcPr>
                </a:tc>
                <a:tc>
                  <a:txBody>
                    <a:bodyPr wrap="square"/>
                    <a:lstStyle/>
                    <a:p>
                      <a:r>
                        <a:rPr sz="1100" b="1">
                          <a:solidFill>
                            <a:srgbClr val="FFFFFF"/>
                          </a:solidFill>
                          <a:latin typeface="Segoe UI"/>
                        </a:rPr>
                        <a:t>Approvals</a:t>
                      </a:r>
                    </a:p>
                  </a:txBody>
                  <a:tcPr anchor="ctr" marL="91440">
                    <a:solidFill>
                      <a:srgbClr val="006D77"/>
                    </a:solidFill>
                  </a:tcPr>
                </a:tc>
                <a:tc>
                  <a:txBody>
                    <a:bodyPr wrap="square"/>
                    <a:lstStyle/>
                    <a:p>
                      <a:r>
                        <a:rPr sz="1100" b="1">
                          <a:solidFill>
                            <a:srgbClr val="FFFFFF"/>
                          </a:solidFill>
                          <a:latin typeface="Segoe UI"/>
                        </a:rPr>
                        <a:t>Decisions</a:t>
                      </a:r>
                    </a:p>
                  </a:txBody>
                  <a:tcPr anchor="ctr" marL="91440">
                    <a:solidFill>
                      <a:srgbClr val="006D77"/>
                    </a:solidFill>
                  </a:tcPr>
                </a:tc>
                <a:tc>
                  <a:txBody>
                    <a:bodyPr wrap="square"/>
                    <a:lstStyle/>
                    <a:p>
                      <a:r>
                        <a:rPr sz="1100" b="1">
                          <a:solidFill>
                            <a:srgbClr val="FFFFFF"/>
                          </a:solidFill>
                          <a:latin typeface="Segoe UI"/>
                        </a:rPr>
                        <a:t>Skipped</a:t>
                      </a:r>
                    </a:p>
                  </a:txBody>
                  <a:tcPr anchor="ctr" marL="91440">
                    <a:solidFill>
                      <a:srgbClr val="006D77"/>
                    </a:solidFill>
                  </a:tcPr>
                </a:tc>
                <a:tc>
                  <a:txBody>
                    <a:bodyPr wrap="square"/>
                    <a:lstStyle/>
                    <a:p>
                      <a:r>
                        <a:rPr sz="1100" b="1">
                          <a:solidFill>
                            <a:srgbClr val="FFFFFF"/>
                          </a:solidFill>
                          <a:latin typeface="Segoe UI"/>
                        </a:rPr>
                        <a:t>Final status</a:t>
                      </a:r>
                    </a:p>
                  </a:txBody>
                  <a:tcPr anchor="ctr" marL="91440">
                    <a:solidFill>
                      <a:srgbClr val="006D77"/>
                    </a:solidFill>
                  </a:tcPr>
                </a:tc>
              </a:tr>
              <a:tr h="274320">
                <a:tc>
                  <a:txBody>
                    <a:bodyPr wrap="square"/>
                    <a:lstStyle/>
                    <a:p>
                      <a:r>
                        <a:rPr sz="1100" b="1">
                          <a:solidFill>
                            <a:srgbClr val="1A1A1A"/>
                          </a:solidFill>
                          <a:latin typeface="Segoe UI"/>
                        </a:rPr>
                        <a:t>Compliance Monitoring</a:t>
                      </a:r>
                    </a:p>
                  </a:txBody>
                  <a:tcPr anchor="ctr" marL="91440" marT="18288" marB="18288">
                    <a:solidFill>
                      <a:srgbClr val="FFFFFF"/>
                    </a:solidFill>
                  </a:tcPr>
                </a:tc>
                <a:tc>
                  <a:txBody>
                    <a:bodyPr wrap="square"/>
                    <a:lstStyle/>
                    <a:p>
                      <a:r>
                        <a:rPr sz="1100" b="0">
                          <a:solidFill>
                            <a:srgbClr val="3C3C3C"/>
                          </a:solidFill>
                          <a:latin typeface="Segoe UI"/>
                        </a:rPr>
                        <a:t>8</a:t>
                      </a:r>
                    </a:p>
                  </a:txBody>
                  <a:tcPr anchor="ctr" marL="91440" marT="18288" marB="18288">
                    <a:solidFill>
                      <a:srgbClr val="FFFFFF"/>
                    </a:solidFill>
                  </a:tcPr>
                </a:tc>
                <a:tc>
                  <a:txBody>
                    <a:bodyPr wrap="square"/>
                    <a:lstStyle/>
                    <a:p>
                      <a:r>
                        <a:rPr sz="1100" b="0">
                          <a:solidFill>
                            <a:srgbClr val="3C3C3C"/>
                          </a:solidFill>
                          <a:latin typeface="Segoe UI"/>
                        </a:rPr>
                        <a:t>4</a:t>
                      </a:r>
                    </a:p>
                  </a:txBody>
                  <a:tcPr anchor="ctr" marL="91440" marT="18288" marB="18288">
                    <a:solidFill>
                      <a:srgbClr val="FFFFFF"/>
                    </a:solidFill>
                  </a:tcPr>
                </a:tc>
                <a:tc>
                  <a:txBody>
                    <a:bodyPr wrap="square"/>
                    <a:lstStyle/>
                    <a:p>
                      <a:r>
                        <a:rPr sz="1100" b="0">
                          <a:solidFill>
                            <a:srgbClr val="3C3C3C"/>
                          </a:solidFill>
                          <a:latin typeface="Segoe UI"/>
                        </a:rPr>
                        <a:t>0</a:t>
                      </a:r>
                    </a:p>
                  </a:txBody>
                  <a:tcPr anchor="ctr" marL="91440" marT="18288" marB="18288">
                    <a:solidFill>
                      <a:srgbClr val="FFFFFF"/>
                    </a:solidFill>
                  </a:tcPr>
                </a:tc>
                <a:tc>
                  <a:txBody>
                    <a:bodyPr wrap="square"/>
                    <a:lstStyle/>
                    <a:p>
                      <a:r>
                        <a:rPr sz="1100" b="0">
                          <a:solidFill>
                            <a:srgbClr val="3C3C3C"/>
                          </a:solidFill>
                          <a:latin typeface="Segoe UI"/>
                        </a:rPr>
                        <a:t>3</a:t>
                      </a:r>
                    </a:p>
                  </a:txBody>
                  <a:tcPr anchor="ctr" marL="91440" marT="18288" marB="18288">
                    <a:solidFill>
                      <a:srgbClr val="FFFFFF"/>
                    </a:solidFill>
                  </a:tcPr>
                </a:tc>
                <a:tc>
                  <a:txBody>
                    <a:bodyPr wrap="square"/>
                    <a:lstStyle/>
                    <a:p>
                      <a:r>
                        <a:rPr sz="1100" b="0">
                          <a:solidFill>
                            <a:srgbClr val="3C3C3C"/>
                          </a:solidFill>
                          <a:latin typeface="Segoe UI"/>
                        </a:rPr>
                        <a:t>3</a:t>
                      </a:r>
                    </a:p>
                  </a:txBody>
                  <a:tcPr anchor="ctr" marL="91440" marT="18288" marB="18288">
                    <a:solidFill>
                      <a:srgbClr val="FFFFFF"/>
                    </a:solidFill>
                  </a:tcPr>
                </a:tc>
                <a:tc>
                  <a:txBody>
                    <a:bodyPr wrap="square"/>
                    <a:lstStyle/>
                    <a:p>
                      <a:r>
                        <a:rPr sz="1100" b="0">
                          <a:solidFill>
                            <a:srgbClr val="3C3C3C"/>
                          </a:solidFill>
                          <a:latin typeface="Segoe UI"/>
                        </a:rPr>
                        <a:t>Resolved-Resolution Closure</a:t>
                      </a:r>
                    </a:p>
                  </a:txBody>
                  <a:tcPr anchor="ctr" marL="91440" marT="18288" marB="18288">
                    <a:solidFill>
                      <a:srgbClr val="FFFFFF"/>
                    </a:solidFill>
                  </a:tcPr>
                </a:tc>
              </a:tr>
              <a:tr h="274320">
                <a:tc>
                  <a:txBody>
                    <a:bodyPr wrap="square"/>
                    <a:lstStyle/>
                    <a:p>
                      <a:r>
                        <a:rPr sz="1100" b="1">
                          <a:solidFill>
                            <a:srgbClr val="1A1A1A"/>
                          </a:solidFill>
                          <a:latin typeface="Segoe UI"/>
                        </a:rPr>
                        <a:t>Escalation Management</a:t>
                      </a:r>
                    </a:p>
                  </a:txBody>
                  <a:tcPr anchor="ctr" marL="91440" marT="18288" marB="18288">
                    <a:solidFill>
                      <a:srgbClr val="F4F5F7"/>
                    </a:solidFill>
                  </a:tcPr>
                </a:tc>
                <a:tc>
                  <a:txBody>
                    <a:bodyPr wrap="square"/>
                    <a:lstStyle/>
                    <a:p>
                      <a:r>
                        <a:rPr sz="1100" b="0">
                          <a:solidFill>
                            <a:srgbClr val="3C3C3C"/>
                          </a:solidFill>
                          <a:latin typeface="Segoe UI"/>
                        </a:rPr>
                        <a:t>8</a:t>
                      </a:r>
                    </a:p>
                  </a:txBody>
                  <a:tcPr anchor="ctr" marL="91440" marT="18288" marB="18288">
                    <a:solidFill>
                      <a:srgbClr val="F4F5F7"/>
                    </a:solidFill>
                  </a:tcPr>
                </a:tc>
                <a:tc>
                  <a:txBody>
                    <a:bodyPr wrap="square"/>
                    <a:lstStyle/>
                    <a:p>
                      <a:r>
                        <a:rPr sz="1100" b="0">
                          <a:solidFill>
                            <a:srgbClr val="3C3C3C"/>
                          </a:solidFill>
                          <a:latin typeface="Segoe UI"/>
                        </a:rPr>
                        <a:t>5</a:t>
                      </a:r>
                    </a:p>
                  </a:txBody>
                  <a:tcPr anchor="ctr" marL="91440" marT="18288" marB="18288">
                    <a:solidFill>
                      <a:srgbClr val="F4F5F7"/>
                    </a:solidFill>
                  </a:tcPr>
                </a:tc>
                <a:tc>
                  <a:txBody>
                    <a:bodyPr wrap="square"/>
                    <a:lstStyle/>
                    <a:p>
                      <a:r>
                        <a:rPr sz="1100" b="0">
                          <a:solidFill>
                            <a:srgbClr val="3C3C3C"/>
                          </a:solidFill>
                          <a:latin typeface="Segoe UI"/>
                        </a:rPr>
                        <a:t>1</a:t>
                      </a:r>
                    </a:p>
                  </a:txBody>
                  <a:tcPr anchor="ctr" marL="91440" marT="18288" marB="18288">
                    <a:solidFill>
                      <a:srgbClr val="F4F5F7"/>
                    </a:solidFill>
                  </a:tcPr>
                </a:tc>
                <a:tc>
                  <a:txBody>
                    <a:bodyPr wrap="square"/>
                    <a:lstStyle/>
                    <a:p>
                      <a:r>
                        <a:rPr sz="1100" b="0">
                          <a:solidFill>
                            <a:srgbClr val="3C3C3C"/>
                          </a:solidFill>
                          <a:latin typeface="Segoe UI"/>
                        </a:rPr>
                        <a:t>1</a:t>
                      </a:r>
                    </a:p>
                  </a:txBody>
                  <a:tcPr anchor="ctr" marL="91440" marT="18288" marB="18288">
                    <a:solidFill>
                      <a:srgbClr val="F4F5F7"/>
                    </a:solidFill>
                  </a:tcPr>
                </a:tc>
                <a:tc>
                  <a:txBody>
                    <a:bodyPr wrap="square"/>
                    <a:lstStyle/>
                    <a:p>
                      <a:r>
                        <a:rPr sz="1100" b="0">
                          <a:solidFill>
                            <a:srgbClr val="3C3C3C"/>
                          </a:solidFill>
                          <a:latin typeface="Segoe UI"/>
                        </a:rPr>
                        <a:t>0</a:t>
                      </a:r>
                    </a:p>
                  </a:txBody>
                  <a:tcPr anchor="ctr" marL="91440" marT="18288" marB="18288">
                    <a:solidFill>
                      <a:srgbClr val="F4F5F7"/>
                    </a:solidFill>
                  </a:tcPr>
                </a:tc>
                <a:tc>
                  <a:txBody>
                    <a:bodyPr wrap="square"/>
                    <a:lstStyle/>
                    <a:p>
                      <a:r>
                        <a:rPr sz="1100" b="0">
                          <a:solidFill>
                            <a:srgbClr val="3C3C3C"/>
                          </a:solidFill>
                          <a:latin typeface="Segoe UI"/>
                        </a:rPr>
                        <a:t>Resolved-Case Closure</a:t>
                      </a:r>
                    </a:p>
                  </a:txBody>
                  <a:tcPr anchor="ctr" marL="91440" marT="18288" marB="18288">
                    <a:solidFill>
                      <a:srgbClr val="F4F5F7"/>
                    </a:solidFill>
                  </a:tcPr>
                </a:tc>
              </a:tr>
              <a:tr h="274320">
                <a:tc>
                  <a:txBody>
                    <a:bodyPr wrap="square"/>
                    <a:lstStyle/>
                    <a:p>
                      <a:r>
                        <a:rPr sz="1100" b="1">
                          <a:solidFill>
                            <a:srgbClr val="1A1A1A"/>
                          </a:solidFill>
                          <a:latin typeface="Segoe UI"/>
                        </a:rPr>
                        <a:t>Lending Review</a:t>
                      </a:r>
                    </a:p>
                  </a:txBody>
                  <a:tcPr anchor="ctr" marL="91440" marT="18288" marB="18288">
                    <a:solidFill>
                      <a:srgbClr val="FFFFFF"/>
                    </a:solidFill>
                  </a:tcPr>
                </a:tc>
                <a:tc>
                  <a:txBody>
                    <a:bodyPr wrap="square"/>
                    <a:lstStyle/>
                    <a:p>
                      <a:r>
                        <a:rPr sz="1100" b="0">
                          <a:solidFill>
                            <a:srgbClr val="3C3C3C"/>
                          </a:solidFill>
                          <a:latin typeface="Segoe UI"/>
                        </a:rPr>
                        <a:t>7</a:t>
                      </a:r>
                    </a:p>
                  </a:txBody>
                  <a:tcPr anchor="ctr" marL="91440" marT="18288" marB="18288">
                    <a:solidFill>
                      <a:srgbClr val="FFFFFF"/>
                    </a:solidFill>
                  </a:tcPr>
                </a:tc>
                <a:tc>
                  <a:txBody>
                    <a:bodyPr wrap="square"/>
                    <a:lstStyle/>
                    <a:p>
                      <a:r>
                        <a:rPr sz="1100" b="0">
                          <a:solidFill>
                            <a:srgbClr val="3C3C3C"/>
                          </a:solidFill>
                          <a:latin typeface="Segoe UI"/>
                        </a:rPr>
                        <a:t>4</a:t>
                      </a:r>
                    </a:p>
                  </a:txBody>
                  <a:tcPr anchor="ctr" marL="91440" marT="18288" marB="18288">
                    <a:solidFill>
                      <a:srgbClr val="FFFFFF"/>
                    </a:solidFill>
                  </a:tcPr>
                </a:tc>
                <a:tc>
                  <a:txBody>
                    <a:bodyPr wrap="square"/>
                    <a:lstStyle/>
                    <a:p>
                      <a:r>
                        <a:rPr sz="1100" b="0">
                          <a:solidFill>
                            <a:srgbClr val="3C3C3C"/>
                          </a:solidFill>
                          <a:latin typeface="Segoe UI"/>
                        </a:rPr>
                        <a:t>1</a:t>
                      </a:r>
                    </a:p>
                  </a:txBody>
                  <a:tcPr anchor="ctr" marL="91440" marT="18288" marB="18288">
                    <a:solidFill>
                      <a:srgbClr val="FFFFFF"/>
                    </a:solidFill>
                  </a:tcPr>
                </a:tc>
                <a:tc>
                  <a:txBody>
                    <a:bodyPr wrap="square"/>
                    <a:lstStyle/>
                    <a:p>
                      <a:r>
                        <a:rPr sz="1100" b="0">
                          <a:solidFill>
                            <a:srgbClr val="3C3C3C"/>
                          </a:solidFill>
                          <a:latin typeface="Segoe UI"/>
                        </a:rPr>
                        <a:t>1</a:t>
                      </a:r>
                    </a:p>
                  </a:txBody>
                  <a:tcPr anchor="ctr" marL="91440" marT="18288" marB="18288">
                    <a:solidFill>
                      <a:srgbClr val="FFFFFF"/>
                    </a:solidFill>
                  </a:tcPr>
                </a:tc>
                <a:tc>
                  <a:txBody>
                    <a:bodyPr wrap="square"/>
                    <a:lstStyle/>
                    <a:p>
                      <a:r>
                        <a:rPr sz="1100" b="0">
                          <a:solidFill>
                            <a:srgbClr val="3C3C3C"/>
                          </a:solidFill>
                          <a:latin typeface="Segoe UI"/>
                        </a:rPr>
                        <a:t>0</a:t>
                      </a:r>
                    </a:p>
                  </a:txBody>
                  <a:tcPr anchor="ctr" marL="91440" marT="18288" marB="18288">
                    <a:solidFill>
                      <a:srgbClr val="FFFFFF"/>
                    </a:solidFill>
                  </a:tcPr>
                </a:tc>
                <a:tc>
                  <a:txBody>
                    <a:bodyPr wrap="square"/>
                    <a:lstStyle/>
                    <a:p>
                      <a:r>
                        <a:rPr sz="1100" b="0">
                          <a:solidFill>
                            <a:srgbClr val="3C3C3C"/>
                          </a:solidFill>
                          <a:latin typeface="Segoe UI"/>
                        </a:rPr>
                        <a:t>Resolved-Case Closure</a:t>
                      </a:r>
                    </a:p>
                  </a:txBody>
                  <a:tcPr anchor="ctr" marL="91440" marT="18288" marB="18288">
                    <a:solidFill>
                      <a:srgbClr val="FFFFFF"/>
                    </a:solidFill>
                  </a:tcPr>
                </a:tc>
              </a:tr>
              <a:tr h="274320">
                <a:tc>
                  <a:txBody>
                    <a:bodyPr wrap="square"/>
                    <a:lstStyle/>
                    <a:p>
                      <a:r>
                        <a:rPr sz="1100" b="1">
                          <a:solidFill>
                            <a:srgbClr val="1A1A1A"/>
                          </a:solidFill>
                          <a:latin typeface="Segoe UI"/>
                        </a:rPr>
                        <a:t>Quality Recommendation</a:t>
                      </a:r>
                    </a:p>
                  </a:txBody>
                  <a:tcPr anchor="ctr" marL="91440" marT="18288" marB="18288">
                    <a:solidFill>
                      <a:srgbClr val="F4F5F7"/>
                    </a:solidFill>
                  </a:tcPr>
                </a:tc>
                <a:tc>
                  <a:txBody>
                    <a:bodyPr wrap="square"/>
                    <a:lstStyle/>
                    <a:p>
                      <a:r>
                        <a:rPr sz="1100" b="0">
                          <a:solidFill>
                            <a:srgbClr val="3C3C3C"/>
                          </a:solidFill>
                          <a:latin typeface="Segoe UI"/>
                        </a:rPr>
                        <a:t>3</a:t>
                      </a:r>
                    </a:p>
                  </a:txBody>
                  <a:tcPr anchor="ctr" marL="91440" marT="18288" marB="18288">
                    <a:solidFill>
                      <a:srgbClr val="F4F5F7"/>
                    </a:solidFill>
                  </a:tcPr>
                </a:tc>
                <a:tc>
                  <a:txBody>
                    <a:bodyPr wrap="square"/>
                    <a:lstStyle/>
                    <a:p>
                      <a:r>
                        <a:rPr sz="1100" b="0">
                          <a:solidFill>
                            <a:srgbClr val="3C3C3C"/>
                          </a:solidFill>
                          <a:latin typeface="Segoe UI"/>
                        </a:rPr>
                        <a:t>2</a:t>
                      </a:r>
                    </a:p>
                  </a:txBody>
                  <a:tcPr anchor="ctr" marL="91440" marT="18288" marB="18288">
                    <a:solidFill>
                      <a:srgbClr val="F4F5F7"/>
                    </a:solidFill>
                  </a:tcPr>
                </a:tc>
                <a:tc>
                  <a:txBody>
                    <a:bodyPr wrap="square"/>
                    <a:lstStyle/>
                    <a:p>
                      <a:r>
                        <a:rPr sz="1100" b="0">
                          <a:solidFill>
                            <a:srgbClr val="3C3C3C"/>
                          </a:solidFill>
                          <a:latin typeface="Segoe UI"/>
                        </a:rPr>
                        <a:t>0</a:t>
                      </a:r>
                    </a:p>
                  </a:txBody>
                  <a:tcPr anchor="ctr" marL="91440" marT="18288" marB="18288">
                    <a:solidFill>
                      <a:srgbClr val="F4F5F7"/>
                    </a:solidFill>
                  </a:tcPr>
                </a:tc>
                <a:tc>
                  <a:txBody>
                    <a:bodyPr wrap="square"/>
                    <a:lstStyle/>
                    <a:p>
                      <a:r>
                        <a:rPr sz="1100" b="0">
                          <a:solidFill>
                            <a:srgbClr val="3C3C3C"/>
                          </a:solidFill>
                          <a:latin typeface="Segoe UI"/>
                        </a:rPr>
                        <a:t>0</a:t>
                      </a:r>
                    </a:p>
                  </a:txBody>
                  <a:tcPr anchor="ctr" marL="91440" marT="18288" marB="18288">
                    <a:solidFill>
                      <a:srgbClr val="F4F5F7"/>
                    </a:solidFill>
                  </a:tcPr>
                </a:tc>
                <a:tc>
                  <a:txBody>
                    <a:bodyPr wrap="square"/>
                    <a:lstStyle/>
                    <a:p>
                      <a:r>
                        <a:rPr sz="1100" b="0">
                          <a:solidFill>
                            <a:srgbClr val="3C3C3C"/>
                          </a:solidFill>
                          <a:latin typeface="Segoe UI"/>
                        </a:rPr>
                        <a:t>0</a:t>
                      </a:r>
                    </a:p>
                  </a:txBody>
                  <a:tcPr anchor="ctr" marL="91440" marT="18288" marB="18288">
                    <a:solidFill>
                      <a:srgbClr val="F4F5F7"/>
                    </a:solidFill>
                  </a:tcPr>
                </a:tc>
                <a:tc>
                  <a:txBody>
                    <a:bodyPr wrap="square"/>
                    <a:lstStyle/>
                    <a:p>
                      <a:r>
                        <a:rPr sz="1100" b="0">
                          <a:solidFill>
                            <a:srgbClr val="3C3C3C"/>
                          </a:solidFill>
                          <a:latin typeface="Segoe UI"/>
                        </a:rPr>
                        <a:t>Resolved-Closure Validation</a:t>
                      </a:r>
                    </a:p>
                  </a:txBody>
                  <a:tcPr anchor="ctr" marL="91440" marT="18288" marB="18288">
                    <a:solidFill>
                      <a:srgbClr val="F4F5F7"/>
                    </a:solidFill>
                  </a:tcPr>
                </a:tc>
              </a:tr>
              <a:tr h="274320">
                <a:tc>
                  <a:txBody>
                    <a:bodyPr wrap="square"/>
                    <a:lstStyle/>
                    <a:p>
                      <a:r>
                        <a:rPr sz="1100" b="1">
                          <a:solidFill>
                            <a:srgbClr val="1A1A1A"/>
                          </a:solidFill>
                          <a:latin typeface="Segoe UI"/>
                        </a:rPr>
                        <a:t>Risk Assessment</a:t>
                      </a:r>
                    </a:p>
                  </a:txBody>
                  <a:tcPr anchor="ctr" marL="91440" marT="18288" marB="18288">
                    <a:solidFill>
                      <a:srgbClr val="FFFFFF"/>
                    </a:solidFill>
                  </a:tcPr>
                </a:tc>
                <a:tc>
                  <a:txBody>
                    <a:bodyPr wrap="square"/>
                    <a:lstStyle/>
                    <a:p>
                      <a:r>
                        <a:rPr sz="1100" b="0">
                          <a:solidFill>
                            <a:srgbClr val="3C3C3C"/>
                          </a:solidFill>
                          <a:latin typeface="Segoe UI"/>
                        </a:rPr>
                        <a:t>8</a:t>
                      </a:r>
                    </a:p>
                  </a:txBody>
                  <a:tcPr anchor="ctr" marL="91440" marT="18288" marB="18288">
                    <a:solidFill>
                      <a:srgbClr val="FFFFFF"/>
                    </a:solidFill>
                  </a:tcPr>
                </a:tc>
                <a:tc>
                  <a:txBody>
                    <a:bodyPr wrap="square"/>
                    <a:lstStyle/>
                    <a:p>
                      <a:r>
                        <a:rPr sz="1100" b="0">
                          <a:solidFill>
                            <a:srgbClr val="3C3C3C"/>
                          </a:solidFill>
                          <a:latin typeface="Segoe UI"/>
                        </a:rPr>
                        <a:t>2</a:t>
                      </a:r>
                    </a:p>
                  </a:txBody>
                  <a:tcPr anchor="ctr" marL="91440" marT="18288" marB="18288">
                    <a:solidFill>
                      <a:srgbClr val="FFFFFF"/>
                    </a:solidFill>
                  </a:tcPr>
                </a:tc>
                <a:tc>
                  <a:txBody>
                    <a:bodyPr wrap="square"/>
                    <a:lstStyle/>
                    <a:p>
                      <a:r>
                        <a:rPr sz="1100" b="0">
                          <a:solidFill>
                            <a:srgbClr val="3C3C3C"/>
                          </a:solidFill>
                          <a:latin typeface="Segoe UI"/>
                        </a:rPr>
                        <a:t>2</a:t>
                      </a:r>
                    </a:p>
                  </a:txBody>
                  <a:tcPr anchor="ctr" marL="91440" marT="18288" marB="18288">
                    <a:solidFill>
                      <a:srgbClr val="FFFFFF"/>
                    </a:solidFill>
                  </a:tcPr>
                </a:tc>
                <a:tc>
                  <a:txBody>
                    <a:bodyPr wrap="square"/>
                    <a:lstStyle/>
                    <a:p>
                      <a:r>
                        <a:rPr sz="1100" b="0">
                          <a:solidFill>
                            <a:srgbClr val="3C3C3C"/>
                          </a:solidFill>
                          <a:latin typeface="Segoe UI"/>
                        </a:rPr>
                        <a:t>3</a:t>
                      </a:r>
                    </a:p>
                  </a:txBody>
                  <a:tcPr anchor="ctr" marL="91440" marT="18288" marB="18288">
                    <a:solidFill>
                      <a:srgbClr val="FFFFFF"/>
                    </a:solidFill>
                  </a:tcPr>
                </a:tc>
                <a:tc>
                  <a:txBody>
                    <a:bodyPr wrap="square"/>
                    <a:lstStyle/>
                    <a:p>
                      <a:r>
                        <a:rPr sz="1100" b="0">
                          <a:solidFill>
                            <a:srgbClr val="3C3C3C"/>
                          </a:solidFill>
                          <a:latin typeface="Segoe UI"/>
                        </a:rPr>
                        <a:t>1</a:t>
                      </a:r>
                    </a:p>
                  </a:txBody>
                  <a:tcPr anchor="ctr" marL="91440" marT="18288" marB="18288">
                    <a:solidFill>
                      <a:srgbClr val="FFFFFF"/>
                    </a:solidFill>
                  </a:tcPr>
                </a:tc>
                <a:tc>
                  <a:txBody>
                    <a:bodyPr wrap="square"/>
                    <a:lstStyle/>
                    <a:p>
                      <a:r>
                        <a:rPr sz="1100" b="0">
                          <a:solidFill>
                            <a:srgbClr val="3C3C3C"/>
                          </a:solidFill>
                          <a:latin typeface="Segoe UI"/>
                        </a:rPr>
                        <a:t>Resolved-Resolution Tracking</a:t>
                      </a:r>
                    </a:p>
                  </a:txBody>
                  <a:tcPr anchor="ctr" marL="91440" marT="18288" marB="18288">
                    <a:solidFill>
                      <a:srgbClr val="FFFFFF"/>
                    </a:solidFill>
                  </a:tcPr>
                </a:tc>
              </a:tr>
            </a:tbl>
          </a:graphicData>
        </a:graphic>
      </p:graphicFrame>
      <p:sp>
        <p:nvSpPr>
          <p:cNvPr id="22" name="TextBox 21"/>
          <p:cNvSpPr txBox="1"/>
          <p:nvPr/>
        </p:nvSpPr>
        <p:spPr>
          <a:xfrm>
            <a:off x="566928" y="4846320"/>
            <a:ext cx="11064240" cy="533399"/>
          </a:xfrm>
          <a:prstGeom prst="rect">
            <a:avLst/>
          </a:prstGeom>
          <a:noFill/>
        </p:spPr>
        <p:txBody>
          <a:bodyPr wrap="square">
            <a:spAutoFit/>
          </a:bodyPr>
          <a:lstStyle/>
          <a:p>
            <a:pPr algn="l">
              <a:spcBef>
                <a:spcPts val="0"/>
              </a:spcBef>
              <a:spcAft>
                <a:spcPts val="900"/>
              </a:spcAft>
            </a:pPr>
            <a:r>
              <a:rPr sz="1250" b="0" i="0">
                <a:solidFill>
                  <a:srgbClr val="1A1A1A"/>
                </a:solidFill>
                <a:latin typeface="Segoe UI"/>
              </a:rPr>
              <a:t>•  The harness imports the real shipped engine and drives full lifecycles against live Dataverse, then removes its own records. It is not a mock.</a:t>
            </a:r>
          </a:p>
        </p:txBody>
      </p:sp>
      <p:sp>
        <p:nvSpPr>
          <p:cNvPr id="23" name="Rectangle 22"/>
          <p:cNvSpPr/>
          <p:nvPr/>
        </p:nvSpPr>
        <p:spPr>
          <a:xfrm>
            <a:off x="566928" y="5654039"/>
            <a:ext cx="11064240" cy="65836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5654039"/>
            <a:ext cx="54864" cy="658368"/>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 y="5745479"/>
            <a:ext cx="10652760" cy="493776"/>
          </a:xfrm>
          <a:prstGeom prst="rect">
            <a:avLst/>
          </a:prstGeom>
          <a:noFill/>
        </p:spPr>
        <p:txBody>
          <a:bodyPr wrap="square">
            <a:spAutoFit/>
          </a:bodyPr>
          <a:lstStyle/>
          <a:p>
            <a:pPr algn="l">
              <a:spcBef>
                <a:spcPts val="0"/>
              </a:spcBef>
              <a:spcAft>
                <a:spcPts val="0"/>
              </a:spcAft>
            </a:pPr>
            <a:r>
              <a:rPr sz="1250" b="0" i="0">
                <a:solidFill>
                  <a:srgbClr val="1A1A1A"/>
                </a:solidFill>
                <a:latin typeface="Segoe UI"/>
              </a:rPr>
              <a:t>Verification covers configuration integrity, decision evaluation, utility classification, dry-run planning and live end-to-end execution per case type.</a:t>
            </a:r>
          </a:p>
        </p:txBody>
      </p:sp>
      <p:sp>
        <p:nvSpPr>
          <p:cNvPr id="26" name="TextBox 25"/>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0515600" cy="274320"/>
          </a:xfrm>
          <a:prstGeom prst="rect">
            <a:avLst/>
          </a:prstGeom>
          <a:noFill/>
        </p:spPr>
        <p:txBody>
          <a:bodyPr wrap="square">
            <a:spAutoFit/>
          </a:bodyPr>
          <a:lstStyle/>
          <a:p>
            <a:pPr algn="l">
              <a:spcBef>
                <a:spcPts val="0"/>
              </a:spcBef>
              <a:spcAft>
                <a:spcPts val="0"/>
              </a:spcAft>
            </a:pPr>
            <a:r>
              <a:rPr sz="1050" b="1" i="0">
                <a:solidFill>
                  <a:srgbClr val="006D77"/>
                </a:solidFill>
                <a:latin typeface="Segoe UI"/>
              </a:rPr>
              <a:t>VALIDATION RESULTS</a:t>
            </a:r>
          </a:p>
        </p:txBody>
      </p:sp>
      <p:sp>
        <p:nvSpPr>
          <p:cNvPr id="4" name="TextBox 3"/>
          <p:cNvSpPr txBox="1"/>
          <p:nvPr/>
        </p:nvSpPr>
        <p:spPr>
          <a:xfrm>
            <a:off x="566928" y="530352"/>
            <a:ext cx="11064240" cy="685800"/>
          </a:xfrm>
          <a:prstGeom prst="rect">
            <a:avLst/>
          </a:prstGeom>
          <a:noFill/>
        </p:spPr>
        <p:txBody>
          <a:bodyPr wrap="square">
            <a:spAutoFit/>
          </a:bodyPr>
          <a:lstStyle/>
          <a:p>
            <a:pPr algn="l">
              <a:spcBef>
                <a:spcPts val="0"/>
              </a:spcBef>
              <a:spcAft>
                <a:spcPts val="0"/>
              </a:spcAft>
            </a:pPr>
            <a:r>
              <a:rPr sz="2700" b="1" i="0">
                <a:solidFill>
                  <a:srgbClr val="1A1A1A"/>
                </a:solidFill>
                <a:latin typeface="Segoe UI"/>
              </a:rPr>
              <a:t>Performance observations</a:t>
            </a:r>
          </a:p>
        </p:txBody>
      </p:sp>
      <p:graphicFrame>
        <p:nvGraphicFramePr>
          <p:cNvPr id="5" name="Table 4"/>
          <p:cNvGraphicFramePr>
            <a:graphicFrameLocks noGrp="1"/>
          </p:cNvGraphicFramePr>
          <p:nvPr/>
        </p:nvGraphicFramePr>
        <p:xfrm>
          <a:off x="566928" y="1554480"/>
          <a:ext cx="11064240" cy="2267712"/>
        </p:xfrm>
        <a:graphic>
          <a:graphicData uri="http://schemas.openxmlformats.org/drawingml/2006/table">
            <a:tbl>
              <a:tblPr firstRow="1" bandRow="1">
                <a:tableStyleId>{5C22544A-7EE6-4342-B048-85BDC9FD1C3A}</a:tableStyleId>
              </a:tblPr>
              <a:tblGrid>
                <a:gridCol w="2377440"/>
                <a:gridCol w="5120640"/>
                <a:gridCol w="3566160"/>
              </a:tblGrid>
              <a:tr h="347472">
                <a:tc>
                  <a:txBody>
                    <a:bodyPr wrap="square"/>
                    <a:lstStyle/>
                    <a:p>
                      <a:r>
                        <a:rPr sz="1200" b="1">
                          <a:solidFill>
                            <a:srgbClr val="FFFFFF"/>
                          </a:solidFill>
                          <a:latin typeface="Segoe UI"/>
                        </a:rPr>
                        <a:t>Measure</a:t>
                      </a:r>
                    </a:p>
                  </a:txBody>
                  <a:tcPr anchor="ctr" marL="91440">
                    <a:solidFill>
                      <a:srgbClr val="006D77"/>
                    </a:solidFill>
                  </a:tcPr>
                </a:tc>
                <a:tc>
                  <a:txBody>
                    <a:bodyPr wrap="square"/>
                    <a:lstStyle/>
                    <a:p>
                      <a:r>
                        <a:rPr sz="1200" b="1">
                          <a:solidFill>
                            <a:srgbClr val="FFFFFF"/>
                          </a:solidFill>
                          <a:latin typeface="Segoe UI"/>
                        </a:rPr>
                        <a:t>Observation</a:t>
                      </a:r>
                    </a:p>
                  </a:txBody>
                  <a:tcPr anchor="ctr" marL="91440">
                    <a:solidFill>
                      <a:srgbClr val="006D77"/>
                    </a:solidFill>
                  </a:tcPr>
                </a:tc>
                <a:tc>
                  <a:txBody>
                    <a:bodyPr wrap="square"/>
                    <a:lstStyle/>
                    <a:p>
                      <a:r>
                        <a:rPr sz="1200" b="1">
                          <a:solidFill>
                            <a:srgbClr val="FFFFFF"/>
                          </a:solidFill>
                          <a:latin typeface="Segoe UI"/>
                        </a:rPr>
                        <a:t>Confidence</a:t>
                      </a:r>
                    </a:p>
                  </a:txBody>
                  <a:tcPr anchor="ctr" marL="91440">
                    <a:solidFill>
                      <a:srgbClr val="006D77"/>
                    </a:solidFill>
                  </a:tcPr>
                </a:tc>
              </a:tr>
              <a:tr h="274320">
                <a:tc>
                  <a:txBody>
                    <a:bodyPr wrap="square"/>
                    <a:lstStyle/>
                    <a:p>
                      <a:r>
                        <a:rPr sz="1200" b="1">
                          <a:solidFill>
                            <a:srgbClr val="1A1A1A"/>
                          </a:solidFill>
                          <a:latin typeface="Segoe UI"/>
                        </a:rPr>
                        <a:t>Build time</a:t>
                      </a:r>
                    </a:p>
                  </a:txBody>
                  <a:tcPr anchor="ctr" marL="91440" marT="18288" marB="18288">
                    <a:solidFill>
                      <a:srgbClr val="FFFFFF"/>
                    </a:solidFill>
                  </a:tcPr>
                </a:tc>
                <a:tc>
                  <a:txBody>
                    <a:bodyPr wrap="square"/>
                    <a:lstStyle/>
                    <a:p>
                      <a:r>
                        <a:rPr sz="1200" b="0">
                          <a:solidFill>
                            <a:srgbClr val="3C3C3C"/>
                          </a:solidFill>
                          <a:latin typeface="Segoe UI"/>
                        </a:rPr>
                        <a:t>Approximately 2 to 3 seconds</a:t>
                      </a:r>
                    </a:p>
                  </a:txBody>
                  <a:tcPr anchor="ctr" marL="91440" marT="18288" marB="18288">
                    <a:solidFill>
                      <a:srgbClr val="FFFFFF"/>
                    </a:solidFill>
                  </a:tcPr>
                </a:tc>
                <a:tc>
                  <a:txBody>
                    <a:bodyPr wrap="square"/>
                    <a:lstStyle/>
                    <a:p>
                      <a:r>
                        <a:rPr sz="1200" b="1">
                          <a:solidFill>
                            <a:srgbClr val="1A1A1A"/>
                          </a:solidFill>
                          <a:latin typeface="Segoe UI"/>
                        </a:rPr>
                        <a:t>High - repeated</a:t>
                      </a:r>
                    </a:p>
                  </a:txBody>
                  <a:tcPr anchor="ctr" marL="91440" marT="18288" marB="18288">
                    <a:solidFill>
                      <a:srgbClr val="FFFFFF"/>
                    </a:solidFill>
                  </a:tcPr>
                </a:tc>
              </a:tr>
              <a:tr h="274320">
                <a:tc>
                  <a:txBody>
                    <a:bodyPr wrap="square"/>
                    <a:lstStyle/>
                    <a:p>
                      <a:r>
                        <a:rPr sz="1200" b="1">
                          <a:solidFill>
                            <a:srgbClr val="1A1A1A"/>
                          </a:solidFill>
                          <a:latin typeface="Segoe UI"/>
                        </a:rPr>
                        <a:t>Bundle size</a:t>
                      </a:r>
                    </a:p>
                  </a:txBody>
                  <a:tcPr anchor="ctr" marL="91440" marT="18288" marB="18288">
                    <a:solidFill>
                      <a:srgbClr val="F4F5F7"/>
                    </a:solidFill>
                  </a:tcPr>
                </a:tc>
                <a:tc>
                  <a:txBody>
                    <a:bodyPr wrap="square"/>
                    <a:lstStyle/>
                    <a:p>
                      <a:r>
                        <a:rPr sz="1200" b="0">
                          <a:solidFill>
                            <a:srgbClr val="3C3C3C"/>
                          </a:solidFill>
                          <a:latin typeface="Segoe UI"/>
                        </a:rPr>
                        <a:t>327 KB raw, 91 KB gzipped</a:t>
                      </a:r>
                    </a:p>
                  </a:txBody>
                  <a:tcPr anchor="ctr" marL="91440" marT="18288" marB="18288">
                    <a:solidFill>
                      <a:srgbClr val="F4F5F7"/>
                    </a:solidFill>
                  </a:tcPr>
                </a:tc>
                <a:tc>
                  <a:txBody>
                    <a:bodyPr wrap="square"/>
                    <a:lstStyle/>
                    <a:p>
                      <a:r>
                        <a:rPr sz="1200" b="1">
                          <a:solidFill>
                            <a:srgbClr val="1A1A1A"/>
                          </a:solidFill>
                          <a:latin typeface="Segoe UI"/>
                        </a:rPr>
                        <a:t>High - measured</a:t>
                      </a:r>
                    </a:p>
                  </a:txBody>
                  <a:tcPr anchor="ctr" marL="91440" marT="18288" marB="18288">
                    <a:solidFill>
                      <a:srgbClr val="F4F5F7"/>
                    </a:solidFill>
                  </a:tcPr>
                </a:tc>
              </a:tr>
              <a:tr h="274320">
                <a:tc>
                  <a:txBody>
                    <a:bodyPr wrap="square"/>
                    <a:lstStyle/>
                    <a:p>
                      <a:r>
                        <a:rPr sz="1200" b="1">
                          <a:solidFill>
                            <a:srgbClr val="1A1A1A"/>
                          </a:solidFill>
                          <a:latin typeface="Segoe UI"/>
                        </a:rPr>
                        <a:t>Full lifecycle</a:t>
                      </a:r>
                    </a:p>
                  </a:txBody>
                  <a:tcPr anchor="ctr" marL="91440" marT="18288" marB="18288">
                    <a:solidFill>
                      <a:srgbClr val="FFFFFF"/>
                    </a:solidFill>
                  </a:tcPr>
                </a:tc>
                <a:tc>
                  <a:txBody>
                    <a:bodyPr wrap="square"/>
                    <a:lstStyle/>
                    <a:p>
                      <a:r>
                        <a:rPr sz="1200" b="0">
                          <a:solidFill>
                            <a:srgbClr val="3C3C3C"/>
                          </a:solidFill>
                          <a:latin typeface="Segoe UI"/>
                        </a:rPr>
                        <a:t>3 to 8 engine iterations per case type</a:t>
                      </a:r>
                    </a:p>
                  </a:txBody>
                  <a:tcPr anchor="ctr" marL="91440" marT="18288" marB="18288">
                    <a:solidFill>
                      <a:srgbClr val="FFFFFF"/>
                    </a:solidFill>
                  </a:tcPr>
                </a:tc>
                <a:tc>
                  <a:txBody>
                    <a:bodyPr wrap="square"/>
                    <a:lstStyle/>
                    <a:p>
                      <a:r>
                        <a:rPr sz="1200" b="1">
                          <a:solidFill>
                            <a:srgbClr val="1A1A1A"/>
                          </a:solidFill>
                          <a:latin typeface="Segoe UI"/>
                        </a:rPr>
                        <a:t>High - measured</a:t>
                      </a:r>
                    </a:p>
                  </a:txBody>
                  <a:tcPr anchor="ctr" marL="91440" marT="18288" marB="18288">
                    <a:solidFill>
                      <a:srgbClr val="FFFFFF"/>
                    </a:solidFill>
                  </a:tcPr>
                </a:tc>
              </a:tr>
              <a:tr h="274320">
                <a:tc>
                  <a:txBody>
                    <a:bodyPr wrap="square"/>
                    <a:lstStyle/>
                    <a:p>
                      <a:r>
                        <a:rPr sz="1200" b="1">
                          <a:solidFill>
                            <a:srgbClr val="1A1A1A"/>
                          </a:solidFill>
                          <a:latin typeface="Segoe UI"/>
                        </a:rPr>
                        <a:t>Config load</a:t>
                      </a:r>
                    </a:p>
                  </a:txBody>
                  <a:tcPr anchor="ctr" marL="91440" marT="18288" marB="18288">
                    <a:solidFill>
                      <a:srgbClr val="F4F5F7"/>
                    </a:solidFill>
                  </a:tcPr>
                </a:tc>
                <a:tc>
                  <a:txBody>
                    <a:bodyPr wrap="square"/>
                    <a:lstStyle/>
                    <a:p>
                      <a:r>
                        <a:rPr sz="1200" b="0">
                          <a:solidFill>
                            <a:srgbClr val="3C3C3C"/>
                          </a:solidFill>
                          <a:latin typeface="Segoe UI"/>
                        </a:rPr>
                        <a:t>Single load, shared across screens</a:t>
                      </a:r>
                    </a:p>
                  </a:txBody>
                  <a:tcPr anchor="ctr" marL="91440" marT="18288" marB="18288">
                    <a:solidFill>
                      <a:srgbClr val="F4F5F7"/>
                    </a:solidFill>
                  </a:tcPr>
                </a:tc>
                <a:tc>
                  <a:txBody>
                    <a:bodyPr wrap="square"/>
                    <a:lstStyle/>
                    <a:p>
                      <a:r>
                        <a:rPr sz="1200" b="0">
                          <a:solidFill>
                            <a:srgbClr val="3C3C3C"/>
                          </a:solidFill>
                          <a:latin typeface="Segoe UI"/>
                        </a:rPr>
                        <a:t>Medium</a:t>
                      </a:r>
                    </a:p>
                  </a:txBody>
                  <a:tcPr anchor="ctr" marL="91440" marT="18288" marB="18288">
                    <a:solidFill>
                      <a:srgbClr val="F4F5F7"/>
                    </a:solidFill>
                  </a:tcPr>
                </a:tc>
              </a:tr>
              <a:tr h="274320">
                <a:tc>
                  <a:txBody>
                    <a:bodyPr wrap="square"/>
                    <a:lstStyle/>
                    <a:p>
                      <a:r>
                        <a:rPr sz="1200" b="1">
                          <a:solidFill>
                            <a:srgbClr val="1A1A1A"/>
                          </a:solidFill>
                          <a:latin typeface="Segoe UI"/>
                        </a:rPr>
                        <a:t>Concurrent users</a:t>
                      </a:r>
                    </a:p>
                  </a:txBody>
                  <a:tcPr anchor="ctr" marL="91440" marT="18288" marB="18288">
                    <a:solidFill>
                      <a:srgbClr val="FFFFFF"/>
                    </a:solidFill>
                  </a:tcPr>
                </a:tc>
                <a:tc>
                  <a:txBody>
                    <a:bodyPr wrap="square"/>
                    <a:lstStyle/>
                    <a:p>
                      <a:r>
                        <a:rPr sz="1200" b="0">
                          <a:solidFill>
                            <a:srgbClr val="3C3C3C"/>
                          </a:solidFill>
                          <a:latin typeface="Segoe UI"/>
                        </a:rPr>
                        <a:t>Not tested</a:t>
                      </a:r>
                    </a:p>
                  </a:txBody>
                  <a:tcPr anchor="ctr" marL="91440" marT="18288" marB="18288">
                    <a:solidFill>
                      <a:srgbClr val="FFFFFF"/>
                    </a:solidFill>
                  </a:tcPr>
                </a:tc>
                <a:tc>
                  <a:txBody>
                    <a:bodyPr wrap="square"/>
                    <a:lstStyle/>
                    <a:p>
                      <a:r>
                        <a:rPr sz="1200" b="1">
                          <a:solidFill>
                            <a:srgbClr val="1A1A1A"/>
                          </a:solidFill>
                          <a:latin typeface="Segoe UI"/>
                        </a:rPr>
                        <a:t>None - out of scope</a:t>
                      </a:r>
                    </a:p>
                  </a:txBody>
                  <a:tcPr anchor="ctr" marL="91440" marT="18288" marB="18288">
                    <a:solidFill>
                      <a:srgbClr val="FFFFFF"/>
                    </a:solidFill>
                  </a:tcPr>
                </a:tc>
              </a:tr>
              <a:tr h="274320">
                <a:tc>
                  <a:txBody>
                    <a:bodyPr wrap="square"/>
                    <a:lstStyle/>
                    <a:p>
                      <a:r>
                        <a:rPr sz="1200" b="1">
                          <a:solidFill>
                            <a:srgbClr val="1A1A1A"/>
                          </a:solidFill>
                          <a:latin typeface="Segoe UI"/>
                        </a:rPr>
                        <a:t>Production volume</a:t>
                      </a:r>
                    </a:p>
                  </a:txBody>
                  <a:tcPr anchor="ctr" marL="91440" marT="18288" marB="18288">
                    <a:solidFill>
                      <a:srgbClr val="F4F5F7"/>
                    </a:solidFill>
                  </a:tcPr>
                </a:tc>
                <a:tc>
                  <a:txBody>
                    <a:bodyPr wrap="square"/>
                    <a:lstStyle/>
                    <a:p>
                      <a:r>
                        <a:rPr sz="1200" b="0">
                          <a:solidFill>
                            <a:srgbClr val="3C3C3C"/>
                          </a:solidFill>
                          <a:latin typeface="Segoe UI"/>
                        </a:rPr>
                        <a:t>Not tested</a:t>
                      </a:r>
                    </a:p>
                  </a:txBody>
                  <a:tcPr anchor="ctr" marL="91440" marT="18288" marB="18288">
                    <a:solidFill>
                      <a:srgbClr val="F4F5F7"/>
                    </a:solidFill>
                  </a:tcPr>
                </a:tc>
                <a:tc>
                  <a:txBody>
                    <a:bodyPr wrap="square"/>
                    <a:lstStyle/>
                    <a:p>
                      <a:r>
                        <a:rPr sz="1200" b="1">
                          <a:solidFill>
                            <a:srgbClr val="1A1A1A"/>
                          </a:solidFill>
                          <a:latin typeface="Segoe UI"/>
                        </a:rPr>
                        <a:t>None - out of scope</a:t>
                      </a:r>
                    </a:p>
                  </a:txBody>
                  <a:tcPr anchor="ctr" marL="91440" marT="18288" marB="18288">
                    <a:solidFill>
                      <a:srgbClr val="F4F5F7"/>
                    </a:solidFill>
                  </a:tcPr>
                </a:tc>
              </a:tr>
              <a:tr h="274320">
                <a:tc>
                  <a:txBody>
                    <a:bodyPr wrap="square"/>
                    <a:lstStyle/>
                    <a:p>
                      <a:r>
                        <a:rPr sz="1200" b="1">
                          <a:solidFill>
                            <a:srgbClr val="1A1A1A"/>
                          </a:solidFill>
                          <a:latin typeface="Segoe UI"/>
                        </a:rPr>
                        <a:t>Dataverse throughput</a:t>
                      </a:r>
                    </a:p>
                  </a:txBody>
                  <a:tcPr anchor="ctr" marL="91440" marT="18288" marB="18288">
                    <a:solidFill>
                      <a:srgbClr val="FFFFFF"/>
                    </a:solidFill>
                  </a:tcPr>
                </a:tc>
                <a:tc>
                  <a:txBody>
                    <a:bodyPr wrap="square"/>
                    <a:lstStyle/>
                    <a:p>
                      <a:r>
                        <a:rPr sz="1200" b="0">
                          <a:solidFill>
                            <a:srgbClr val="3C3C3C"/>
                          </a:solidFill>
                          <a:latin typeface="Segoe UI"/>
                        </a:rPr>
                        <a:t>Not profiled under load</a:t>
                      </a:r>
                    </a:p>
                  </a:txBody>
                  <a:tcPr anchor="ctr" marL="91440" marT="18288" marB="18288">
                    <a:solidFill>
                      <a:srgbClr val="FFFFFF"/>
                    </a:solidFill>
                  </a:tcPr>
                </a:tc>
                <a:tc>
                  <a:txBody>
                    <a:bodyPr wrap="square"/>
                    <a:lstStyle/>
                    <a:p>
                      <a:r>
                        <a:rPr sz="1200" b="1">
                          <a:solidFill>
                            <a:srgbClr val="1A1A1A"/>
                          </a:solidFill>
                          <a:latin typeface="Segoe UI"/>
                        </a:rPr>
                        <a:t>None - out of scope</a:t>
                      </a:r>
                    </a:p>
                  </a:txBody>
                  <a:tcPr anchor="ctr" marL="91440" marT="18288" marB="18288">
                    <a:solidFill>
                      <a:srgbClr val="FFFFFF"/>
                    </a:solidFill>
                  </a:tcPr>
                </a:tc>
              </a:tr>
            </a:tbl>
          </a:graphicData>
        </a:graphic>
      </p:graphicFrame>
      <p:sp>
        <p:nvSpPr>
          <p:cNvPr id="6" name="Rectangle 5"/>
          <p:cNvSpPr/>
          <p:nvPr/>
        </p:nvSpPr>
        <p:spPr>
          <a:xfrm>
            <a:off x="566928" y="4096511"/>
            <a:ext cx="11064240" cy="65836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4096511"/>
            <a:ext cx="54864" cy="658368"/>
          </a:xfrm>
          <a:prstGeom prst="rect">
            <a:avLst/>
          </a:prstGeom>
          <a:solidFill>
            <a:srgbClr val="B5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4187951"/>
            <a:ext cx="10652760" cy="493776"/>
          </a:xfrm>
          <a:prstGeom prst="rect">
            <a:avLst/>
          </a:prstGeom>
          <a:noFill/>
        </p:spPr>
        <p:txBody>
          <a:bodyPr wrap="square">
            <a:spAutoFit/>
          </a:bodyPr>
          <a:lstStyle/>
          <a:p>
            <a:pPr algn="l">
              <a:spcBef>
                <a:spcPts val="0"/>
              </a:spcBef>
              <a:spcAft>
                <a:spcPts val="0"/>
              </a:spcAft>
            </a:pPr>
            <a:r>
              <a:rPr sz="1250" b="0" i="0">
                <a:solidFill>
                  <a:srgbClr val="1A1A1A"/>
                </a:solidFill>
                <a:latin typeface="Segoe UI"/>
              </a:rPr>
              <a:t>Performance at production scale is explicitly unproven. This is a functional PoC; load testing is a Phase 1 entry criterion, not a PoC outcome.</a:t>
            </a:r>
          </a:p>
        </p:txBody>
      </p:sp>
      <p:sp>
        <p:nvSpPr>
          <p:cNvPr id="9" name="TextBox 8"/>
          <p:cNvSpPr txBox="1"/>
          <p:nvPr/>
        </p:nvSpPr>
        <p:spPr>
          <a:xfrm>
            <a:off x="566928" y="4983480"/>
            <a:ext cx="11064240" cy="882396"/>
          </a:xfrm>
          <a:prstGeom prst="rect">
            <a:avLst/>
          </a:prstGeom>
          <a:noFill/>
        </p:spPr>
        <p:txBody>
          <a:bodyPr wrap="square">
            <a:spAutoFit/>
          </a:bodyPr>
          <a:lstStyle/>
          <a:p>
            <a:pPr algn="l">
              <a:spcBef>
                <a:spcPts val="0"/>
              </a:spcBef>
              <a:spcAft>
                <a:spcPts val="900"/>
              </a:spcAft>
            </a:pPr>
            <a:r>
              <a:rPr sz="1300" b="1" i="0">
                <a:solidFill>
                  <a:srgbClr val="1A1A1A"/>
                </a:solidFill>
                <a:latin typeface="Segoe UI"/>
              </a:rPr>
              <a:t>Reasonable expectation</a:t>
            </a:r>
          </a:p>
          <a:p>
            <a:pPr algn="l">
              <a:spcBef>
                <a:spcPts val="0"/>
              </a:spcBef>
              <a:spcAft>
                <a:spcPts val="900"/>
              </a:spcAft>
            </a:pPr>
            <a:r>
              <a:rPr sz="1300" b="0" i="0">
                <a:solidFill>
                  <a:srgbClr val="1A1A1A"/>
                </a:solidFill>
                <a:latin typeface="Segoe UI"/>
              </a:rPr>
              <a:t>•  The architecture is a standard SPA over Dataverse. Performance characteristics should follow normal Dataverse patterns - the risk is in query design and row counts, not in the engine, which is pure in-memory computation over a small configuration set.</a:t>
            </a:r>
          </a:p>
        </p:txBody>
      </p:sp>
      <p:sp>
        <p:nvSpPr>
          <p:cNvPr id="10" name="TextBox 9"/>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0515600" cy="274320"/>
          </a:xfrm>
          <a:prstGeom prst="rect">
            <a:avLst/>
          </a:prstGeom>
          <a:noFill/>
        </p:spPr>
        <p:txBody>
          <a:bodyPr wrap="square">
            <a:spAutoFit/>
          </a:bodyPr>
          <a:lstStyle/>
          <a:p>
            <a:pPr algn="l">
              <a:spcBef>
                <a:spcPts val="0"/>
              </a:spcBef>
              <a:spcAft>
                <a:spcPts val="0"/>
              </a:spcAft>
            </a:pPr>
            <a:r>
              <a:rPr sz="1050" b="1" i="0">
                <a:solidFill>
                  <a:srgbClr val="006D77"/>
                </a:solidFill>
                <a:latin typeface="Segoe UI"/>
              </a:rPr>
              <a:t>VALIDATION RESULTS</a:t>
            </a:r>
          </a:p>
        </p:txBody>
      </p:sp>
      <p:sp>
        <p:nvSpPr>
          <p:cNvPr id="4" name="TextBox 3"/>
          <p:cNvSpPr txBox="1"/>
          <p:nvPr/>
        </p:nvSpPr>
        <p:spPr>
          <a:xfrm>
            <a:off x="566928" y="530352"/>
            <a:ext cx="11064240" cy="685800"/>
          </a:xfrm>
          <a:prstGeom prst="rect">
            <a:avLst/>
          </a:prstGeom>
          <a:noFill/>
        </p:spPr>
        <p:txBody>
          <a:bodyPr wrap="square">
            <a:spAutoFit/>
          </a:bodyPr>
          <a:lstStyle/>
          <a:p>
            <a:pPr algn="l">
              <a:spcBef>
                <a:spcPts val="0"/>
              </a:spcBef>
              <a:spcAft>
                <a:spcPts val="0"/>
              </a:spcAft>
            </a:pPr>
            <a:r>
              <a:rPr sz="2700" b="1" i="0">
                <a:solidFill>
                  <a:srgbClr val="1A1A1A"/>
                </a:solidFill>
                <a:latin typeface="Segoe UI"/>
              </a:rPr>
              <a:t>Gaps identified and areas needing further analysis</a:t>
            </a:r>
          </a:p>
        </p:txBody>
      </p:sp>
      <p:graphicFrame>
        <p:nvGraphicFramePr>
          <p:cNvPr id="5" name="Table 4"/>
          <p:cNvGraphicFramePr>
            <a:graphicFrameLocks noGrp="1"/>
          </p:cNvGraphicFramePr>
          <p:nvPr/>
        </p:nvGraphicFramePr>
        <p:xfrm>
          <a:off x="566928" y="1554480"/>
          <a:ext cx="11064237" cy="2542032"/>
        </p:xfrm>
        <a:graphic>
          <a:graphicData uri="http://schemas.openxmlformats.org/drawingml/2006/table">
            <a:tbl>
              <a:tblPr firstRow="1" bandRow="1">
                <a:tableStyleId>{5C22544A-7EE6-4342-B048-85BDC9FD1C3A}</a:tableStyleId>
              </a:tblPr>
              <a:tblGrid>
                <a:gridCol w="3383279"/>
                <a:gridCol w="1371599"/>
                <a:gridCol w="6309359"/>
              </a:tblGrid>
              <a:tr h="347472">
                <a:tc>
                  <a:txBody>
                    <a:bodyPr wrap="square"/>
                    <a:lstStyle/>
                    <a:p>
                      <a:r>
                        <a:rPr sz="1150" b="1">
                          <a:solidFill>
                            <a:srgbClr val="FFFFFF"/>
                          </a:solidFill>
                          <a:latin typeface="Segoe UI"/>
                        </a:rPr>
                        <a:t>Gap</a:t>
                      </a:r>
                    </a:p>
                  </a:txBody>
                  <a:tcPr anchor="ctr" marL="91440">
                    <a:solidFill>
                      <a:srgbClr val="006D77"/>
                    </a:solidFill>
                  </a:tcPr>
                </a:tc>
                <a:tc>
                  <a:txBody>
                    <a:bodyPr wrap="square"/>
                    <a:lstStyle/>
                    <a:p>
                      <a:r>
                        <a:rPr sz="1150" b="1">
                          <a:solidFill>
                            <a:srgbClr val="FFFFFF"/>
                          </a:solidFill>
                          <a:latin typeface="Segoe UI"/>
                        </a:rPr>
                        <a:t>Severity</a:t>
                      </a:r>
                    </a:p>
                  </a:txBody>
                  <a:tcPr anchor="ctr" marL="91440">
                    <a:solidFill>
                      <a:srgbClr val="006D77"/>
                    </a:solidFill>
                  </a:tcPr>
                </a:tc>
                <a:tc>
                  <a:txBody>
                    <a:bodyPr wrap="square"/>
                    <a:lstStyle/>
                    <a:p>
                      <a:r>
                        <a:rPr sz="1150" b="1">
                          <a:solidFill>
                            <a:srgbClr val="FFFFFF"/>
                          </a:solidFill>
                          <a:latin typeface="Segoe UI"/>
                        </a:rPr>
                        <a:t>Required analysis</a:t>
                      </a:r>
                    </a:p>
                  </a:txBody>
                  <a:tcPr anchor="ctr" marL="91440">
                    <a:solidFill>
                      <a:srgbClr val="006D77"/>
                    </a:solidFill>
                  </a:tcPr>
                </a:tc>
              </a:tr>
              <a:tr h="274320">
                <a:tc>
                  <a:txBody>
                    <a:bodyPr wrap="square"/>
                    <a:lstStyle/>
                    <a:p>
                      <a:r>
                        <a:rPr sz="1150" b="1">
                          <a:solidFill>
                            <a:srgbClr val="1A1A1A"/>
                          </a:solidFill>
                          <a:latin typeface="Segoe UI"/>
                        </a:rPr>
                        <a:t>Stage transition guards are inferred</a:t>
                      </a:r>
                    </a:p>
                  </a:txBody>
                  <a:tcPr anchor="ctr" marL="91440" marT="18288" marB="18288">
                    <a:solidFill>
                      <a:srgbClr val="FFFFFF"/>
                    </a:solidFill>
                  </a:tcPr>
                </a:tc>
                <a:tc>
                  <a:txBody>
                    <a:bodyPr wrap="square"/>
                    <a:lstStyle/>
                    <a:p>
                      <a:r>
                        <a:rPr sz="1150" b="1">
                          <a:solidFill>
                            <a:srgbClr val="1A1A1A"/>
                          </a:solidFill>
                          <a:latin typeface="Segoe UI"/>
                        </a:rPr>
                        <a:t>High</a:t>
                      </a:r>
                    </a:p>
                  </a:txBody>
                  <a:tcPr anchor="ctr" marL="91440" marT="18288" marB="18288">
                    <a:solidFill>
                      <a:srgbClr val="FFFFFF"/>
                    </a:solidFill>
                  </a:tcPr>
                </a:tc>
                <a:tc>
                  <a:txBody>
                    <a:bodyPr wrap="square"/>
                    <a:lstStyle/>
                    <a:p>
                      <a:r>
                        <a:rPr sz="1150" b="0">
                          <a:solidFill>
                            <a:srgbClr val="3C3C3C"/>
                          </a:solidFill>
                          <a:latin typeface="Segoe UI"/>
                        </a:rPr>
                        <a:t>Dev Studio extraction of 35 flow rules, or business workshops</a:t>
                      </a:r>
                    </a:p>
                  </a:txBody>
                  <a:tcPr anchor="ctr" marL="91440" marT="18288" marB="18288">
                    <a:solidFill>
                      <a:srgbClr val="FFFFFF"/>
                    </a:solidFill>
                  </a:tcPr>
                </a:tc>
              </a:tr>
              <a:tr h="274320">
                <a:tc>
                  <a:txBody>
                    <a:bodyPr wrap="square"/>
                    <a:lstStyle/>
                    <a:p>
                      <a:r>
                        <a:rPr sz="1150" b="1">
                          <a:solidFill>
                            <a:srgbClr val="1A1A1A"/>
                          </a:solidFill>
                          <a:latin typeface="Segoe UI"/>
                        </a:rPr>
                        <a:t>Notification content unavailable</a:t>
                      </a:r>
                    </a:p>
                  </a:txBody>
                  <a:tcPr anchor="ctr" marL="91440" marT="18288" marB="18288">
                    <a:solidFill>
                      <a:srgbClr val="F4F5F7"/>
                    </a:solidFill>
                  </a:tcPr>
                </a:tc>
                <a:tc>
                  <a:txBody>
                    <a:bodyPr wrap="square"/>
                    <a:lstStyle/>
                    <a:p>
                      <a:r>
                        <a:rPr sz="1150" b="0">
                          <a:solidFill>
                            <a:srgbClr val="3C3C3C"/>
                          </a:solidFill>
                          <a:latin typeface="Segoe UI"/>
                        </a:rPr>
                        <a:t>Medium</a:t>
                      </a:r>
                    </a:p>
                  </a:txBody>
                  <a:tcPr anchor="ctr" marL="91440" marT="18288" marB="18288">
                    <a:solidFill>
                      <a:srgbClr val="F4F5F7"/>
                    </a:solidFill>
                  </a:tcPr>
                </a:tc>
                <a:tc>
                  <a:txBody>
                    <a:bodyPr wrap="square"/>
                    <a:lstStyle/>
                    <a:p>
                      <a:r>
                        <a:rPr sz="1150" b="0">
                          <a:solidFill>
                            <a:srgbClr val="3C3C3C"/>
                          </a:solidFill>
                          <a:latin typeface="Segoe UI"/>
                        </a:rPr>
                        <a:t>Business review of 27 correspondence rules; re-author as templates</a:t>
                      </a:r>
                    </a:p>
                  </a:txBody>
                  <a:tcPr anchor="ctr" marL="91440" marT="18288" marB="18288">
                    <a:solidFill>
                      <a:srgbClr val="F4F5F7"/>
                    </a:solidFill>
                  </a:tcPr>
                </a:tc>
              </a:tr>
              <a:tr h="274320">
                <a:tc>
                  <a:txBody>
                    <a:bodyPr wrap="square"/>
                    <a:lstStyle/>
                    <a:p>
                      <a:r>
                        <a:rPr sz="1150" b="1">
                          <a:solidFill>
                            <a:srgbClr val="1A1A1A"/>
                          </a:solidFill>
                          <a:latin typeface="Segoe UI"/>
                        </a:rPr>
                        <a:t>Data transform logic unavailable</a:t>
                      </a:r>
                    </a:p>
                  </a:txBody>
                  <a:tcPr anchor="ctr" marL="91440" marT="18288" marB="18288">
                    <a:solidFill>
                      <a:srgbClr val="FFFFFF"/>
                    </a:solidFill>
                  </a:tcPr>
                </a:tc>
                <a:tc>
                  <a:txBody>
                    <a:bodyPr wrap="square"/>
                    <a:lstStyle/>
                    <a:p>
                      <a:r>
                        <a:rPr sz="1150" b="1">
                          <a:solidFill>
                            <a:srgbClr val="1A1A1A"/>
                          </a:solidFill>
                          <a:latin typeface="Segoe UI"/>
                        </a:rPr>
                        <a:t>High</a:t>
                      </a:r>
                    </a:p>
                  </a:txBody>
                  <a:tcPr anchor="ctr" marL="91440" marT="18288" marB="18288">
                    <a:solidFill>
                      <a:srgbClr val="FFFFFF"/>
                    </a:solidFill>
                  </a:tcPr>
                </a:tc>
                <a:tc>
                  <a:txBody>
                    <a:bodyPr wrap="square"/>
                    <a:lstStyle/>
                    <a:p>
                      <a:r>
                        <a:rPr sz="1150" b="0">
                          <a:solidFill>
                            <a:srgbClr val="3C3C3C"/>
                          </a:solidFill>
                          <a:latin typeface="Segoe UI"/>
                        </a:rPr>
                        <a:t>Business analysis of 20 transform steps to restate the rules</a:t>
                      </a:r>
                    </a:p>
                  </a:txBody>
                  <a:tcPr anchor="ctr" marL="91440" marT="18288" marB="18288">
                    <a:solidFill>
                      <a:srgbClr val="FFFFFF"/>
                    </a:solidFill>
                  </a:tcPr>
                </a:tc>
              </a:tr>
              <a:tr h="274320">
                <a:tc>
                  <a:txBody>
                    <a:bodyPr wrap="square"/>
                    <a:lstStyle/>
                    <a:p>
                      <a:r>
                        <a:rPr sz="1150" b="1">
                          <a:solidFill>
                            <a:srgbClr val="1A1A1A"/>
                          </a:solidFill>
                          <a:latin typeface="Segoe UI"/>
                        </a:rPr>
                        <a:t>Security model not enforced</a:t>
                      </a:r>
                    </a:p>
                  </a:txBody>
                  <a:tcPr anchor="ctr" marL="91440" marT="18288" marB="18288">
                    <a:solidFill>
                      <a:srgbClr val="F4F5F7"/>
                    </a:solidFill>
                  </a:tcPr>
                </a:tc>
                <a:tc>
                  <a:txBody>
                    <a:bodyPr wrap="square"/>
                    <a:lstStyle/>
                    <a:p>
                      <a:r>
                        <a:rPr sz="1150" b="1">
                          <a:solidFill>
                            <a:srgbClr val="1A1A1A"/>
                          </a:solidFill>
                          <a:latin typeface="Segoe UI"/>
                        </a:rPr>
                        <a:t>High</a:t>
                      </a:r>
                    </a:p>
                  </a:txBody>
                  <a:tcPr anchor="ctr" marL="91440" marT="18288" marB="18288">
                    <a:solidFill>
                      <a:srgbClr val="F4F5F7"/>
                    </a:solidFill>
                  </a:tcPr>
                </a:tc>
                <a:tc>
                  <a:txBody>
                    <a:bodyPr wrap="square"/>
                    <a:lstStyle/>
                    <a:p>
                      <a:r>
                        <a:rPr sz="1150" b="0">
                          <a:solidFill>
                            <a:srgbClr val="3C3C3C"/>
                          </a:solidFill>
                          <a:latin typeface="Segoe UI"/>
                        </a:rPr>
                        <a:t>Map 19 access groups and 18 workbaskets to Dataverse roles and teams</a:t>
                      </a:r>
                    </a:p>
                  </a:txBody>
                  <a:tcPr anchor="ctr" marL="91440" marT="18288" marB="18288">
                    <a:solidFill>
                      <a:srgbClr val="F4F5F7"/>
                    </a:solidFill>
                  </a:tcPr>
                </a:tc>
              </a:tr>
              <a:tr h="274320">
                <a:tc>
                  <a:txBody>
                    <a:bodyPr wrap="square"/>
                    <a:lstStyle/>
                    <a:p>
                      <a:r>
                        <a:rPr sz="1150" b="1">
                          <a:solidFill>
                            <a:srgbClr val="1A1A1A"/>
                          </a:solidFill>
                          <a:latin typeface="Segoe UI"/>
                        </a:rPr>
                        <a:t>No performance baseline</a:t>
                      </a:r>
                    </a:p>
                  </a:txBody>
                  <a:tcPr anchor="ctr" marL="91440" marT="18288" marB="18288">
                    <a:solidFill>
                      <a:srgbClr val="FFFFFF"/>
                    </a:solidFill>
                  </a:tcPr>
                </a:tc>
                <a:tc>
                  <a:txBody>
                    <a:bodyPr wrap="square"/>
                    <a:lstStyle/>
                    <a:p>
                      <a:r>
                        <a:rPr sz="1150" b="0">
                          <a:solidFill>
                            <a:srgbClr val="3C3C3C"/>
                          </a:solidFill>
                          <a:latin typeface="Segoe UI"/>
                        </a:rPr>
                        <a:t>Medium</a:t>
                      </a:r>
                    </a:p>
                  </a:txBody>
                  <a:tcPr anchor="ctr" marL="91440" marT="18288" marB="18288">
                    <a:solidFill>
                      <a:srgbClr val="FFFFFF"/>
                    </a:solidFill>
                  </a:tcPr>
                </a:tc>
                <a:tc>
                  <a:txBody>
                    <a:bodyPr wrap="square"/>
                    <a:lstStyle/>
                    <a:p>
                      <a:r>
                        <a:rPr sz="1150" b="0">
                          <a:solidFill>
                            <a:srgbClr val="3C3C3C"/>
                          </a:solidFill>
                          <a:latin typeface="Segoe UI"/>
                        </a:rPr>
                        <a:t>Load test at projected production volume</a:t>
                      </a:r>
                    </a:p>
                  </a:txBody>
                  <a:tcPr anchor="ctr" marL="91440" marT="18288" marB="18288">
                    <a:solidFill>
                      <a:srgbClr val="FFFFFF"/>
                    </a:solidFill>
                  </a:tcPr>
                </a:tc>
              </a:tr>
              <a:tr h="274320">
                <a:tc>
                  <a:txBody>
                    <a:bodyPr wrap="square"/>
                    <a:lstStyle/>
                    <a:p>
                      <a:r>
                        <a:rPr sz="1150" b="1">
                          <a:solidFill>
                            <a:srgbClr val="1A1A1A"/>
                          </a:solidFill>
                          <a:latin typeface="Segoe UI"/>
                        </a:rPr>
                        <a:t>In-flight case migration</a:t>
                      </a:r>
                    </a:p>
                  </a:txBody>
                  <a:tcPr anchor="ctr" marL="91440" marT="18288" marB="18288">
                    <a:solidFill>
                      <a:srgbClr val="F4F5F7"/>
                    </a:solidFill>
                  </a:tcPr>
                </a:tc>
                <a:tc>
                  <a:txBody>
                    <a:bodyPr wrap="square"/>
                    <a:lstStyle/>
                    <a:p>
                      <a:r>
                        <a:rPr sz="1150" b="0">
                          <a:solidFill>
                            <a:srgbClr val="3C3C3C"/>
                          </a:solidFill>
                          <a:latin typeface="Segoe UI"/>
                        </a:rPr>
                        <a:t>Medium</a:t>
                      </a:r>
                    </a:p>
                  </a:txBody>
                  <a:tcPr anchor="ctr" marL="91440" marT="18288" marB="18288">
                    <a:solidFill>
                      <a:srgbClr val="F4F5F7"/>
                    </a:solidFill>
                  </a:tcPr>
                </a:tc>
                <a:tc>
                  <a:txBody>
                    <a:bodyPr wrap="square"/>
                    <a:lstStyle/>
                    <a:p>
                      <a:r>
                        <a:rPr sz="1150" b="0">
                          <a:solidFill>
                            <a:srgbClr val="3C3C3C"/>
                          </a:solidFill>
                          <a:latin typeface="Segoe UI"/>
                        </a:rPr>
                        <a:t>Define cutover: drain, dual-run or migrate mid-flight</a:t>
                      </a:r>
                    </a:p>
                  </a:txBody>
                  <a:tcPr anchor="ctr" marL="91440" marT="18288" marB="18288">
                    <a:solidFill>
                      <a:srgbClr val="F4F5F7"/>
                    </a:solidFill>
                  </a:tcPr>
                </a:tc>
              </a:tr>
              <a:tr h="274320">
                <a:tc>
                  <a:txBody>
                    <a:bodyPr wrap="square"/>
                    <a:lstStyle/>
                    <a:p>
                      <a:r>
                        <a:rPr sz="1150" b="1">
                          <a:solidFill>
                            <a:srgbClr val="1A1A1A"/>
                          </a:solidFill>
                          <a:latin typeface="Segoe UI"/>
                        </a:rPr>
                        <a:t>Document generation</a:t>
                      </a:r>
                    </a:p>
                  </a:txBody>
                  <a:tcPr anchor="ctr" marL="91440" marT="18288" marB="18288">
                    <a:solidFill>
                      <a:srgbClr val="FFFFFF"/>
                    </a:solidFill>
                  </a:tcPr>
                </a:tc>
                <a:tc>
                  <a:txBody>
                    <a:bodyPr wrap="square"/>
                    <a:lstStyle/>
                    <a:p>
                      <a:r>
                        <a:rPr sz="1150" b="0">
                          <a:solidFill>
                            <a:srgbClr val="3C3C3C"/>
                          </a:solidFill>
                          <a:latin typeface="Segoe UI"/>
                        </a:rPr>
                        <a:t>Low</a:t>
                      </a:r>
                    </a:p>
                  </a:txBody>
                  <a:tcPr anchor="ctr" marL="91440" marT="18288" marB="18288">
                    <a:solidFill>
                      <a:srgbClr val="FFFFFF"/>
                    </a:solidFill>
                  </a:tcPr>
                </a:tc>
                <a:tc>
                  <a:txBody>
                    <a:bodyPr wrap="square"/>
                    <a:lstStyle/>
                    <a:p>
                      <a:r>
                        <a:rPr sz="1150" b="0">
                          <a:solidFill>
                            <a:srgbClr val="3C3C3C"/>
                          </a:solidFill>
                          <a:latin typeface="Segoe UI"/>
                        </a:rPr>
                        <a:t>Identify 4 templates and target generation mechanism</a:t>
                      </a:r>
                    </a:p>
                  </a:txBody>
                  <a:tcPr anchor="ctr" marL="91440" marT="18288" marB="18288">
                    <a:solidFill>
                      <a:srgbClr val="FFFFFF"/>
                    </a:solidFill>
                  </a:tcPr>
                </a:tc>
              </a:tr>
              <a:tr h="274320">
                <a:tc>
                  <a:txBody>
                    <a:bodyPr wrap="square"/>
                    <a:lstStyle/>
                    <a:p>
                      <a:r>
                        <a:rPr sz="1150" b="1">
                          <a:solidFill>
                            <a:srgbClr val="1A1A1A"/>
                          </a:solidFill>
                          <a:latin typeface="Segoe UI"/>
                        </a:rPr>
                        <a:t>Reporting not addressed</a:t>
                      </a:r>
                    </a:p>
                  </a:txBody>
                  <a:tcPr anchor="ctr" marL="91440" marT="18288" marB="18288">
                    <a:solidFill>
                      <a:srgbClr val="F4F5F7"/>
                    </a:solidFill>
                  </a:tcPr>
                </a:tc>
                <a:tc>
                  <a:txBody>
                    <a:bodyPr wrap="square"/>
                    <a:lstStyle/>
                    <a:p>
                      <a:r>
                        <a:rPr sz="1150" b="0">
                          <a:solidFill>
                            <a:srgbClr val="3C3C3C"/>
                          </a:solidFill>
                          <a:latin typeface="Segoe UI"/>
                        </a:rPr>
                        <a:t>Low</a:t>
                      </a:r>
                    </a:p>
                  </a:txBody>
                  <a:tcPr anchor="ctr" marL="91440" marT="18288" marB="18288">
                    <a:solidFill>
                      <a:srgbClr val="F4F5F7"/>
                    </a:solidFill>
                  </a:tcPr>
                </a:tc>
                <a:tc>
                  <a:txBody>
                    <a:bodyPr wrap="square"/>
                    <a:lstStyle/>
                    <a:p>
                      <a:r>
                        <a:rPr sz="1150" b="0">
                          <a:solidFill>
                            <a:srgbClr val="3C3C3C"/>
                          </a:solidFill>
                          <a:latin typeface="Segoe UI"/>
                        </a:rPr>
                        <a:t>Assess 30 report definitions for Power BI equivalents</a:t>
                      </a:r>
                    </a:p>
                  </a:txBody>
                  <a:tcPr anchor="ctr" marL="91440" marT="18288" marB="18288">
                    <a:solidFill>
                      <a:srgbClr val="F4F5F7"/>
                    </a:solidFill>
                  </a:tcPr>
                </a:tc>
              </a:tr>
            </a:tbl>
          </a:graphicData>
        </a:graphic>
      </p:graphicFrame>
      <p:sp>
        <p:nvSpPr>
          <p:cNvPr id="6" name="Rectangle 5"/>
          <p:cNvSpPr/>
          <p:nvPr/>
        </p:nvSpPr>
        <p:spPr>
          <a:xfrm>
            <a:off x="566928" y="4370831"/>
            <a:ext cx="11064240" cy="65836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4370831"/>
            <a:ext cx="54864" cy="658368"/>
          </a:xfrm>
          <a:prstGeom prst="rect">
            <a:avLst/>
          </a:prstGeom>
          <a:solidFill>
            <a:srgbClr val="B5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4462271"/>
            <a:ext cx="10652760" cy="493776"/>
          </a:xfrm>
          <a:prstGeom prst="rect">
            <a:avLst/>
          </a:prstGeom>
          <a:noFill/>
        </p:spPr>
        <p:txBody>
          <a:bodyPr wrap="square">
            <a:spAutoFit/>
          </a:bodyPr>
          <a:lstStyle/>
          <a:p>
            <a:pPr algn="l">
              <a:spcBef>
                <a:spcPts val="0"/>
              </a:spcBef>
              <a:spcAft>
                <a:spcPts val="0"/>
              </a:spcAft>
            </a:pPr>
            <a:r>
              <a:rPr sz="1250" b="0" i="0">
                <a:solidFill>
                  <a:srgbClr val="1A1A1A"/>
                </a:solidFill>
                <a:latin typeface="Segoe UI"/>
              </a:rPr>
              <a:t>Three high-severity gaps all share a root cause: business logic that Pega executes but does not expose. Each needs business input, not just engineering.</a:t>
            </a:r>
          </a:p>
        </p:txBody>
      </p:sp>
      <p:sp>
        <p:nvSpPr>
          <p:cNvPr id="9" name="TextBox 8"/>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331720"/>
            <a:ext cx="1828800" cy="1097280"/>
          </a:xfrm>
          <a:prstGeom prst="rect">
            <a:avLst/>
          </a:prstGeom>
          <a:noFill/>
        </p:spPr>
        <p:txBody>
          <a:bodyPr wrap="square">
            <a:spAutoFit/>
          </a:bodyPr>
          <a:lstStyle/>
          <a:p>
            <a:pPr algn="l">
              <a:spcBef>
                <a:spcPts val="0"/>
              </a:spcBef>
              <a:spcAft>
                <a:spcPts val="0"/>
              </a:spcAft>
            </a:pPr>
            <a:r>
              <a:rPr sz="6400" b="1" i="0">
                <a:solidFill>
                  <a:srgbClr val="7FC4CB"/>
                </a:solidFill>
                <a:latin typeface="Segoe UI"/>
              </a:rPr>
              <a:t>09</a:t>
            </a:r>
          </a:p>
        </p:txBody>
      </p:sp>
      <p:sp>
        <p:nvSpPr>
          <p:cNvPr id="5" name="TextBox 4"/>
          <p:cNvSpPr txBox="1"/>
          <p:nvPr/>
        </p:nvSpPr>
        <p:spPr>
          <a:xfrm>
            <a:off x="2331720" y="2487168"/>
            <a:ext cx="8778240" cy="914400"/>
          </a:xfrm>
          <a:prstGeom prst="rect">
            <a:avLst/>
          </a:prstGeom>
          <a:noFill/>
        </p:spPr>
        <p:txBody>
          <a:bodyPr wrap="square">
            <a:spAutoFit/>
          </a:bodyPr>
          <a:lstStyle/>
          <a:p>
            <a:pPr algn="l">
              <a:spcBef>
                <a:spcPts val="0"/>
              </a:spcBef>
              <a:spcAft>
                <a:spcPts val="0"/>
              </a:spcAft>
            </a:pPr>
            <a:r>
              <a:rPr sz="3400" b="1" i="0">
                <a:solidFill>
                  <a:srgbClr val="FFFFFF"/>
                </a:solidFill>
                <a:latin typeface="Segoe UI"/>
              </a:rPr>
              <a:t>Effort &amp; Risk Assessment</a:t>
            </a:r>
          </a:p>
        </p:txBody>
      </p:sp>
      <p:sp>
        <p:nvSpPr>
          <p:cNvPr id="6" name="TextBox 5"/>
          <p:cNvSpPr txBox="1"/>
          <p:nvPr/>
        </p:nvSpPr>
        <p:spPr>
          <a:xfrm>
            <a:off x="2395728" y="3401568"/>
            <a:ext cx="8595360" cy="640080"/>
          </a:xfrm>
          <a:prstGeom prst="rect">
            <a:avLst/>
          </a:prstGeom>
          <a:noFill/>
        </p:spPr>
        <p:txBody>
          <a:bodyPr wrap="square">
            <a:spAutoFit/>
          </a:bodyPr>
          <a:lstStyle/>
          <a:p>
            <a:pPr algn="l">
              <a:spcBef>
                <a:spcPts val="0"/>
              </a:spcBef>
              <a:spcAft>
                <a:spcPts val="0"/>
              </a:spcAft>
            </a:pPr>
            <a:r>
              <a:rPr sz="1450" b="0" i="0">
                <a:solidFill>
                  <a:srgbClr val="D6ECEE"/>
                </a:solidFill>
                <a:latin typeface="Segoe UI"/>
              </a:rPr>
              <a:t>Estimates, risks and mitigations</a:t>
            </a:r>
          </a:p>
        </p:txBody>
      </p:sp>
      <p:sp>
        <p:nvSpPr>
          <p:cNvPr id="7" name="TextBox 6"/>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0515600" cy="274320"/>
          </a:xfrm>
          <a:prstGeom prst="rect">
            <a:avLst/>
          </a:prstGeom>
          <a:noFill/>
        </p:spPr>
        <p:txBody>
          <a:bodyPr wrap="square">
            <a:spAutoFit/>
          </a:bodyPr>
          <a:lstStyle/>
          <a:p>
            <a:pPr algn="l">
              <a:spcBef>
                <a:spcPts val="0"/>
              </a:spcBef>
              <a:spcAft>
                <a:spcPts val="0"/>
              </a:spcAft>
            </a:pPr>
            <a:r>
              <a:rPr sz="1050" b="1" i="0">
                <a:solidFill>
                  <a:srgbClr val="006D77"/>
                </a:solidFill>
                <a:latin typeface="Segoe UI"/>
              </a:rPr>
              <a:t>EFFORT &amp; RISK</a:t>
            </a:r>
          </a:p>
        </p:txBody>
      </p:sp>
      <p:sp>
        <p:nvSpPr>
          <p:cNvPr id="4" name="TextBox 3"/>
          <p:cNvSpPr txBox="1"/>
          <p:nvPr/>
        </p:nvSpPr>
        <p:spPr>
          <a:xfrm>
            <a:off x="566928" y="530352"/>
            <a:ext cx="11064240" cy="685800"/>
          </a:xfrm>
          <a:prstGeom prst="rect">
            <a:avLst/>
          </a:prstGeom>
          <a:noFill/>
        </p:spPr>
        <p:txBody>
          <a:bodyPr wrap="square">
            <a:spAutoFit/>
          </a:bodyPr>
          <a:lstStyle/>
          <a:p>
            <a:pPr algn="l">
              <a:spcBef>
                <a:spcPts val="0"/>
              </a:spcBef>
              <a:spcAft>
                <a:spcPts val="0"/>
              </a:spcAft>
            </a:pPr>
            <a:r>
              <a:rPr sz="2700" b="1" i="0">
                <a:solidFill>
                  <a:srgbClr val="1A1A1A"/>
                </a:solidFill>
                <a:latin typeface="Segoe UI"/>
              </a:rPr>
              <a:t>Estimated migration effort</a:t>
            </a:r>
          </a:p>
        </p:txBody>
      </p:sp>
      <p:graphicFrame>
        <p:nvGraphicFramePr>
          <p:cNvPr id="5" name="Table 4"/>
          <p:cNvGraphicFramePr>
            <a:graphicFrameLocks noGrp="1"/>
          </p:cNvGraphicFramePr>
          <p:nvPr/>
        </p:nvGraphicFramePr>
        <p:xfrm>
          <a:off x="566928" y="1508760"/>
          <a:ext cx="9189718" cy="3364992"/>
        </p:xfrm>
        <a:graphic>
          <a:graphicData uri="http://schemas.openxmlformats.org/drawingml/2006/table">
            <a:tbl>
              <a:tblPr firstRow="1" bandRow="1">
                <a:tableStyleId>{5C22544A-7EE6-4342-B048-85BDC9FD1C3A}</a:tableStyleId>
              </a:tblPr>
              <a:tblGrid>
                <a:gridCol w="3263638"/>
                <a:gridCol w="4551917"/>
                <a:gridCol w="1374163"/>
              </a:tblGrid>
              <a:tr h="347472">
                <a:tc>
                  <a:txBody>
                    <a:bodyPr wrap="square"/>
                    <a:lstStyle/>
                    <a:p>
                      <a:r>
                        <a:rPr sz="1150" b="1">
                          <a:solidFill>
                            <a:srgbClr val="FFFFFF"/>
                          </a:solidFill>
                          <a:latin typeface="Segoe UI"/>
                        </a:rPr>
                        <a:t>Workstream</a:t>
                      </a:r>
                    </a:p>
                  </a:txBody>
                  <a:tcPr anchor="ctr" marL="91440">
                    <a:solidFill>
                      <a:srgbClr val="006D77"/>
                    </a:solidFill>
                  </a:tcPr>
                </a:tc>
                <a:tc>
                  <a:txBody>
                    <a:bodyPr wrap="square"/>
                    <a:lstStyle/>
                    <a:p>
                      <a:r>
                        <a:rPr sz="1150" b="1">
                          <a:solidFill>
                            <a:srgbClr val="FFFFFF"/>
                          </a:solidFill>
                          <a:latin typeface="Segoe UI"/>
                        </a:rPr>
                        <a:t>Basis</a:t>
                      </a:r>
                    </a:p>
                  </a:txBody>
                  <a:tcPr anchor="ctr" marL="91440">
                    <a:solidFill>
                      <a:srgbClr val="006D77"/>
                    </a:solidFill>
                  </a:tcPr>
                </a:tc>
                <a:tc>
                  <a:txBody>
                    <a:bodyPr wrap="square"/>
                    <a:lstStyle/>
                    <a:p>
                      <a:r>
                        <a:rPr sz="1150" b="1">
                          <a:solidFill>
                            <a:srgbClr val="FFFFFF"/>
                          </a:solidFill>
                          <a:latin typeface="Segoe UI"/>
                        </a:rPr>
                        <a:t>Days</a:t>
                      </a:r>
                    </a:p>
                  </a:txBody>
                  <a:tcPr anchor="ctr" marL="91440">
                    <a:solidFill>
                      <a:srgbClr val="006D77"/>
                    </a:solidFill>
                  </a:tcPr>
                </a:tc>
              </a:tr>
              <a:tr h="274320">
                <a:tc>
                  <a:txBody>
                    <a:bodyPr wrap="square"/>
                    <a:lstStyle/>
                    <a:p>
                      <a:r>
                        <a:rPr sz="1150" b="1">
                          <a:solidFill>
                            <a:srgbClr val="1A1A1A"/>
                          </a:solidFill>
                          <a:latin typeface="Segoe UI"/>
                        </a:rPr>
                        <a:t>Guard and flow logic recovery</a:t>
                      </a:r>
                    </a:p>
                  </a:txBody>
                  <a:tcPr anchor="ctr" marL="91440" marT="18288" marB="18288">
                    <a:solidFill>
                      <a:srgbClr val="FFFFFF"/>
                    </a:solidFill>
                  </a:tcPr>
                </a:tc>
                <a:tc>
                  <a:txBody>
                    <a:bodyPr wrap="square"/>
                    <a:lstStyle/>
                    <a:p>
                      <a:r>
                        <a:rPr sz="1150" b="0">
                          <a:solidFill>
                            <a:srgbClr val="3C3C3C"/>
                          </a:solidFill>
                          <a:latin typeface="Segoe UI"/>
                        </a:rPr>
                        <a:t>35 flow rules, workshops</a:t>
                      </a:r>
                    </a:p>
                  </a:txBody>
                  <a:tcPr anchor="ctr" marL="91440" marT="18288" marB="18288">
                    <a:solidFill>
                      <a:srgbClr val="FFFFFF"/>
                    </a:solidFill>
                  </a:tcPr>
                </a:tc>
                <a:tc>
                  <a:txBody>
                    <a:bodyPr wrap="square"/>
                    <a:lstStyle/>
                    <a:p>
                      <a:r>
                        <a:rPr sz="1150" b="0">
                          <a:solidFill>
                            <a:srgbClr val="3C3C3C"/>
                          </a:solidFill>
                          <a:latin typeface="Segoe UI"/>
                        </a:rPr>
                        <a:t>10 - 15</a:t>
                      </a:r>
                    </a:p>
                  </a:txBody>
                  <a:tcPr anchor="ctr" marL="91440" marT="18288" marB="18288">
                    <a:solidFill>
                      <a:srgbClr val="FFFFFF"/>
                    </a:solidFill>
                  </a:tcPr>
                </a:tc>
              </a:tr>
              <a:tr h="274320">
                <a:tc>
                  <a:txBody>
                    <a:bodyPr wrap="square"/>
                    <a:lstStyle/>
                    <a:p>
                      <a:r>
                        <a:rPr sz="1150" b="1">
                          <a:solidFill>
                            <a:srgbClr val="1A1A1A"/>
                          </a:solidFill>
                          <a:latin typeface="Segoe UI"/>
                        </a:rPr>
                        <a:t>Data transform implementation</a:t>
                      </a:r>
                    </a:p>
                  </a:txBody>
                  <a:tcPr anchor="ctr" marL="91440" marT="18288" marB="18288">
                    <a:solidFill>
                      <a:srgbClr val="F4F5F7"/>
                    </a:solidFill>
                  </a:tcPr>
                </a:tc>
                <a:tc>
                  <a:txBody>
                    <a:bodyPr wrap="square"/>
                    <a:lstStyle/>
                    <a:p>
                      <a:r>
                        <a:rPr sz="1150" b="0">
                          <a:solidFill>
                            <a:srgbClr val="3C3C3C"/>
                          </a:solidFill>
                          <a:latin typeface="Segoe UI"/>
                        </a:rPr>
                        <a:t>20 transform steps</a:t>
                      </a:r>
                    </a:p>
                  </a:txBody>
                  <a:tcPr anchor="ctr" marL="91440" marT="18288" marB="18288">
                    <a:solidFill>
                      <a:srgbClr val="F4F5F7"/>
                    </a:solidFill>
                  </a:tcPr>
                </a:tc>
                <a:tc>
                  <a:txBody>
                    <a:bodyPr wrap="square"/>
                    <a:lstStyle/>
                    <a:p>
                      <a:r>
                        <a:rPr sz="1150" b="0">
                          <a:solidFill>
                            <a:srgbClr val="3C3C3C"/>
                          </a:solidFill>
                          <a:latin typeface="Segoe UI"/>
                        </a:rPr>
                        <a:t>15 - 20</a:t>
                      </a:r>
                    </a:p>
                  </a:txBody>
                  <a:tcPr anchor="ctr" marL="91440" marT="18288" marB="18288">
                    <a:solidFill>
                      <a:srgbClr val="F4F5F7"/>
                    </a:solidFill>
                  </a:tcPr>
                </a:tc>
              </a:tr>
              <a:tr h="274320">
                <a:tc>
                  <a:txBody>
                    <a:bodyPr wrap="square"/>
                    <a:lstStyle/>
                    <a:p>
                      <a:r>
                        <a:rPr sz="1150" b="1">
                          <a:solidFill>
                            <a:srgbClr val="1A1A1A"/>
                          </a:solidFill>
                          <a:latin typeface="Segoe UI"/>
                        </a:rPr>
                        <a:t>Notification implementation</a:t>
                      </a:r>
                    </a:p>
                  </a:txBody>
                  <a:tcPr anchor="ctr" marL="91440" marT="18288" marB="18288">
                    <a:solidFill>
                      <a:srgbClr val="FFFFFF"/>
                    </a:solidFill>
                  </a:tcPr>
                </a:tc>
                <a:tc>
                  <a:txBody>
                    <a:bodyPr wrap="square"/>
                    <a:lstStyle/>
                    <a:p>
                      <a:r>
                        <a:rPr sz="1150" b="0">
                          <a:solidFill>
                            <a:srgbClr val="3C3C3C"/>
                          </a:solidFill>
                          <a:latin typeface="Segoe UI"/>
                        </a:rPr>
                        <a:t>17 steps / 27 rules</a:t>
                      </a:r>
                    </a:p>
                  </a:txBody>
                  <a:tcPr anchor="ctr" marL="91440" marT="18288" marB="18288">
                    <a:solidFill>
                      <a:srgbClr val="FFFFFF"/>
                    </a:solidFill>
                  </a:tcPr>
                </a:tc>
                <a:tc>
                  <a:txBody>
                    <a:bodyPr wrap="square"/>
                    <a:lstStyle/>
                    <a:p>
                      <a:r>
                        <a:rPr sz="1150" b="0">
                          <a:solidFill>
                            <a:srgbClr val="3C3C3C"/>
                          </a:solidFill>
                          <a:latin typeface="Segoe UI"/>
                        </a:rPr>
                        <a:t>8 - 12</a:t>
                      </a:r>
                    </a:p>
                  </a:txBody>
                  <a:tcPr anchor="ctr" marL="91440" marT="18288" marB="18288">
                    <a:solidFill>
                      <a:srgbClr val="FFFFFF"/>
                    </a:solidFill>
                  </a:tcPr>
                </a:tc>
              </a:tr>
              <a:tr h="274320">
                <a:tc>
                  <a:txBody>
                    <a:bodyPr wrap="square"/>
                    <a:lstStyle/>
                    <a:p>
                      <a:r>
                        <a:rPr sz="1150" b="1">
                          <a:solidFill>
                            <a:srgbClr val="1A1A1A"/>
                          </a:solidFill>
                          <a:latin typeface="Segoe UI"/>
                        </a:rPr>
                        <a:t>Document generation</a:t>
                      </a:r>
                    </a:p>
                  </a:txBody>
                  <a:tcPr anchor="ctr" marL="91440" marT="18288" marB="18288">
                    <a:solidFill>
                      <a:srgbClr val="F4F5F7"/>
                    </a:solidFill>
                  </a:tcPr>
                </a:tc>
                <a:tc>
                  <a:txBody>
                    <a:bodyPr wrap="square"/>
                    <a:lstStyle/>
                    <a:p>
                      <a:r>
                        <a:rPr sz="1150" b="0">
                          <a:solidFill>
                            <a:srgbClr val="3C3C3C"/>
                          </a:solidFill>
                          <a:latin typeface="Segoe UI"/>
                        </a:rPr>
                        <a:t>4 steps</a:t>
                      </a:r>
                    </a:p>
                  </a:txBody>
                  <a:tcPr anchor="ctr" marL="91440" marT="18288" marB="18288">
                    <a:solidFill>
                      <a:srgbClr val="F4F5F7"/>
                    </a:solidFill>
                  </a:tcPr>
                </a:tc>
                <a:tc>
                  <a:txBody>
                    <a:bodyPr wrap="square"/>
                    <a:lstStyle/>
                    <a:p>
                      <a:r>
                        <a:rPr sz="1150" b="0">
                          <a:solidFill>
                            <a:srgbClr val="3C3C3C"/>
                          </a:solidFill>
                          <a:latin typeface="Segoe UI"/>
                        </a:rPr>
                        <a:t>5 - 8</a:t>
                      </a:r>
                    </a:p>
                  </a:txBody>
                  <a:tcPr anchor="ctr" marL="91440" marT="18288" marB="18288">
                    <a:solidFill>
                      <a:srgbClr val="F4F5F7"/>
                    </a:solidFill>
                  </a:tcPr>
                </a:tc>
              </a:tr>
              <a:tr h="274320">
                <a:tc>
                  <a:txBody>
                    <a:bodyPr wrap="square"/>
                    <a:lstStyle/>
                    <a:p>
                      <a:r>
                        <a:rPr sz="1150" b="1">
                          <a:solidFill>
                            <a:srgbClr val="1A1A1A"/>
                          </a:solidFill>
                          <a:latin typeface="Segoe UI"/>
                        </a:rPr>
                        <a:t>Security model</a:t>
                      </a:r>
                    </a:p>
                  </a:txBody>
                  <a:tcPr anchor="ctr" marL="91440" marT="18288" marB="18288">
                    <a:solidFill>
                      <a:srgbClr val="FFFFFF"/>
                    </a:solidFill>
                  </a:tcPr>
                </a:tc>
                <a:tc>
                  <a:txBody>
                    <a:bodyPr wrap="square"/>
                    <a:lstStyle/>
                    <a:p>
                      <a:r>
                        <a:rPr sz="1150" b="0">
                          <a:solidFill>
                            <a:srgbClr val="3C3C3C"/>
                          </a:solidFill>
                          <a:latin typeface="Segoe UI"/>
                        </a:rPr>
                        <a:t>19 roles, 30 grants, 18 workbaskets</a:t>
                      </a:r>
                    </a:p>
                  </a:txBody>
                  <a:tcPr anchor="ctr" marL="91440" marT="18288" marB="18288">
                    <a:solidFill>
                      <a:srgbClr val="FFFFFF"/>
                    </a:solidFill>
                  </a:tcPr>
                </a:tc>
                <a:tc>
                  <a:txBody>
                    <a:bodyPr wrap="square"/>
                    <a:lstStyle/>
                    <a:p>
                      <a:r>
                        <a:rPr sz="1150" b="0">
                          <a:solidFill>
                            <a:srgbClr val="3C3C3C"/>
                          </a:solidFill>
                          <a:latin typeface="Segoe UI"/>
                        </a:rPr>
                        <a:t>12 - 18</a:t>
                      </a:r>
                    </a:p>
                  </a:txBody>
                  <a:tcPr anchor="ctr" marL="91440" marT="18288" marB="18288">
                    <a:solidFill>
                      <a:srgbClr val="FFFFFF"/>
                    </a:solidFill>
                  </a:tcPr>
                </a:tc>
              </a:tr>
              <a:tr h="274320">
                <a:tc>
                  <a:txBody>
                    <a:bodyPr wrap="square"/>
                    <a:lstStyle/>
                    <a:p>
                      <a:r>
                        <a:rPr sz="1150" b="1">
                          <a:solidFill>
                            <a:srgbClr val="1A1A1A"/>
                          </a:solidFill>
                          <a:latin typeface="Segoe UI"/>
                        </a:rPr>
                        <a:t>Attachments and storage</a:t>
                      </a:r>
                    </a:p>
                  </a:txBody>
                  <a:tcPr anchor="ctr" marL="91440" marT="18288" marB="18288">
                    <a:solidFill>
                      <a:srgbClr val="F4F5F7"/>
                    </a:solidFill>
                  </a:tcPr>
                </a:tc>
                <a:tc>
                  <a:txBody>
                    <a:bodyPr wrap="square"/>
                    <a:lstStyle/>
                    <a:p>
                      <a:r>
                        <a:rPr sz="1150" b="0">
                          <a:solidFill>
                            <a:srgbClr val="3C3C3C"/>
                          </a:solidFill>
                          <a:latin typeface="Segoe UI"/>
                        </a:rPr>
                        <a:t>12 attachment categories</a:t>
                      </a:r>
                    </a:p>
                  </a:txBody>
                  <a:tcPr anchor="ctr" marL="91440" marT="18288" marB="18288">
                    <a:solidFill>
                      <a:srgbClr val="F4F5F7"/>
                    </a:solidFill>
                  </a:tcPr>
                </a:tc>
                <a:tc>
                  <a:txBody>
                    <a:bodyPr wrap="square"/>
                    <a:lstStyle/>
                    <a:p>
                      <a:r>
                        <a:rPr sz="1150" b="0">
                          <a:solidFill>
                            <a:srgbClr val="3C3C3C"/>
                          </a:solidFill>
                          <a:latin typeface="Segoe UI"/>
                        </a:rPr>
                        <a:t>5 - 8</a:t>
                      </a:r>
                    </a:p>
                  </a:txBody>
                  <a:tcPr anchor="ctr" marL="91440" marT="18288" marB="18288">
                    <a:solidFill>
                      <a:srgbClr val="F4F5F7"/>
                    </a:solidFill>
                  </a:tcPr>
                </a:tc>
              </a:tr>
              <a:tr h="274320">
                <a:tc>
                  <a:txBody>
                    <a:bodyPr wrap="square"/>
                    <a:lstStyle/>
                    <a:p>
                      <a:r>
                        <a:rPr sz="1150" b="1">
                          <a:solidFill>
                            <a:srgbClr val="1A1A1A"/>
                          </a:solidFill>
                          <a:latin typeface="Segoe UI"/>
                        </a:rPr>
                        <a:t>SLA escalation timers</a:t>
                      </a:r>
                    </a:p>
                  </a:txBody>
                  <a:tcPr anchor="ctr" marL="91440" marT="18288" marB="18288">
                    <a:solidFill>
                      <a:srgbClr val="FFFFFF"/>
                    </a:solidFill>
                  </a:tcPr>
                </a:tc>
                <a:tc>
                  <a:txBody>
                    <a:bodyPr wrap="square"/>
                    <a:lstStyle/>
                    <a:p>
                      <a:r>
                        <a:rPr sz="1150" b="0">
                          <a:solidFill>
                            <a:srgbClr val="3C3C3C"/>
                          </a:solidFill>
                          <a:latin typeface="Segoe UI"/>
                        </a:rPr>
                        <a:t>Scheduled flows</a:t>
                      </a:r>
                    </a:p>
                  </a:txBody>
                  <a:tcPr anchor="ctr" marL="91440" marT="18288" marB="18288">
                    <a:solidFill>
                      <a:srgbClr val="FFFFFF"/>
                    </a:solidFill>
                  </a:tcPr>
                </a:tc>
                <a:tc>
                  <a:txBody>
                    <a:bodyPr wrap="square"/>
                    <a:lstStyle/>
                    <a:p>
                      <a:r>
                        <a:rPr sz="1150" b="0">
                          <a:solidFill>
                            <a:srgbClr val="3C3C3C"/>
                          </a:solidFill>
                          <a:latin typeface="Segoe UI"/>
                        </a:rPr>
                        <a:t>5 - 8</a:t>
                      </a:r>
                    </a:p>
                  </a:txBody>
                  <a:tcPr anchor="ctr" marL="91440" marT="18288" marB="18288">
                    <a:solidFill>
                      <a:srgbClr val="FFFFFF"/>
                    </a:solidFill>
                  </a:tcPr>
                </a:tc>
              </a:tr>
              <a:tr h="274320">
                <a:tc>
                  <a:txBody>
                    <a:bodyPr wrap="square"/>
                    <a:lstStyle/>
                    <a:p>
                      <a:r>
                        <a:rPr sz="1150" b="1">
                          <a:solidFill>
                            <a:srgbClr val="1A1A1A"/>
                          </a:solidFill>
                          <a:latin typeface="Segoe UI"/>
                        </a:rPr>
                        <a:t>Unit tests and hardening</a:t>
                      </a:r>
                    </a:p>
                  </a:txBody>
                  <a:tcPr anchor="ctr" marL="91440" marT="18288" marB="18288">
                    <a:solidFill>
                      <a:srgbClr val="F4F5F7"/>
                    </a:solidFill>
                  </a:tcPr>
                </a:tc>
                <a:tc>
                  <a:txBody>
                    <a:bodyPr wrap="square"/>
                    <a:lstStyle/>
                    <a:p>
                      <a:r>
                        <a:rPr sz="1150" b="0">
                          <a:solidFill>
                            <a:srgbClr val="3C3C3C"/>
                          </a:solidFill>
                          <a:latin typeface="Segoe UI"/>
                        </a:rPr>
                        <a:t>Engine is pure - straightforward</a:t>
                      </a:r>
                    </a:p>
                  </a:txBody>
                  <a:tcPr anchor="ctr" marL="91440" marT="18288" marB="18288">
                    <a:solidFill>
                      <a:srgbClr val="F4F5F7"/>
                    </a:solidFill>
                  </a:tcPr>
                </a:tc>
                <a:tc>
                  <a:txBody>
                    <a:bodyPr wrap="square"/>
                    <a:lstStyle/>
                    <a:p>
                      <a:r>
                        <a:rPr sz="1150" b="0">
                          <a:solidFill>
                            <a:srgbClr val="3C3C3C"/>
                          </a:solidFill>
                          <a:latin typeface="Segoe UI"/>
                        </a:rPr>
                        <a:t>10 - 15</a:t>
                      </a:r>
                    </a:p>
                  </a:txBody>
                  <a:tcPr anchor="ctr" marL="91440" marT="18288" marB="18288">
                    <a:solidFill>
                      <a:srgbClr val="F4F5F7"/>
                    </a:solidFill>
                  </a:tcPr>
                </a:tc>
              </a:tr>
              <a:tr h="274320">
                <a:tc>
                  <a:txBody>
                    <a:bodyPr wrap="square"/>
                    <a:lstStyle/>
                    <a:p>
                      <a:r>
                        <a:rPr sz="1150" b="1">
                          <a:solidFill>
                            <a:srgbClr val="1A1A1A"/>
                          </a:solidFill>
                          <a:latin typeface="Segoe UI"/>
                        </a:rPr>
                        <a:t>ALM pipeline and environments</a:t>
                      </a:r>
                    </a:p>
                  </a:txBody>
                  <a:tcPr anchor="ctr" marL="91440" marT="18288" marB="18288">
                    <a:solidFill>
                      <a:srgbClr val="FFFFFF"/>
                    </a:solidFill>
                  </a:tcPr>
                </a:tc>
                <a:tc>
                  <a:txBody>
                    <a:bodyPr wrap="square"/>
                    <a:lstStyle/>
                    <a:p>
                      <a:r>
                        <a:rPr sz="1150" b="0">
                          <a:solidFill>
                            <a:srgbClr val="3C3C3C"/>
                          </a:solidFill>
                          <a:latin typeface="Segoe UI"/>
                        </a:rPr>
                        <a:t>Managed solution, 3 environments</a:t>
                      </a:r>
                    </a:p>
                  </a:txBody>
                  <a:tcPr anchor="ctr" marL="91440" marT="18288" marB="18288">
                    <a:solidFill>
                      <a:srgbClr val="FFFFFF"/>
                    </a:solidFill>
                  </a:tcPr>
                </a:tc>
                <a:tc>
                  <a:txBody>
                    <a:bodyPr wrap="square"/>
                    <a:lstStyle/>
                    <a:p>
                      <a:r>
                        <a:rPr sz="1150" b="0">
                          <a:solidFill>
                            <a:srgbClr val="3C3C3C"/>
                          </a:solidFill>
                          <a:latin typeface="Segoe UI"/>
                        </a:rPr>
                        <a:t>8 - 12</a:t>
                      </a:r>
                    </a:p>
                  </a:txBody>
                  <a:tcPr anchor="ctr" marL="91440" marT="18288" marB="18288">
                    <a:solidFill>
                      <a:srgbClr val="FFFFFF"/>
                    </a:solidFill>
                  </a:tcPr>
                </a:tc>
              </a:tr>
              <a:tr h="274320">
                <a:tc>
                  <a:txBody>
                    <a:bodyPr wrap="square"/>
                    <a:lstStyle/>
                    <a:p>
                      <a:r>
                        <a:rPr sz="1150" b="1">
                          <a:solidFill>
                            <a:srgbClr val="1A1A1A"/>
                          </a:solidFill>
                          <a:latin typeface="Segoe UI"/>
                        </a:rPr>
                        <a:t>UAT, data migration and cutover</a:t>
                      </a:r>
                    </a:p>
                  </a:txBody>
                  <a:tcPr anchor="ctr" marL="91440" marT="18288" marB="18288">
                    <a:solidFill>
                      <a:srgbClr val="F4F5F7"/>
                    </a:solidFill>
                  </a:tcPr>
                </a:tc>
                <a:tc>
                  <a:txBody>
                    <a:bodyPr wrap="square"/>
                    <a:lstStyle/>
                    <a:p>
                      <a:r>
                        <a:rPr sz="1150" b="0">
                          <a:solidFill>
                            <a:srgbClr val="3C3C3C"/>
                          </a:solidFill>
                          <a:latin typeface="Segoe UI"/>
                        </a:rPr>
                        <a:t>Including in-flight strategy</a:t>
                      </a:r>
                    </a:p>
                  </a:txBody>
                  <a:tcPr anchor="ctr" marL="91440" marT="18288" marB="18288">
                    <a:solidFill>
                      <a:srgbClr val="F4F5F7"/>
                    </a:solidFill>
                  </a:tcPr>
                </a:tc>
                <a:tc>
                  <a:txBody>
                    <a:bodyPr wrap="square"/>
                    <a:lstStyle/>
                    <a:p>
                      <a:r>
                        <a:rPr sz="1150" b="0">
                          <a:solidFill>
                            <a:srgbClr val="3C3C3C"/>
                          </a:solidFill>
                          <a:latin typeface="Segoe UI"/>
                        </a:rPr>
                        <a:t>15 - 25</a:t>
                      </a:r>
                    </a:p>
                  </a:txBody>
                  <a:tcPr anchor="ctr" marL="91440" marT="18288" marB="18288">
                    <a:solidFill>
                      <a:srgbClr val="F4F5F7"/>
                    </a:solidFill>
                  </a:tcPr>
                </a:tc>
              </a:tr>
              <a:tr h="274320">
                <a:tc>
                  <a:txBody>
                    <a:bodyPr wrap="square"/>
                    <a:lstStyle/>
                    <a:p>
                      <a:r>
                        <a:rPr sz="1150" b="1">
                          <a:solidFill>
                            <a:srgbClr val="1A1A1A"/>
                          </a:solidFill>
                          <a:latin typeface="Segoe UI"/>
                        </a:rPr>
                        <a:t>TOTAL</a:t>
                      </a:r>
                    </a:p>
                  </a:txBody>
                  <a:tcPr anchor="ctr" marL="91440" marT="18288" marB="18288">
                    <a:solidFill>
                      <a:srgbClr val="FFFFFF"/>
                    </a:solidFill>
                  </a:tcPr>
                </a:tc>
                <a:tc>
                  <a:txBody>
                    <a:bodyPr wrap="square"/>
                    <a:lstStyle/>
                    <a:p>
                      <a:r>
                        <a:rPr sz="1150" b="1">
                          <a:solidFill>
                            <a:srgbClr val="1A1A1A"/>
                          </a:solidFill>
                          <a:latin typeface="Segoe UI"/>
                        </a:rPr>
                        <a:t>One application of this complexity</a:t>
                      </a:r>
                    </a:p>
                  </a:txBody>
                  <a:tcPr anchor="ctr" marL="91440" marT="18288" marB="18288">
                    <a:solidFill>
                      <a:srgbClr val="FFFFFF"/>
                    </a:solidFill>
                  </a:tcPr>
                </a:tc>
                <a:tc>
                  <a:txBody>
                    <a:bodyPr wrap="square"/>
                    <a:lstStyle/>
                    <a:p>
                      <a:r>
                        <a:rPr sz="1150" b="1">
                          <a:solidFill>
                            <a:srgbClr val="1A1A1A"/>
                          </a:solidFill>
                          <a:latin typeface="Segoe UI"/>
                        </a:rPr>
                        <a:t>93 - 141</a:t>
                      </a:r>
                    </a:p>
                  </a:txBody>
                  <a:tcPr anchor="ctr" marL="91440" marT="18288" marB="18288">
                    <a:solidFill>
                      <a:srgbClr val="FFFFFF"/>
                    </a:solidFill>
                  </a:tcPr>
                </a:tc>
              </a:tr>
            </a:tbl>
          </a:graphicData>
        </a:graphic>
      </p:graphicFrame>
      <p:sp>
        <p:nvSpPr>
          <p:cNvPr id="6" name="TextBox 5"/>
          <p:cNvSpPr txBox="1"/>
          <p:nvPr/>
        </p:nvSpPr>
        <p:spPr>
          <a:xfrm>
            <a:off x="10012680" y="1536192"/>
            <a:ext cx="1783080" cy="3225800"/>
          </a:xfrm>
          <a:prstGeom prst="rect">
            <a:avLst/>
          </a:prstGeom>
          <a:noFill/>
        </p:spPr>
        <p:txBody>
          <a:bodyPr wrap="square">
            <a:spAutoFit/>
          </a:bodyPr>
          <a:lstStyle/>
          <a:p>
            <a:pPr algn="l">
              <a:spcBef>
                <a:spcPts val="0"/>
              </a:spcBef>
              <a:spcAft>
                <a:spcPts val="400"/>
              </a:spcAft>
            </a:pPr>
            <a:r>
              <a:rPr sz="1000" b="1" i="0">
                <a:solidFill>
                  <a:srgbClr val="1A1A1A"/>
                </a:solidFill>
                <a:latin typeface="Segoe UI"/>
              </a:rPr>
              <a:t>Calibration</a:t>
            </a:r>
          </a:p>
          <a:p>
            <a:pPr algn="l">
              <a:spcBef>
                <a:spcPts val="0"/>
              </a:spcBef>
              <a:spcAft>
                <a:spcPts val="400"/>
              </a:spcAft>
            </a:pPr>
            <a:r>
              <a:rPr sz="1000" b="0" i="0">
                <a:solidFill>
                  <a:srgbClr val="1A1A1A"/>
                </a:solidFill>
                <a:latin typeface="Segoe UI"/>
              </a:rPr>
              <a:t>•  Derived from PoC actuals: 27 tables, 80 steps, ~6,400 hand-written lines.</a:t>
            </a:r>
          </a:p>
          <a:p>
            <a:pPr algn="l">
              <a:spcBef>
                <a:spcPts val="800"/>
              </a:spcBef>
              <a:spcAft>
                <a:spcPts val="400"/>
              </a:spcAft>
            </a:pPr>
            <a:r>
              <a:rPr sz="1000" b="1" i="0">
                <a:solidFill>
                  <a:srgbClr val="1A1A1A"/>
                </a:solidFill>
                <a:latin typeface="Segoe UI"/>
              </a:rPr>
              <a:t>Team shape</a:t>
            </a:r>
          </a:p>
          <a:p>
            <a:pPr algn="l">
              <a:spcBef>
                <a:spcPts val="0"/>
              </a:spcBef>
              <a:spcAft>
                <a:spcPts val="400"/>
              </a:spcAft>
            </a:pPr>
            <a:r>
              <a:rPr sz="1000" b="0" i="0">
                <a:solidFill>
                  <a:srgbClr val="1A1A1A"/>
                </a:solidFill>
                <a:latin typeface="Segoe UI"/>
              </a:rPr>
              <a:t>•  3 people: approximately 7 to 10 weeks elapsed.</a:t>
            </a:r>
          </a:p>
          <a:p>
            <a:pPr algn="l">
              <a:spcBef>
                <a:spcPts val="800"/>
              </a:spcBef>
              <a:spcAft>
                <a:spcPts val="400"/>
              </a:spcAft>
            </a:pPr>
            <a:r>
              <a:rPr sz="1000" b="1" i="0">
                <a:solidFill>
                  <a:srgbClr val="1A1A1A"/>
                </a:solidFill>
                <a:latin typeface="Segoe UI"/>
              </a:rPr>
              <a:t>Excludes</a:t>
            </a:r>
          </a:p>
          <a:p>
            <a:pPr algn="l">
              <a:spcBef>
                <a:spcPts val="0"/>
              </a:spcBef>
              <a:spcAft>
                <a:spcPts val="400"/>
              </a:spcAft>
            </a:pPr>
            <a:r>
              <a:rPr sz="1000" b="0" i="0">
                <a:solidFill>
                  <a:srgbClr val="1A1A1A"/>
                </a:solidFill>
                <a:latin typeface="Segoe UI"/>
              </a:rPr>
              <a:t>•  Reporting, org change and training.</a:t>
            </a:r>
          </a:p>
          <a:p>
            <a:pPr algn="l">
              <a:spcBef>
                <a:spcPts val="800"/>
              </a:spcBef>
              <a:spcAft>
                <a:spcPts val="400"/>
              </a:spcAft>
            </a:pPr>
            <a:r>
              <a:rPr sz="1000" b="1" i="0">
                <a:solidFill>
                  <a:srgbClr val="1A1A1A"/>
                </a:solidFill>
                <a:latin typeface="Segoe UI"/>
              </a:rPr>
              <a:t>Second application</a:t>
            </a:r>
          </a:p>
          <a:p>
            <a:pPr algn="l">
              <a:spcBef>
                <a:spcPts val="0"/>
              </a:spcBef>
              <a:spcAft>
                <a:spcPts val="400"/>
              </a:spcAft>
            </a:pPr>
            <a:r>
              <a:rPr sz="1000" b="0" i="0">
                <a:solidFill>
                  <a:srgbClr val="1A1A1A"/>
                </a:solidFill>
                <a:latin typeface="Segoe UI"/>
              </a:rPr>
              <a:t>•  Expect 40 to 50% less - the engine, forms and pipeline are reusable.</a:t>
            </a:r>
          </a:p>
        </p:txBody>
      </p:sp>
      <p:sp>
        <p:nvSpPr>
          <p:cNvPr id="7" name="Rectangle 6"/>
          <p:cNvSpPr/>
          <p:nvPr/>
        </p:nvSpPr>
        <p:spPr>
          <a:xfrm>
            <a:off x="566928" y="5148071"/>
            <a:ext cx="11064240" cy="65836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5148071"/>
            <a:ext cx="54864" cy="658368"/>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5239511"/>
            <a:ext cx="10652760" cy="493776"/>
          </a:xfrm>
          <a:prstGeom prst="rect">
            <a:avLst/>
          </a:prstGeom>
          <a:noFill/>
        </p:spPr>
        <p:txBody>
          <a:bodyPr wrap="square">
            <a:spAutoFit/>
          </a:bodyPr>
          <a:lstStyle/>
          <a:p>
            <a:pPr algn="l">
              <a:spcBef>
                <a:spcPts val="0"/>
              </a:spcBef>
              <a:spcAft>
                <a:spcPts val="0"/>
              </a:spcAft>
            </a:pPr>
            <a:r>
              <a:rPr sz="1250" b="0" i="0">
                <a:solidFill>
                  <a:srgbClr val="1A1A1A"/>
                </a:solidFill>
                <a:latin typeface="Segoe UI"/>
              </a:rPr>
              <a:t>The automated portion of a migration is days of work. The estimate above is almost entirely the manual 51% - which is why quantifying it early matters more than tooling.</a:t>
            </a:r>
          </a:p>
        </p:txBody>
      </p:sp>
      <p:sp>
        <p:nvSpPr>
          <p:cNvPr id="10" name="TextBox 9"/>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0515600" cy="274320"/>
          </a:xfrm>
          <a:prstGeom prst="rect">
            <a:avLst/>
          </a:prstGeom>
          <a:noFill/>
        </p:spPr>
        <p:txBody>
          <a:bodyPr wrap="square">
            <a:spAutoFit/>
          </a:bodyPr>
          <a:lstStyle/>
          <a:p>
            <a:pPr algn="l">
              <a:spcBef>
                <a:spcPts val="0"/>
              </a:spcBef>
              <a:spcAft>
                <a:spcPts val="0"/>
              </a:spcAft>
            </a:pPr>
            <a:r>
              <a:rPr sz="1050" b="1" i="0">
                <a:solidFill>
                  <a:srgbClr val="006D77"/>
                </a:solidFill>
                <a:latin typeface="Segoe UI"/>
              </a:rPr>
              <a:t>EFFORT &amp; RISK</a:t>
            </a:r>
          </a:p>
        </p:txBody>
      </p:sp>
      <p:sp>
        <p:nvSpPr>
          <p:cNvPr id="4" name="TextBox 3"/>
          <p:cNvSpPr txBox="1"/>
          <p:nvPr/>
        </p:nvSpPr>
        <p:spPr>
          <a:xfrm>
            <a:off x="566928" y="530352"/>
            <a:ext cx="11064240" cy="685800"/>
          </a:xfrm>
          <a:prstGeom prst="rect">
            <a:avLst/>
          </a:prstGeom>
          <a:noFill/>
        </p:spPr>
        <p:txBody>
          <a:bodyPr wrap="square">
            <a:spAutoFit/>
          </a:bodyPr>
          <a:lstStyle/>
          <a:p>
            <a:pPr algn="l">
              <a:spcBef>
                <a:spcPts val="0"/>
              </a:spcBef>
              <a:spcAft>
                <a:spcPts val="0"/>
              </a:spcAft>
            </a:pPr>
            <a:r>
              <a:rPr sz="2700" b="1" i="0">
                <a:solidFill>
                  <a:srgbClr val="1A1A1A"/>
                </a:solidFill>
                <a:latin typeface="Segoe UI"/>
              </a:rPr>
              <a:t>Key risks and mitigations</a:t>
            </a:r>
          </a:p>
        </p:txBody>
      </p:sp>
      <p:graphicFrame>
        <p:nvGraphicFramePr>
          <p:cNvPr id="5" name="Table 4"/>
          <p:cNvGraphicFramePr>
            <a:graphicFrameLocks noGrp="1"/>
          </p:cNvGraphicFramePr>
          <p:nvPr/>
        </p:nvGraphicFramePr>
        <p:xfrm>
          <a:off x="566928" y="1554480"/>
          <a:ext cx="11064236" cy="2267712"/>
        </p:xfrm>
        <a:graphic>
          <a:graphicData uri="http://schemas.openxmlformats.org/drawingml/2006/table">
            <a:tbl>
              <a:tblPr firstRow="1" bandRow="1">
                <a:tableStyleId>{5C22544A-7EE6-4342-B048-85BDC9FD1C3A}</a:tableStyleId>
              </a:tblPr>
              <a:tblGrid>
                <a:gridCol w="3108959"/>
                <a:gridCol w="457199"/>
                <a:gridCol w="457199"/>
                <a:gridCol w="7040879"/>
              </a:tblGrid>
              <a:tr h="347472">
                <a:tc>
                  <a:txBody>
                    <a:bodyPr wrap="square"/>
                    <a:lstStyle/>
                    <a:p>
                      <a:r>
                        <a:rPr sz="1100" b="1">
                          <a:solidFill>
                            <a:srgbClr val="FFFFFF"/>
                          </a:solidFill>
                          <a:latin typeface="Segoe UI"/>
                        </a:rPr>
                        <a:t>Risk</a:t>
                      </a:r>
                    </a:p>
                  </a:txBody>
                  <a:tcPr anchor="ctr" marL="91440">
                    <a:solidFill>
                      <a:srgbClr val="006D77"/>
                    </a:solidFill>
                  </a:tcPr>
                </a:tc>
                <a:tc>
                  <a:txBody>
                    <a:bodyPr wrap="square"/>
                    <a:lstStyle/>
                    <a:p>
                      <a:r>
                        <a:rPr sz="1100" b="1">
                          <a:solidFill>
                            <a:srgbClr val="FFFFFF"/>
                          </a:solidFill>
                          <a:latin typeface="Segoe UI"/>
                        </a:rPr>
                        <a:t>L</a:t>
                      </a:r>
                    </a:p>
                  </a:txBody>
                  <a:tcPr anchor="ctr" marL="91440">
                    <a:solidFill>
                      <a:srgbClr val="006D77"/>
                    </a:solidFill>
                  </a:tcPr>
                </a:tc>
                <a:tc>
                  <a:txBody>
                    <a:bodyPr wrap="square"/>
                    <a:lstStyle/>
                    <a:p>
                      <a:r>
                        <a:rPr sz="1100" b="1">
                          <a:solidFill>
                            <a:srgbClr val="FFFFFF"/>
                          </a:solidFill>
                          <a:latin typeface="Segoe UI"/>
                        </a:rPr>
                        <a:t>I</a:t>
                      </a:r>
                    </a:p>
                  </a:txBody>
                  <a:tcPr anchor="ctr" marL="91440">
                    <a:solidFill>
                      <a:srgbClr val="006D77"/>
                    </a:solidFill>
                  </a:tcPr>
                </a:tc>
                <a:tc>
                  <a:txBody>
                    <a:bodyPr wrap="square"/>
                    <a:lstStyle/>
                    <a:p>
                      <a:r>
                        <a:rPr sz="1100" b="1">
                          <a:solidFill>
                            <a:srgbClr val="FFFFFF"/>
                          </a:solidFill>
                          <a:latin typeface="Segoe UI"/>
                        </a:rPr>
                        <a:t>Mitigation</a:t>
                      </a:r>
                    </a:p>
                  </a:txBody>
                  <a:tcPr anchor="ctr" marL="91440">
                    <a:solidFill>
                      <a:srgbClr val="006D77"/>
                    </a:solidFill>
                  </a:tcPr>
                </a:tc>
              </a:tr>
              <a:tr h="274320">
                <a:tc>
                  <a:txBody>
                    <a:bodyPr wrap="square"/>
                    <a:lstStyle/>
                    <a:p>
                      <a:r>
                        <a:rPr sz="1100" b="1">
                          <a:solidFill>
                            <a:srgbClr val="1A1A1A"/>
                          </a:solidFill>
                          <a:latin typeface="Segoe UI"/>
                        </a:rPr>
                        <a:t>Inferred guards do not match real business rules</a:t>
                      </a:r>
                    </a:p>
                  </a:txBody>
                  <a:tcPr anchor="ctr" marL="91440" marT="18288" marB="18288">
                    <a:solidFill>
                      <a:srgbClr val="FFFFFF"/>
                    </a:solidFill>
                  </a:tcPr>
                </a:tc>
                <a:tc>
                  <a:txBody>
                    <a:bodyPr wrap="square"/>
                    <a:lstStyle/>
                    <a:p>
                      <a:r>
                        <a:rPr sz="1100" b="1">
                          <a:solidFill>
                            <a:srgbClr val="1A1A1A"/>
                          </a:solidFill>
                          <a:latin typeface="Segoe UI"/>
                        </a:rPr>
                        <a:t>H</a:t>
                      </a:r>
                    </a:p>
                  </a:txBody>
                  <a:tcPr anchor="ctr" marL="91440" marT="18288" marB="18288">
                    <a:solidFill>
                      <a:srgbClr val="FFFFFF"/>
                    </a:solidFill>
                  </a:tcPr>
                </a:tc>
                <a:tc>
                  <a:txBody>
                    <a:bodyPr wrap="square"/>
                    <a:lstStyle/>
                    <a:p>
                      <a:r>
                        <a:rPr sz="1100" b="1">
                          <a:solidFill>
                            <a:srgbClr val="1A1A1A"/>
                          </a:solidFill>
                          <a:latin typeface="Segoe UI"/>
                        </a:rPr>
                        <a:t>H</a:t>
                      </a:r>
                    </a:p>
                  </a:txBody>
                  <a:tcPr anchor="ctr" marL="91440" marT="18288" marB="18288">
                    <a:solidFill>
                      <a:srgbClr val="FFFFFF"/>
                    </a:solidFill>
                  </a:tcPr>
                </a:tc>
                <a:tc>
                  <a:txBody>
                    <a:bodyPr wrap="square"/>
                    <a:lstStyle/>
                    <a:p>
                      <a:r>
                        <a:rPr sz="1100" b="0">
                          <a:solidFill>
                            <a:srgbClr val="3C3C3C"/>
                          </a:solidFill>
                          <a:latin typeface="Segoe UI"/>
                        </a:rPr>
                        <a:t>Two-layer defence already in place: inferred guard plus a hard re-visit cap. Replace with real conditions in Phase 1 - a data edit, no redeploy</a:t>
                      </a:r>
                    </a:p>
                  </a:txBody>
                  <a:tcPr anchor="ctr" marL="91440" marT="18288" marB="18288">
                    <a:solidFill>
                      <a:srgbClr val="FFFFFF"/>
                    </a:solidFill>
                  </a:tcPr>
                </a:tc>
              </a:tr>
              <a:tr h="274320">
                <a:tc>
                  <a:txBody>
                    <a:bodyPr wrap="square"/>
                    <a:lstStyle/>
                    <a:p>
                      <a:r>
                        <a:rPr sz="1100" b="1">
                          <a:solidFill>
                            <a:srgbClr val="1A1A1A"/>
                          </a:solidFill>
                          <a:latin typeface="Segoe UI"/>
                        </a:rPr>
                        <a:t>Data transform logic cannot be reconstructed</a:t>
                      </a:r>
                    </a:p>
                  </a:txBody>
                  <a:tcPr anchor="ctr" marL="91440" marT="18288" marB="18288">
                    <a:solidFill>
                      <a:srgbClr val="F4F5F7"/>
                    </a:solidFill>
                  </a:tcPr>
                </a:tc>
                <a:tc>
                  <a:txBody>
                    <a:bodyPr wrap="square"/>
                    <a:lstStyle/>
                    <a:p>
                      <a:r>
                        <a:rPr sz="1100" b="0">
                          <a:solidFill>
                            <a:srgbClr val="3C3C3C"/>
                          </a:solidFill>
                          <a:latin typeface="Segoe UI"/>
                        </a:rPr>
                        <a:t>M</a:t>
                      </a:r>
                    </a:p>
                  </a:txBody>
                  <a:tcPr anchor="ctr" marL="91440" marT="18288" marB="18288">
                    <a:solidFill>
                      <a:srgbClr val="F4F5F7"/>
                    </a:solidFill>
                  </a:tcPr>
                </a:tc>
                <a:tc>
                  <a:txBody>
                    <a:bodyPr wrap="square"/>
                    <a:lstStyle/>
                    <a:p>
                      <a:r>
                        <a:rPr sz="1100" b="1">
                          <a:solidFill>
                            <a:srgbClr val="1A1A1A"/>
                          </a:solidFill>
                          <a:latin typeface="Segoe UI"/>
                        </a:rPr>
                        <a:t>H</a:t>
                      </a:r>
                    </a:p>
                  </a:txBody>
                  <a:tcPr anchor="ctr" marL="91440" marT="18288" marB="18288">
                    <a:solidFill>
                      <a:srgbClr val="F4F5F7"/>
                    </a:solidFill>
                  </a:tcPr>
                </a:tc>
                <a:tc>
                  <a:txBody>
                    <a:bodyPr wrap="square"/>
                    <a:lstStyle/>
                    <a:p>
                      <a:r>
                        <a:rPr sz="1100" b="0">
                          <a:solidFill>
                            <a:srgbClr val="3C3C3C"/>
                          </a:solidFill>
                          <a:latin typeface="Segoe UI"/>
                        </a:rPr>
                        <a:t>Business workshops per transform; 20 are in scope and individually identified</a:t>
                      </a:r>
                    </a:p>
                  </a:txBody>
                  <a:tcPr anchor="ctr" marL="91440" marT="18288" marB="18288">
                    <a:solidFill>
                      <a:srgbClr val="F4F5F7"/>
                    </a:solidFill>
                  </a:tcPr>
                </a:tc>
              </a:tr>
              <a:tr h="274320">
                <a:tc>
                  <a:txBody>
                    <a:bodyPr wrap="square"/>
                    <a:lstStyle/>
                    <a:p>
                      <a:r>
                        <a:rPr sz="1100" b="1">
                          <a:solidFill>
                            <a:srgbClr val="1A1A1A"/>
                          </a:solidFill>
                          <a:latin typeface="Segoe UI"/>
                        </a:rPr>
                        <a:t>Security model mismatch</a:t>
                      </a:r>
                    </a:p>
                  </a:txBody>
                  <a:tcPr anchor="ctr" marL="91440" marT="18288" marB="18288">
                    <a:solidFill>
                      <a:srgbClr val="FFFFFF"/>
                    </a:solidFill>
                  </a:tcPr>
                </a:tc>
                <a:tc>
                  <a:txBody>
                    <a:bodyPr wrap="square"/>
                    <a:lstStyle/>
                    <a:p>
                      <a:r>
                        <a:rPr sz="1100" b="0">
                          <a:solidFill>
                            <a:srgbClr val="3C3C3C"/>
                          </a:solidFill>
                          <a:latin typeface="Segoe UI"/>
                        </a:rPr>
                        <a:t>M</a:t>
                      </a:r>
                    </a:p>
                  </a:txBody>
                  <a:tcPr anchor="ctr" marL="91440" marT="18288" marB="18288">
                    <a:solidFill>
                      <a:srgbClr val="FFFFFF"/>
                    </a:solidFill>
                  </a:tcPr>
                </a:tc>
                <a:tc>
                  <a:txBody>
                    <a:bodyPr wrap="square"/>
                    <a:lstStyle/>
                    <a:p>
                      <a:r>
                        <a:rPr sz="1100" b="1">
                          <a:solidFill>
                            <a:srgbClr val="1A1A1A"/>
                          </a:solidFill>
                          <a:latin typeface="Segoe UI"/>
                        </a:rPr>
                        <a:t>H</a:t>
                      </a:r>
                    </a:p>
                  </a:txBody>
                  <a:tcPr anchor="ctr" marL="91440" marT="18288" marB="18288">
                    <a:solidFill>
                      <a:srgbClr val="FFFFFF"/>
                    </a:solidFill>
                  </a:tcPr>
                </a:tc>
                <a:tc>
                  <a:txBody>
                    <a:bodyPr wrap="square"/>
                    <a:lstStyle/>
                    <a:p>
                      <a:r>
                        <a:rPr sz="1100" b="0">
                          <a:solidFill>
                            <a:srgbClr val="3C3C3C"/>
                          </a:solidFill>
                          <a:latin typeface="Segoe UI"/>
                        </a:rPr>
                        <a:t>Design Dataverse roles and teams early; validate with a security workshop before build</a:t>
                      </a:r>
                    </a:p>
                  </a:txBody>
                  <a:tcPr anchor="ctr" marL="91440" marT="18288" marB="18288">
                    <a:solidFill>
                      <a:srgbClr val="FFFFFF"/>
                    </a:solidFill>
                  </a:tcPr>
                </a:tc>
              </a:tr>
              <a:tr h="274320">
                <a:tc>
                  <a:txBody>
                    <a:bodyPr wrap="square"/>
                    <a:lstStyle/>
                    <a:p>
                      <a:r>
                        <a:rPr sz="1100" b="1">
                          <a:solidFill>
                            <a:srgbClr val="1A1A1A"/>
                          </a:solidFill>
                          <a:latin typeface="Segoe UI"/>
                        </a:rPr>
                        <a:t>Performance at production volume</a:t>
                      </a:r>
                    </a:p>
                  </a:txBody>
                  <a:tcPr anchor="ctr" marL="91440" marT="18288" marB="18288">
                    <a:solidFill>
                      <a:srgbClr val="F4F5F7"/>
                    </a:solidFill>
                  </a:tcPr>
                </a:tc>
                <a:tc>
                  <a:txBody>
                    <a:bodyPr wrap="square"/>
                    <a:lstStyle/>
                    <a:p>
                      <a:r>
                        <a:rPr sz="1100" b="0">
                          <a:solidFill>
                            <a:srgbClr val="3C3C3C"/>
                          </a:solidFill>
                          <a:latin typeface="Segoe UI"/>
                        </a:rPr>
                        <a:t>M</a:t>
                      </a:r>
                    </a:p>
                  </a:txBody>
                  <a:tcPr anchor="ctr" marL="91440" marT="18288" marB="18288">
                    <a:solidFill>
                      <a:srgbClr val="F4F5F7"/>
                    </a:solidFill>
                  </a:tcPr>
                </a:tc>
                <a:tc>
                  <a:txBody>
                    <a:bodyPr wrap="square"/>
                    <a:lstStyle/>
                    <a:p>
                      <a:r>
                        <a:rPr sz="1100" b="0">
                          <a:solidFill>
                            <a:srgbClr val="3C3C3C"/>
                          </a:solidFill>
                          <a:latin typeface="Segoe UI"/>
                        </a:rPr>
                        <a:t>M</a:t>
                      </a:r>
                    </a:p>
                  </a:txBody>
                  <a:tcPr anchor="ctr" marL="91440" marT="18288" marB="18288">
                    <a:solidFill>
                      <a:srgbClr val="F4F5F7"/>
                    </a:solidFill>
                  </a:tcPr>
                </a:tc>
                <a:tc>
                  <a:txBody>
                    <a:bodyPr wrap="square"/>
                    <a:lstStyle/>
                    <a:p>
                      <a:r>
                        <a:rPr sz="1100" b="0">
                          <a:solidFill>
                            <a:srgbClr val="3C3C3C"/>
                          </a:solidFill>
                          <a:latin typeface="Segoe UI"/>
                        </a:rPr>
                        <a:t>Load test as a Phase 1 entry criterion; Dataverse elastic tables if needed</a:t>
                      </a:r>
                    </a:p>
                  </a:txBody>
                  <a:tcPr anchor="ctr" marL="91440" marT="18288" marB="18288">
                    <a:solidFill>
                      <a:srgbClr val="F4F5F7"/>
                    </a:solidFill>
                  </a:tcPr>
                </a:tc>
              </a:tr>
              <a:tr h="274320">
                <a:tc>
                  <a:txBody>
                    <a:bodyPr wrap="square"/>
                    <a:lstStyle/>
                    <a:p>
                      <a:r>
                        <a:rPr sz="1100" b="1">
                          <a:solidFill>
                            <a:srgbClr val="1A1A1A"/>
                          </a:solidFill>
                          <a:latin typeface="Segoe UI"/>
                        </a:rPr>
                        <a:t>Low-fidelity re-extraction corrupts config</a:t>
                      </a:r>
                    </a:p>
                  </a:txBody>
                  <a:tcPr anchor="ctr" marL="91440" marT="18288" marB="18288">
                    <a:solidFill>
                      <a:srgbClr val="FFFFFF"/>
                    </a:solidFill>
                  </a:tcPr>
                </a:tc>
                <a:tc>
                  <a:txBody>
                    <a:bodyPr wrap="square"/>
                    <a:lstStyle/>
                    <a:p>
                      <a:r>
                        <a:rPr sz="1100" b="1">
                          <a:solidFill>
                            <a:srgbClr val="1A1A1A"/>
                          </a:solidFill>
                          <a:latin typeface="Segoe UI"/>
                        </a:rPr>
                        <a:t>L</a:t>
                      </a:r>
                    </a:p>
                  </a:txBody>
                  <a:tcPr anchor="ctr" marL="91440" marT="18288" marB="18288">
                    <a:solidFill>
                      <a:srgbClr val="FFFFFF"/>
                    </a:solidFill>
                  </a:tcPr>
                </a:tc>
                <a:tc>
                  <a:txBody>
                    <a:bodyPr wrap="square"/>
                    <a:lstStyle/>
                    <a:p>
                      <a:r>
                        <a:rPr sz="1100" b="1">
                          <a:solidFill>
                            <a:srgbClr val="1A1A1A"/>
                          </a:solidFill>
                          <a:latin typeface="Segoe UI"/>
                        </a:rPr>
                        <a:t>H</a:t>
                      </a:r>
                    </a:p>
                  </a:txBody>
                  <a:tcPr anchor="ctr" marL="91440" marT="18288" marB="18288">
                    <a:solidFill>
                      <a:srgbClr val="FFFFFF"/>
                    </a:solidFill>
                  </a:tcPr>
                </a:tc>
                <a:tc>
                  <a:txBody>
                    <a:bodyPr wrap="square"/>
                    <a:lstStyle/>
                    <a:p>
                      <a:r>
                        <a:rPr sz="1100" b="1">
                          <a:solidFill>
                            <a:srgbClr val="1A1A1A"/>
                          </a:solidFill>
                          <a:latin typeface="Segoe UI"/>
                        </a:rPr>
                        <a:t>Already mitigated - the loader refuses degraded extractions</a:t>
                      </a:r>
                    </a:p>
                  </a:txBody>
                  <a:tcPr anchor="ctr" marL="91440" marT="18288" marB="18288">
                    <a:solidFill>
                      <a:srgbClr val="FFFFFF"/>
                    </a:solidFill>
                  </a:tcPr>
                </a:tc>
              </a:tr>
              <a:tr h="274320">
                <a:tc>
                  <a:txBody>
                    <a:bodyPr wrap="square"/>
                    <a:lstStyle/>
                    <a:p>
                      <a:r>
                        <a:rPr sz="1100" b="1">
                          <a:solidFill>
                            <a:srgbClr val="1A1A1A"/>
                          </a:solidFill>
                          <a:latin typeface="Segoe UI"/>
                        </a:rPr>
                        <a:t>Pega SME availability</a:t>
                      </a:r>
                    </a:p>
                  </a:txBody>
                  <a:tcPr anchor="ctr" marL="91440" marT="18288" marB="18288">
                    <a:solidFill>
                      <a:srgbClr val="F4F5F7"/>
                    </a:solidFill>
                  </a:tcPr>
                </a:tc>
                <a:tc>
                  <a:txBody>
                    <a:bodyPr wrap="square"/>
                    <a:lstStyle/>
                    <a:p>
                      <a:r>
                        <a:rPr sz="1100" b="0">
                          <a:solidFill>
                            <a:srgbClr val="3C3C3C"/>
                          </a:solidFill>
                          <a:latin typeface="Segoe UI"/>
                        </a:rPr>
                        <a:t>M</a:t>
                      </a:r>
                    </a:p>
                  </a:txBody>
                  <a:tcPr anchor="ctr" marL="91440" marT="18288" marB="18288">
                    <a:solidFill>
                      <a:srgbClr val="F4F5F7"/>
                    </a:solidFill>
                  </a:tcPr>
                </a:tc>
                <a:tc>
                  <a:txBody>
                    <a:bodyPr wrap="square"/>
                    <a:lstStyle/>
                    <a:p>
                      <a:r>
                        <a:rPr sz="1100" b="0">
                          <a:solidFill>
                            <a:srgbClr val="3C3C3C"/>
                          </a:solidFill>
                          <a:latin typeface="Segoe UI"/>
                        </a:rPr>
                        <a:t>M</a:t>
                      </a:r>
                    </a:p>
                  </a:txBody>
                  <a:tcPr anchor="ctr" marL="91440" marT="18288" marB="18288">
                    <a:solidFill>
                      <a:srgbClr val="F4F5F7"/>
                    </a:solidFill>
                  </a:tcPr>
                </a:tc>
                <a:tc>
                  <a:txBody>
                    <a:bodyPr wrap="square"/>
                    <a:lstStyle/>
                    <a:p>
                      <a:r>
                        <a:rPr sz="1100" b="0">
                          <a:solidFill>
                            <a:srgbClr val="3C3C3C"/>
                          </a:solidFill>
                          <a:latin typeface="Segoe UI"/>
                        </a:rPr>
                        <a:t>Book Dev Studio access and SME time before Phase 1 starts</a:t>
                      </a:r>
                    </a:p>
                  </a:txBody>
                  <a:tcPr anchor="ctr" marL="91440" marT="18288" marB="18288">
                    <a:solidFill>
                      <a:srgbClr val="F4F5F7"/>
                    </a:solidFill>
                  </a:tcPr>
                </a:tc>
              </a:tr>
              <a:tr h="274320">
                <a:tc>
                  <a:txBody>
                    <a:bodyPr wrap="square"/>
                    <a:lstStyle/>
                    <a:p>
                      <a:r>
                        <a:rPr sz="1100" b="1">
                          <a:solidFill>
                            <a:srgbClr val="1A1A1A"/>
                          </a:solidFill>
                          <a:latin typeface="Segoe UI"/>
                        </a:rPr>
                        <a:t>Scope creep from unmigrated reporting</a:t>
                      </a:r>
                    </a:p>
                  </a:txBody>
                  <a:tcPr anchor="ctr" marL="91440" marT="18288" marB="18288">
                    <a:solidFill>
                      <a:srgbClr val="FFFFFF"/>
                    </a:solidFill>
                  </a:tcPr>
                </a:tc>
                <a:tc>
                  <a:txBody>
                    <a:bodyPr wrap="square"/>
                    <a:lstStyle/>
                    <a:p>
                      <a:r>
                        <a:rPr sz="1100" b="0">
                          <a:solidFill>
                            <a:srgbClr val="3C3C3C"/>
                          </a:solidFill>
                          <a:latin typeface="Segoe UI"/>
                        </a:rPr>
                        <a:t>M</a:t>
                      </a:r>
                    </a:p>
                  </a:txBody>
                  <a:tcPr anchor="ctr" marL="91440" marT="18288" marB="18288">
                    <a:solidFill>
                      <a:srgbClr val="FFFFFF"/>
                    </a:solidFill>
                  </a:tcPr>
                </a:tc>
                <a:tc>
                  <a:txBody>
                    <a:bodyPr wrap="square"/>
                    <a:lstStyle/>
                    <a:p>
                      <a:r>
                        <a:rPr sz="1100" b="0">
                          <a:solidFill>
                            <a:srgbClr val="3C3C3C"/>
                          </a:solidFill>
                          <a:latin typeface="Segoe UI"/>
                        </a:rPr>
                        <a:t>L</a:t>
                      </a:r>
                    </a:p>
                  </a:txBody>
                  <a:tcPr anchor="ctr" marL="91440" marT="18288" marB="18288">
                    <a:solidFill>
                      <a:srgbClr val="FFFFFF"/>
                    </a:solidFill>
                  </a:tcPr>
                </a:tc>
                <a:tc>
                  <a:txBody>
                    <a:bodyPr wrap="square"/>
                    <a:lstStyle/>
                    <a:p>
                      <a:r>
                        <a:rPr sz="1100" b="0">
                          <a:solidFill>
                            <a:srgbClr val="3C3C3C"/>
                          </a:solidFill>
                          <a:latin typeface="Segoe UI"/>
                        </a:rPr>
                        <a:t>Explicitly phase reporting into a separate Power BI workstream</a:t>
                      </a:r>
                    </a:p>
                  </a:txBody>
                  <a:tcPr anchor="ctr" marL="91440" marT="18288" marB="18288">
                    <a:solidFill>
                      <a:srgbClr val="FFFFFF"/>
                    </a:solidFill>
                  </a:tcPr>
                </a:tc>
              </a:tr>
            </a:tbl>
          </a:graphicData>
        </a:graphic>
      </p:graphicFrame>
      <p:sp>
        <p:nvSpPr>
          <p:cNvPr id="6" name="Rectangle 5"/>
          <p:cNvSpPr/>
          <p:nvPr/>
        </p:nvSpPr>
        <p:spPr>
          <a:xfrm>
            <a:off x="566928" y="4599431"/>
            <a:ext cx="11064240" cy="65836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4599431"/>
            <a:ext cx="54864" cy="658368"/>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4690871"/>
            <a:ext cx="10652760" cy="493776"/>
          </a:xfrm>
          <a:prstGeom prst="rect">
            <a:avLst/>
          </a:prstGeom>
          <a:noFill/>
        </p:spPr>
        <p:txBody>
          <a:bodyPr wrap="square">
            <a:spAutoFit/>
          </a:bodyPr>
          <a:lstStyle/>
          <a:p>
            <a:pPr algn="l">
              <a:spcBef>
                <a:spcPts val="0"/>
              </a:spcBef>
              <a:spcAft>
                <a:spcPts val="0"/>
              </a:spcAft>
            </a:pPr>
            <a:r>
              <a:rPr sz="1250" b="0" i="0">
                <a:solidFill>
                  <a:srgbClr val="1A1A1A"/>
                </a:solidFill>
                <a:latin typeface="Segoe UI"/>
              </a:rPr>
              <a:t>L = likelihood, I = impact. The top risk is already partially mitigated by design - the re-visit cap means a wrong guard degrades gracefully rather than hanging the case.</a:t>
            </a:r>
          </a:p>
        </p:txBody>
      </p:sp>
      <p:sp>
        <p:nvSpPr>
          <p:cNvPr id="9" name="TextBox 8"/>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0515600" cy="274320"/>
          </a:xfrm>
          <a:prstGeom prst="rect">
            <a:avLst/>
          </a:prstGeom>
          <a:noFill/>
        </p:spPr>
        <p:txBody>
          <a:bodyPr wrap="square">
            <a:spAutoFit/>
          </a:bodyPr>
          <a:lstStyle/>
          <a:p>
            <a:pPr algn="l">
              <a:spcBef>
                <a:spcPts val="0"/>
              </a:spcBef>
              <a:spcAft>
                <a:spcPts val="0"/>
              </a:spcAft>
            </a:pPr>
            <a:r>
              <a:rPr sz="1050" b="1" i="0">
                <a:solidFill>
                  <a:srgbClr val="006D77"/>
                </a:solidFill>
                <a:latin typeface="Segoe UI"/>
              </a:rPr>
              <a:t>EFFORT &amp; RISK</a:t>
            </a:r>
          </a:p>
        </p:txBody>
      </p:sp>
      <p:sp>
        <p:nvSpPr>
          <p:cNvPr id="4" name="TextBox 3"/>
          <p:cNvSpPr txBox="1"/>
          <p:nvPr/>
        </p:nvSpPr>
        <p:spPr>
          <a:xfrm>
            <a:off x="566928" y="530352"/>
            <a:ext cx="11064240" cy="685800"/>
          </a:xfrm>
          <a:prstGeom prst="rect">
            <a:avLst/>
          </a:prstGeom>
          <a:noFill/>
        </p:spPr>
        <p:txBody>
          <a:bodyPr wrap="square">
            <a:spAutoFit/>
          </a:bodyPr>
          <a:lstStyle/>
          <a:p>
            <a:pPr algn="l">
              <a:spcBef>
                <a:spcPts val="0"/>
              </a:spcBef>
              <a:spcAft>
                <a:spcPts val="0"/>
              </a:spcAft>
            </a:pPr>
            <a:r>
              <a:rPr sz="2700" b="1" i="0">
                <a:solidFill>
                  <a:srgbClr val="1A1A1A"/>
                </a:solidFill>
                <a:latin typeface="Segoe UI"/>
              </a:rPr>
              <a:t>Dependencies</a:t>
            </a:r>
          </a:p>
        </p:txBody>
      </p:sp>
      <p:graphicFrame>
        <p:nvGraphicFramePr>
          <p:cNvPr id="5" name="Table 4"/>
          <p:cNvGraphicFramePr>
            <a:graphicFrameLocks noGrp="1"/>
          </p:cNvGraphicFramePr>
          <p:nvPr/>
        </p:nvGraphicFramePr>
        <p:xfrm>
          <a:off x="566928" y="1554480"/>
          <a:ext cx="11064239" cy="2267712"/>
        </p:xfrm>
        <a:graphic>
          <a:graphicData uri="http://schemas.openxmlformats.org/drawingml/2006/table">
            <a:tbl>
              <a:tblPr firstRow="1" bandRow="1">
                <a:tableStyleId>{5C22544A-7EE6-4342-B048-85BDC9FD1C3A}</a:tableStyleId>
              </a:tblPr>
              <a:tblGrid>
                <a:gridCol w="2593181"/>
                <a:gridCol w="3976211"/>
                <a:gridCol w="2160984"/>
                <a:gridCol w="2333863"/>
              </a:tblGrid>
              <a:tr h="347472">
                <a:tc>
                  <a:txBody>
                    <a:bodyPr wrap="square"/>
                    <a:lstStyle/>
                    <a:p>
                      <a:r>
                        <a:rPr sz="1150" b="1">
                          <a:solidFill>
                            <a:srgbClr val="FFFFFF"/>
                          </a:solidFill>
                          <a:latin typeface="Segoe UI"/>
                        </a:rPr>
                        <a:t>Dependency</a:t>
                      </a:r>
                    </a:p>
                  </a:txBody>
                  <a:tcPr anchor="ctr" marL="91440">
                    <a:solidFill>
                      <a:srgbClr val="006D77"/>
                    </a:solidFill>
                  </a:tcPr>
                </a:tc>
                <a:tc>
                  <a:txBody>
                    <a:bodyPr wrap="square"/>
                    <a:lstStyle/>
                    <a:p>
                      <a:r>
                        <a:rPr sz="1150" b="1">
                          <a:solidFill>
                            <a:srgbClr val="FFFFFF"/>
                          </a:solidFill>
                          <a:latin typeface="Segoe UI"/>
                        </a:rPr>
                        <a:t>Needed for</a:t>
                      </a:r>
                    </a:p>
                  </a:txBody>
                  <a:tcPr anchor="ctr" marL="91440">
                    <a:solidFill>
                      <a:srgbClr val="006D77"/>
                    </a:solidFill>
                  </a:tcPr>
                </a:tc>
                <a:tc>
                  <a:txBody>
                    <a:bodyPr wrap="square"/>
                    <a:lstStyle/>
                    <a:p>
                      <a:r>
                        <a:rPr sz="1150" b="1">
                          <a:solidFill>
                            <a:srgbClr val="FFFFFF"/>
                          </a:solidFill>
                          <a:latin typeface="Segoe UI"/>
                        </a:rPr>
                        <a:t>Timing</a:t>
                      </a:r>
                    </a:p>
                  </a:txBody>
                  <a:tcPr anchor="ctr" marL="91440">
                    <a:solidFill>
                      <a:srgbClr val="006D77"/>
                    </a:solidFill>
                  </a:tcPr>
                </a:tc>
                <a:tc>
                  <a:txBody>
                    <a:bodyPr wrap="square"/>
                    <a:lstStyle/>
                    <a:p>
                      <a:r>
                        <a:rPr sz="1150" b="1">
                          <a:solidFill>
                            <a:srgbClr val="FFFFFF"/>
                          </a:solidFill>
                          <a:latin typeface="Segoe UI"/>
                        </a:rPr>
                        <a:t>Owner</a:t>
                      </a:r>
                    </a:p>
                  </a:txBody>
                  <a:tcPr anchor="ctr" marL="91440">
                    <a:solidFill>
                      <a:srgbClr val="006D77"/>
                    </a:solidFill>
                  </a:tcPr>
                </a:tc>
              </a:tr>
              <a:tr h="274320">
                <a:tc>
                  <a:txBody>
                    <a:bodyPr wrap="square"/>
                    <a:lstStyle/>
                    <a:p>
                      <a:r>
                        <a:rPr sz="1150" b="1">
                          <a:solidFill>
                            <a:srgbClr val="1A1A1A"/>
                          </a:solidFill>
                          <a:latin typeface="Segoe UI"/>
                        </a:rPr>
                        <a:t>Pega Dev Studio access</a:t>
                      </a:r>
                    </a:p>
                  </a:txBody>
                  <a:tcPr anchor="ctr" marL="91440" marT="18288" marB="18288">
                    <a:solidFill>
                      <a:srgbClr val="FFFFFF"/>
                    </a:solidFill>
                  </a:tcPr>
                </a:tc>
                <a:tc>
                  <a:txBody>
                    <a:bodyPr wrap="square"/>
                    <a:lstStyle/>
                    <a:p>
                      <a:r>
                        <a:rPr sz="1150" b="0">
                          <a:solidFill>
                            <a:srgbClr val="3C3C3C"/>
                          </a:solidFill>
                          <a:latin typeface="Segoe UI"/>
                        </a:rPr>
                        <a:t>Extracting the 35 flow rule bodies</a:t>
                      </a:r>
                    </a:p>
                  </a:txBody>
                  <a:tcPr anchor="ctr" marL="91440" marT="18288" marB="18288">
                    <a:solidFill>
                      <a:srgbClr val="FFFFFF"/>
                    </a:solidFill>
                  </a:tcPr>
                </a:tc>
                <a:tc>
                  <a:txBody>
                    <a:bodyPr wrap="square"/>
                    <a:lstStyle/>
                    <a:p>
                      <a:r>
                        <a:rPr sz="1150" b="1">
                          <a:solidFill>
                            <a:srgbClr val="1A1A1A"/>
                          </a:solidFill>
                          <a:latin typeface="Segoe UI"/>
                        </a:rPr>
                        <a:t>Before Phase 1</a:t>
                      </a:r>
                    </a:p>
                  </a:txBody>
                  <a:tcPr anchor="ctr" marL="91440" marT="18288" marB="18288">
                    <a:solidFill>
                      <a:srgbClr val="FFFFFF"/>
                    </a:solidFill>
                  </a:tcPr>
                </a:tc>
                <a:tc>
                  <a:txBody>
                    <a:bodyPr wrap="square"/>
                    <a:lstStyle/>
                    <a:p>
                      <a:r>
                        <a:rPr sz="1150" b="0">
                          <a:solidFill>
                            <a:srgbClr val="3C3C3C"/>
                          </a:solidFill>
                          <a:latin typeface="Segoe UI"/>
                        </a:rPr>
                        <a:t>Pega platform team</a:t>
                      </a:r>
                    </a:p>
                  </a:txBody>
                  <a:tcPr anchor="ctr" marL="91440" marT="18288" marB="18288">
                    <a:solidFill>
                      <a:srgbClr val="FFFFFF"/>
                    </a:solidFill>
                  </a:tcPr>
                </a:tc>
              </a:tr>
              <a:tr h="274320">
                <a:tc>
                  <a:txBody>
                    <a:bodyPr wrap="square"/>
                    <a:lstStyle/>
                    <a:p>
                      <a:r>
                        <a:rPr sz="1150" b="1">
                          <a:solidFill>
                            <a:srgbClr val="1A1A1A"/>
                          </a:solidFill>
                          <a:latin typeface="Segoe UI"/>
                        </a:rPr>
                        <a:t>Pega sandbox with DX API</a:t>
                      </a:r>
                    </a:p>
                  </a:txBody>
                  <a:tcPr anchor="ctr" marL="91440" marT="18288" marB="18288">
                    <a:solidFill>
                      <a:srgbClr val="F4F5F7"/>
                    </a:solidFill>
                  </a:tcPr>
                </a:tc>
                <a:tc>
                  <a:txBody>
                    <a:bodyPr wrap="square"/>
                    <a:lstStyle/>
                    <a:p>
                      <a:r>
                        <a:rPr sz="1150" b="0">
                          <a:solidFill>
                            <a:srgbClr val="3C3C3C"/>
                          </a:solidFill>
                          <a:latin typeface="Segoe UI"/>
                        </a:rPr>
                        <a:t>High-fidelity extraction of each app</a:t>
                      </a:r>
                    </a:p>
                  </a:txBody>
                  <a:tcPr anchor="ctr" marL="91440" marT="18288" marB="18288">
                    <a:solidFill>
                      <a:srgbClr val="F4F5F7"/>
                    </a:solidFill>
                  </a:tcPr>
                </a:tc>
                <a:tc>
                  <a:txBody>
                    <a:bodyPr wrap="square"/>
                    <a:lstStyle/>
                    <a:p>
                      <a:r>
                        <a:rPr sz="1150" b="1">
                          <a:solidFill>
                            <a:srgbClr val="1A1A1A"/>
                          </a:solidFill>
                          <a:latin typeface="Segoe UI"/>
                        </a:rPr>
                        <a:t>Before assessment</a:t>
                      </a:r>
                    </a:p>
                  </a:txBody>
                  <a:tcPr anchor="ctr" marL="91440" marT="18288" marB="18288">
                    <a:solidFill>
                      <a:srgbClr val="F4F5F7"/>
                    </a:solidFill>
                  </a:tcPr>
                </a:tc>
                <a:tc>
                  <a:txBody>
                    <a:bodyPr wrap="square"/>
                    <a:lstStyle/>
                    <a:p>
                      <a:r>
                        <a:rPr sz="1150" b="0">
                          <a:solidFill>
                            <a:srgbClr val="3C3C3C"/>
                          </a:solidFill>
                          <a:latin typeface="Segoe UI"/>
                        </a:rPr>
                        <a:t>Pega platform team</a:t>
                      </a:r>
                    </a:p>
                  </a:txBody>
                  <a:tcPr anchor="ctr" marL="91440" marT="18288" marB="18288">
                    <a:solidFill>
                      <a:srgbClr val="F4F5F7"/>
                    </a:solidFill>
                  </a:tcPr>
                </a:tc>
              </a:tr>
              <a:tr h="274320">
                <a:tc>
                  <a:txBody>
                    <a:bodyPr wrap="square"/>
                    <a:lstStyle/>
                    <a:p>
                      <a:r>
                        <a:rPr sz="1150" b="1">
                          <a:solidFill>
                            <a:srgbClr val="1A1A1A"/>
                          </a:solidFill>
                          <a:latin typeface="Segoe UI"/>
                        </a:rPr>
                        <a:t>Business SMEs</a:t>
                      </a:r>
                    </a:p>
                  </a:txBody>
                  <a:tcPr anchor="ctr" marL="91440" marT="18288" marB="18288">
                    <a:solidFill>
                      <a:srgbClr val="FFFFFF"/>
                    </a:solidFill>
                  </a:tcPr>
                </a:tc>
                <a:tc>
                  <a:txBody>
                    <a:bodyPr wrap="square"/>
                    <a:lstStyle/>
                    <a:p>
                      <a:r>
                        <a:rPr sz="1150" b="0">
                          <a:solidFill>
                            <a:srgbClr val="3C3C3C"/>
                          </a:solidFill>
                          <a:latin typeface="Segoe UI"/>
                        </a:rPr>
                        <a:t>Restating 20 transforms and 27 notifications</a:t>
                      </a:r>
                    </a:p>
                  </a:txBody>
                  <a:tcPr anchor="ctr" marL="91440" marT="18288" marB="18288">
                    <a:solidFill>
                      <a:srgbClr val="FFFFFF"/>
                    </a:solidFill>
                  </a:tcPr>
                </a:tc>
                <a:tc>
                  <a:txBody>
                    <a:bodyPr wrap="square"/>
                    <a:lstStyle/>
                    <a:p>
                      <a:r>
                        <a:rPr sz="1150" b="0">
                          <a:solidFill>
                            <a:srgbClr val="3C3C3C"/>
                          </a:solidFill>
                          <a:latin typeface="Segoe UI"/>
                        </a:rPr>
                        <a:t>Phase 1 weeks 1 to 4</a:t>
                      </a:r>
                    </a:p>
                  </a:txBody>
                  <a:tcPr anchor="ctr" marL="91440" marT="18288" marB="18288">
                    <a:solidFill>
                      <a:srgbClr val="FFFFFF"/>
                    </a:solidFill>
                  </a:tcPr>
                </a:tc>
                <a:tc>
                  <a:txBody>
                    <a:bodyPr wrap="square"/>
                    <a:lstStyle/>
                    <a:p>
                      <a:r>
                        <a:rPr sz="1150" b="0">
                          <a:solidFill>
                            <a:srgbClr val="3C3C3C"/>
                          </a:solidFill>
                          <a:latin typeface="Segoe UI"/>
                        </a:rPr>
                        <a:t>Business</a:t>
                      </a:r>
                    </a:p>
                  </a:txBody>
                  <a:tcPr anchor="ctr" marL="91440" marT="18288" marB="18288">
                    <a:solidFill>
                      <a:srgbClr val="FFFFFF"/>
                    </a:solidFill>
                  </a:tcPr>
                </a:tc>
              </a:tr>
              <a:tr h="274320">
                <a:tc>
                  <a:txBody>
                    <a:bodyPr wrap="square"/>
                    <a:lstStyle/>
                    <a:p>
                      <a:r>
                        <a:rPr sz="1150" b="1">
                          <a:solidFill>
                            <a:srgbClr val="1A1A1A"/>
                          </a:solidFill>
                          <a:latin typeface="Segoe UI"/>
                        </a:rPr>
                        <a:t>Power Platform environments</a:t>
                      </a:r>
                    </a:p>
                  </a:txBody>
                  <a:tcPr anchor="ctr" marL="91440" marT="18288" marB="18288">
                    <a:solidFill>
                      <a:srgbClr val="F4F5F7"/>
                    </a:solidFill>
                  </a:tcPr>
                </a:tc>
                <a:tc>
                  <a:txBody>
                    <a:bodyPr wrap="square"/>
                    <a:lstStyle/>
                    <a:p>
                      <a:r>
                        <a:rPr sz="1150" b="0">
                          <a:solidFill>
                            <a:srgbClr val="3C3C3C"/>
                          </a:solidFill>
                          <a:latin typeface="Segoe UI"/>
                        </a:rPr>
                        <a:t>Dev, test and production with ALM</a:t>
                      </a:r>
                    </a:p>
                  </a:txBody>
                  <a:tcPr anchor="ctr" marL="91440" marT="18288" marB="18288">
                    <a:solidFill>
                      <a:srgbClr val="F4F5F7"/>
                    </a:solidFill>
                  </a:tcPr>
                </a:tc>
                <a:tc>
                  <a:txBody>
                    <a:bodyPr wrap="square"/>
                    <a:lstStyle/>
                    <a:p>
                      <a:r>
                        <a:rPr sz="1150" b="0">
                          <a:solidFill>
                            <a:srgbClr val="3C3C3C"/>
                          </a:solidFill>
                          <a:latin typeface="Segoe UI"/>
                        </a:rPr>
                        <a:t>Phase 1 start</a:t>
                      </a:r>
                    </a:p>
                  </a:txBody>
                  <a:tcPr anchor="ctr" marL="91440" marT="18288" marB="18288">
                    <a:solidFill>
                      <a:srgbClr val="F4F5F7"/>
                    </a:solidFill>
                  </a:tcPr>
                </a:tc>
                <a:tc>
                  <a:txBody>
                    <a:bodyPr wrap="square"/>
                    <a:lstStyle/>
                    <a:p>
                      <a:r>
                        <a:rPr sz="1150" b="0">
                          <a:solidFill>
                            <a:srgbClr val="3C3C3C"/>
                          </a:solidFill>
                          <a:latin typeface="Segoe UI"/>
                        </a:rPr>
                        <a:t>Platform team</a:t>
                      </a:r>
                    </a:p>
                  </a:txBody>
                  <a:tcPr anchor="ctr" marL="91440" marT="18288" marB="18288">
                    <a:solidFill>
                      <a:srgbClr val="F4F5F7"/>
                    </a:solidFill>
                  </a:tcPr>
                </a:tc>
              </a:tr>
              <a:tr h="274320">
                <a:tc>
                  <a:txBody>
                    <a:bodyPr wrap="square"/>
                    <a:lstStyle/>
                    <a:p>
                      <a:r>
                        <a:rPr sz="1150" b="1">
                          <a:solidFill>
                            <a:srgbClr val="1A1A1A"/>
                          </a:solidFill>
                          <a:latin typeface="Segoe UI"/>
                        </a:rPr>
                        <a:t>Dataverse capacity</a:t>
                      </a:r>
                    </a:p>
                  </a:txBody>
                  <a:tcPr anchor="ctr" marL="91440" marT="18288" marB="18288">
                    <a:solidFill>
                      <a:srgbClr val="FFFFFF"/>
                    </a:solidFill>
                  </a:tcPr>
                </a:tc>
                <a:tc>
                  <a:txBody>
                    <a:bodyPr wrap="square"/>
                    <a:lstStyle/>
                    <a:p>
                      <a:r>
                        <a:rPr sz="1150" b="0">
                          <a:solidFill>
                            <a:srgbClr val="3C3C3C"/>
                          </a:solidFill>
                          <a:latin typeface="Segoe UI"/>
                        </a:rPr>
                        <a:t>Row and storage volumes</a:t>
                      </a:r>
                    </a:p>
                  </a:txBody>
                  <a:tcPr anchor="ctr" marL="91440" marT="18288" marB="18288">
                    <a:solidFill>
                      <a:srgbClr val="FFFFFF"/>
                    </a:solidFill>
                  </a:tcPr>
                </a:tc>
                <a:tc>
                  <a:txBody>
                    <a:bodyPr wrap="square"/>
                    <a:lstStyle/>
                    <a:p>
                      <a:r>
                        <a:rPr sz="1150" b="0">
                          <a:solidFill>
                            <a:srgbClr val="3C3C3C"/>
                          </a:solidFill>
                          <a:latin typeface="Segoe UI"/>
                        </a:rPr>
                        <a:t>Phase 1 planning</a:t>
                      </a:r>
                    </a:p>
                  </a:txBody>
                  <a:tcPr anchor="ctr" marL="91440" marT="18288" marB="18288">
                    <a:solidFill>
                      <a:srgbClr val="FFFFFF"/>
                    </a:solidFill>
                  </a:tcPr>
                </a:tc>
                <a:tc>
                  <a:txBody>
                    <a:bodyPr wrap="square"/>
                    <a:lstStyle/>
                    <a:p>
                      <a:r>
                        <a:rPr sz="1150" b="0">
                          <a:solidFill>
                            <a:srgbClr val="3C3C3C"/>
                          </a:solidFill>
                          <a:latin typeface="Segoe UI"/>
                        </a:rPr>
                        <a:t>Platform team</a:t>
                      </a:r>
                    </a:p>
                  </a:txBody>
                  <a:tcPr anchor="ctr" marL="91440" marT="18288" marB="18288">
                    <a:solidFill>
                      <a:srgbClr val="FFFFFF"/>
                    </a:solidFill>
                  </a:tcPr>
                </a:tc>
              </a:tr>
              <a:tr h="274320">
                <a:tc>
                  <a:txBody>
                    <a:bodyPr wrap="square"/>
                    <a:lstStyle/>
                    <a:p>
                      <a:r>
                        <a:rPr sz="1150" b="1">
                          <a:solidFill>
                            <a:srgbClr val="1A1A1A"/>
                          </a:solidFill>
                          <a:latin typeface="Segoe UI"/>
                        </a:rPr>
                        <a:t>Security design authority</a:t>
                      </a:r>
                    </a:p>
                  </a:txBody>
                  <a:tcPr anchor="ctr" marL="91440" marT="18288" marB="18288">
                    <a:solidFill>
                      <a:srgbClr val="F4F5F7"/>
                    </a:solidFill>
                  </a:tcPr>
                </a:tc>
                <a:tc>
                  <a:txBody>
                    <a:bodyPr wrap="square"/>
                    <a:lstStyle/>
                    <a:p>
                      <a:r>
                        <a:rPr sz="1150" b="0">
                          <a:solidFill>
                            <a:srgbClr val="3C3C3C"/>
                          </a:solidFill>
                          <a:latin typeface="Segoe UI"/>
                        </a:rPr>
                        <a:t>Approving the role and team model</a:t>
                      </a:r>
                    </a:p>
                  </a:txBody>
                  <a:tcPr anchor="ctr" marL="91440" marT="18288" marB="18288">
                    <a:solidFill>
                      <a:srgbClr val="F4F5F7"/>
                    </a:solidFill>
                  </a:tcPr>
                </a:tc>
                <a:tc>
                  <a:txBody>
                    <a:bodyPr wrap="square"/>
                    <a:lstStyle/>
                    <a:p>
                      <a:r>
                        <a:rPr sz="1150" b="0">
                          <a:solidFill>
                            <a:srgbClr val="3C3C3C"/>
                          </a:solidFill>
                          <a:latin typeface="Segoe UI"/>
                        </a:rPr>
                        <a:t>Phase 1 weeks 1 to 3</a:t>
                      </a:r>
                    </a:p>
                  </a:txBody>
                  <a:tcPr anchor="ctr" marL="91440" marT="18288" marB="18288">
                    <a:solidFill>
                      <a:srgbClr val="F4F5F7"/>
                    </a:solidFill>
                  </a:tcPr>
                </a:tc>
                <a:tc>
                  <a:txBody>
                    <a:bodyPr wrap="square"/>
                    <a:lstStyle/>
                    <a:p>
                      <a:r>
                        <a:rPr sz="1150" b="0">
                          <a:solidFill>
                            <a:srgbClr val="3C3C3C"/>
                          </a:solidFill>
                          <a:latin typeface="Segoe UI"/>
                        </a:rPr>
                        <a:t>Security</a:t>
                      </a:r>
                    </a:p>
                  </a:txBody>
                  <a:tcPr anchor="ctr" marL="91440" marT="18288" marB="18288">
                    <a:solidFill>
                      <a:srgbClr val="F4F5F7"/>
                    </a:solidFill>
                  </a:tcPr>
                </a:tc>
              </a:tr>
              <a:tr h="274320">
                <a:tc>
                  <a:txBody>
                    <a:bodyPr wrap="square"/>
                    <a:lstStyle/>
                    <a:p>
                      <a:r>
                        <a:rPr sz="1150" b="1">
                          <a:solidFill>
                            <a:srgbClr val="1A1A1A"/>
                          </a:solidFill>
                          <a:latin typeface="Segoe UI"/>
                        </a:rPr>
                        <a:t>Production volume data</a:t>
                      </a:r>
                    </a:p>
                  </a:txBody>
                  <a:tcPr anchor="ctr" marL="91440" marT="18288" marB="18288">
                    <a:solidFill>
                      <a:srgbClr val="FFFFFF"/>
                    </a:solidFill>
                  </a:tcPr>
                </a:tc>
                <a:tc>
                  <a:txBody>
                    <a:bodyPr wrap="square"/>
                    <a:lstStyle/>
                    <a:p>
                      <a:r>
                        <a:rPr sz="1150" b="0">
                          <a:solidFill>
                            <a:srgbClr val="3C3C3C"/>
                          </a:solidFill>
                          <a:latin typeface="Segoe UI"/>
                        </a:rPr>
                        <a:t>Load test baseline</a:t>
                      </a:r>
                    </a:p>
                  </a:txBody>
                  <a:tcPr anchor="ctr" marL="91440" marT="18288" marB="18288">
                    <a:solidFill>
                      <a:srgbClr val="FFFFFF"/>
                    </a:solidFill>
                  </a:tcPr>
                </a:tc>
                <a:tc>
                  <a:txBody>
                    <a:bodyPr wrap="square"/>
                    <a:lstStyle/>
                    <a:p>
                      <a:r>
                        <a:rPr sz="1150" b="0">
                          <a:solidFill>
                            <a:srgbClr val="3C3C3C"/>
                          </a:solidFill>
                          <a:latin typeface="Segoe UI"/>
                        </a:rPr>
                        <a:t>Before go-live</a:t>
                      </a:r>
                    </a:p>
                  </a:txBody>
                  <a:tcPr anchor="ctr" marL="91440" marT="18288" marB="18288">
                    <a:solidFill>
                      <a:srgbClr val="FFFFFF"/>
                    </a:solidFill>
                  </a:tcPr>
                </a:tc>
                <a:tc>
                  <a:txBody>
                    <a:bodyPr wrap="square"/>
                    <a:lstStyle/>
                    <a:p>
                      <a:r>
                        <a:rPr sz="1150" b="0">
                          <a:solidFill>
                            <a:srgbClr val="3C3C3C"/>
                          </a:solidFill>
                          <a:latin typeface="Segoe UI"/>
                        </a:rPr>
                        <a:t>Business / platform</a:t>
                      </a:r>
                    </a:p>
                  </a:txBody>
                  <a:tcPr anchor="ctr" marL="91440" marT="18288" marB="18288">
                    <a:solidFill>
                      <a:srgbClr val="FFFFFF"/>
                    </a:solidFill>
                  </a:tcPr>
                </a:tc>
              </a:tr>
            </a:tbl>
          </a:graphicData>
        </a:graphic>
      </p:graphicFrame>
      <p:sp>
        <p:nvSpPr>
          <p:cNvPr id="6" name="Rectangle 5"/>
          <p:cNvSpPr/>
          <p:nvPr/>
        </p:nvSpPr>
        <p:spPr>
          <a:xfrm>
            <a:off x="566928" y="4096511"/>
            <a:ext cx="11064240" cy="65836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4096511"/>
            <a:ext cx="54864" cy="658368"/>
          </a:xfrm>
          <a:prstGeom prst="rect">
            <a:avLst/>
          </a:prstGeom>
          <a:solidFill>
            <a:srgbClr val="B5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4187951"/>
            <a:ext cx="10652760" cy="493776"/>
          </a:xfrm>
          <a:prstGeom prst="rect">
            <a:avLst/>
          </a:prstGeom>
          <a:noFill/>
        </p:spPr>
        <p:txBody>
          <a:bodyPr wrap="square">
            <a:spAutoFit/>
          </a:bodyPr>
          <a:lstStyle/>
          <a:p>
            <a:pPr algn="l">
              <a:spcBef>
                <a:spcPts val="0"/>
              </a:spcBef>
              <a:spcAft>
                <a:spcPts val="0"/>
              </a:spcAft>
            </a:pPr>
            <a:r>
              <a:rPr sz="1250" b="0" i="0">
                <a:solidFill>
                  <a:srgbClr val="1A1A1A"/>
                </a:solidFill>
                <a:latin typeface="Segoe UI"/>
              </a:rPr>
              <a:t>The first two are hard blockers. Without DX API access, assessment quality drops sharply - as demonstrated during this PoC.</a:t>
            </a:r>
          </a:p>
        </p:txBody>
      </p:sp>
      <p:sp>
        <p:nvSpPr>
          <p:cNvPr id="9" name="TextBox 8"/>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331720"/>
            <a:ext cx="1828800" cy="1097280"/>
          </a:xfrm>
          <a:prstGeom prst="rect">
            <a:avLst/>
          </a:prstGeom>
          <a:noFill/>
        </p:spPr>
        <p:txBody>
          <a:bodyPr wrap="square">
            <a:spAutoFit/>
          </a:bodyPr>
          <a:lstStyle/>
          <a:p>
            <a:pPr algn="l">
              <a:spcBef>
                <a:spcPts val="0"/>
              </a:spcBef>
              <a:spcAft>
                <a:spcPts val="0"/>
              </a:spcAft>
            </a:pPr>
            <a:r>
              <a:rPr sz="6400" b="1" i="0">
                <a:solidFill>
                  <a:srgbClr val="7FC4CB"/>
                </a:solidFill>
                <a:latin typeface="Segoe UI"/>
              </a:rPr>
              <a:t>10</a:t>
            </a:r>
          </a:p>
        </p:txBody>
      </p:sp>
      <p:sp>
        <p:nvSpPr>
          <p:cNvPr id="5" name="TextBox 4"/>
          <p:cNvSpPr txBox="1"/>
          <p:nvPr/>
        </p:nvSpPr>
        <p:spPr>
          <a:xfrm>
            <a:off x="2331720" y="2487168"/>
            <a:ext cx="8778240" cy="914400"/>
          </a:xfrm>
          <a:prstGeom prst="rect">
            <a:avLst/>
          </a:prstGeom>
          <a:noFill/>
        </p:spPr>
        <p:txBody>
          <a:bodyPr wrap="square">
            <a:spAutoFit/>
          </a:bodyPr>
          <a:lstStyle/>
          <a:p>
            <a:pPr algn="l">
              <a:spcBef>
                <a:spcPts val="0"/>
              </a:spcBef>
              <a:spcAft>
                <a:spcPts val="0"/>
              </a:spcAft>
            </a:pPr>
            <a:r>
              <a:rPr sz="3400" b="1" i="0">
                <a:solidFill>
                  <a:srgbClr val="FFFFFF"/>
                </a:solidFill>
                <a:latin typeface="Segoe UI"/>
              </a:rPr>
              <a:t>Recommendations &amp; Next Steps</a:t>
            </a:r>
          </a:p>
        </p:txBody>
      </p:sp>
      <p:sp>
        <p:nvSpPr>
          <p:cNvPr id="6" name="TextBox 5"/>
          <p:cNvSpPr txBox="1"/>
          <p:nvPr/>
        </p:nvSpPr>
        <p:spPr>
          <a:xfrm>
            <a:off x="2395728" y="3401568"/>
            <a:ext cx="8595360" cy="640080"/>
          </a:xfrm>
          <a:prstGeom prst="rect">
            <a:avLst/>
          </a:prstGeom>
          <a:noFill/>
        </p:spPr>
        <p:txBody>
          <a:bodyPr wrap="square">
            <a:spAutoFit/>
          </a:bodyPr>
          <a:lstStyle/>
          <a:p>
            <a:pPr algn="l">
              <a:spcBef>
                <a:spcPts val="0"/>
              </a:spcBef>
              <a:spcAft>
                <a:spcPts val="0"/>
              </a:spcAft>
            </a:pPr>
            <a:r>
              <a:rPr sz="1450" b="0" i="0">
                <a:solidFill>
                  <a:srgbClr val="D6ECEE"/>
                </a:solidFill>
                <a:latin typeface="Segoe UI"/>
              </a:rPr>
              <a:t>Roadmap, candidates, governance and production approach</a:t>
            </a:r>
          </a:p>
        </p:txBody>
      </p:sp>
      <p:sp>
        <p:nvSpPr>
          <p:cNvPr id="7" name="TextBox 6"/>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0515600" cy="274320"/>
          </a:xfrm>
          <a:prstGeom prst="rect">
            <a:avLst/>
          </a:prstGeom>
          <a:noFill/>
        </p:spPr>
        <p:txBody>
          <a:bodyPr wrap="square">
            <a:spAutoFit/>
          </a:bodyPr>
          <a:lstStyle/>
          <a:p>
            <a:pPr algn="l">
              <a:spcBef>
                <a:spcPts val="0"/>
              </a:spcBef>
              <a:spcAft>
                <a:spcPts val="0"/>
              </a:spcAft>
            </a:pPr>
            <a:r>
              <a:rPr sz="1050" b="1" i="0">
                <a:solidFill>
                  <a:srgbClr val="006D77"/>
                </a:solidFill>
                <a:latin typeface="Segoe UI"/>
              </a:rPr>
              <a:t>RECOMMENDATIONS</a:t>
            </a:r>
          </a:p>
        </p:txBody>
      </p:sp>
      <p:sp>
        <p:nvSpPr>
          <p:cNvPr id="4" name="TextBox 3"/>
          <p:cNvSpPr txBox="1"/>
          <p:nvPr/>
        </p:nvSpPr>
        <p:spPr>
          <a:xfrm>
            <a:off x="566928" y="530352"/>
            <a:ext cx="11064240" cy="685800"/>
          </a:xfrm>
          <a:prstGeom prst="rect">
            <a:avLst/>
          </a:prstGeom>
          <a:noFill/>
        </p:spPr>
        <p:txBody>
          <a:bodyPr wrap="square">
            <a:spAutoFit/>
          </a:bodyPr>
          <a:lstStyle/>
          <a:p>
            <a:pPr algn="l">
              <a:spcBef>
                <a:spcPts val="0"/>
              </a:spcBef>
              <a:spcAft>
                <a:spcPts val="0"/>
              </a:spcAft>
            </a:pPr>
            <a:r>
              <a:rPr sz="2700" b="1" i="0">
                <a:solidFill>
                  <a:srgbClr val="1A1A1A"/>
                </a:solidFill>
                <a:latin typeface="Segoe UI"/>
              </a:rPr>
              <a:t>Recommendation</a:t>
            </a:r>
          </a:p>
        </p:txBody>
      </p:sp>
      <p:sp>
        <p:nvSpPr>
          <p:cNvPr id="5" name="TextBox 4"/>
          <p:cNvSpPr txBox="1"/>
          <p:nvPr/>
        </p:nvSpPr>
        <p:spPr>
          <a:xfrm>
            <a:off x="566928" y="1463040"/>
            <a:ext cx="11064240" cy="3058160"/>
          </a:xfrm>
          <a:prstGeom prst="rect">
            <a:avLst/>
          </a:prstGeom>
          <a:noFill/>
        </p:spPr>
        <p:txBody>
          <a:bodyPr wrap="square">
            <a:spAutoFit/>
          </a:bodyPr>
          <a:lstStyle/>
          <a:p>
            <a:pPr algn="l">
              <a:spcBef>
                <a:spcPts val="0"/>
              </a:spcBef>
              <a:spcAft>
                <a:spcPts val="800"/>
              </a:spcAft>
            </a:pPr>
            <a:r>
              <a:rPr sz="1400" b="1" i="0">
                <a:solidFill>
                  <a:srgbClr val="1A1A1A"/>
                </a:solidFill>
                <a:latin typeface="Segoe UI"/>
              </a:rPr>
              <a:t>Proceed to a Phase 1 production migration of the Lending Due Diligence application.</a:t>
            </a:r>
          </a:p>
          <a:p>
            <a:pPr algn="l">
              <a:spcBef>
                <a:spcPts val="0"/>
              </a:spcBef>
              <a:spcAft>
                <a:spcPts val="800"/>
              </a:spcAft>
            </a:pPr>
            <a:r>
              <a:rPr sz="1400" b="0" i="0">
                <a:solidFill>
                  <a:srgbClr val="1A1A1A"/>
                </a:solidFill>
                <a:latin typeface="Segoe UI"/>
              </a:rPr>
              <a:t>•  The PoC has proven the approach on a real application of genuine complexity: 5 case types, 80 steps and 10 decision tables, running end to end with automated verification.</a:t>
            </a:r>
          </a:p>
          <a:p>
            <a:pPr algn="l">
              <a:spcBef>
                <a:spcPts val="0"/>
              </a:spcBef>
              <a:spcAft>
                <a:spcPts val="800"/>
              </a:spcAft>
            </a:pPr>
            <a:r>
              <a:rPr sz="1400" b="0" i="0">
                <a:solidFill>
                  <a:srgbClr val="1A1A1A"/>
                </a:solidFill>
                <a:latin typeface="Segoe UI"/>
              </a:rPr>
              <a:t>•  The unknowns are now quantified rather than speculative. 41 steps need manual implementation and every one is individually identified.</a:t>
            </a:r>
          </a:p>
          <a:p>
            <a:pPr algn="l">
              <a:spcBef>
                <a:spcPts val="0"/>
              </a:spcBef>
              <a:spcAft>
                <a:spcPts val="800"/>
              </a:spcAft>
            </a:pPr>
            <a:r>
              <a:rPr sz="1400" b="0" i="0">
                <a:solidFill>
                  <a:srgbClr val="1A1A1A"/>
                </a:solidFill>
                <a:latin typeface="Segoe UI"/>
              </a:rPr>
              <a:t>•  The migration assets - extract pipeline, engine, dynamic forms, verification harness - are application-agnostic and reusable.</a:t>
            </a:r>
          </a:p>
          <a:p>
            <a:pPr algn="l">
              <a:spcBef>
                <a:spcPts val="800"/>
              </a:spcBef>
              <a:spcAft>
                <a:spcPts val="800"/>
              </a:spcAft>
            </a:pPr>
            <a:r>
              <a:rPr sz="1400" b="1" i="0">
                <a:solidFill>
                  <a:srgbClr val="1A1A1A"/>
                </a:solidFill>
                <a:latin typeface="Segoe UI"/>
              </a:rPr>
              <a:t>Condition</a:t>
            </a:r>
          </a:p>
          <a:p>
            <a:pPr algn="l">
              <a:spcBef>
                <a:spcPts val="0"/>
              </a:spcBef>
              <a:spcAft>
                <a:spcPts val="800"/>
              </a:spcAft>
            </a:pPr>
            <a:r>
              <a:rPr sz="1400" b="0" i="0">
                <a:solidFill>
                  <a:srgbClr val="1A1A1A"/>
                </a:solidFill>
                <a:latin typeface="Segoe UI"/>
              </a:rPr>
              <a:t>•  Secure Pega Dev Studio access and business SME time before Phase 1 starts. These are the two hard dependencies, and both sit outside the delivery team.</a:t>
            </a:r>
          </a:p>
        </p:txBody>
      </p:sp>
      <p:sp>
        <p:nvSpPr>
          <p:cNvPr id="6" name="Rectangle 5"/>
          <p:cNvSpPr/>
          <p:nvPr/>
        </p:nvSpPr>
        <p:spPr>
          <a:xfrm>
            <a:off x="566928" y="4795520"/>
            <a:ext cx="11064240" cy="65836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4795520"/>
            <a:ext cx="54864" cy="658368"/>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4886960"/>
            <a:ext cx="10652760" cy="493776"/>
          </a:xfrm>
          <a:prstGeom prst="rect">
            <a:avLst/>
          </a:prstGeom>
          <a:noFill/>
        </p:spPr>
        <p:txBody>
          <a:bodyPr wrap="square">
            <a:spAutoFit/>
          </a:bodyPr>
          <a:lstStyle/>
          <a:p>
            <a:pPr algn="l">
              <a:spcBef>
                <a:spcPts val="0"/>
              </a:spcBef>
              <a:spcAft>
                <a:spcPts val="0"/>
              </a:spcAft>
            </a:pPr>
            <a:r>
              <a:rPr sz="1250" b="0" i="0">
                <a:solidFill>
                  <a:srgbClr val="1A1A1A"/>
                </a:solidFill>
                <a:latin typeface="Segoe UI"/>
              </a:rPr>
              <a:t>Recommended next action: a two-week inception to recover the 35 flow rule bodies and confirm the security model. That retires the highest risk before committing to the full build.</a:t>
            </a:r>
          </a:p>
        </p:txBody>
      </p:sp>
      <p:sp>
        <p:nvSpPr>
          <p:cNvPr id="9" name="TextBox 8"/>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0515600" cy="274320"/>
          </a:xfrm>
          <a:prstGeom prst="rect">
            <a:avLst/>
          </a:prstGeom>
          <a:noFill/>
        </p:spPr>
        <p:txBody>
          <a:bodyPr wrap="square">
            <a:spAutoFit/>
          </a:bodyPr>
          <a:lstStyle/>
          <a:p>
            <a:pPr algn="l">
              <a:spcBef>
                <a:spcPts val="0"/>
              </a:spcBef>
              <a:spcAft>
                <a:spcPts val="0"/>
              </a:spcAft>
            </a:pPr>
            <a:r>
              <a:rPr sz="1050" b="1" i="0">
                <a:solidFill>
                  <a:srgbClr val="006D77"/>
                </a:solidFill>
                <a:latin typeface="Segoe UI"/>
              </a:rPr>
              <a:t>RECOMMENDATIONS</a:t>
            </a:r>
          </a:p>
        </p:txBody>
      </p:sp>
      <p:sp>
        <p:nvSpPr>
          <p:cNvPr id="4" name="TextBox 3"/>
          <p:cNvSpPr txBox="1"/>
          <p:nvPr/>
        </p:nvSpPr>
        <p:spPr>
          <a:xfrm>
            <a:off x="566928" y="530352"/>
            <a:ext cx="11064240" cy="685800"/>
          </a:xfrm>
          <a:prstGeom prst="rect">
            <a:avLst/>
          </a:prstGeom>
          <a:noFill/>
        </p:spPr>
        <p:txBody>
          <a:bodyPr wrap="square">
            <a:spAutoFit/>
          </a:bodyPr>
          <a:lstStyle/>
          <a:p>
            <a:pPr algn="l">
              <a:spcBef>
                <a:spcPts val="0"/>
              </a:spcBef>
              <a:spcAft>
                <a:spcPts val="0"/>
              </a:spcAft>
            </a:pPr>
            <a:r>
              <a:rPr sz="2700" b="1" i="0">
                <a:solidFill>
                  <a:srgbClr val="1A1A1A"/>
                </a:solidFill>
                <a:latin typeface="Segoe UI"/>
              </a:rPr>
              <a:t>Phase 1 roadmap</a:t>
            </a:r>
          </a:p>
        </p:txBody>
      </p:sp>
      <p:graphicFrame>
        <p:nvGraphicFramePr>
          <p:cNvPr id="5" name="Table 4"/>
          <p:cNvGraphicFramePr>
            <a:graphicFrameLocks noGrp="1"/>
          </p:cNvGraphicFramePr>
          <p:nvPr/>
        </p:nvGraphicFramePr>
        <p:xfrm>
          <a:off x="566928" y="1554480"/>
          <a:ext cx="11064238" cy="1993392"/>
        </p:xfrm>
        <a:graphic>
          <a:graphicData uri="http://schemas.openxmlformats.org/drawingml/2006/table">
            <a:tbl>
              <a:tblPr firstRow="1" bandRow="1">
                <a:tableStyleId>{5C22544A-7EE6-4342-B048-85BDC9FD1C3A}</a:tableStyleId>
              </a:tblPr>
              <a:tblGrid>
                <a:gridCol w="1642348"/>
                <a:gridCol w="864393"/>
                <a:gridCol w="4840604"/>
                <a:gridCol w="3716893"/>
              </a:tblGrid>
              <a:tr h="347472">
                <a:tc>
                  <a:txBody>
                    <a:bodyPr wrap="square"/>
                    <a:lstStyle/>
                    <a:p>
                      <a:r>
                        <a:rPr sz="1100" b="1">
                          <a:solidFill>
                            <a:srgbClr val="FFFFFF"/>
                          </a:solidFill>
                          <a:latin typeface="Segoe UI"/>
                        </a:rPr>
                        <a:t>Stage</a:t>
                      </a:r>
                    </a:p>
                  </a:txBody>
                  <a:tcPr anchor="ctr" marL="91440">
                    <a:solidFill>
                      <a:srgbClr val="006D77"/>
                    </a:solidFill>
                  </a:tcPr>
                </a:tc>
                <a:tc>
                  <a:txBody>
                    <a:bodyPr wrap="square"/>
                    <a:lstStyle/>
                    <a:p>
                      <a:r>
                        <a:rPr sz="1100" b="1">
                          <a:solidFill>
                            <a:srgbClr val="FFFFFF"/>
                          </a:solidFill>
                          <a:latin typeface="Segoe UI"/>
                        </a:rPr>
                        <a:t>Weeks</a:t>
                      </a:r>
                    </a:p>
                  </a:txBody>
                  <a:tcPr anchor="ctr" marL="91440">
                    <a:solidFill>
                      <a:srgbClr val="006D77"/>
                    </a:solidFill>
                  </a:tcPr>
                </a:tc>
                <a:tc>
                  <a:txBody>
                    <a:bodyPr wrap="square"/>
                    <a:lstStyle/>
                    <a:p>
                      <a:r>
                        <a:rPr sz="1100" b="1">
                          <a:solidFill>
                            <a:srgbClr val="FFFFFF"/>
                          </a:solidFill>
                          <a:latin typeface="Segoe UI"/>
                        </a:rPr>
                        <a:t>Activities</a:t>
                      </a:r>
                    </a:p>
                  </a:txBody>
                  <a:tcPr anchor="ctr" marL="91440">
                    <a:solidFill>
                      <a:srgbClr val="006D77"/>
                    </a:solidFill>
                  </a:tcPr>
                </a:tc>
                <a:tc>
                  <a:txBody>
                    <a:bodyPr wrap="square"/>
                    <a:lstStyle/>
                    <a:p>
                      <a:r>
                        <a:rPr sz="1100" b="1">
                          <a:solidFill>
                            <a:srgbClr val="FFFFFF"/>
                          </a:solidFill>
                          <a:latin typeface="Segoe UI"/>
                        </a:rPr>
                        <a:t>Exit criteria</a:t>
                      </a:r>
                    </a:p>
                  </a:txBody>
                  <a:tcPr anchor="ctr" marL="91440">
                    <a:solidFill>
                      <a:srgbClr val="006D77"/>
                    </a:solidFill>
                  </a:tcPr>
                </a:tc>
              </a:tr>
              <a:tr h="274320">
                <a:tc>
                  <a:txBody>
                    <a:bodyPr wrap="square"/>
                    <a:lstStyle/>
                    <a:p>
                      <a:r>
                        <a:rPr sz="1100" b="1">
                          <a:solidFill>
                            <a:srgbClr val="1A1A1A"/>
                          </a:solidFill>
                          <a:latin typeface="Segoe UI"/>
                        </a:rPr>
                        <a:t>Inception</a:t>
                      </a:r>
                    </a:p>
                  </a:txBody>
                  <a:tcPr anchor="ctr" marL="91440" marT="18288" marB="18288">
                    <a:solidFill>
                      <a:srgbClr val="FFFFFF"/>
                    </a:solidFill>
                  </a:tcPr>
                </a:tc>
                <a:tc>
                  <a:txBody>
                    <a:bodyPr wrap="square"/>
                    <a:lstStyle/>
                    <a:p>
                      <a:r>
                        <a:rPr sz="1100" b="0">
                          <a:solidFill>
                            <a:srgbClr val="3C3C3C"/>
                          </a:solidFill>
                          <a:latin typeface="Segoe UI"/>
                        </a:rPr>
                        <a:t>1 - 2</a:t>
                      </a:r>
                    </a:p>
                  </a:txBody>
                  <a:tcPr anchor="ctr" marL="91440" marT="18288" marB="18288">
                    <a:solidFill>
                      <a:srgbClr val="FFFFFF"/>
                    </a:solidFill>
                  </a:tcPr>
                </a:tc>
                <a:tc>
                  <a:txBody>
                    <a:bodyPr wrap="square"/>
                    <a:lstStyle/>
                    <a:p>
                      <a:r>
                        <a:rPr sz="1100" b="0">
                          <a:solidFill>
                            <a:srgbClr val="3C3C3C"/>
                          </a:solidFill>
                          <a:latin typeface="Segoe UI"/>
                        </a:rPr>
                        <a:t>Recover flow rule bodies; confirm security model; provision environments</a:t>
                      </a:r>
                    </a:p>
                  </a:txBody>
                  <a:tcPr anchor="ctr" marL="91440" marT="18288" marB="18288">
                    <a:solidFill>
                      <a:srgbClr val="FFFFFF"/>
                    </a:solidFill>
                  </a:tcPr>
                </a:tc>
                <a:tc>
                  <a:txBody>
                    <a:bodyPr wrap="square"/>
                    <a:lstStyle/>
                    <a:p>
                      <a:r>
                        <a:rPr sz="1100" b="0">
                          <a:solidFill>
                            <a:srgbClr val="3C3C3C"/>
                          </a:solidFill>
                          <a:latin typeface="Segoe UI"/>
                        </a:rPr>
                        <a:t>Real guards documented; roles designed</a:t>
                      </a:r>
                    </a:p>
                  </a:txBody>
                  <a:tcPr anchor="ctr" marL="91440" marT="18288" marB="18288">
                    <a:solidFill>
                      <a:srgbClr val="FFFFFF"/>
                    </a:solidFill>
                  </a:tcPr>
                </a:tc>
              </a:tr>
              <a:tr h="274320">
                <a:tc>
                  <a:txBody>
                    <a:bodyPr wrap="square"/>
                    <a:lstStyle/>
                    <a:p>
                      <a:r>
                        <a:rPr sz="1100" b="1">
                          <a:solidFill>
                            <a:srgbClr val="1A1A1A"/>
                          </a:solidFill>
                          <a:latin typeface="Segoe UI"/>
                        </a:rPr>
                        <a:t>Build - logic</a:t>
                      </a:r>
                    </a:p>
                  </a:txBody>
                  <a:tcPr anchor="ctr" marL="91440" marT="18288" marB="18288">
                    <a:solidFill>
                      <a:srgbClr val="F4F5F7"/>
                    </a:solidFill>
                  </a:tcPr>
                </a:tc>
                <a:tc>
                  <a:txBody>
                    <a:bodyPr wrap="square"/>
                    <a:lstStyle/>
                    <a:p>
                      <a:r>
                        <a:rPr sz="1100" b="0">
                          <a:solidFill>
                            <a:srgbClr val="3C3C3C"/>
                          </a:solidFill>
                          <a:latin typeface="Segoe UI"/>
                        </a:rPr>
                        <a:t>3 - 6</a:t>
                      </a:r>
                    </a:p>
                  </a:txBody>
                  <a:tcPr anchor="ctr" marL="91440" marT="18288" marB="18288">
                    <a:solidFill>
                      <a:srgbClr val="F4F5F7"/>
                    </a:solidFill>
                  </a:tcPr>
                </a:tc>
                <a:tc>
                  <a:txBody>
                    <a:bodyPr wrap="square"/>
                    <a:lstStyle/>
                    <a:p>
                      <a:r>
                        <a:rPr sz="1100" b="0">
                          <a:solidFill>
                            <a:srgbClr val="3C3C3C"/>
                          </a:solidFill>
                          <a:latin typeface="Segoe UI"/>
                        </a:rPr>
                        <a:t>Implement 20 data transforms and 4 document generators; replace inferred guards</a:t>
                      </a:r>
                    </a:p>
                  </a:txBody>
                  <a:tcPr anchor="ctr" marL="91440" marT="18288" marB="18288">
                    <a:solidFill>
                      <a:srgbClr val="F4F5F7"/>
                    </a:solidFill>
                  </a:tcPr>
                </a:tc>
                <a:tc>
                  <a:txBody>
                    <a:bodyPr wrap="square"/>
                    <a:lstStyle/>
                    <a:p>
                      <a:r>
                        <a:rPr sz="1100" b="0">
                          <a:solidFill>
                            <a:srgbClr val="3C3C3C"/>
                          </a:solidFill>
                          <a:latin typeface="Segoe UI"/>
                        </a:rPr>
                        <a:t>All step bodies executing</a:t>
                      </a:r>
                    </a:p>
                  </a:txBody>
                  <a:tcPr anchor="ctr" marL="91440" marT="18288" marB="18288">
                    <a:solidFill>
                      <a:srgbClr val="F4F5F7"/>
                    </a:solidFill>
                  </a:tcPr>
                </a:tc>
              </a:tr>
              <a:tr h="274320">
                <a:tc>
                  <a:txBody>
                    <a:bodyPr wrap="square"/>
                    <a:lstStyle/>
                    <a:p>
                      <a:r>
                        <a:rPr sz="1100" b="1">
                          <a:solidFill>
                            <a:srgbClr val="1A1A1A"/>
                          </a:solidFill>
                          <a:latin typeface="Segoe UI"/>
                        </a:rPr>
                        <a:t>Build - integration</a:t>
                      </a:r>
                    </a:p>
                  </a:txBody>
                  <a:tcPr anchor="ctr" marL="91440" marT="18288" marB="18288">
                    <a:solidFill>
                      <a:srgbClr val="FFFFFF"/>
                    </a:solidFill>
                  </a:tcPr>
                </a:tc>
                <a:tc>
                  <a:txBody>
                    <a:bodyPr wrap="square"/>
                    <a:lstStyle/>
                    <a:p>
                      <a:r>
                        <a:rPr sz="1100" b="0">
                          <a:solidFill>
                            <a:srgbClr val="3C3C3C"/>
                          </a:solidFill>
                          <a:latin typeface="Segoe UI"/>
                        </a:rPr>
                        <a:t>5 - 8</a:t>
                      </a:r>
                    </a:p>
                  </a:txBody>
                  <a:tcPr anchor="ctr" marL="91440" marT="18288" marB="18288">
                    <a:solidFill>
                      <a:srgbClr val="FFFFFF"/>
                    </a:solidFill>
                  </a:tcPr>
                </a:tc>
                <a:tc>
                  <a:txBody>
                    <a:bodyPr wrap="square"/>
                    <a:lstStyle/>
                    <a:p>
                      <a:r>
                        <a:rPr sz="1100" b="0">
                          <a:solidFill>
                            <a:srgbClr val="3C3C3C"/>
                          </a:solidFill>
                          <a:latin typeface="Segoe UI"/>
                        </a:rPr>
                        <a:t>17 notifications via Power Automate; attachments; SLA timers</a:t>
                      </a:r>
                    </a:p>
                  </a:txBody>
                  <a:tcPr anchor="ctr" marL="91440" marT="18288" marB="18288">
                    <a:solidFill>
                      <a:srgbClr val="FFFFFF"/>
                    </a:solidFill>
                  </a:tcPr>
                </a:tc>
                <a:tc>
                  <a:txBody>
                    <a:bodyPr wrap="square"/>
                    <a:lstStyle/>
                    <a:p>
                      <a:r>
                        <a:rPr sz="1100" b="0">
                          <a:solidFill>
                            <a:srgbClr val="3C3C3C"/>
                          </a:solidFill>
                          <a:latin typeface="Segoe UI"/>
                        </a:rPr>
                        <a:t>No simulated effects remain</a:t>
                      </a:r>
                    </a:p>
                  </a:txBody>
                  <a:tcPr anchor="ctr" marL="91440" marT="18288" marB="18288">
                    <a:solidFill>
                      <a:srgbClr val="FFFFFF"/>
                    </a:solidFill>
                  </a:tcPr>
                </a:tc>
              </a:tr>
              <a:tr h="274320">
                <a:tc>
                  <a:txBody>
                    <a:bodyPr wrap="square"/>
                    <a:lstStyle/>
                    <a:p>
                      <a:r>
                        <a:rPr sz="1100" b="1">
                          <a:solidFill>
                            <a:srgbClr val="1A1A1A"/>
                          </a:solidFill>
                          <a:latin typeface="Segoe UI"/>
                        </a:rPr>
                        <a:t>Security</a:t>
                      </a:r>
                    </a:p>
                  </a:txBody>
                  <a:tcPr anchor="ctr" marL="91440" marT="18288" marB="18288">
                    <a:solidFill>
                      <a:srgbClr val="F4F5F7"/>
                    </a:solidFill>
                  </a:tcPr>
                </a:tc>
                <a:tc>
                  <a:txBody>
                    <a:bodyPr wrap="square"/>
                    <a:lstStyle/>
                    <a:p>
                      <a:r>
                        <a:rPr sz="1100" b="0">
                          <a:solidFill>
                            <a:srgbClr val="3C3C3C"/>
                          </a:solidFill>
                          <a:latin typeface="Segoe UI"/>
                        </a:rPr>
                        <a:t>6 - 9</a:t>
                      </a:r>
                    </a:p>
                  </a:txBody>
                  <a:tcPr anchor="ctr" marL="91440" marT="18288" marB="18288">
                    <a:solidFill>
                      <a:srgbClr val="F4F5F7"/>
                    </a:solidFill>
                  </a:tcPr>
                </a:tc>
                <a:tc>
                  <a:txBody>
                    <a:bodyPr wrap="square"/>
                    <a:lstStyle/>
                    <a:p>
                      <a:r>
                        <a:rPr sz="1100" b="0">
                          <a:solidFill>
                            <a:srgbClr val="3C3C3C"/>
                          </a:solidFill>
                          <a:latin typeface="Segoe UI"/>
                        </a:rPr>
                        <a:t>Dataverse roles, teams, workbasket routing, row-level security</a:t>
                      </a:r>
                    </a:p>
                  </a:txBody>
                  <a:tcPr anchor="ctr" marL="91440" marT="18288" marB="18288">
                    <a:solidFill>
                      <a:srgbClr val="F4F5F7"/>
                    </a:solidFill>
                  </a:tcPr>
                </a:tc>
                <a:tc>
                  <a:txBody>
                    <a:bodyPr wrap="square"/>
                    <a:lstStyle/>
                    <a:p>
                      <a:r>
                        <a:rPr sz="1100" b="0">
                          <a:solidFill>
                            <a:srgbClr val="3C3C3C"/>
                          </a:solidFill>
                          <a:latin typeface="Segoe UI"/>
                        </a:rPr>
                        <a:t>Users see only their cases</a:t>
                      </a:r>
                    </a:p>
                  </a:txBody>
                  <a:tcPr anchor="ctr" marL="91440" marT="18288" marB="18288">
                    <a:solidFill>
                      <a:srgbClr val="F4F5F7"/>
                    </a:solidFill>
                  </a:tcPr>
                </a:tc>
              </a:tr>
              <a:tr h="274320">
                <a:tc>
                  <a:txBody>
                    <a:bodyPr wrap="square"/>
                    <a:lstStyle/>
                    <a:p>
                      <a:r>
                        <a:rPr sz="1100" b="1">
                          <a:solidFill>
                            <a:srgbClr val="1A1A1A"/>
                          </a:solidFill>
                          <a:latin typeface="Segoe UI"/>
                        </a:rPr>
                        <a:t>Hardening</a:t>
                      </a:r>
                    </a:p>
                  </a:txBody>
                  <a:tcPr anchor="ctr" marL="91440" marT="18288" marB="18288">
                    <a:solidFill>
                      <a:srgbClr val="FFFFFF"/>
                    </a:solidFill>
                  </a:tcPr>
                </a:tc>
                <a:tc>
                  <a:txBody>
                    <a:bodyPr wrap="square"/>
                    <a:lstStyle/>
                    <a:p>
                      <a:r>
                        <a:rPr sz="1100" b="0">
                          <a:solidFill>
                            <a:srgbClr val="3C3C3C"/>
                          </a:solidFill>
                          <a:latin typeface="Segoe UI"/>
                        </a:rPr>
                        <a:t>8 - 10</a:t>
                      </a:r>
                    </a:p>
                  </a:txBody>
                  <a:tcPr anchor="ctr" marL="91440" marT="18288" marB="18288">
                    <a:solidFill>
                      <a:srgbClr val="FFFFFF"/>
                    </a:solidFill>
                  </a:tcPr>
                </a:tc>
                <a:tc>
                  <a:txBody>
                    <a:bodyPr wrap="square"/>
                    <a:lstStyle/>
                    <a:p>
                      <a:r>
                        <a:rPr sz="1100" b="0">
                          <a:solidFill>
                            <a:srgbClr val="3C3C3C"/>
                          </a:solidFill>
                          <a:latin typeface="Segoe UI"/>
                        </a:rPr>
                        <a:t>Unit tests, load testing, ALM pipeline</a:t>
                      </a:r>
                    </a:p>
                  </a:txBody>
                  <a:tcPr anchor="ctr" marL="91440" marT="18288" marB="18288">
                    <a:solidFill>
                      <a:srgbClr val="FFFFFF"/>
                    </a:solidFill>
                  </a:tcPr>
                </a:tc>
                <a:tc>
                  <a:txBody>
                    <a:bodyPr wrap="square"/>
                    <a:lstStyle/>
                    <a:p>
                      <a:r>
                        <a:rPr sz="1100" b="0">
                          <a:solidFill>
                            <a:srgbClr val="3C3C3C"/>
                          </a:solidFill>
                          <a:latin typeface="Segoe UI"/>
                        </a:rPr>
                        <a:t>Performance baseline established</a:t>
                      </a:r>
                    </a:p>
                  </a:txBody>
                  <a:tcPr anchor="ctr" marL="91440" marT="18288" marB="18288">
                    <a:solidFill>
                      <a:srgbClr val="FFFFFF"/>
                    </a:solidFill>
                  </a:tcPr>
                </a:tc>
              </a:tr>
              <a:tr h="274320">
                <a:tc>
                  <a:txBody>
                    <a:bodyPr wrap="square"/>
                    <a:lstStyle/>
                    <a:p>
                      <a:r>
                        <a:rPr sz="1100" b="1">
                          <a:solidFill>
                            <a:srgbClr val="1A1A1A"/>
                          </a:solidFill>
                          <a:latin typeface="Segoe UI"/>
                        </a:rPr>
                        <a:t>UAT and cutover</a:t>
                      </a:r>
                    </a:p>
                  </a:txBody>
                  <a:tcPr anchor="ctr" marL="91440" marT="18288" marB="18288">
                    <a:solidFill>
                      <a:srgbClr val="F4F5F7"/>
                    </a:solidFill>
                  </a:tcPr>
                </a:tc>
                <a:tc>
                  <a:txBody>
                    <a:bodyPr wrap="square"/>
                    <a:lstStyle/>
                    <a:p>
                      <a:r>
                        <a:rPr sz="1100" b="0">
                          <a:solidFill>
                            <a:srgbClr val="3C3C3C"/>
                          </a:solidFill>
                          <a:latin typeface="Segoe UI"/>
                        </a:rPr>
                        <a:t>10 - 12</a:t>
                      </a:r>
                    </a:p>
                  </a:txBody>
                  <a:tcPr anchor="ctr" marL="91440" marT="18288" marB="18288">
                    <a:solidFill>
                      <a:srgbClr val="F4F5F7"/>
                    </a:solidFill>
                  </a:tcPr>
                </a:tc>
                <a:tc>
                  <a:txBody>
                    <a:bodyPr wrap="square"/>
                    <a:lstStyle/>
                    <a:p>
                      <a:r>
                        <a:rPr sz="1100" b="0">
                          <a:solidFill>
                            <a:srgbClr val="3C3C3C"/>
                          </a:solidFill>
                          <a:latin typeface="Segoe UI"/>
                        </a:rPr>
                        <a:t>Business validation, data migration, go-live</a:t>
                      </a:r>
                    </a:p>
                  </a:txBody>
                  <a:tcPr anchor="ctr" marL="91440" marT="18288" marB="18288">
                    <a:solidFill>
                      <a:srgbClr val="F4F5F7"/>
                    </a:solidFill>
                  </a:tcPr>
                </a:tc>
                <a:tc>
                  <a:txBody>
                    <a:bodyPr wrap="square"/>
                    <a:lstStyle/>
                    <a:p>
                      <a:r>
                        <a:rPr sz="1100" b="0">
                          <a:solidFill>
                            <a:srgbClr val="3C3C3C"/>
                          </a:solidFill>
                          <a:latin typeface="Segoe UI"/>
                        </a:rPr>
                        <a:t>Signed off in production</a:t>
                      </a:r>
                    </a:p>
                  </a:txBody>
                  <a:tcPr anchor="ctr" marL="91440" marT="18288" marB="18288">
                    <a:solidFill>
                      <a:srgbClr val="F4F5F7"/>
                    </a:solidFill>
                  </a:tcPr>
                </a:tc>
              </a:tr>
            </a:tbl>
          </a:graphicData>
        </a:graphic>
      </p:graphicFrame>
      <p:sp>
        <p:nvSpPr>
          <p:cNvPr id="6" name="Rectangle 5"/>
          <p:cNvSpPr/>
          <p:nvPr/>
        </p:nvSpPr>
        <p:spPr>
          <a:xfrm>
            <a:off x="566928" y="4157471"/>
            <a:ext cx="11064240" cy="65836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4157471"/>
            <a:ext cx="54864" cy="658368"/>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4248911"/>
            <a:ext cx="10652760" cy="493776"/>
          </a:xfrm>
          <a:prstGeom prst="rect">
            <a:avLst/>
          </a:prstGeom>
          <a:noFill/>
        </p:spPr>
        <p:txBody>
          <a:bodyPr wrap="square">
            <a:spAutoFit/>
          </a:bodyPr>
          <a:lstStyle/>
          <a:p>
            <a:pPr algn="l">
              <a:spcBef>
                <a:spcPts val="0"/>
              </a:spcBef>
              <a:spcAft>
                <a:spcPts val="0"/>
              </a:spcAft>
            </a:pPr>
            <a:r>
              <a:rPr sz="1250" b="0" i="0">
                <a:solidFill>
                  <a:srgbClr val="1A1A1A"/>
                </a:solidFill>
                <a:latin typeface="Segoe UI"/>
              </a:rPr>
              <a:t>Approximately 12 weeks with a team of 3, consistent with the 93 to 141 day estimate. Build streams overlap deliberately.</a:t>
            </a:r>
          </a:p>
        </p:txBody>
      </p:sp>
      <p:sp>
        <p:nvSpPr>
          <p:cNvPr id="9" name="TextBox 8"/>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0515600" cy="274320"/>
          </a:xfrm>
          <a:prstGeom prst="rect">
            <a:avLst/>
          </a:prstGeom>
          <a:noFill/>
        </p:spPr>
        <p:txBody>
          <a:bodyPr wrap="square">
            <a:spAutoFit/>
          </a:bodyPr>
          <a:lstStyle/>
          <a:p>
            <a:pPr algn="l">
              <a:spcBef>
                <a:spcPts val="0"/>
              </a:spcBef>
              <a:spcAft>
                <a:spcPts val="0"/>
              </a:spcAft>
            </a:pPr>
            <a:r>
              <a:rPr sz="1050" b="1" i="0">
                <a:solidFill>
                  <a:srgbClr val="006D77"/>
                </a:solidFill>
                <a:latin typeface="Segoe UI"/>
              </a:rPr>
              <a:t>RECOMMENDATIONS</a:t>
            </a:r>
          </a:p>
        </p:txBody>
      </p:sp>
      <p:sp>
        <p:nvSpPr>
          <p:cNvPr id="4" name="TextBox 3"/>
          <p:cNvSpPr txBox="1"/>
          <p:nvPr/>
        </p:nvSpPr>
        <p:spPr>
          <a:xfrm>
            <a:off x="566928" y="530352"/>
            <a:ext cx="11064240" cy="685800"/>
          </a:xfrm>
          <a:prstGeom prst="rect">
            <a:avLst/>
          </a:prstGeom>
          <a:noFill/>
        </p:spPr>
        <p:txBody>
          <a:bodyPr wrap="square">
            <a:spAutoFit/>
          </a:bodyPr>
          <a:lstStyle/>
          <a:p>
            <a:pPr algn="l">
              <a:spcBef>
                <a:spcPts val="0"/>
              </a:spcBef>
              <a:spcAft>
                <a:spcPts val="0"/>
              </a:spcAft>
            </a:pPr>
            <a:r>
              <a:rPr sz="2700" b="1" i="0">
                <a:solidFill>
                  <a:srgbClr val="1A1A1A"/>
                </a:solidFill>
                <a:latin typeface="Segoe UI"/>
              </a:rPr>
              <a:t>Candidate applications for migration</a:t>
            </a:r>
          </a:p>
        </p:txBody>
      </p:sp>
      <p:graphicFrame>
        <p:nvGraphicFramePr>
          <p:cNvPr id="5" name="Table 4"/>
          <p:cNvGraphicFramePr>
            <a:graphicFrameLocks noGrp="1"/>
          </p:cNvGraphicFramePr>
          <p:nvPr/>
        </p:nvGraphicFramePr>
        <p:xfrm>
          <a:off x="566928" y="1554480"/>
          <a:ext cx="11064240" cy="1993392"/>
        </p:xfrm>
        <a:graphic>
          <a:graphicData uri="http://schemas.openxmlformats.org/drawingml/2006/table">
            <a:tbl>
              <a:tblPr firstRow="1" bandRow="1">
                <a:tableStyleId>{5C22544A-7EE6-4342-B048-85BDC9FD1C3A}</a:tableStyleId>
              </a:tblPr>
              <a:tblGrid>
                <a:gridCol w="3017520"/>
                <a:gridCol w="4114800"/>
                <a:gridCol w="3931920"/>
              </a:tblGrid>
              <a:tr h="347472">
                <a:tc>
                  <a:txBody>
                    <a:bodyPr wrap="square"/>
                    <a:lstStyle/>
                    <a:p>
                      <a:r>
                        <a:rPr sz="1150" b="1">
                          <a:solidFill>
                            <a:srgbClr val="FFFFFF"/>
                          </a:solidFill>
                          <a:latin typeface="Segoe UI"/>
                        </a:rPr>
                        <a:t>Selection criterion</a:t>
                      </a:r>
                    </a:p>
                  </a:txBody>
                  <a:tcPr anchor="ctr" marL="91440">
                    <a:solidFill>
                      <a:srgbClr val="006D77"/>
                    </a:solidFill>
                  </a:tcPr>
                </a:tc>
                <a:tc>
                  <a:txBody>
                    <a:bodyPr wrap="square"/>
                    <a:lstStyle/>
                    <a:p>
                      <a:r>
                        <a:rPr sz="1150" b="1">
                          <a:solidFill>
                            <a:srgbClr val="FFFFFF"/>
                          </a:solidFill>
                          <a:latin typeface="Segoe UI"/>
                        </a:rPr>
                        <a:t>Why it matters</a:t>
                      </a:r>
                    </a:p>
                  </a:txBody>
                  <a:tcPr anchor="ctr" marL="91440">
                    <a:solidFill>
                      <a:srgbClr val="006D77"/>
                    </a:solidFill>
                  </a:tcPr>
                </a:tc>
                <a:tc>
                  <a:txBody>
                    <a:bodyPr wrap="square"/>
                    <a:lstStyle/>
                    <a:p>
                      <a:r>
                        <a:rPr sz="1150" b="1">
                          <a:solidFill>
                            <a:srgbClr val="FFFFFF"/>
                          </a:solidFill>
                          <a:latin typeface="Segoe UI"/>
                        </a:rPr>
                        <a:t>Ideal profile</a:t>
                      </a:r>
                    </a:p>
                  </a:txBody>
                  <a:tcPr anchor="ctr" marL="91440">
                    <a:solidFill>
                      <a:srgbClr val="006D77"/>
                    </a:solidFill>
                  </a:tcPr>
                </a:tc>
              </a:tr>
              <a:tr h="274320">
                <a:tc>
                  <a:txBody>
                    <a:bodyPr wrap="square"/>
                    <a:lstStyle/>
                    <a:p>
                      <a:r>
                        <a:rPr sz="1150" b="1">
                          <a:solidFill>
                            <a:srgbClr val="1A1A1A"/>
                          </a:solidFill>
                          <a:latin typeface="Segoe UI"/>
                        </a:rPr>
                        <a:t>Ratio of structure to custom logic</a:t>
                      </a:r>
                    </a:p>
                  </a:txBody>
                  <a:tcPr anchor="ctr" marL="91440" marT="18288" marB="18288">
                    <a:solidFill>
                      <a:srgbClr val="FFFFFF"/>
                    </a:solidFill>
                  </a:tcPr>
                </a:tc>
                <a:tc>
                  <a:txBody>
                    <a:bodyPr wrap="square"/>
                    <a:lstStyle/>
                    <a:p>
                      <a:r>
                        <a:rPr sz="1150" b="0">
                          <a:solidFill>
                            <a:srgbClr val="3C3C3C"/>
                          </a:solidFill>
                          <a:latin typeface="Segoe UI"/>
                        </a:rPr>
                        <a:t>Structure automates; logic does not</a:t>
                      </a:r>
                    </a:p>
                  </a:txBody>
                  <a:tcPr anchor="ctr" marL="91440" marT="18288" marB="18288">
                    <a:solidFill>
                      <a:srgbClr val="FFFFFF"/>
                    </a:solidFill>
                  </a:tcPr>
                </a:tc>
                <a:tc>
                  <a:txBody>
                    <a:bodyPr wrap="square"/>
                    <a:lstStyle/>
                    <a:p>
                      <a:r>
                        <a:rPr sz="1150" b="0">
                          <a:solidFill>
                            <a:srgbClr val="3C3C3C"/>
                          </a:solidFill>
                          <a:latin typeface="Segoe UI"/>
                        </a:rPr>
                        <a:t>High stage and step count, few data transforms</a:t>
                      </a:r>
                    </a:p>
                  </a:txBody>
                  <a:tcPr anchor="ctr" marL="91440" marT="18288" marB="18288">
                    <a:solidFill>
                      <a:srgbClr val="FFFFFF"/>
                    </a:solidFill>
                  </a:tcPr>
                </a:tc>
              </a:tr>
              <a:tr h="274320">
                <a:tc>
                  <a:txBody>
                    <a:bodyPr wrap="square"/>
                    <a:lstStyle/>
                    <a:p>
                      <a:r>
                        <a:rPr sz="1150" b="1">
                          <a:solidFill>
                            <a:srgbClr val="1A1A1A"/>
                          </a:solidFill>
                          <a:latin typeface="Segoe UI"/>
                        </a:rPr>
                        <a:t>Decision table density</a:t>
                      </a:r>
                    </a:p>
                  </a:txBody>
                  <a:tcPr anchor="ctr" marL="91440" marT="18288" marB="18288">
                    <a:solidFill>
                      <a:srgbClr val="F4F5F7"/>
                    </a:solidFill>
                  </a:tcPr>
                </a:tc>
                <a:tc>
                  <a:txBody>
                    <a:bodyPr wrap="square"/>
                    <a:lstStyle/>
                    <a:p>
                      <a:r>
                        <a:rPr sz="1150" b="0">
                          <a:solidFill>
                            <a:srgbClr val="3C3C3C"/>
                          </a:solidFill>
                          <a:latin typeface="Segoe UI"/>
                        </a:rPr>
                        <a:t>Decision tables migrate at 100%</a:t>
                      </a:r>
                    </a:p>
                  </a:txBody>
                  <a:tcPr anchor="ctr" marL="91440" marT="18288" marB="18288">
                    <a:solidFill>
                      <a:srgbClr val="F4F5F7"/>
                    </a:solidFill>
                  </a:tcPr>
                </a:tc>
                <a:tc>
                  <a:txBody>
                    <a:bodyPr wrap="square"/>
                    <a:lstStyle/>
                    <a:p>
                      <a:r>
                        <a:rPr sz="1150" b="0">
                          <a:solidFill>
                            <a:srgbClr val="3C3C3C"/>
                          </a:solidFill>
                          <a:latin typeface="Segoe UI"/>
                        </a:rPr>
                        <a:t>Logic expressed as tables, not activities</a:t>
                      </a:r>
                    </a:p>
                  </a:txBody>
                  <a:tcPr anchor="ctr" marL="91440" marT="18288" marB="18288">
                    <a:solidFill>
                      <a:srgbClr val="F4F5F7"/>
                    </a:solidFill>
                  </a:tcPr>
                </a:tc>
              </a:tr>
              <a:tr h="274320">
                <a:tc>
                  <a:txBody>
                    <a:bodyPr wrap="square"/>
                    <a:lstStyle/>
                    <a:p>
                      <a:r>
                        <a:rPr sz="1150" b="1">
                          <a:solidFill>
                            <a:srgbClr val="1A1A1A"/>
                          </a:solidFill>
                          <a:latin typeface="Segoe UI"/>
                        </a:rPr>
                        <a:t>Integration surface</a:t>
                      </a:r>
                    </a:p>
                  </a:txBody>
                  <a:tcPr anchor="ctr" marL="91440" marT="18288" marB="18288">
                    <a:solidFill>
                      <a:srgbClr val="FFFFFF"/>
                    </a:solidFill>
                  </a:tcPr>
                </a:tc>
                <a:tc>
                  <a:txBody>
                    <a:bodyPr wrap="square"/>
                    <a:lstStyle/>
                    <a:p>
                      <a:r>
                        <a:rPr sz="1150" b="0">
                          <a:solidFill>
                            <a:srgbClr val="3C3C3C"/>
                          </a:solidFill>
                          <a:latin typeface="Segoe UI"/>
                        </a:rPr>
                        <a:t>Each integration is bespoke work</a:t>
                      </a:r>
                    </a:p>
                  </a:txBody>
                  <a:tcPr anchor="ctr" marL="91440" marT="18288" marB="18288">
                    <a:solidFill>
                      <a:srgbClr val="FFFFFF"/>
                    </a:solidFill>
                  </a:tcPr>
                </a:tc>
                <a:tc>
                  <a:txBody>
                    <a:bodyPr wrap="square"/>
                    <a:lstStyle/>
                    <a:p>
                      <a:r>
                        <a:rPr sz="1150" b="0">
                          <a:solidFill>
                            <a:srgbClr val="3C3C3C"/>
                          </a:solidFill>
                          <a:latin typeface="Segoe UI"/>
                        </a:rPr>
                        <a:t>Few external system dependencies</a:t>
                      </a:r>
                    </a:p>
                  </a:txBody>
                  <a:tcPr anchor="ctr" marL="91440" marT="18288" marB="18288">
                    <a:solidFill>
                      <a:srgbClr val="FFFFFF"/>
                    </a:solidFill>
                  </a:tcPr>
                </a:tc>
              </a:tr>
              <a:tr h="274320">
                <a:tc>
                  <a:txBody>
                    <a:bodyPr wrap="square"/>
                    <a:lstStyle/>
                    <a:p>
                      <a:r>
                        <a:rPr sz="1150" b="1">
                          <a:solidFill>
                            <a:srgbClr val="1A1A1A"/>
                          </a:solidFill>
                          <a:latin typeface="Segoe UI"/>
                        </a:rPr>
                        <a:t>Security complexity</a:t>
                      </a:r>
                    </a:p>
                  </a:txBody>
                  <a:tcPr anchor="ctr" marL="91440" marT="18288" marB="18288">
                    <a:solidFill>
                      <a:srgbClr val="F4F5F7"/>
                    </a:solidFill>
                  </a:tcPr>
                </a:tc>
                <a:tc>
                  <a:txBody>
                    <a:bodyPr wrap="square"/>
                    <a:lstStyle/>
                    <a:p>
                      <a:r>
                        <a:rPr sz="1150" b="0">
                          <a:solidFill>
                            <a:srgbClr val="3C3C3C"/>
                          </a:solidFill>
                          <a:latin typeface="Segoe UI"/>
                        </a:rPr>
                        <a:t>Pega and Dataverse models differ structurally</a:t>
                      </a:r>
                    </a:p>
                  </a:txBody>
                  <a:tcPr anchor="ctr" marL="91440" marT="18288" marB="18288">
                    <a:solidFill>
                      <a:srgbClr val="F4F5F7"/>
                    </a:solidFill>
                  </a:tcPr>
                </a:tc>
                <a:tc>
                  <a:txBody>
                    <a:bodyPr wrap="square"/>
                    <a:lstStyle/>
                    <a:p>
                      <a:r>
                        <a:rPr sz="1150" b="0">
                          <a:solidFill>
                            <a:srgbClr val="3C3C3C"/>
                          </a:solidFill>
                          <a:latin typeface="Segoe UI"/>
                        </a:rPr>
                        <a:t>Small number of access groups</a:t>
                      </a:r>
                    </a:p>
                  </a:txBody>
                  <a:tcPr anchor="ctr" marL="91440" marT="18288" marB="18288">
                    <a:solidFill>
                      <a:srgbClr val="F4F5F7"/>
                    </a:solidFill>
                  </a:tcPr>
                </a:tc>
              </a:tr>
              <a:tr h="274320">
                <a:tc>
                  <a:txBody>
                    <a:bodyPr wrap="square"/>
                    <a:lstStyle/>
                    <a:p>
                      <a:r>
                        <a:rPr sz="1150" b="1">
                          <a:solidFill>
                            <a:srgbClr val="1A1A1A"/>
                          </a:solidFill>
                          <a:latin typeface="Segoe UI"/>
                        </a:rPr>
                        <a:t>Business criticality</a:t>
                      </a:r>
                    </a:p>
                  </a:txBody>
                  <a:tcPr anchor="ctr" marL="91440" marT="18288" marB="18288">
                    <a:solidFill>
                      <a:srgbClr val="FFFFFF"/>
                    </a:solidFill>
                  </a:tcPr>
                </a:tc>
                <a:tc>
                  <a:txBody>
                    <a:bodyPr wrap="square"/>
                    <a:lstStyle/>
                    <a:p>
                      <a:r>
                        <a:rPr sz="1150" b="0">
                          <a:solidFill>
                            <a:srgbClr val="3C3C3C"/>
                          </a:solidFill>
                          <a:latin typeface="Segoe UI"/>
                        </a:rPr>
                        <a:t>De-risk before touching tier 1</a:t>
                      </a:r>
                    </a:p>
                  </a:txBody>
                  <a:tcPr anchor="ctr" marL="91440" marT="18288" marB="18288">
                    <a:solidFill>
                      <a:srgbClr val="FFFFFF"/>
                    </a:solidFill>
                  </a:tcPr>
                </a:tc>
                <a:tc>
                  <a:txBody>
                    <a:bodyPr wrap="square"/>
                    <a:lstStyle/>
                    <a:p>
                      <a:r>
                        <a:rPr sz="1150" b="0">
                          <a:solidFill>
                            <a:srgbClr val="3C3C3C"/>
                          </a:solidFill>
                          <a:latin typeface="Segoe UI"/>
                        </a:rPr>
                        <a:t>Start with tier 2 or 3</a:t>
                      </a:r>
                    </a:p>
                  </a:txBody>
                  <a:tcPr anchor="ctr" marL="91440" marT="18288" marB="18288">
                    <a:solidFill>
                      <a:srgbClr val="FFFFFF"/>
                    </a:solidFill>
                  </a:tcPr>
                </a:tc>
              </a:tr>
              <a:tr h="274320">
                <a:tc>
                  <a:txBody>
                    <a:bodyPr wrap="square"/>
                    <a:lstStyle/>
                    <a:p>
                      <a:r>
                        <a:rPr sz="1150" b="1">
                          <a:solidFill>
                            <a:srgbClr val="1A1A1A"/>
                          </a:solidFill>
                          <a:latin typeface="Segoe UI"/>
                        </a:rPr>
                        <a:t>In-flight case volume</a:t>
                      </a:r>
                    </a:p>
                  </a:txBody>
                  <a:tcPr anchor="ctr" marL="91440" marT="18288" marB="18288">
                    <a:solidFill>
                      <a:srgbClr val="F4F5F7"/>
                    </a:solidFill>
                  </a:tcPr>
                </a:tc>
                <a:tc>
                  <a:txBody>
                    <a:bodyPr wrap="square"/>
                    <a:lstStyle/>
                    <a:p>
                      <a:r>
                        <a:rPr sz="1150" b="0">
                          <a:solidFill>
                            <a:srgbClr val="3C3C3C"/>
                          </a:solidFill>
                          <a:latin typeface="Segoe UI"/>
                        </a:rPr>
                        <a:t>Cutover complexity scales with it</a:t>
                      </a:r>
                    </a:p>
                  </a:txBody>
                  <a:tcPr anchor="ctr" marL="91440" marT="18288" marB="18288">
                    <a:solidFill>
                      <a:srgbClr val="F4F5F7"/>
                    </a:solidFill>
                  </a:tcPr>
                </a:tc>
                <a:tc>
                  <a:txBody>
                    <a:bodyPr wrap="square"/>
                    <a:lstStyle/>
                    <a:p>
                      <a:r>
                        <a:rPr sz="1150" b="0">
                          <a:solidFill>
                            <a:srgbClr val="3C3C3C"/>
                          </a:solidFill>
                          <a:latin typeface="Segoe UI"/>
                        </a:rPr>
                        <a:t>Short-lived cases that can be drained</a:t>
                      </a:r>
                    </a:p>
                  </a:txBody>
                  <a:tcPr anchor="ctr" marL="91440" marT="18288" marB="18288">
                    <a:solidFill>
                      <a:srgbClr val="F4F5F7"/>
                    </a:solidFill>
                  </a:tcPr>
                </a:tc>
              </a:tr>
            </a:tbl>
          </a:graphicData>
        </a:graphic>
      </p:graphicFrame>
      <p:sp>
        <p:nvSpPr>
          <p:cNvPr id="6" name="TextBox 5"/>
          <p:cNvSpPr txBox="1"/>
          <p:nvPr/>
        </p:nvSpPr>
        <p:spPr>
          <a:xfrm>
            <a:off x="566928" y="4709160"/>
            <a:ext cx="11064240" cy="1176528"/>
          </a:xfrm>
          <a:prstGeom prst="rect">
            <a:avLst/>
          </a:prstGeom>
          <a:noFill/>
        </p:spPr>
        <p:txBody>
          <a:bodyPr wrap="square">
            <a:spAutoFit/>
          </a:bodyPr>
          <a:lstStyle/>
          <a:p>
            <a:pPr algn="l">
              <a:spcBef>
                <a:spcPts val="0"/>
              </a:spcBef>
              <a:spcAft>
                <a:spcPts val="600"/>
              </a:spcAft>
            </a:pPr>
            <a:r>
              <a:rPr sz="1300" b="1" i="0">
                <a:solidFill>
                  <a:srgbClr val="1A1A1A"/>
                </a:solidFill>
                <a:latin typeface="Segoe UI"/>
              </a:rPr>
              <a:t>Suggested sequence</a:t>
            </a:r>
          </a:p>
          <a:p>
            <a:pPr algn="l">
              <a:spcBef>
                <a:spcPts val="0"/>
              </a:spcBef>
              <a:spcAft>
                <a:spcPts val="600"/>
              </a:spcAft>
            </a:pPr>
            <a:r>
              <a:rPr sz="1300" b="0" i="0">
                <a:solidFill>
                  <a:srgbClr val="1A1A1A"/>
                </a:solidFill>
                <a:latin typeface="Segoe UI"/>
              </a:rPr>
              <a:t>•  1.  Lending Due Diligence - already proven, assets in place</a:t>
            </a:r>
          </a:p>
          <a:p>
            <a:pPr algn="l">
              <a:spcBef>
                <a:spcPts val="0"/>
              </a:spcBef>
              <a:spcAft>
                <a:spcPts val="600"/>
              </a:spcAft>
            </a:pPr>
            <a:r>
              <a:rPr sz="1300" b="0" i="0">
                <a:solidFill>
                  <a:srgbClr val="1A1A1A"/>
                </a:solidFill>
                <a:latin typeface="Segoe UI"/>
              </a:rPr>
              <a:t>•  2.  A second application sharing its data objects - maximises reuse</a:t>
            </a:r>
          </a:p>
          <a:p>
            <a:pPr algn="l">
              <a:spcBef>
                <a:spcPts val="0"/>
              </a:spcBef>
              <a:spcAft>
                <a:spcPts val="600"/>
              </a:spcAft>
            </a:pPr>
            <a:r>
              <a:rPr sz="1300" b="0" i="0">
                <a:solidFill>
                  <a:srgbClr val="1A1A1A"/>
                </a:solidFill>
                <a:latin typeface="Segoe UI"/>
              </a:rPr>
              <a:t>•  3.  Progressively higher-criticality applications as capability matures</a:t>
            </a:r>
          </a:p>
        </p:txBody>
      </p:sp>
      <p:sp>
        <p:nvSpPr>
          <p:cNvPr id="7" name="TextBox 6"/>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0515600" cy="274320"/>
          </a:xfrm>
          <a:prstGeom prst="rect">
            <a:avLst/>
          </a:prstGeom>
          <a:noFill/>
        </p:spPr>
        <p:txBody>
          <a:bodyPr wrap="square">
            <a:spAutoFit/>
          </a:bodyPr>
          <a:lstStyle/>
          <a:p>
            <a:pPr algn="l">
              <a:spcBef>
                <a:spcPts val="0"/>
              </a:spcBef>
              <a:spcAft>
                <a:spcPts val="0"/>
              </a:spcAft>
            </a:pPr>
            <a:r>
              <a:rPr sz="1050" b="1" i="0">
                <a:solidFill>
                  <a:srgbClr val="006D77"/>
                </a:solidFill>
                <a:latin typeface="Segoe UI"/>
              </a:rPr>
              <a:t>RECOMMENDATIONS</a:t>
            </a:r>
          </a:p>
        </p:txBody>
      </p:sp>
      <p:sp>
        <p:nvSpPr>
          <p:cNvPr id="4" name="TextBox 3"/>
          <p:cNvSpPr txBox="1"/>
          <p:nvPr/>
        </p:nvSpPr>
        <p:spPr>
          <a:xfrm>
            <a:off x="566928" y="530352"/>
            <a:ext cx="11064240" cy="685800"/>
          </a:xfrm>
          <a:prstGeom prst="rect">
            <a:avLst/>
          </a:prstGeom>
          <a:noFill/>
        </p:spPr>
        <p:txBody>
          <a:bodyPr wrap="square">
            <a:spAutoFit/>
          </a:bodyPr>
          <a:lstStyle/>
          <a:p>
            <a:pPr algn="l">
              <a:spcBef>
                <a:spcPts val="0"/>
              </a:spcBef>
              <a:spcAft>
                <a:spcPts val="0"/>
              </a:spcAft>
            </a:pPr>
            <a:r>
              <a:rPr sz="2700" b="1" i="0">
                <a:solidFill>
                  <a:srgbClr val="1A1A1A"/>
                </a:solidFill>
                <a:latin typeface="Segoe UI"/>
              </a:rPr>
              <a:t>Governance model</a:t>
            </a:r>
          </a:p>
        </p:txBody>
      </p:sp>
      <p:graphicFrame>
        <p:nvGraphicFramePr>
          <p:cNvPr id="5" name="Table 4"/>
          <p:cNvGraphicFramePr>
            <a:graphicFrameLocks noGrp="1"/>
          </p:cNvGraphicFramePr>
          <p:nvPr/>
        </p:nvGraphicFramePr>
        <p:xfrm>
          <a:off x="566928" y="1554480"/>
          <a:ext cx="11064238" cy="2542032"/>
        </p:xfrm>
        <a:graphic>
          <a:graphicData uri="http://schemas.openxmlformats.org/drawingml/2006/table">
            <a:tbl>
              <a:tblPr firstRow="1" bandRow="1">
                <a:tableStyleId>{5C22544A-7EE6-4342-B048-85BDC9FD1C3A}</a:tableStyleId>
              </a:tblPr>
              <a:tblGrid>
                <a:gridCol w="2926079"/>
                <a:gridCol w="8138159"/>
              </a:tblGrid>
              <a:tr h="347472">
                <a:tc>
                  <a:txBody>
                    <a:bodyPr wrap="square"/>
                    <a:lstStyle/>
                    <a:p>
                      <a:r>
                        <a:rPr sz="1150" b="1">
                          <a:solidFill>
                            <a:srgbClr val="FFFFFF"/>
                          </a:solidFill>
                          <a:latin typeface="Segoe UI"/>
                        </a:rPr>
                        <a:t>Area</a:t>
                      </a:r>
                    </a:p>
                  </a:txBody>
                  <a:tcPr anchor="ctr" marL="91440">
                    <a:solidFill>
                      <a:srgbClr val="006D77"/>
                    </a:solidFill>
                  </a:tcPr>
                </a:tc>
                <a:tc>
                  <a:txBody>
                    <a:bodyPr wrap="square"/>
                    <a:lstStyle/>
                    <a:p>
                      <a:r>
                        <a:rPr sz="1150" b="1">
                          <a:solidFill>
                            <a:srgbClr val="FFFFFF"/>
                          </a:solidFill>
                          <a:latin typeface="Segoe UI"/>
                        </a:rPr>
                        <a:t>Recommendation</a:t>
                      </a:r>
                    </a:p>
                  </a:txBody>
                  <a:tcPr anchor="ctr" marL="91440">
                    <a:solidFill>
                      <a:srgbClr val="006D77"/>
                    </a:solidFill>
                  </a:tcPr>
                </a:tc>
              </a:tr>
              <a:tr h="274320">
                <a:tc>
                  <a:txBody>
                    <a:bodyPr wrap="square"/>
                    <a:lstStyle/>
                    <a:p>
                      <a:r>
                        <a:rPr sz="1150" b="1">
                          <a:solidFill>
                            <a:srgbClr val="1A1A1A"/>
                          </a:solidFill>
                          <a:latin typeface="Segoe UI"/>
                        </a:rPr>
                        <a:t>Environment strategy</a:t>
                      </a:r>
                    </a:p>
                  </a:txBody>
                  <a:tcPr anchor="ctr" marL="91440" marT="18288" marB="18288">
                    <a:solidFill>
                      <a:srgbClr val="FFFFFF"/>
                    </a:solidFill>
                  </a:tcPr>
                </a:tc>
                <a:tc>
                  <a:txBody>
                    <a:bodyPr wrap="square"/>
                    <a:lstStyle/>
                    <a:p>
                      <a:r>
                        <a:rPr sz="1150" b="0">
                          <a:solidFill>
                            <a:srgbClr val="3C3C3C"/>
                          </a:solidFill>
                          <a:latin typeface="Segoe UI"/>
                        </a:rPr>
                        <a:t>Dev, test and production with managed solutions; unmanaged only in dev</a:t>
                      </a:r>
                    </a:p>
                  </a:txBody>
                  <a:tcPr anchor="ctr" marL="91440" marT="18288" marB="18288">
                    <a:solidFill>
                      <a:srgbClr val="FFFFFF"/>
                    </a:solidFill>
                  </a:tcPr>
                </a:tc>
              </a:tr>
              <a:tr h="274320">
                <a:tc>
                  <a:txBody>
                    <a:bodyPr wrap="square"/>
                    <a:lstStyle/>
                    <a:p>
                      <a:r>
                        <a:rPr sz="1150" b="1">
                          <a:solidFill>
                            <a:srgbClr val="1A1A1A"/>
                          </a:solidFill>
                          <a:latin typeface="Segoe UI"/>
                        </a:rPr>
                        <a:t>Solution management</a:t>
                      </a:r>
                    </a:p>
                  </a:txBody>
                  <a:tcPr anchor="ctr" marL="91440" marT="18288" marB="18288">
                    <a:solidFill>
                      <a:srgbClr val="F4F5F7"/>
                    </a:solidFill>
                  </a:tcPr>
                </a:tc>
                <a:tc>
                  <a:txBody>
                    <a:bodyPr wrap="square"/>
                    <a:lstStyle/>
                    <a:p>
                      <a:r>
                        <a:rPr sz="1150" b="0">
                          <a:solidFill>
                            <a:srgbClr val="3C3C3C"/>
                          </a:solidFill>
                          <a:latin typeface="Segoe UI"/>
                        </a:rPr>
                        <a:t>Single solution per application; environment variables for org URLs</a:t>
                      </a:r>
                    </a:p>
                  </a:txBody>
                  <a:tcPr anchor="ctr" marL="91440" marT="18288" marB="18288">
                    <a:solidFill>
                      <a:srgbClr val="F4F5F7"/>
                    </a:solidFill>
                  </a:tcPr>
                </a:tc>
              </a:tr>
              <a:tr h="274320">
                <a:tc>
                  <a:txBody>
                    <a:bodyPr wrap="square"/>
                    <a:lstStyle/>
                    <a:p>
                      <a:r>
                        <a:rPr sz="1150" b="1">
                          <a:solidFill>
                            <a:srgbClr val="1A1A1A"/>
                          </a:solidFill>
                          <a:latin typeface="Segoe UI"/>
                        </a:rPr>
                        <a:t>Process configuration changes</a:t>
                      </a:r>
                    </a:p>
                  </a:txBody>
                  <a:tcPr anchor="ctr" marL="91440" marT="18288" marB="18288">
                    <a:solidFill>
                      <a:srgbClr val="FFFFFF"/>
                    </a:solidFill>
                  </a:tcPr>
                </a:tc>
                <a:tc>
                  <a:txBody>
                    <a:bodyPr wrap="square"/>
                    <a:lstStyle/>
                    <a:p>
                      <a:r>
                        <a:rPr sz="1150" b="0">
                          <a:solidFill>
                            <a:srgbClr val="3C3C3C"/>
                          </a:solidFill>
                          <a:latin typeface="Segoe UI"/>
                        </a:rPr>
                        <a:t>Treat configuration rows as controlled artefacts - re-seeded from source control, never hand-edited in production</a:t>
                      </a:r>
                    </a:p>
                  </a:txBody>
                  <a:tcPr anchor="ctr" marL="91440" marT="18288" marB="18288">
                    <a:solidFill>
                      <a:srgbClr val="FFFFFF"/>
                    </a:solidFill>
                  </a:tcPr>
                </a:tc>
              </a:tr>
              <a:tr h="274320">
                <a:tc>
                  <a:txBody>
                    <a:bodyPr wrap="square"/>
                    <a:lstStyle/>
                    <a:p>
                      <a:r>
                        <a:rPr sz="1150" b="1">
                          <a:solidFill>
                            <a:srgbClr val="1A1A1A"/>
                          </a:solidFill>
                          <a:latin typeface="Segoe UI"/>
                        </a:rPr>
                        <a:t>Extraction standard</a:t>
                      </a:r>
                    </a:p>
                  </a:txBody>
                  <a:tcPr anchor="ctr" marL="91440" marT="18288" marB="18288">
                    <a:solidFill>
                      <a:srgbClr val="F4F5F7"/>
                    </a:solidFill>
                  </a:tcPr>
                </a:tc>
                <a:tc>
                  <a:txBody>
                    <a:bodyPr wrap="square"/>
                    <a:lstStyle/>
                    <a:p>
                      <a:r>
                        <a:rPr sz="1150" b="0">
                          <a:solidFill>
                            <a:srgbClr val="3C3C3C"/>
                          </a:solidFill>
                          <a:latin typeface="Segoe UI"/>
                        </a:rPr>
                        <a:t>Mandate three-source extraction; the loader enforces this automatically</a:t>
                      </a:r>
                    </a:p>
                  </a:txBody>
                  <a:tcPr anchor="ctr" marL="91440" marT="18288" marB="18288">
                    <a:solidFill>
                      <a:srgbClr val="F4F5F7"/>
                    </a:solidFill>
                  </a:tcPr>
                </a:tc>
              </a:tr>
              <a:tr h="274320">
                <a:tc>
                  <a:txBody>
                    <a:bodyPr wrap="square"/>
                    <a:lstStyle/>
                    <a:p>
                      <a:r>
                        <a:rPr sz="1150" b="1">
                          <a:solidFill>
                            <a:srgbClr val="1A1A1A"/>
                          </a:solidFill>
                          <a:latin typeface="Segoe UI"/>
                        </a:rPr>
                        <a:t>Verification gate</a:t>
                      </a:r>
                    </a:p>
                  </a:txBody>
                  <a:tcPr anchor="ctr" marL="91440" marT="18288" marB="18288">
                    <a:solidFill>
                      <a:srgbClr val="FFFFFF"/>
                    </a:solidFill>
                  </a:tcPr>
                </a:tc>
                <a:tc>
                  <a:txBody>
                    <a:bodyPr wrap="square"/>
                    <a:lstStyle/>
                    <a:p>
                      <a:r>
                        <a:rPr sz="1150" b="0">
                          <a:solidFill>
                            <a:srgbClr val="3C3C3C"/>
                          </a:solidFill>
                          <a:latin typeface="Segoe UI"/>
                        </a:rPr>
                        <a:t>Every application ships with a lifecycle harness; green is a release condition</a:t>
                      </a:r>
                    </a:p>
                  </a:txBody>
                  <a:tcPr anchor="ctr" marL="91440" marT="18288" marB="18288">
                    <a:solidFill>
                      <a:srgbClr val="FFFFFF"/>
                    </a:solidFill>
                  </a:tcPr>
                </a:tc>
              </a:tr>
              <a:tr h="274320">
                <a:tc>
                  <a:txBody>
                    <a:bodyPr wrap="square"/>
                    <a:lstStyle/>
                    <a:p>
                      <a:r>
                        <a:rPr sz="1150" b="1">
                          <a:solidFill>
                            <a:srgbClr val="1A1A1A"/>
                          </a:solidFill>
                          <a:latin typeface="Segoe UI"/>
                        </a:rPr>
                        <a:t>Code standards</a:t>
                      </a:r>
                    </a:p>
                  </a:txBody>
                  <a:tcPr anchor="ctr" marL="91440" marT="18288" marB="18288">
                    <a:solidFill>
                      <a:srgbClr val="F4F5F7"/>
                    </a:solidFill>
                  </a:tcPr>
                </a:tc>
                <a:tc>
                  <a:txBody>
                    <a:bodyPr wrap="square"/>
                    <a:lstStyle/>
                    <a:p>
                      <a:r>
                        <a:rPr sz="1150" b="0">
                          <a:solidFill>
                            <a:srgbClr val="3C3C3C"/>
                          </a:solidFill>
                          <a:latin typeface="Segoe UI"/>
                        </a:rPr>
                        <a:t>Keep the engine pure and side-effect free - it is what makes verification possible</a:t>
                      </a:r>
                    </a:p>
                  </a:txBody>
                  <a:tcPr anchor="ctr" marL="91440" marT="18288" marB="18288">
                    <a:solidFill>
                      <a:srgbClr val="F4F5F7"/>
                    </a:solidFill>
                  </a:tcPr>
                </a:tc>
              </a:tr>
              <a:tr h="274320">
                <a:tc>
                  <a:txBody>
                    <a:bodyPr wrap="square"/>
                    <a:lstStyle/>
                    <a:p>
                      <a:r>
                        <a:rPr sz="1150" b="1">
                          <a:solidFill>
                            <a:srgbClr val="1A1A1A"/>
                          </a:solidFill>
                          <a:latin typeface="Segoe UI"/>
                        </a:rPr>
                        <a:t>Security review</a:t>
                      </a:r>
                    </a:p>
                  </a:txBody>
                  <a:tcPr anchor="ctr" marL="91440" marT="18288" marB="18288">
                    <a:solidFill>
                      <a:srgbClr val="FFFFFF"/>
                    </a:solidFill>
                  </a:tcPr>
                </a:tc>
                <a:tc>
                  <a:txBody>
                    <a:bodyPr wrap="square"/>
                    <a:lstStyle/>
                    <a:p>
                      <a:r>
                        <a:rPr sz="1150" b="0">
                          <a:solidFill>
                            <a:srgbClr val="3C3C3C"/>
                          </a:solidFill>
                          <a:latin typeface="Segoe UI"/>
                        </a:rPr>
                        <a:t>Role and team model signed off by security before build</a:t>
                      </a:r>
                    </a:p>
                  </a:txBody>
                  <a:tcPr anchor="ctr" marL="91440" marT="18288" marB="18288">
                    <a:solidFill>
                      <a:srgbClr val="FFFFFF"/>
                    </a:solidFill>
                  </a:tcPr>
                </a:tc>
              </a:tr>
              <a:tr h="274320">
                <a:tc>
                  <a:txBody>
                    <a:bodyPr wrap="square"/>
                    <a:lstStyle/>
                    <a:p>
                      <a:r>
                        <a:rPr sz="1150" b="1">
                          <a:solidFill>
                            <a:srgbClr val="1A1A1A"/>
                          </a:solidFill>
                          <a:latin typeface="Segoe UI"/>
                        </a:rPr>
                        <a:t>Reusable asset ownership</a:t>
                      </a:r>
                    </a:p>
                  </a:txBody>
                  <a:tcPr anchor="ctr" marL="91440" marT="18288" marB="18288">
                    <a:solidFill>
                      <a:srgbClr val="F4F5F7"/>
                    </a:solidFill>
                  </a:tcPr>
                </a:tc>
                <a:tc>
                  <a:txBody>
                    <a:bodyPr wrap="square"/>
                    <a:lstStyle/>
                    <a:p>
                      <a:r>
                        <a:rPr sz="1150" b="0">
                          <a:solidFill>
                            <a:srgbClr val="3C3C3C"/>
                          </a:solidFill>
                          <a:latin typeface="Segoe UI"/>
                        </a:rPr>
                        <a:t>Nominate an owner for the shared engine, forms and pipeline</a:t>
                      </a:r>
                    </a:p>
                  </a:txBody>
                  <a:tcPr anchor="ctr" marL="91440" marT="18288" marB="18288">
                    <a:solidFill>
                      <a:srgbClr val="F4F5F7"/>
                    </a:solidFill>
                  </a:tcPr>
                </a:tc>
              </a:tr>
            </a:tbl>
          </a:graphicData>
        </a:graphic>
      </p:graphicFrame>
      <p:sp>
        <p:nvSpPr>
          <p:cNvPr id="6" name="Rectangle 5"/>
          <p:cNvSpPr/>
          <p:nvPr/>
        </p:nvSpPr>
        <p:spPr>
          <a:xfrm>
            <a:off x="566928" y="4555235"/>
            <a:ext cx="11064240" cy="65836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4555235"/>
            <a:ext cx="54864" cy="658368"/>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4646675"/>
            <a:ext cx="10652760" cy="493776"/>
          </a:xfrm>
          <a:prstGeom prst="rect">
            <a:avLst/>
          </a:prstGeom>
          <a:noFill/>
        </p:spPr>
        <p:txBody>
          <a:bodyPr wrap="square">
            <a:spAutoFit/>
          </a:bodyPr>
          <a:lstStyle/>
          <a:p>
            <a:pPr algn="l">
              <a:spcBef>
                <a:spcPts val="0"/>
              </a:spcBef>
              <a:spcAft>
                <a:spcPts val="0"/>
              </a:spcAft>
            </a:pPr>
            <a:r>
              <a:rPr sz="1250" b="0" i="0">
                <a:solidFill>
                  <a:srgbClr val="1A1A1A"/>
                </a:solidFill>
                <a:latin typeface="Segoe UI"/>
              </a:rPr>
              <a:t>The single highest-value governance rule: process configuration is code. Version it, review it and re-seed it - never edit it directly in production.</a:t>
            </a:r>
          </a:p>
        </p:txBody>
      </p:sp>
      <p:sp>
        <p:nvSpPr>
          <p:cNvPr id="9" name="TextBox 8"/>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0515600" cy="274320"/>
          </a:xfrm>
          <a:prstGeom prst="rect">
            <a:avLst/>
          </a:prstGeom>
          <a:noFill/>
        </p:spPr>
        <p:txBody>
          <a:bodyPr wrap="square">
            <a:spAutoFit/>
          </a:bodyPr>
          <a:lstStyle/>
          <a:p>
            <a:pPr algn="l">
              <a:spcBef>
                <a:spcPts val="0"/>
              </a:spcBef>
              <a:spcAft>
                <a:spcPts val="0"/>
              </a:spcAft>
            </a:pPr>
            <a:r>
              <a:rPr sz="1050" b="1" i="0">
                <a:solidFill>
                  <a:srgbClr val="006D77"/>
                </a:solidFill>
                <a:latin typeface="Segoe UI"/>
              </a:rPr>
              <a:t>RECOMMENDATIONS</a:t>
            </a:r>
          </a:p>
        </p:txBody>
      </p:sp>
      <p:sp>
        <p:nvSpPr>
          <p:cNvPr id="4" name="TextBox 3"/>
          <p:cNvSpPr txBox="1"/>
          <p:nvPr/>
        </p:nvSpPr>
        <p:spPr>
          <a:xfrm>
            <a:off x="566928" y="530352"/>
            <a:ext cx="11064240" cy="685800"/>
          </a:xfrm>
          <a:prstGeom prst="rect">
            <a:avLst/>
          </a:prstGeom>
          <a:noFill/>
        </p:spPr>
        <p:txBody>
          <a:bodyPr wrap="square">
            <a:spAutoFit/>
          </a:bodyPr>
          <a:lstStyle/>
          <a:p>
            <a:pPr algn="l">
              <a:spcBef>
                <a:spcPts val="0"/>
              </a:spcBef>
              <a:spcAft>
                <a:spcPts val="0"/>
              </a:spcAft>
            </a:pPr>
            <a:r>
              <a:rPr sz="2700" b="1" i="0">
                <a:solidFill>
                  <a:srgbClr val="1A1A1A"/>
                </a:solidFill>
                <a:latin typeface="Segoe UI"/>
              </a:rPr>
              <a:t>Proposed production approach</a:t>
            </a:r>
          </a:p>
        </p:txBody>
      </p:sp>
      <p:sp>
        <p:nvSpPr>
          <p:cNvPr id="5" name="TextBox 4"/>
          <p:cNvSpPr txBox="1"/>
          <p:nvPr/>
        </p:nvSpPr>
        <p:spPr>
          <a:xfrm>
            <a:off x="566928" y="1444752"/>
            <a:ext cx="11064240" cy="3537204"/>
          </a:xfrm>
          <a:prstGeom prst="rect">
            <a:avLst/>
          </a:prstGeom>
          <a:noFill/>
        </p:spPr>
        <p:txBody>
          <a:bodyPr wrap="square">
            <a:spAutoFit/>
          </a:bodyPr>
          <a:lstStyle/>
          <a:p>
            <a:pPr algn="l">
              <a:spcBef>
                <a:spcPts val="0"/>
              </a:spcBef>
              <a:spcAft>
                <a:spcPts val="650"/>
              </a:spcAft>
            </a:pPr>
            <a:r>
              <a:rPr sz="1350" b="1" i="0">
                <a:solidFill>
                  <a:srgbClr val="1A1A1A"/>
                </a:solidFill>
                <a:latin typeface="Segoe UI"/>
              </a:rPr>
              <a:t>Delivery model</a:t>
            </a:r>
          </a:p>
          <a:p>
            <a:pPr algn="l">
              <a:spcBef>
                <a:spcPts val="0"/>
              </a:spcBef>
              <a:spcAft>
                <a:spcPts val="650"/>
              </a:spcAft>
            </a:pPr>
            <a:r>
              <a:rPr sz="1350" b="0" i="0">
                <a:solidFill>
                  <a:srgbClr val="1A1A1A"/>
                </a:solidFill>
                <a:latin typeface="Segoe UI"/>
              </a:rPr>
              <a:t>•  Application-by-application, with each migration strengthening the shared asset library rather than being a one-off.</a:t>
            </a:r>
          </a:p>
          <a:p>
            <a:pPr algn="l">
              <a:spcBef>
                <a:spcPts val="800"/>
              </a:spcBef>
              <a:spcAft>
                <a:spcPts val="650"/>
              </a:spcAft>
            </a:pPr>
            <a:r>
              <a:rPr sz="1350" b="1" i="0">
                <a:solidFill>
                  <a:srgbClr val="1A1A1A"/>
                </a:solidFill>
                <a:latin typeface="Segoe UI"/>
              </a:rPr>
              <a:t>Cutover strategy - recommended</a:t>
            </a:r>
          </a:p>
          <a:p>
            <a:pPr algn="l">
              <a:spcBef>
                <a:spcPts val="0"/>
              </a:spcBef>
              <a:spcAft>
                <a:spcPts val="650"/>
              </a:spcAft>
            </a:pPr>
            <a:r>
              <a:rPr sz="1350" b="0" i="0">
                <a:solidFill>
                  <a:srgbClr val="1A1A1A"/>
                </a:solidFill>
                <a:latin typeface="Segoe UI"/>
              </a:rPr>
              <a:t>•  Drain and switch. Stop creating new Pega cases, allow in-flight cases to complete on Pega, and run new cases on the Power Platform. This avoids in-flight data migration entirely and is why it is assumption 6.</a:t>
            </a:r>
          </a:p>
          <a:p>
            <a:pPr algn="l">
              <a:spcBef>
                <a:spcPts val="800"/>
              </a:spcBef>
              <a:spcAft>
                <a:spcPts val="650"/>
              </a:spcAft>
            </a:pPr>
            <a:r>
              <a:rPr sz="1350" b="1" i="0">
                <a:solidFill>
                  <a:srgbClr val="1A1A1A"/>
                </a:solidFill>
                <a:latin typeface="Segoe UI"/>
              </a:rPr>
              <a:t>Alternatives if draining is not viable</a:t>
            </a:r>
          </a:p>
          <a:p>
            <a:pPr algn="l">
              <a:spcBef>
                <a:spcPts val="0"/>
              </a:spcBef>
              <a:spcAft>
                <a:spcPts val="650"/>
              </a:spcAft>
            </a:pPr>
            <a:r>
              <a:rPr sz="1350" b="0" i="0">
                <a:solidFill>
                  <a:srgbClr val="1A1A1A"/>
                </a:solidFill>
                <a:latin typeface="Segoe UI"/>
              </a:rPr>
              <a:t>•  Dual-run with reconciliation - higher assurance, materially higher cost</a:t>
            </a:r>
          </a:p>
          <a:p>
            <a:pPr algn="l">
              <a:spcBef>
                <a:spcPts val="0"/>
              </a:spcBef>
              <a:spcAft>
                <a:spcPts val="650"/>
              </a:spcAft>
            </a:pPr>
            <a:r>
              <a:rPr sz="1350" b="0" i="0">
                <a:solidFill>
                  <a:srgbClr val="1A1A1A"/>
                </a:solidFill>
                <a:latin typeface="Segoe UI"/>
              </a:rPr>
              <a:t>•  Migrate in-flight cases - needs stage and step mapping per case and carries the highest risk</a:t>
            </a:r>
          </a:p>
          <a:p>
            <a:pPr algn="l">
              <a:spcBef>
                <a:spcPts val="800"/>
              </a:spcBef>
              <a:spcAft>
                <a:spcPts val="650"/>
              </a:spcAft>
            </a:pPr>
            <a:r>
              <a:rPr sz="1350" b="1" i="0">
                <a:solidFill>
                  <a:srgbClr val="1A1A1A"/>
                </a:solidFill>
                <a:latin typeface="Segoe UI"/>
              </a:rPr>
              <a:t>Operating model</a:t>
            </a:r>
          </a:p>
          <a:p>
            <a:pPr algn="l">
              <a:spcBef>
                <a:spcPts val="0"/>
              </a:spcBef>
              <a:spcAft>
                <a:spcPts val="650"/>
              </a:spcAft>
            </a:pPr>
            <a:r>
              <a:rPr sz="1350" b="0" i="0">
                <a:solidFill>
                  <a:srgbClr val="1A1A1A"/>
                </a:solidFill>
                <a:latin typeface="Segoe UI"/>
              </a:rPr>
              <a:t>•  Business analysts own process configuration; engineers own the engine and integrations. This split is what the metadata-driven architecture enables.</a:t>
            </a:r>
          </a:p>
        </p:txBody>
      </p:sp>
      <p:sp>
        <p:nvSpPr>
          <p:cNvPr id="6" name="Rectangle 5"/>
          <p:cNvSpPr/>
          <p:nvPr/>
        </p:nvSpPr>
        <p:spPr>
          <a:xfrm>
            <a:off x="566928" y="5256276"/>
            <a:ext cx="11064240" cy="65836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5256276"/>
            <a:ext cx="54864" cy="658368"/>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5347715"/>
            <a:ext cx="10652760" cy="493776"/>
          </a:xfrm>
          <a:prstGeom prst="rect">
            <a:avLst/>
          </a:prstGeom>
          <a:noFill/>
        </p:spPr>
        <p:txBody>
          <a:bodyPr wrap="square">
            <a:spAutoFit/>
          </a:bodyPr>
          <a:lstStyle/>
          <a:p>
            <a:pPr algn="l">
              <a:spcBef>
                <a:spcPts val="0"/>
              </a:spcBef>
              <a:spcAft>
                <a:spcPts val="0"/>
              </a:spcAft>
            </a:pPr>
            <a:r>
              <a:rPr sz="1250" b="0" i="0">
                <a:solidFill>
                  <a:srgbClr val="1A1A1A"/>
                </a:solidFill>
                <a:latin typeface="Segoe UI"/>
              </a:rPr>
              <a:t>Drain and switch is strongly preferred. In-flight migration was the single largest risk identified and is avoidable by sequencing.</a:t>
            </a:r>
          </a:p>
        </p:txBody>
      </p:sp>
      <p:sp>
        <p:nvSpPr>
          <p:cNvPr id="9" name="TextBox 8"/>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331720"/>
            <a:ext cx="1828800" cy="1097280"/>
          </a:xfrm>
          <a:prstGeom prst="rect">
            <a:avLst/>
          </a:prstGeom>
          <a:noFill/>
        </p:spPr>
        <p:txBody>
          <a:bodyPr wrap="square">
            <a:spAutoFit/>
          </a:bodyPr>
          <a:lstStyle/>
          <a:p>
            <a:pPr algn="l">
              <a:spcBef>
                <a:spcPts val="0"/>
              </a:spcBef>
              <a:spcAft>
                <a:spcPts val="0"/>
              </a:spcAft>
            </a:pPr>
            <a:r>
              <a:rPr sz="6400" b="1" i="0">
                <a:solidFill>
                  <a:srgbClr val="7FC4CB"/>
                </a:solidFill>
                <a:latin typeface="Segoe UI"/>
              </a:rPr>
              <a:t>11</a:t>
            </a:r>
          </a:p>
        </p:txBody>
      </p:sp>
      <p:sp>
        <p:nvSpPr>
          <p:cNvPr id="5" name="TextBox 4"/>
          <p:cNvSpPr txBox="1"/>
          <p:nvPr/>
        </p:nvSpPr>
        <p:spPr>
          <a:xfrm>
            <a:off x="2331720" y="2487168"/>
            <a:ext cx="8778240" cy="914400"/>
          </a:xfrm>
          <a:prstGeom prst="rect">
            <a:avLst/>
          </a:prstGeom>
          <a:noFill/>
        </p:spPr>
        <p:txBody>
          <a:bodyPr wrap="square">
            <a:spAutoFit/>
          </a:bodyPr>
          <a:lstStyle/>
          <a:p>
            <a:pPr algn="l">
              <a:spcBef>
                <a:spcPts val="0"/>
              </a:spcBef>
              <a:spcAft>
                <a:spcPts val="0"/>
              </a:spcAft>
            </a:pPr>
            <a:r>
              <a:rPr sz="3400" b="1" i="0">
                <a:solidFill>
                  <a:srgbClr val="FFFFFF"/>
                </a:solidFill>
                <a:latin typeface="Segoe UI"/>
              </a:rPr>
              <a:t>Appendix</a:t>
            </a:r>
          </a:p>
        </p:txBody>
      </p:sp>
      <p:sp>
        <p:nvSpPr>
          <p:cNvPr id="6" name="TextBox 5"/>
          <p:cNvSpPr txBox="1"/>
          <p:nvPr/>
        </p:nvSpPr>
        <p:spPr>
          <a:xfrm>
            <a:off x="2395728" y="3401568"/>
            <a:ext cx="8595360" cy="640080"/>
          </a:xfrm>
          <a:prstGeom prst="rect">
            <a:avLst/>
          </a:prstGeom>
          <a:noFill/>
        </p:spPr>
        <p:txBody>
          <a:bodyPr wrap="square">
            <a:spAutoFit/>
          </a:bodyPr>
          <a:lstStyle/>
          <a:p>
            <a:pPr algn="l">
              <a:spcBef>
                <a:spcPts val="0"/>
              </a:spcBef>
              <a:spcAft>
                <a:spcPts val="0"/>
              </a:spcAft>
            </a:pPr>
            <a:r>
              <a:rPr sz="1450" b="0" i="0">
                <a:solidFill>
                  <a:srgbClr val="D6ECEE"/>
                </a:solidFill>
                <a:latin typeface="Segoe UI"/>
              </a:rPr>
              <a:t>Mapping detail, artefacts and assumptions</a:t>
            </a:r>
          </a:p>
        </p:txBody>
      </p:sp>
      <p:sp>
        <p:nvSpPr>
          <p:cNvPr id="7" name="TextBox 6"/>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0515600" cy="274320"/>
          </a:xfrm>
          <a:prstGeom prst="rect">
            <a:avLst/>
          </a:prstGeom>
          <a:noFill/>
        </p:spPr>
        <p:txBody>
          <a:bodyPr wrap="square">
            <a:spAutoFit/>
          </a:bodyPr>
          <a:lstStyle/>
          <a:p>
            <a:pPr algn="l">
              <a:spcBef>
                <a:spcPts val="0"/>
              </a:spcBef>
              <a:spcAft>
                <a:spcPts val="0"/>
              </a:spcAft>
            </a:pPr>
            <a:r>
              <a:rPr sz="1050" b="1" i="0">
                <a:solidFill>
                  <a:srgbClr val="006D77"/>
                </a:solidFill>
                <a:latin typeface="Segoe UI"/>
              </a:rPr>
              <a:t>APPENDIX</a:t>
            </a:r>
          </a:p>
        </p:txBody>
      </p:sp>
      <p:sp>
        <p:nvSpPr>
          <p:cNvPr id="4" name="TextBox 3"/>
          <p:cNvSpPr txBox="1"/>
          <p:nvPr/>
        </p:nvSpPr>
        <p:spPr>
          <a:xfrm>
            <a:off x="566928" y="530352"/>
            <a:ext cx="11064240" cy="685800"/>
          </a:xfrm>
          <a:prstGeom prst="rect">
            <a:avLst/>
          </a:prstGeom>
          <a:noFill/>
        </p:spPr>
        <p:txBody>
          <a:bodyPr wrap="square">
            <a:spAutoFit/>
          </a:bodyPr>
          <a:lstStyle/>
          <a:p>
            <a:pPr algn="l">
              <a:spcBef>
                <a:spcPts val="0"/>
              </a:spcBef>
              <a:spcAft>
                <a:spcPts val="0"/>
              </a:spcAft>
            </a:pPr>
            <a:r>
              <a:rPr sz="2700" b="1" i="0">
                <a:solidFill>
                  <a:srgbClr val="1A1A1A"/>
                </a:solidFill>
                <a:latin typeface="Segoe UI"/>
              </a:rPr>
              <a:t>Detailed mapping - step kinds</a:t>
            </a:r>
          </a:p>
        </p:txBody>
      </p:sp>
      <p:graphicFrame>
        <p:nvGraphicFramePr>
          <p:cNvPr id="5" name="Table 4"/>
          <p:cNvGraphicFramePr>
            <a:graphicFrameLocks noGrp="1"/>
          </p:cNvGraphicFramePr>
          <p:nvPr/>
        </p:nvGraphicFramePr>
        <p:xfrm>
          <a:off x="566928" y="1554480"/>
          <a:ext cx="11064239" cy="3090672"/>
        </p:xfrm>
        <a:graphic>
          <a:graphicData uri="http://schemas.openxmlformats.org/drawingml/2006/table">
            <a:tbl>
              <a:tblPr firstRow="1" bandRow="1">
                <a:tableStyleId>{5C22544A-7EE6-4342-B048-85BDC9FD1C3A}</a:tableStyleId>
              </a:tblPr>
              <a:tblGrid>
                <a:gridCol w="1924215"/>
                <a:gridCol w="3463588"/>
                <a:gridCol w="865897"/>
                <a:gridCol w="3078745"/>
                <a:gridCol w="1731794"/>
              </a:tblGrid>
              <a:tr h="347472">
                <a:tc>
                  <a:txBody>
                    <a:bodyPr wrap="square"/>
                    <a:lstStyle/>
                    <a:p>
                      <a:r>
                        <a:rPr sz="1150" b="1">
                          <a:solidFill>
                            <a:srgbClr val="FFFFFF"/>
                          </a:solidFill>
                          <a:latin typeface="Segoe UI"/>
                        </a:rPr>
                        <a:t>Pega step kind</a:t>
                      </a:r>
                    </a:p>
                  </a:txBody>
                  <a:tcPr anchor="ctr" marL="91440">
                    <a:solidFill>
                      <a:srgbClr val="006D77"/>
                    </a:solidFill>
                  </a:tcPr>
                </a:tc>
                <a:tc>
                  <a:txBody>
                    <a:bodyPr wrap="square"/>
                    <a:lstStyle/>
                    <a:p>
                      <a:r>
                        <a:rPr sz="1150" b="1">
                          <a:solidFill>
                            <a:srgbClr val="FFFFFF"/>
                          </a:solidFill>
                          <a:latin typeface="Segoe UI"/>
                        </a:rPr>
                        <a:t>impl</a:t>
                      </a:r>
                    </a:p>
                  </a:txBody>
                  <a:tcPr anchor="ctr" marL="91440">
                    <a:solidFill>
                      <a:srgbClr val="006D77"/>
                    </a:solidFill>
                  </a:tcPr>
                </a:tc>
                <a:tc>
                  <a:txBody>
                    <a:bodyPr wrap="square"/>
                    <a:lstStyle/>
                    <a:p>
                      <a:r>
                        <a:rPr sz="1150" b="1">
                          <a:solidFill>
                            <a:srgbClr val="FFFFFF"/>
                          </a:solidFill>
                          <a:latin typeface="Segoe UI"/>
                        </a:rPr>
                        <a:t>Count</a:t>
                      </a:r>
                    </a:p>
                  </a:txBody>
                  <a:tcPr anchor="ctr" marL="91440">
                    <a:solidFill>
                      <a:srgbClr val="006D77"/>
                    </a:solidFill>
                  </a:tcPr>
                </a:tc>
                <a:tc>
                  <a:txBody>
                    <a:bodyPr wrap="square"/>
                    <a:lstStyle/>
                    <a:p>
                      <a:r>
                        <a:rPr sz="1150" b="1">
                          <a:solidFill>
                            <a:srgbClr val="FFFFFF"/>
                          </a:solidFill>
                          <a:latin typeface="Segoe UI"/>
                        </a:rPr>
                        <a:t>Engine action</a:t>
                      </a:r>
                    </a:p>
                  </a:txBody>
                  <a:tcPr anchor="ctr" marL="91440">
                    <a:solidFill>
                      <a:srgbClr val="006D77"/>
                    </a:solidFill>
                  </a:tcPr>
                </a:tc>
                <a:tc>
                  <a:txBody>
                    <a:bodyPr wrap="square"/>
                    <a:lstStyle/>
                    <a:p>
                      <a:r>
                        <a:rPr sz="1150" b="1">
                          <a:solidFill>
                            <a:srgbClr val="FFFFFF"/>
                          </a:solidFill>
                          <a:latin typeface="Segoe UI"/>
                        </a:rPr>
                        <a:t>Status</a:t>
                      </a:r>
                    </a:p>
                  </a:txBody>
                  <a:tcPr anchor="ctr" marL="91440">
                    <a:solidFill>
                      <a:srgbClr val="006D77"/>
                    </a:solidFill>
                  </a:tcPr>
                </a:tc>
              </a:tr>
              <a:tr h="274320">
                <a:tc>
                  <a:txBody>
                    <a:bodyPr wrap="square"/>
                    <a:lstStyle/>
                    <a:p>
                      <a:r>
                        <a:rPr sz="1150" b="1">
                          <a:solidFill>
                            <a:srgbClr val="1A1A1A"/>
                          </a:solidFill>
                          <a:latin typeface="Segoe UI"/>
                        </a:rPr>
                        <a:t>Assignment</a:t>
                      </a:r>
                    </a:p>
                  </a:txBody>
                  <a:tcPr anchor="ctr" marL="91440" marT="18288" marB="18288">
                    <a:solidFill>
                      <a:srgbClr val="FFFFFF"/>
                    </a:solidFill>
                  </a:tcPr>
                </a:tc>
                <a:tc>
                  <a:txBody>
                    <a:bodyPr wrap="square"/>
                    <a:lstStyle/>
                    <a:p>
                      <a:r>
                        <a:rPr sz="1150" b="0">
                          <a:solidFill>
                            <a:srgbClr val="3C3C3C"/>
                          </a:solidFill>
                          <a:latin typeface="Segoe UI"/>
                        </a:rPr>
                        <a:t>WorkList</a:t>
                      </a:r>
                    </a:p>
                  </a:txBody>
                  <a:tcPr anchor="ctr" marL="91440" marT="18288" marB="18288">
                    <a:solidFill>
                      <a:srgbClr val="FFFFFF"/>
                    </a:solidFill>
                  </a:tcPr>
                </a:tc>
                <a:tc>
                  <a:txBody>
                    <a:bodyPr wrap="square"/>
                    <a:lstStyle/>
                    <a:p>
                      <a:r>
                        <a:rPr sz="1150" b="0">
                          <a:solidFill>
                            <a:srgbClr val="3C3C3C"/>
                          </a:solidFill>
                          <a:latin typeface="Segoe UI"/>
                        </a:rPr>
                        <a:t>9</a:t>
                      </a:r>
                    </a:p>
                  </a:txBody>
                  <a:tcPr anchor="ctr" marL="91440" marT="18288" marB="18288">
                    <a:solidFill>
                      <a:srgbClr val="FFFFFF"/>
                    </a:solidFill>
                  </a:tcPr>
                </a:tc>
                <a:tc>
                  <a:txBody>
                    <a:bodyPr wrap="square"/>
                    <a:lstStyle/>
                    <a:p>
                      <a:r>
                        <a:rPr sz="1150" b="0">
                          <a:solidFill>
                            <a:srgbClr val="3C3C3C"/>
                          </a:solidFill>
                          <a:latin typeface="Segoe UI"/>
                        </a:rPr>
                        <a:t>createAssignment</a:t>
                      </a:r>
                    </a:p>
                  </a:txBody>
                  <a:tcPr anchor="ctr" marL="91440" marT="18288" marB="18288">
                    <a:solidFill>
                      <a:srgbClr val="FFFFFF"/>
                    </a:solidFill>
                  </a:tcPr>
                </a:tc>
                <a:tc>
                  <a:txBody>
                    <a:bodyPr wrap="square"/>
                    <a:lstStyle/>
                    <a:p>
                      <a:r>
                        <a:rPr sz="1150" b="1">
                          <a:solidFill>
                            <a:srgbClr val="1A1A1A"/>
                          </a:solidFill>
                          <a:latin typeface="Segoe UI"/>
                        </a:rPr>
                        <a:t>Working</a:t>
                      </a:r>
                    </a:p>
                  </a:txBody>
                  <a:tcPr anchor="ctr" marL="91440" marT="18288" marB="18288">
                    <a:solidFill>
                      <a:srgbClr val="FFFFFF"/>
                    </a:solidFill>
                  </a:tcPr>
                </a:tc>
              </a:tr>
              <a:tr h="274320">
                <a:tc>
                  <a:txBody>
                    <a:bodyPr wrap="square"/>
                    <a:lstStyle/>
                    <a:p>
                      <a:r>
                        <a:rPr sz="1150" b="1">
                          <a:solidFill>
                            <a:srgbClr val="1A1A1A"/>
                          </a:solidFill>
                          <a:latin typeface="Segoe UI"/>
                        </a:rPr>
                        <a:t>Assignment</a:t>
                      </a:r>
                    </a:p>
                  </a:txBody>
                  <a:tcPr anchor="ctr" marL="91440" marT="18288" marB="18288">
                    <a:solidFill>
                      <a:srgbClr val="F4F5F7"/>
                    </a:solidFill>
                  </a:tcPr>
                </a:tc>
                <a:tc>
                  <a:txBody>
                    <a:bodyPr wrap="square"/>
                    <a:lstStyle/>
                    <a:p>
                      <a:r>
                        <a:rPr sz="1150" b="0">
                          <a:solidFill>
                            <a:srgbClr val="3C3C3C"/>
                          </a:solidFill>
                          <a:latin typeface="Segoe UI"/>
                        </a:rPr>
                        <a:t>WorkBasket</a:t>
                      </a:r>
                    </a:p>
                  </a:txBody>
                  <a:tcPr anchor="ctr" marL="91440" marT="18288" marB="18288">
                    <a:solidFill>
                      <a:srgbClr val="F4F5F7"/>
                    </a:solidFill>
                  </a:tcPr>
                </a:tc>
                <a:tc>
                  <a:txBody>
                    <a:bodyPr wrap="square"/>
                    <a:lstStyle/>
                    <a:p>
                      <a:r>
                        <a:rPr sz="1150" b="0">
                          <a:solidFill>
                            <a:srgbClr val="3C3C3C"/>
                          </a:solidFill>
                          <a:latin typeface="Segoe UI"/>
                        </a:rPr>
                        <a:t>12</a:t>
                      </a:r>
                    </a:p>
                  </a:txBody>
                  <a:tcPr anchor="ctr" marL="91440" marT="18288" marB="18288">
                    <a:solidFill>
                      <a:srgbClr val="F4F5F7"/>
                    </a:solidFill>
                  </a:tcPr>
                </a:tc>
                <a:tc>
                  <a:txBody>
                    <a:bodyPr wrap="square"/>
                    <a:lstStyle/>
                    <a:p>
                      <a:r>
                        <a:rPr sz="1150" b="0">
                          <a:solidFill>
                            <a:srgbClr val="3C3C3C"/>
                          </a:solidFill>
                          <a:latin typeface="Segoe UI"/>
                        </a:rPr>
                        <a:t>createAssignment</a:t>
                      </a:r>
                    </a:p>
                  </a:txBody>
                  <a:tcPr anchor="ctr" marL="91440" marT="18288" marB="18288">
                    <a:solidFill>
                      <a:srgbClr val="F4F5F7"/>
                    </a:solidFill>
                  </a:tcPr>
                </a:tc>
                <a:tc>
                  <a:txBody>
                    <a:bodyPr wrap="square"/>
                    <a:lstStyle/>
                    <a:p>
                      <a:r>
                        <a:rPr sz="1150" b="1">
                          <a:solidFill>
                            <a:srgbClr val="1A1A1A"/>
                          </a:solidFill>
                          <a:latin typeface="Segoe UI"/>
                        </a:rPr>
                        <a:t>Working</a:t>
                      </a:r>
                    </a:p>
                  </a:txBody>
                  <a:tcPr anchor="ctr" marL="91440" marT="18288" marB="18288">
                    <a:solidFill>
                      <a:srgbClr val="F4F5F7"/>
                    </a:solidFill>
                  </a:tcPr>
                </a:tc>
              </a:tr>
              <a:tr h="274320">
                <a:tc>
                  <a:txBody>
                    <a:bodyPr wrap="square"/>
                    <a:lstStyle/>
                    <a:p>
                      <a:r>
                        <a:rPr sz="1150" b="1">
                          <a:solidFill>
                            <a:srgbClr val="1A1A1A"/>
                          </a:solidFill>
                          <a:latin typeface="Segoe UI"/>
                        </a:rPr>
                        <a:t>Sub-Process</a:t>
                      </a:r>
                    </a:p>
                  </a:txBody>
                  <a:tcPr anchor="ctr" marL="91440" marT="18288" marB="18288">
                    <a:solidFill>
                      <a:srgbClr val="FFFFFF"/>
                    </a:solidFill>
                  </a:tcPr>
                </a:tc>
                <a:tc>
                  <a:txBody>
                    <a:bodyPr wrap="square"/>
                    <a:lstStyle/>
                    <a:p>
                      <a:r>
                        <a:rPr sz="1150" b="0">
                          <a:solidFill>
                            <a:srgbClr val="3C3C3C"/>
                          </a:solidFill>
                          <a:latin typeface="Segoe UI"/>
                        </a:rPr>
                        <a:t>pxApproval</a:t>
                      </a:r>
                    </a:p>
                  </a:txBody>
                  <a:tcPr anchor="ctr" marL="91440" marT="18288" marB="18288">
                    <a:solidFill>
                      <a:srgbClr val="FFFFFF"/>
                    </a:solidFill>
                  </a:tcPr>
                </a:tc>
                <a:tc>
                  <a:txBody>
                    <a:bodyPr wrap="square"/>
                    <a:lstStyle/>
                    <a:p>
                      <a:r>
                        <a:rPr sz="1150" b="0">
                          <a:solidFill>
                            <a:srgbClr val="3C3C3C"/>
                          </a:solidFill>
                          <a:latin typeface="Segoe UI"/>
                        </a:rPr>
                        <a:t>4</a:t>
                      </a:r>
                    </a:p>
                  </a:txBody>
                  <a:tcPr anchor="ctr" marL="91440" marT="18288" marB="18288">
                    <a:solidFill>
                      <a:srgbClr val="FFFFFF"/>
                    </a:solidFill>
                  </a:tcPr>
                </a:tc>
                <a:tc>
                  <a:txBody>
                    <a:bodyPr wrap="square"/>
                    <a:lstStyle/>
                    <a:p>
                      <a:r>
                        <a:rPr sz="1150" b="0">
                          <a:solidFill>
                            <a:srgbClr val="3C3C3C"/>
                          </a:solidFill>
                          <a:latin typeface="Segoe UI"/>
                        </a:rPr>
                        <a:t>createApproval</a:t>
                      </a:r>
                    </a:p>
                  </a:txBody>
                  <a:tcPr anchor="ctr" marL="91440" marT="18288" marB="18288">
                    <a:solidFill>
                      <a:srgbClr val="FFFFFF"/>
                    </a:solidFill>
                  </a:tcPr>
                </a:tc>
                <a:tc>
                  <a:txBody>
                    <a:bodyPr wrap="square"/>
                    <a:lstStyle/>
                    <a:p>
                      <a:r>
                        <a:rPr sz="1150" b="1">
                          <a:solidFill>
                            <a:srgbClr val="1A1A1A"/>
                          </a:solidFill>
                          <a:latin typeface="Segoe UI"/>
                        </a:rPr>
                        <a:t>Working</a:t>
                      </a:r>
                    </a:p>
                  </a:txBody>
                  <a:tcPr anchor="ctr" marL="91440" marT="18288" marB="18288">
                    <a:solidFill>
                      <a:srgbClr val="FFFFFF"/>
                    </a:solidFill>
                  </a:tcPr>
                </a:tc>
              </a:tr>
              <a:tr h="274320">
                <a:tc>
                  <a:txBody>
                    <a:bodyPr wrap="square"/>
                    <a:lstStyle/>
                    <a:p>
                      <a:r>
                        <a:rPr sz="1150" b="1">
                          <a:solidFill>
                            <a:srgbClr val="1A1A1A"/>
                          </a:solidFill>
                          <a:latin typeface="Segoe UI"/>
                        </a:rPr>
                        <a:t>Decision</a:t>
                      </a:r>
                    </a:p>
                  </a:txBody>
                  <a:tcPr anchor="ctr" marL="91440" marT="18288" marB="18288">
                    <a:solidFill>
                      <a:srgbClr val="F4F5F7"/>
                    </a:solidFill>
                  </a:tcPr>
                </a:tc>
                <a:tc>
                  <a:txBody>
                    <a:bodyPr wrap="square"/>
                    <a:lstStyle/>
                    <a:p>
                      <a:r>
                        <a:rPr sz="1150" b="0">
                          <a:solidFill>
                            <a:srgbClr val="3C3C3C"/>
                          </a:solidFill>
                          <a:latin typeface="Segoe UI"/>
                        </a:rPr>
                        <a:t>Decision table name</a:t>
                      </a:r>
                    </a:p>
                  </a:txBody>
                  <a:tcPr anchor="ctr" marL="91440" marT="18288" marB="18288">
                    <a:solidFill>
                      <a:srgbClr val="F4F5F7"/>
                    </a:solidFill>
                  </a:tcPr>
                </a:tc>
                <a:tc>
                  <a:txBody>
                    <a:bodyPr wrap="square"/>
                    <a:lstStyle/>
                    <a:p>
                      <a:r>
                        <a:rPr sz="1150" b="0">
                          <a:solidFill>
                            <a:srgbClr val="3C3C3C"/>
                          </a:solidFill>
                          <a:latin typeface="Segoe UI"/>
                        </a:rPr>
                        <a:t>7</a:t>
                      </a:r>
                    </a:p>
                  </a:txBody>
                  <a:tcPr anchor="ctr" marL="91440" marT="18288" marB="18288">
                    <a:solidFill>
                      <a:srgbClr val="F4F5F7"/>
                    </a:solidFill>
                  </a:tcPr>
                </a:tc>
                <a:tc>
                  <a:txBody>
                    <a:bodyPr wrap="square"/>
                    <a:lstStyle/>
                    <a:p>
                      <a:r>
                        <a:rPr sz="1150" b="0">
                          <a:solidFill>
                            <a:srgbClr val="3C3C3C"/>
                          </a:solidFill>
                          <a:latin typeface="Segoe UI"/>
                        </a:rPr>
                        <a:t>evaluateDecision</a:t>
                      </a:r>
                    </a:p>
                  </a:txBody>
                  <a:tcPr anchor="ctr" marL="91440" marT="18288" marB="18288">
                    <a:solidFill>
                      <a:srgbClr val="F4F5F7"/>
                    </a:solidFill>
                  </a:tcPr>
                </a:tc>
                <a:tc>
                  <a:txBody>
                    <a:bodyPr wrap="square"/>
                    <a:lstStyle/>
                    <a:p>
                      <a:r>
                        <a:rPr sz="1150" b="1">
                          <a:solidFill>
                            <a:srgbClr val="1A1A1A"/>
                          </a:solidFill>
                          <a:latin typeface="Segoe UI"/>
                        </a:rPr>
                        <a:t>Working</a:t>
                      </a:r>
                    </a:p>
                  </a:txBody>
                  <a:tcPr anchor="ctr" marL="91440" marT="18288" marB="18288">
                    <a:solidFill>
                      <a:srgbClr val="F4F5F7"/>
                    </a:solidFill>
                  </a:tcPr>
                </a:tc>
              </a:tr>
              <a:tr h="274320">
                <a:tc>
                  <a:txBody>
                    <a:bodyPr wrap="square"/>
                    <a:lstStyle/>
                    <a:p>
                      <a:r>
                        <a:rPr sz="1150" b="1">
                          <a:solidFill>
                            <a:srgbClr val="1A1A1A"/>
                          </a:solidFill>
                          <a:latin typeface="Segoe UI"/>
                        </a:rPr>
                        <a:t>Utility</a:t>
                      </a:r>
                    </a:p>
                  </a:txBody>
                  <a:tcPr anchor="ctr" marL="91440" marT="18288" marB="18288">
                    <a:solidFill>
                      <a:srgbClr val="FFFFFF"/>
                    </a:solidFill>
                  </a:tcPr>
                </a:tc>
                <a:tc>
                  <a:txBody>
                    <a:bodyPr wrap="square"/>
                    <a:lstStyle/>
                    <a:p>
                      <a:r>
                        <a:rPr sz="1150" b="0">
                          <a:solidFill>
                            <a:srgbClr val="3C3C3C"/>
                          </a:solidFill>
                          <a:latin typeface="Segoe UI"/>
                        </a:rPr>
                        <a:t>pxChangeToNextStage</a:t>
                      </a:r>
                    </a:p>
                  </a:txBody>
                  <a:tcPr anchor="ctr" marL="91440" marT="18288" marB="18288">
                    <a:solidFill>
                      <a:srgbClr val="FFFFFF"/>
                    </a:solidFill>
                  </a:tcPr>
                </a:tc>
                <a:tc>
                  <a:txBody>
                    <a:bodyPr wrap="square"/>
                    <a:lstStyle/>
                    <a:p>
                      <a:r>
                        <a:rPr sz="1150" b="0">
                          <a:solidFill>
                            <a:srgbClr val="3C3C3C"/>
                          </a:solidFill>
                          <a:latin typeface="Segoe UI"/>
                        </a:rPr>
                        <a:t>3</a:t>
                      </a:r>
                    </a:p>
                  </a:txBody>
                  <a:tcPr anchor="ctr" marL="91440" marT="18288" marB="18288">
                    <a:solidFill>
                      <a:srgbClr val="FFFFFF"/>
                    </a:solidFill>
                  </a:tcPr>
                </a:tc>
                <a:tc>
                  <a:txBody>
                    <a:bodyPr wrap="square"/>
                    <a:lstStyle/>
                    <a:p>
                      <a:r>
                        <a:rPr sz="1150" b="0">
                          <a:solidFill>
                            <a:srgbClr val="3C3C3C"/>
                          </a:solidFill>
                          <a:latin typeface="Segoe UI"/>
                        </a:rPr>
                        <a:t>changeStage</a:t>
                      </a:r>
                    </a:p>
                  </a:txBody>
                  <a:tcPr anchor="ctr" marL="91440" marT="18288" marB="18288">
                    <a:solidFill>
                      <a:srgbClr val="FFFFFF"/>
                    </a:solidFill>
                  </a:tcPr>
                </a:tc>
                <a:tc>
                  <a:txBody>
                    <a:bodyPr wrap="square"/>
                    <a:lstStyle/>
                    <a:p>
                      <a:r>
                        <a:rPr sz="1150" b="1">
                          <a:solidFill>
                            <a:srgbClr val="1A1A1A"/>
                          </a:solidFill>
                          <a:latin typeface="Segoe UI"/>
                        </a:rPr>
                        <a:t>Working</a:t>
                      </a:r>
                    </a:p>
                  </a:txBody>
                  <a:tcPr anchor="ctr" marL="91440" marT="18288" marB="18288">
                    <a:solidFill>
                      <a:srgbClr val="FFFFFF"/>
                    </a:solidFill>
                  </a:tcPr>
                </a:tc>
              </a:tr>
              <a:tr h="274320">
                <a:tc>
                  <a:txBody>
                    <a:bodyPr wrap="square"/>
                    <a:lstStyle/>
                    <a:p>
                      <a:r>
                        <a:rPr sz="1150" b="1">
                          <a:solidFill>
                            <a:srgbClr val="1A1A1A"/>
                          </a:solidFill>
                          <a:latin typeface="Segoe UI"/>
                        </a:rPr>
                        <a:t>Utility</a:t>
                      </a:r>
                    </a:p>
                  </a:txBody>
                  <a:tcPr anchor="ctr" marL="91440" marT="18288" marB="18288">
                    <a:solidFill>
                      <a:srgbClr val="F4F5F7"/>
                    </a:solidFill>
                  </a:tcPr>
                </a:tc>
                <a:tc>
                  <a:txBody>
                    <a:bodyPr wrap="square"/>
                    <a:lstStyle/>
                    <a:p>
                      <a:r>
                        <a:rPr sz="1150" b="0">
                          <a:solidFill>
                            <a:srgbClr val="3C3C3C"/>
                          </a:solidFill>
                          <a:latin typeface="Segoe UI"/>
                        </a:rPr>
                        <a:t>pxChangeToPreviousStage</a:t>
                      </a:r>
                    </a:p>
                  </a:txBody>
                  <a:tcPr anchor="ctr" marL="91440" marT="18288" marB="18288">
                    <a:solidFill>
                      <a:srgbClr val="F4F5F7"/>
                    </a:solidFill>
                  </a:tcPr>
                </a:tc>
                <a:tc>
                  <a:txBody>
                    <a:bodyPr wrap="square"/>
                    <a:lstStyle/>
                    <a:p>
                      <a:r>
                        <a:rPr sz="1150" b="0">
                          <a:solidFill>
                            <a:srgbClr val="3C3C3C"/>
                          </a:solidFill>
                          <a:latin typeface="Segoe UI"/>
                        </a:rPr>
                        <a:t>2</a:t>
                      </a:r>
                    </a:p>
                  </a:txBody>
                  <a:tcPr anchor="ctr" marL="91440" marT="18288" marB="18288">
                    <a:solidFill>
                      <a:srgbClr val="F4F5F7"/>
                    </a:solidFill>
                  </a:tcPr>
                </a:tc>
                <a:tc>
                  <a:txBody>
                    <a:bodyPr wrap="square"/>
                    <a:lstStyle/>
                    <a:p>
                      <a:r>
                        <a:rPr sz="1150" b="0">
                          <a:solidFill>
                            <a:srgbClr val="3C3C3C"/>
                          </a:solidFill>
                          <a:latin typeface="Segoe UI"/>
                        </a:rPr>
                        <a:t>changeStage (guarded)</a:t>
                      </a:r>
                    </a:p>
                  </a:txBody>
                  <a:tcPr anchor="ctr" marL="91440" marT="18288" marB="18288">
                    <a:solidFill>
                      <a:srgbClr val="F4F5F7"/>
                    </a:solidFill>
                  </a:tcPr>
                </a:tc>
                <a:tc>
                  <a:txBody>
                    <a:bodyPr wrap="square"/>
                    <a:lstStyle/>
                    <a:p>
                      <a:r>
                        <a:rPr sz="1150" b="1">
                          <a:solidFill>
                            <a:srgbClr val="1A1A1A"/>
                          </a:solidFill>
                          <a:latin typeface="Segoe UI"/>
                        </a:rPr>
                        <a:t>Working</a:t>
                      </a:r>
                    </a:p>
                  </a:txBody>
                  <a:tcPr anchor="ctr" marL="91440" marT="18288" marB="18288">
                    <a:solidFill>
                      <a:srgbClr val="F4F5F7"/>
                    </a:solidFill>
                  </a:tcPr>
                </a:tc>
              </a:tr>
              <a:tr h="274320">
                <a:tc>
                  <a:txBody>
                    <a:bodyPr wrap="square"/>
                    <a:lstStyle/>
                    <a:p>
                      <a:r>
                        <a:rPr sz="1150" b="1">
                          <a:solidFill>
                            <a:srgbClr val="1A1A1A"/>
                          </a:solidFill>
                          <a:latin typeface="Segoe UI"/>
                        </a:rPr>
                        <a:t>Utility</a:t>
                      </a:r>
                    </a:p>
                  </a:txBody>
                  <a:tcPr anchor="ctr" marL="91440" marT="18288" marB="18288">
                    <a:solidFill>
                      <a:srgbClr val="FFFFFF"/>
                    </a:solidFill>
                  </a:tcPr>
                </a:tc>
                <a:tc>
                  <a:txBody>
                    <a:bodyPr wrap="square"/>
                    <a:lstStyle/>
                    <a:p>
                      <a:r>
                        <a:rPr sz="1150" b="0">
                          <a:solidFill>
                            <a:srgbClr val="3C3C3C"/>
                          </a:solidFill>
                          <a:latin typeface="Segoe UI"/>
                        </a:rPr>
                        <a:t>pxChangeToSpecifiedStage</a:t>
                      </a:r>
                    </a:p>
                  </a:txBody>
                  <a:tcPr anchor="ctr" marL="91440" marT="18288" marB="18288">
                    <a:solidFill>
                      <a:srgbClr val="FFFFFF"/>
                    </a:solidFill>
                  </a:tcPr>
                </a:tc>
                <a:tc>
                  <a:txBody>
                    <a:bodyPr wrap="square"/>
                    <a:lstStyle/>
                    <a:p>
                      <a:r>
                        <a:rPr sz="1150" b="0">
                          <a:solidFill>
                            <a:srgbClr val="3C3C3C"/>
                          </a:solidFill>
                          <a:latin typeface="Segoe UI"/>
                        </a:rPr>
                        <a:t>2</a:t>
                      </a:r>
                    </a:p>
                  </a:txBody>
                  <a:tcPr anchor="ctr" marL="91440" marT="18288" marB="18288">
                    <a:solidFill>
                      <a:srgbClr val="FFFFFF"/>
                    </a:solidFill>
                  </a:tcPr>
                </a:tc>
                <a:tc>
                  <a:txBody>
                    <a:bodyPr wrap="square"/>
                    <a:lstStyle/>
                    <a:p>
                      <a:r>
                        <a:rPr sz="1150" b="0">
                          <a:solidFill>
                            <a:srgbClr val="3C3C3C"/>
                          </a:solidFill>
                          <a:latin typeface="Segoe UI"/>
                        </a:rPr>
                        <a:t>changeStage (guarded)</a:t>
                      </a:r>
                    </a:p>
                  </a:txBody>
                  <a:tcPr anchor="ctr" marL="91440" marT="18288" marB="18288">
                    <a:solidFill>
                      <a:srgbClr val="FFFFFF"/>
                    </a:solidFill>
                  </a:tcPr>
                </a:tc>
                <a:tc>
                  <a:txBody>
                    <a:bodyPr wrap="square"/>
                    <a:lstStyle/>
                    <a:p>
                      <a:r>
                        <a:rPr sz="1150" b="1">
                          <a:solidFill>
                            <a:srgbClr val="1A1A1A"/>
                          </a:solidFill>
                          <a:latin typeface="Segoe UI"/>
                        </a:rPr>
                        <a:t>Working</a:t>
                      </a:r>
                    </a:p>
                  </a:txBody>
                  <a:tcPr anchor="ctr" marL="91440" marT="18288" marB="18288">
                    <a:solidFill>
                      <a:srgbClr val="FFFFFF"/>
                    </a:solidFill>
                  </a:tcPr>
                </a:tc>
              </a:tr>
              <a:tr h="274320">
                <a:tc>
                  <a:txBody>
                    <a:bodyPr wrap="square"/>
                    <a:lstStyle/>
                    <a:p>
                      <a:r>
                        <a:rPr sz="1150" b="1">
                          <a:solidFill>
                            <a:srgbClr val="1A1A1A"/>
                          </a:solidFill>
                          <a:latin typeface="Segoe UI"/>
                        </a:rPr>
                        <a:t>Utility</a:t>
                      </a:r>
                    </a:p>
                  </a:txBody>
                  <a:tcPr anchor="ctr" marL="91440" marT="18288" marB="18288">
                    <a:solidFill>
                      <a:srgbClr val="F4F5F7"/>
                    </a:solidFill>
                  </a:tcPr>
                </a:tc>
                <a:tc>
                  <a:txBody>
                    <a:bodyPr wrap="square"/>
                    <a:lstStyle/>
                    <a:p>
                      <a:r>
                        <a:rPr sz="1150" b="0">
                          <a:solidFill>
                            <a:srgbClr val="3C3C3C"/>
                          </a:solidFill>
                          <a:latin typeface="Segoe UI"/>
                        </a:rPr>
                        <a:t>pzRunDataTransform</a:t>
                      </a:r>
                    </a:p>
                  </a:txBody>
                  <a:tcPr anchor="ctr" marL="91440" marT="18288" marB="18288">
                    <a:solidFill>
                      <a:srgbClr val="F4F5F7"/>
                    </a:solidFill>
                  </a:tcPr>
                </a:tc>
                <a:tc>
                  <a:txBody>
                    <a:bodyPr wrap="square"/>
                    <a:lstStyle/>
                    <a:p>
                      <a:r>
                        <a:rPr sz="1150" b="0">
                          <a:solidFill>
                            <a:srgbClr val="3C3C3C"/>
                          </a:solidFill>
                          <a:latin typeface="Segoe UI"/>
                        </a:rPr>
                        <a:t>20</a:t>
                      </a:r>
                    </a:p>
                  </a:txBody>
                  <a:tcPr anchor="ctr" marL="91440" marT="18288" marB="18288">
                    <a:solidFill>
                      <a:srgbClr val="F4F5F7"/>
                    </a:solidFill>
                  </a:tcPr>
                </a:tc>
                <a:tc>
                  <a:txBody>
                    <a:bodyPr wrap="square"/>
                    <a:lstStyle/>
                    <a:p>
                      <a:r>
                        <a:rPr sz="1150" b="0">
                          <a:solidFill>
                            <a:srgbClr val="3C3C3C"/>
                          </a:solidFill>
                          <a:latin typeface="Segoe UI"/>
                        </a:rPr>
                        <a:t>runUtility</a:t>
                      </a:r>
                    </a:p>
                  </a:txBody>
                  <a:tcPr anchor="ctr" marL="91440" marT="18288" marB="18288">
                    <a:solidFill>
                      <a:srgbClr val="F4F5F7"/>
                    </a:solidFill>
                  </a:tcPr>
                </a:tc>
                <a:tc>
                  <a:txBody>
                    <a:bodyPr wrap="square"/>
                    <a:lstStyle/>
                    <a:p>
                      <a:r>
                        <a:rPr sz="1150" b="0">
                          <a:solidFill>
                            <a:srgbClr val="3C3C3C"/>
                          </a:solidFill>
                          <a:latin typeface="Segoe UI"/>
                        </a:rPr>
                        <a:t>Simulated</a:t>
                      </a:r>
                    </a:p>
                  </a:txBody>
                  <a:tcPr anchor="ctr" marL="91440" marT="18288" marB="18288">
                    <a:solidFill>
                      <a:srgbClr val="F4F5F7"/>
                    </a:solidFill>
                  </a:tcPr>
                </a:tc>
              </a:tr>
              <a:tr h="274320">
                <a:tc>
                  <a:txBody>
                    <a:bodyPr wrap="square"/>
                    <a:lstStyle/>
                    <a:p>
                      <a:r>
                        <a:rPr sz="1150" b="1">
                          <a:solidFill>
                            <a:srgbClr val="1A1A1A"/>
                          </a:solidFill>
                          <a:latin typeface="Segoe UI"/>
                        </a:rPr>
                        <a:t>Utility</a:t>
                      </a:r>
                    </a:p>
                  </a:txBody>
                  <a:tcPr anchor="ctr" marL="91440" marT="18288" marB="18288">
                    <a:solidFill>
                      <a:srgbClr val="FFFFFF"/>
                    </a:solidFill>
                  </a:tcPr>
                </a:tc>
                <a:tc>
                  <a:txBody>
                    <a:bodyPr wrap="square"/>
                    <a:lstStyle/>
                    <a:p>
                      <a:r>
                        <a:rPr sz="1150" b="0">
                          <a:solidFill>
                            <a:srgbClr val="3C3C3C"/>
                          </a:solidFill>
                          <a:latin typeface="Segoe UI"/>
                        </a:rPr>
                        <a:t>pzNotifyWrapper</a:t>
                      </a:r>
                    </a:p>
                  </a:txBody>
                  <a:tcPr anchor="ctr" marL="91440" marT="18288" marB="18288">
                    <a:solidFill>
                      <a:srgbClr val="FFFFFF"/>
                    </a:solidFill>
                  </a:tcPr>
                </a:tc>
                <a:tc>
                  <a:txBody>
                    <a:bodyPr wrap="square"/>
                    <a:lstStyle/>
                    <a:p>
                      <a:r>
                        <a:rPr sz="1150" b="0">
                          <a:solidFill>
                            <a:srgbClr val="3C3C3C"/>
                          </a:solidFill>
                          <a:latin typeface="Segoe UI"/>
                        </a:rPr>
                        <a:t>17</a:t>
                      </a:r>
                    </a:p>
                  </a:txBody>
                  <a:tcPr anchor="ctr" marL="91440" marT="18288" marB="18288">
                    <a:solidFill>
                      <a:srgbClr val="FFFFFF"/>
                    </a:solidFill>
                  </a:tcPr>
                </a:tc>
                <a:tc>
                  <a:txBody>
                    <a:bodyPr wrap="square"/>
                    <a:lstStyle/>
                    <a:p>
                      <a:r>
                        <a:rPr sz="1150" b="0">
                          <a:solidFill>
                            <a:srgbClr val="3C3C3C"/>
                          </a:solidFill>
                          <a:latin typeface="Segoe UI"/>
                        </a:rPr>
                        <a:t>runUtility</a:t>
                      </a:r>
                    </a:p>
                  </a:txBody>
                  <a:tcPr anchor="ctr" marL="91440" marT="18288" marB="18288">
                    <a:solidFill>
                      <a:srgbClr val="FFFFFF"/>
                    </a:solidFill>
                  </a:tcPr>
                </a:tc>
                <a:tc>
                  <a:txBody>
                    <a:bodyPr wrap="square"/>
                    <a:lstStyle/>
                    <a:p>
                      <a:r>
                        <a:rPr sz="1150" b="0">
                          <a:solidFill>
                            <a:srgbClr val="3C3C3C"/>
                          </a:solidFill>
                          <a:latin typeface="Segoe UI"/>
                        </a:rPr>
                        <a:t>Simulated</a:t>
                      </a:r>
                    </a:p>
                  </a:txBody>
                  <a:tcPr anchor="ctr" marL="91440" marT="18288" marB="18288">
                    <a:solidFill>
                      <a:srgbClr val="FFFFFF"/>
                    </a:solidFill>
                  </a:tcPr>
                </a:tc>
              </a:tr>
              <a:tr h="274320">
                <a:tc>
                  <a:txBody>
                    <a:bodyPr wrap="square"/>
                    <a:lstStyle/>
                    <a:p>
                      <a:r>
                        <a:rPr sz="1150" b="1">
                          <a:solidFill>
                            <a:srgbClr val="1A1A1A"/>
                          </a:solidFill>
                          <a:latin typeface="Segoe UI"/>
                        </a:rPr>
                        <a:t>Utility</a:t>
                      </a:r>
                    </a:p>
                  </a:txBody>
                  <a:tcPr anchor="ctr" marL="91440" marT="18288" marB="18288">
                    <a:solidFill>
                      <a:srgbClr val="F4F5F7"/>
                    </a:solidFill>
                  </a:tcPr>
                </a:tc>
                <a:tc>
                  <a:txBody>
                    <a:bodyPr wrap="square"/>
                    <a:lstStyle/>
                    <a:p>
                      <a:r>
                        <a:rPr sz="1150" b="0">
                          <a:solidFill>
                            <a:srgbClr val="3C3C3C"/>
                          </a:solidFill>
                          <a:latin typeface="Segoe UI"/>
                        </a:rPr>
                        <a:t>pxGenerateAndAttachDocument</a:t>
                      </a:r>
                    </a:p>
                  </a:txBody>
                  <a:tcPr anchor="ctr" marL="91440" marT="18288" marB="18288">
                    <a:solidFill>
                      <a:srgbClr val="F4F5F7"/>
                    </a:solidFill>
                  </a:tcPr>
                </a:tc>
                <a:tc>
                  <a:txBody>
                    <a:bodyPr wrap="square"/>
                    <a:lstStyle/>
                    <a:p>
                      <a:r>
                        <a:rPr sz="1150" b="0">
                          <a:solidFill>
                            <a:srgbClr val="3C3C3C"/>
                          </a:solidFill>
                          <a:latin typeface="Segoe UI"/>
                        </a:rPr>
                        <a:t>4</a:t>
                      </a:r>
                    </a:p>
                  </a:txBody>
                  <a:tcPr anchor="ctr" marL="91440" marT="18288" marB="18288">
                    <a:solidFill>
                      <a:srgbClr val="F4F5F7"/>
                    </a:solidFill>
                  </a:tcPr>
                </a:tc>
                <a:tc>
                  <a:txBody>
                    <a:bodyPr wrap="square"/>
                    <a:lstStyle/>
                    <a:p>
                      <a:r>
                        <a:rPr sz="1150" b="0">
                          <a:solidFill>
                            <a:srgbClr val="3C3C3C"/>
                          </a:solidFill>
                          <a:latin typeface="Segoe UI"/>
                        </a:rPr>
                        <a:t>runUtility</a:t>
                      </a:r>
                    </a:p>
                  </a:txBody>
                  <a:tcPr anchor="ctr" marL="91440" marT="18288" marB="18288">
                    <a:solidFill>
                      <a:srgbClr val="F4F5F7"/>
                    </a:solidFill>
                  </a:tcPr>
                </a:tc>
                <a:tc>
                  <a:txBody>
                    <a:bodyPr wrap="square"/>
                    <a:lstStyle/>
                    <a:p>
                      <a:r>
                        <a:rPr sz="1150" b="0">
                          <a:solidFill>
                            <a:srgbClr val="3C3C3C"/>
                          </a:solidFill>
                          <a:latin typeface="Segoe UI"/>
                        </a:rPr>
                        <a:t>Simulated</a:t>
                      </a:r>
                    </a:p>
                  </a:txBody>
                  <a:tcPr anchor="ctr" marL="91440" marT="18288" marB="18288">
                    <a:solidFill>
                      <a:srgbClr val="F4F5F7"/>
                    </a:solidFill>
                  </a:tcPr>
                </a:tc>
              </a:tr>
            </a:tbl>
          </a:graphicData>
        </a:graphic>
      </p:graphicFrame>
      <p:sp>
        <p:nvSpPr>
          <p:cNvPr id="6" name="Rectangle 5"/>
          <p:cNvSpPr/>
          <p:nvPr/>
        </p:nvSpPr>
        <p:spPr>
          <a:xfrm>
            <a:off x="566928" y="4919471"/>
            <a:ext cx="11064240" cy="658368"/>
          </a:xfrm>
          <a:prstGeom prst="rect">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4919471"/>
            <a:ext cx="54864" cy="658368"/>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5010911"/>
            <a:ext cx="10652760" cy="493776"/>
          </a:xfrm>
          <a:prstGeom prst="rect">
            <a:avLst/>
          </a:prstGeom>
          <a:noFill/>
        </p:spPr>
        <p:txBody>
          <a:bodyPr wrap="square">
            <a:spAutoFit/>
          </a:bodyPr>
          <a:lstStyle/>
          <a:p>
            <a:pPr algn="l">
              <a:spcBef>
                <a:spcPts val="0"/>
              </a:spcBef>
              <a:spcAft>
                <a:spcPts val="0"/>
              </a:spcAft>
            </a:pPr>
            <a:r>
              <a:rPr sz="1250" b="0" i="0">
                <a:solidFill>
                  <a:srgbClr val="1A1A1A"/>
                </a:solidFill>
                <a:latin typeface="Segoe UI"/>
              </a:rPr>
              <a:t>39 steps fully working, 41 simulated. Simulated steps are written to the audit trail so the lifecycle completes and the gap stays visible.</a:t>
            </a:r>
          </a:p>
        </p:txBody>
      </p:sp>
      <p:sp>
        <p:nvSpPr>
          <p:cNvPr id="9" name="TextBox 8"/>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0515600" cy="274320"/>
          </a:xfrm>
          <a:prstGeom prst="rect">
            <a:avLst/>
          </a:prstGeom>
          <a:noFill/>
        </p:spPr>
        <p:txBody>
          <a:bodyPr wrap="square">
            <a:spAutoFit/>
          </a:bodyPr>
          <a:lstStyle/>
          <a:p>
            <a:pPr algn="l">
              <a:spcBef>
                <a:spcPts val="0"/>
              </a:spcBef>
              <a:spcAft>
                <a:spcPts val="0"/>
              </a:spcAft>
            </a:pPr>
            <a:r>
              <a:rPr sz="1050" b="1" i="0">
                <a:solidFill>
                  <a:srgbClr val="006D77"/>
                </a:solidFill>
                <a:latin typeface="Segoe UI"/>
              </a:rPr>
              <a:t>APPENDIX</a:t>
            </a:r>
          </a:p>
        </p:txBody>
      </p:sp>
      <p:sp>
        <p:nvSpPr>
          <p:cNvPr id="4" name="TextBox 3"/>
          <p:cNvSpPr txBox="1"/>
          <p:nvPr/>
        </p:nvSpPr>
        <p:spPr>
          <a:xfrm>
            <a:off x="566928" y="530352"/>
            <a:ext cx="11064240" cy="685800"/>
          </a:xfrm>
          <a:prstGeom prst="rect">
            <a:avLst/>
          </a:prstGeom>
          <a:noFill/>
        </p:spPr>
        <p:txBody>
          <a:bodyPr wrap="square">
            <a:spAutoFit/>
          </a:bodyPr>
          <a:lstStyle/>
          <a:p>
            <a:pPr algn="l">
              <a:spcBef>
                <a:spcPts val="0"/>
              </a:spcBef>
              <a:spcAft>
                <a:spcPts val="0"/>
              </a:spcAft>
            </a:pPr>
            <a:r>
              <a:rPr sz="2700" b="1" i="0">
                <a:solidFill>
                  <a:srgbClr val="1A1A1A"/>
                </a:solidFill>
                <a:latin typeface="Segoe UI"/>
              </a:rPr>
              <a:t>Detailed mapping - inferred stage guards</a:t>
            </a:r>
          </a:p>
        </p:txBody>
      </p:sp>
      <p:graphicFrame>
        <p:nvGraphicFramePr>
          <p:cNvPr id="5" name="Table 4"/>
          <p:cNvGraphicFramePr>
            <a:graphicFrameLocks noGrp="1"/>
          </p:cNvGraphicFramePr>
          <p:nvPr/>
        </p:nvGraphicFramePr>
        <p:xfrm>
          <a:off x="566928" y="1554480"/>
          <a:ext cx="11064239" cy="1444752"/>
        </p:xfrm>
        <a:graphic>
          <a:graphicData uri="http://schemas.openxmlformats.org/drawingml/2006/table">
            <a:tbl>
              <a:tblPr firstRow="1" bandRow="1">
                <a:tableStyleId>{5C22544A-7EE6-4342-B048-85BDC9FD1C3A}</a:tableStyleId>
              </a:tblPr>
              <a:tblGrid>
                <a:gridCol w="2194560"/>
                <a:gridCol w="914400"/>
                <a:gridCol w="2651760"/>
                <a:gridCol w="2103119"/>
                <a:gridCol w="3200400"/>
              </a:tblGrid>
              <a:tr h="347472">
                <a:tc>
                  <a:txBody>
                    <a:bodyPr wrap="square"/>
                    <a:lstStyle/>
                    <a:p>
                      <a:r>
                        <a:rPr sz="1100" b="1">
                          <a:solidFill>
                            <a:srgbClr val="FFFFFF"/>
                          </a:solidFill>
                          <a:latin typeface="Segoe UI"/>
                        </a:rPr>
                        <a:t>Case type</a:t>
                      </a:r>
                    </a:p>
                  </a:txBody>
                  <a:tcPr anchor="ctr" marL="91440">
                    <a:solidFill>
                      <a:srgbClr val="006D77"/>
                    </a:solidFill>
                  </a:tcPr>
                </a:tc>
                <a:tc>
                  <a:txBody>
                    <a:bodyPr wrap="square"/>
                    <a:lstStyle/>
                    <a:p>
                      <a:r>
                        <a:rPr sz="1100" b="1">
                          <a:solidFill>
                            <a:srgbClr val="FFFFFF"/>
                          </a:solidFill>
                          <a:latin typeface="Segoe UI"/>
                        </a:rPr>
                        <a:t>Stage</a:t>
                      </a:r>
                    </a:p>
                  </a:txBody>
                  <a:tcPr anchor="ctr" marL="91440">
                    <a:solidFill>
                      <a:srgbClr val="006D77"/>
                    </a:solidFill>
                  </a:tcPr>
                </a:tc>
                <a:tc>
                  <a:txBody>
                    <a:bodyPr wrap="square"/>
                    <a:lstStyle/>
                    <a:p>
                      <a:r>
                        <a:rPr sz="1100" b="1">
                          <a:solidFill>
                            <a:srgbClr val="FFFFFF"/>
                          </a:solidFill>
                          <a:latin typeface="Segoe UI"/>
                        </a:rPr>
                        <a:t>Step</a:t>
                      </a:r>
                    </a:p>
                  </a:txBody>
                  <a:tcPr anchor="ctr" marL="91440">
                    <a:solidFill>
                      <a:srgbClr val="006D77"/>
                    </a:solidFill>
                  </a:tcPr>
                </a:tc>
                <a:tc>
                  <a:txBody>
                    <a:bodyPr wrap="square"/>
                    <a:lstStyle/>
                    <a:p>
                      <a:r>
                        <a:rPr sz="1100" b="1">
                          <a:solidFill>
                            <a:srgbClr val="FFFFFF"/>
                          </a:solidFill>
                          <a:latin typeface="Segoe UI"/>
                        </a:rPr>
                        <a:t>Guarding decision</a:t>
                      </a:r>
                    </a:p>
                  </a:txBody>
                  <a:tcPr anchor="ctr" marL="91440">
                    <a:solidFill>
                      <a:srgbClr val="006D77"/>
                    </a:solidFill>
                  </a:tcPr>
                </a:tc>
                <a:tc>
                  <a:txBody>
                    <a:bodyPr wrap="square"/>
                    <a:lstStyle/>
                    <a:p>
                      <a:r>
                        <a:rPr sz="1100" b="1">
                          <a:solidFill>
                            <a:srgbClr val="FFFFFF"/>
                          </a:solidFill>
                          <a:latin typeface="Segoe UI"/>
                        </a:rPr>
                        <a:t>Fires on</a:t>
                      </a:r>
                    </a:p>
                  </a:txBody>
                  <a:tcPr anchor="ctr" marL="91440">
                    <a:solidFill>
                      <a:srgbClr val="006D77"/>
                    </a:solidFill>
                  </a:tcPr>
                </a:tc>
              </a:tr>
              <a:tr h="274320">
                <a:tc>
                  <a:txBody>
                    <a:bodyPr wrap="square"/>
                    <a:lstStyle/>
                    <a:p>
                      <a:r>
                        <a:rPr sz="1100" b="1">
                          <a:solidFill>
                            <a:srgbClr val="1A1A1A"/>
                          </a:solidFill>
                          <a:latin typeface="Segoe UI"/>
                        </a:rPr>
                        <a:t>Compliance Monitoring</a:t>
                      </a:r>
                    </a:p>
                  </a:txBody>
                  <a:tcPr anchor="ctr" marL="91440" marT="18288" marB="18288">
                    <a:solidFill>
                      <a:srgbClr val="FFFFFF"/>
                    </a:solidFill>
                  </a:tcPr>
                </a:tc>
                <a:tc>
                  <a:txBody>
                    <a:bodyPr wrap="square"/>
                    <a:lstStyle/>
                    <a:p>
                      <a:r>
                        <a:rPr sz="1100" b="0">
                          <a:solidFill>
                            <a:srgbClr val="3C3C3C"/>
                          </a:solidFill>
                          <a:latin typeface="Segoe UI"/>
                        </a:rPr>
                        <a:t>PRIM2</a:t>
                      </a:r>
                    </a:p>
                  </a:txBody>
                  <a:tcPr anchor="ctr" marL="91440" marT="18288" marB="18288">
                    <a:solidFill>
                      <a:srgbClr val="FFFFFF"/>
                    </a:solidFill>
                  </a:tcPr>
                </a:tc>
                <a:tc>
                  <a:txBody>
                    <a:bodyPr wrap="square"/>
                    <a:lstStyle/>
                    <a:p>
                      <a:r>
                        <a:rPr sz="1100" b="0">
                          <a:solidFill>
                            <a:srgbClr val="3C3C3C"/>
                          </a:solidFill>
                          <a:latin typeface="Segoe UI"/>
                        </a:rPr>
                        <a:t>Change to specific stage</a:t>
                      </a:r>
                    </a:p>
                  </a:txBody>
                  <a:tcPr anchor="ctr" marL="91440" marT="18288" marB="18288">
                    <a:solidFill>
                      <a:srgbClr val="FFFFFF"/>
                    </a:solidFill>
                  </a:tcPr>
                </a:tc>
                <a:tc>
                  <a:txBody>
                    <a:bodyPr wrap="square"/>
                    <a:lstStyle/>
                    <a:p>
                      <a:r>
                        <a:rPr sz="1100" b="0">
                          <a:solidFill>
                            <a:srgbClr val="3C3C3C"/>
                          </a:solidFill>
                          <a:latin typeface="Segoe UI"/>
                        </a:rPr>
                        <a:t>DecisionOutcomes</a:t>
                      </a:r>
                    </a:p>
                  </a:txBody>
                  <a:tcPr anchor="ctr" marL="91440" marT="18288" marB="18288">
                    <a:solidFill>
                      <a:srgbClr val="FFFFFF"/>
                    </a:solidFill>
                  </a:tcPr>
                </a:tc>
                <a:tc>
                  <a:txBody>
                    <a:bodyPr wrap="square"/>
                    <a:lstStyle/>
                    <a:p>
                      <a:r>
                        <a:rPr sz="1100" b="0">
                          <a:solidFill>
                            <a:srgbClr val="3C3C3C"/>
                          </a:solidFill>
                          <a:latin typeface="Segoe UI"/>
                        </a:rPr>
                        <a:t>Escalate Immediately; Corrective Action</a:t>
                      </a:r>
                    </a:p>
                  </a:txBody>
                  <a:tcPr anchor="ctr" marL="91440" marT="18288" marB="18288">
                    <a:solidFill>
                      <a:srgbClr val="FFFFFF"/>
                    </a:solidFill>
                  </a:tcPr>
                </a:tc>
              </a:tr>
              <a:tr h="274320">
                <a:tc>
                  <a:txBody>
                    <a:bodyPr wrap="square"/>
                    <a:lstStyle/>
                    <a:p>
                      <a:r>
                        <a:rPr sz="1100" b="1">
                          <a:solidFill>
                            <a:srgbClr val="1A1A1A"/>
                          </a:solidFill>
                          <a:latin typeface="Segoe UI"/>
                        </a:rPr>
                        <a:t>Compliance Monitoring</a:t>
                      </a:r>
                    </a:p>
                  </a:txBody>
                  <a:tcPr anchor="ctr" marL="91440" marT="18288" marB="18288">
                    <a:solidFill>
                      <a:srgbClr val="F4F5F7"/>
                    </a:solidFill>
                  </a:tcPr>
                </a:tc>
                <a:tc>
                  <a:txBody>
                    <a:bodyPr wrap="square"/>
                    <a:lstStyle/>
                    <a:p>
                      <a:r>
                        <a:rPr sz="1100" b="0">
                          <a:solidFill>
                            <a:srgbClr val="3C3C3C"/>
                          </a:solidFill>
                          <a:latin typeface="Segoe UI"/>
                        </a:rPr>
                        <a:t>PRIM4</a:t>
                      </a:r>
                    </a:p>
                  </a:txBody>
                  <a:tcPr anchor="ctr" marL="91440" marT="18288" marB="18288">
                    <a:solidFill>
                      <a:srgbClr val="F4F5F7"/>
                    </a:solidFill>
                  </a:tcPr>
                </a:tc>
                <a:tc>
                  <a:txBody>
                    <a:bodyPr wrap="square"/>
                    <a:lstStyle/>
                    <a:p>
                      <a:r>
                        <a:rPr sz="1100" b="0">
                          <a:solidFill>
                            <a:srgbClr val="3C3C3C"/>
                          </a:solidFill>
                          <a:latin typeface="Segoe UI"/>
                        </a:rPr>
                        <a:t>Change to specific stage</a:t>
                      </a:r>
                    </a:p>
                  </a:txBody>
                  <a:tcPr anchor="ctr" marL="91440" marT="18288" marB="18288">
                    <a:solidFill>
                      <a:srgbClr val="F4F5F7"/>
                    </a:solidFill>
                  </a:tcPr>
                </a:tc>
                <a:tc>
                  <a:txBody>
                    <a:bodyPr wrap="square"/>
                    <a:lstStyle/>
                    <a:p>
                      <a:r>
                        <a:rPr sz="1100" b="0">
                          <a:solidFill>
                            <a:srgbClr val="3C3C3C"/>
                          </a:solidFill>
                          <a:latin typeface="Segoe UI"/>
                        </a:rPr>
                        <a:t>ValidateResolution</a:t>
                      </a:r>
                    </a:p>
                  </a:txBody>
                  <a:tcPr anchor="ctr" marL="91440" marT="18288" marB="18288">
                    <a:solidFill>
                      <a:srgbClr val="F4F5F7"/>
                    </a:solidFill>
                  </a:tcPr>
                </a:tc>
                <a:tc>
                  <a:txBody>
                    <a:bodyPr wrap="square"/>
                    <a:lstStyle/>
                    <a:p>
                      <a:r>
                        <a:rPr sz="1100" b="0">
                          <a:solidFill>
                            <a:srgbClr val="3C3C3C"/>
                          </a:solidFill>
                          <a:latin typeface="Segoe UI"/>
                        </a:rPr>
                        <a:t>Pending Closure; Action Required; Incomplete</a:t>
                      </a:r>
                    </a:p>
                  </a:txBody>
                  <a:tcPr anchor="ctr" marL="91440" marT="18288" marB="18288">
                    <a:solidFill>
                      <a:srgbClr val="F4F5F7"/>
                    </a:solidFill>
                  </a:tcPr>
                </a:tc>
              </a:tr>
              <a:tr h="274320">
                <a:tc>
                  <a:txBody>
                    <a:bodyPr wrap="square"/>
                    <a:lstStyle/>
                    <a:p>
                      <a:r>
                        <a:rPr sz="1100" b="1">
                          <a:solidFill>
                            <a:srgbClr val="1A1A1A"/>
                          </a:solidFill>
                          <a:latin typeface="Segoe UI"/>
                        </a:rPr>
                        <a:t>Compliance Monitoring</a:t>
                      </a:r>
                    </a:p>
                  </a:txBody>
                  <a:tcPr anchor="ctr" marL="91440" marT="18288" marB="18288">
                    <a:solidFill>
                      <a:srgbClr val="FFFFFF"/>
                    </a:solidFill>
                  </a:tcPr>
                </a:tc>
                <a:tc>
                  <a:txBody>
                    <a:bodyPr wrap="square"/>
                    <a:lstStyle/>
                    <a:p>
                      <a:r>
                        <a:rPr sz="1100" b="0">
                          <a:solidFill>
                            <a:srgbClr val="3C3C3C"/>
                          </a:solidFill>
                          <a:latin typeface="Segoe UI"/>
                        </a:rPr>
                        <a:t>PRIM4</a:t>
                      </a:r>
                    </a:p>
                  </a:txBody>
                  <a:tcPr anchor="ctr" marL="91440" marT="18288" marB="18288">
                    <a:solidFill>
                      <a:srgbClr val="FFFFFF"/>
                    </a:solidFill>
                  </a:tcPr>
                </a:tc>
                <a:tc>
                  <a:txBody>
                    <a:bodyPr wrap="square"/>
                    <a:lstStyle/>
                    <a:p>
                      <a:r>
                        <a:rPr sz="1100" b="0">
                          <a:solidFill>
                            <a:srgbClr val="3C3C3C"/>
                          </a:solidFill>
                          <a:latin typeface="Segoe UI"/>
                        </a:rPr>
                        <a:t>Change to previous stage</a:t>
                      </a:r>
                    </a:p>
                  </a:txBody>
                  <a:tcPr anchor="ctr" marL="91440" marT="18288" marB="18288">
                    <a:solidFill>
                      <a:srgbClr val="FFFFFF"/>
                    </a:solidFill>
                  </a:tcPr>
                </a:tc>
                <a:tc>
                  <a:txBody>
                    <a:bodyPr wrap="square"/>
                    <a:lstStyle/>
                    <a:p>
                      <a:r>
                        <a:rPr sz="1100" b="0">
                          <a:solidFill>
                            <a:srgbClr val="3C3C3C"/>
                          </a:solidFill>
                          <a:latin typeface="Segoe UI"/>
                        </a:rPr>
                        <a:t>ValidateResolution</a:t>
                      </a:r>
                    </a:p>
                  </a:txBody>
                  <a:tcPr anchor="ctr" marL="91440" marT="18288" marB="18288">
                    <a:solidFill>
                      <a:srgbClr val="FFFFFF"/>
                    </a:solidFill>
                  </a:tcPr>
                </a:tc>
                <a:tc>
                  <a:txBody>
                    <a:bodyPr wrap="square"/>
                    <a:lstStyle/>
                    <a:p>
                      <a:r>
                        <a:rPr sz="1100" b="0">
                          <a:solidFill>
                            <a:srgbClr val="3C3C3C"/>
                          </a:solidFill>
                          <a:latin typeface="Segoe UI"/>
                        </a:rPr>
                        <a:t>Pending Closure; Action Required; Incomplete</a:t>
                      </a:r>
                    </a:p>
                  </a:txBody>
                  <a:tcPr anchor="ctr" marL="91440" marT="18288" marB="18288">
                    <a:solidFill>
                      <a:srgbClr val="FFFFFF"/>
                    </a:solidFill>
                  </a:tcPr>
                </a:tc>
              </a:tr>
              <a:tr h="274320">
                <a:tc>
                  <a:txBody>
                    <a:bodyPr wrap="square"/>
                    <a:lstStyle/>
                    <a:p>
                      <a:r>
                        <a:rPr sz="1100" b="1">
                          <a:solidFill>
                            <a:srgbClr val="1A1A1A"/>
                          </a:solidFill>
                          <a:latin typeface="Segoe UI"/>
                        </a:rPr>
                        <a:t>Risk Assessment</a:t>
                      </a:r>
                    </a:p>
                  </a:txBody>
                  <a:tcPr anchor="ctr" marL="91440" marT="18288" marB="18288">
                    <a:solidFill>
                      <a:srgbClr val="F4F5F7"/>
                    </a:solidFill>
                  </a:tcPr>
                </a:tc>
                <a:tc>
                  <a:txBody>
                    <a:bodyPr wrap="square"/>
                    <a:lstStyle/>
                    <a:p>
                      <a:r>
                        <a:rPr sz="1100" b="0">
                          <a:solidFill>
                            <a:srgbClr val="3C3C3C"/>
                          </a:solidFill>
                          <a:latin typeface="Segoe UI"/>
                        </a:rPr>
                        <a:t>PRIM4</a:t>
                      </a:r>
                    </a:p>
                  </a:txBody>
                  <a:tcPr anchor="ctr" marL="91440" marT="18288" marB="18288">
                    <a:solidFill>
                      <a:srgbClr val="F4F5F7"/>
                    </a:solidFill>
                  </a:tcPr>
                </a:tc>
                <a:tc>
                  <a:txBody>
                    <a:bodyPr wrap="square"/>
                    <a:lstStyle/>
                    <a:p>
                      <a:r>
                        <a:rPr sz="1100" b="0">
                          <a:solidFill>
                            <a:srgbClr val="3C3C3C"/>
                          </a:solidFill>
                          <a:latin typeface="Segoe UI"/>
                        </a:rPr>
                        <a:t>Change to previous stage</a:t>
                      </a:r>
                    </a:p>
                  </a:txBody>
                  <a:tcPr anchor="ctr" marL="91440" marT="18288" marB="18288">
                    <a:solidFill>
                      <a:srgbClr val="F4F5F7"/>
                    </a:solidFill>
                  </a:tcPr>
                </a:tc>
                <a:tc>
                  <a:txBody>
                    <a:bodyPr wrap="square"/>
                    <a:lstStyle/>
                    <a:p>
                      <a:r>
                        <a:rPr sz="1100" b="0">
                          <a:solidFill>
                            <a:srgbClr val="3C3C3C"/>
                          </a:solidFill>
                          <a:latin typeface="Segoe UI"/>
                        </a:rPr>
                        <a:t>OutcomeDecision</a:t>
                      </a:r>
                    </a:p>
                  </a:txBody>
                  <a:tcPr anchor="ctr" marL="91440" marT="18288" marB="18288">
                    <a:solidFill>
                      <a:srgbClr val="F4F5F7"/>
                    </a:solidFill>
                  </a:tcPr>
                </a:tc>
                <a:tc>
                  <a:txBody>
                    <a:bodyPr wrap="square"/>
                    <a:lstStyle/>
                    <a:p>
                      <a:r>
                        <a:rPr sz="1100" b="0">
                          <a:solidFill>
                            <a:srgbClr val="3C3C3C"/>
                          </a:solidFill>
                          <a:latin typeface="Segoe UI"/>
                        </a:rPr>
                        <a:t>Escalated; Under Review; Pending Review</a:t>
                      </a:r>
                    </a:p>
                  </a:txBody>
                  <a:tcPr anchor="ctr" marL="91440" marT="18288" marB="18288">
                    <a:solidFill>
                      <a:srgbClr val="F4F5F7"/>
                    </a:solidFill>
                  </a:tcPr>
                </a:tc>
              </a:tr>
            </a:tbl>
          </a:graphicData>
        </a:graphic>
      </p:graphicFrame>
      <p:sp>
        <p:nvSpPr>
          <p:cNvPr id="6" name="TextBox 5"/>
          <p:cNvSpPr txBox="1"/>
          <p:nvPr/>
        </p:nvSpPr>
        <p:spPr>
          <a:xfrm>
            <a:off x="566928" y="3246120"/>
            <a:ext cx="11064240" cy="2546350"/>
          </a:xfrm>
          <a:prstGeom prst="rect">
            <a:avLst/>
          </a:prstGeom>
          <a:noFill/>
        </p:spPr>
        <p:txBody>
          <a:bodyPr wrap="square">
            <a:spAutoFit/>
          </a:bodyPr>
          <a:lstStyle/>
          <a:p>
            <a:pPr algn="l">
              <a:spcBef>
                <a:spcPts val="0"/>
              </a:spcBef>
              <a:spcAft>
                <a:spcPts val="600"/>
              </a:spcAft>
            </a:pPr>
            <a:r>
              <a:rPr sz="1250" b="1" i="0">
                <a:solidFill>
                  <a:srgbClr val="1A1A1A"/>
                </a:solidFill>
                <a:latin typeface="Segoe UI"/>
              </a:rPr>
              <a:t>How these were derived</a:t>
            </a:r>
          </a:p>
          <a:p>
            <a:pPr algn="l">
              <a:spcBef>
                <a:spcPts val="0"/>
              </a:spcBef>
              <a:spcAft>
                <a:spcPts val="600"/>
              </a:spcAft>
            </a:pPr>
            <a:r>
              <a:rPr sz="1250" b="0" i="0">
                <a:solidFill>
                  <a:srgbClr val="1A1A1A"/>
                </a:solidFill>
                <a:latin typeface="Segoe UI"/>
              </a:rPr>
              <a:t>•  For each backward stage-change step, the extractor walks back to the nearest preceding decision step, reads that table's actual result values, and allows the step to fire only on the non-terminal outcomes.</a:t>
            </a:r>
          </a:p>
          <a:p>
            <a:pPr algn="l">
              <a:spcBef>
                <a:spcPts val="800"/>
              </a:spcBef>
              <a:spcAft>
                <a:spcPts val="600"/>
              </a:spcAft>
            </a:pPr>
            <a:r>
              <a:rPr sz="1250" b="1" i="0">
                <a:solidFill>
                  <a:srgbClr val="1A1A1A"/>
                </a:solidFill>
                <a:latin typeface="Segoe UI"/>
              </a:rPr>
              <a:t>Why they are safe despite being inferred</a:t>
            </a:r>
          </a:p>
          <a:p>
            <a:pPr algn="l">
              <a:spcBef>
                <a:spcPts val="0"/>
              </a:spcBef>
              <a:spcAft>
                <a:spcPts val="600"/>
              </a:spcAft>
            </a:pPr>
            <a:r>
              <a:rPr sz="1250" b="0" i="0">
                <a:solidFill>
                  <a:srgbClr val="1A1A1A"/>
                </a:solidFill>
                <a:latin typeface="Segoe UI"/>
              </a:rPr>
              <a:t>•  A hard stage re-visit cap in the engine means a wrong guard degrades to a skipped step rather than an infinite loop. Both layers are required.</a:t>
            </a:r>
          </a:p>
          <a:p>
            <a:pPr algn="l">
              <a:spcBef>
                <a:spcPts val="800"/>
              </a:spcBef>
              <a:spcAft>
                <a:spcPts val="600"/>
              </a:spcAft>
            </a:pPr>
            <a:r>
              <a:rPr sz="1250" b="1" i="0">
                <a:solidFill>
                  <a:srgbClr val="1A1A1A"/>
                </a:solidFill>
                <a:latin typeface="Segoe UI"/>
              </a:rPr>
              <a:t>Phase 1 action</a:t>
            </a:r>
          </a:p>
          <a:p>
            <a:pPr algn="l">
              <a:spcBef>
                <a:spcPts val="0"/>
              </a:spcBef>
              <a:spcAft>
                <a:spcPts val="600"/>
              </a:spcAft>
            </a:pPr>
            <a:r>
              <a:rPr sz="1250" b="0" i="0">
                <a:solidFill>
                  <a:srgbClr val="1A1A1A"/>
                </a:solidFill>
                <a:latin typeface="Segoe UI"/>
              </a:rPr>
              <a:t>•  Replace with the real when conditions from Dev Studio. Because guards are Dataverse rows, this is a data edit with no code change or redeploy.</a:t>
            </a:r>
          </a:p>
        </p:txBody>
      </p:sp>
      <p:sp>
        <p:nvSpPr>
          <p:cNvPr id="7" name="TextBox 6"/>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0515600" cy="274320"/>
          </a:xfrm>
          <a:prstGeom prst="rect">
            <a:avLst/>
          </a:prstGeom>
          <a:noFill/>
        </p:spPr>
        <p:txBody>
          <a:bodyPr wrap="square">
            <a:spAutoFit/>
          </a:bodyPr>
          <a:lstStyle/>
          <a:p>
            <a:pPr algn="l">
              <a:spcBef>
                <a:spcPts val="0"/>
              </a:spcBef>
              <a:spcAft>
                <a:spcPts val="0"/>
              </a:spcAft>
            </a:pPr>
            <a:r>
              <a:rPr sz="1050" b="1" i="0">
                <a:solidFill>
                  <a:srgbClr val="006D77"/>
                </a:solidFill>
                <a:latin typeface="Segoe UI"/>
              </a:rPr>
              <a:t>APPENDIX</a:t>
            </a:r>
          </a:p>
        </p:txBody>
      </p:sp>
      <p:sp>
        <p:nvSpPr>
          <p:cNvPr id="4" name="TextBox 3"/>
          <p:cNvSpPr txBox="1"/>
          <p:nvPr/>
        </p:nvSpPr>
        <p:spPr>
          <a:xfrm>
            <a:off x="566928" y="530352"/>
            <a:ext cx="11064240" cy="685800"/>
          </a:xfrm>
          <a:prstGeom prst="rect">
            <a:avLst/>
          </a:prstGeom>
          <a:noFill/>
        </p:spPr>
        <p:txBody>
          <a:bodyPr wrap="square">
            <a:spAutoFit/>
          </a:bodyPr>
          <a:lstStyle/>
          <a:p>
            <a:pPr algn="l">
              <a:spcBef>
                <a:spcPts val="0"/>
              </a:spcBef>
              <a:spcAft>
                <a:spcPts val="0"/>
              </a:spcAft>
            </a:pPr>
            <a:r>
              <a:rPr sz="2700" b="1" i="0">
                <a:solidFill>
                  <a:srgbClr val="1A1A1A"/>
                </a:solidFill>
                <a:latin typeface="Segoe UI"/>
              </a:rPr>
              <a:t>Conversion artefacts produced</a:t>
            </a:r>
          </a:p>
        </p:txBody>
      </p:sp>
      <p:graphicFrame>
        <p:nvGraphicFramePr>
          <p:cNvPr id="5" name="Table 4"/>
          <p:cNvGraphicFramePr>
            <a:graphicFrameLocks noGrp="1"/>
          </p:cNvGraphicFramePr>
          <p:nvPr/>
        </p:nvGraphicFramePr>
        <p:xfrm>
          <a:off x="566928" y="1554480"/>
          <a:ext cx="11064240" cy="3090672"/>
        </p:xfrm>
        <a:graphic>
          <a:graphicData uri="http://schemas.openxmlformats.org/drawingml/2006/table">
            <a:tbl>
              <a:tblPr firstRow="1" bandRow="1">
                <a:tableStyleId>{5C22544A-7EE6-4342-B048-85BDC9FD1C3A}</a:tableStyleId>
              </a:tblPr>
              <a:tblGrid>
                <a:gridCol w="3017520"/>
                <a:gridCol w="5852160"/>
                <a:gridCol w="2194560"/>
              </a:tblGrid>
              <a:tr h="347472">
                <a:tc>
                  <a:txBody>
                    <a:bodyPr wrap="square"/>
                    <a:lstStyle/>
                    <a:p>
                      <a:r>
                        <a:rPr sz="1150" b="1">
                          <a:solidFill>
                            <a:srgbClr val="FFFFFF"/>
                          </a:solidFill>
                          <a:latin typeface="Segoe UI"/>
                        </a:rPr>
                        <a:t>Artefact</a:t>
                      </a:r>
                    </a:p>
                  </a:txBody>
                  <a:tcPr anchor="ctr" marL="91440">
                    <a:solidFill>
                      <a:srgbClr val="006D77"/>
                    </a:solidFill>
                  </a:tcPr>
                </a:tc>
                <a:tc>
                  <a:txBody>
                    <a:bodyPr wrap="square"/>
                    <a:lstStyle/>
                    <a:p>
                      <a:r>
                        <a:rPr sz="1150" b="1">
                          <a:solidFill>
                            <a:srgbClr val="FFFFFF"/>
                          </a:solidFill>
                          <a:latin typeface="Segoe UI"/>
                        </a:rPr>
                        <a:t>Purpose</a:t>
                      </a:r>
                    </a:p>
                  </a:txBody>
                  <a:tcPr anchor="ctr" marL="91440">
                    <a:solidFill>
                      <a:srgbClr val="006D77"/>
                    </a:solidFill>
                  </a:tcPr>
                </a:tc>
                <a:tc>
                  <a:txBody>
                    <a:bodyPr wrap="square"/>
                    <a:lstStyle/>
                    <a:p>
                      <a:r>
                        <a:rPr sz="1150" b="1">
                          <a:solidFill>
                            <a:srgbClr val="FFFFFF"/>
                          </a:solidFill>
                          <a:latin typeface="Segoe UI"/>
                        </a:rPr>
                        <a:t>Reusable</a:t>
                      </a:r>
                    </a:p>
                  </a:txBody>
                  <a:tcPr anchor="ctr" marL="91440">
                    <a:solidFill>
                      <a:srgbClr val="006D77"/>
                    </a:solidFill>
                  </a:tcPr>
                </a:tc>
              </a:tr>
              <a:tr h="274320">
                <a:tc>
                  <a:txBody>
                    <a:bodyPr wrap="square"/>
                    <a:lstStyle/>
                    <a:p>
                      <a:r>
                        <a:rPr sz="1150" b="1">
                          <a:solidFill>
                            <a:srgbClr val="1A1A1A"/>
                          </a:solidFill>
                          <a:latin typeface="Segoe UI"/>
                        </a:rPr>
                        <a:t>extract-prototype.mjs</a:t>
                      </a:r>
                    </a:p>
                  </a:txBody>
                  <a:tcPr anchor="ctr" marL="91440" marT="18288" marB="18288">
                    <a:solidFill>
                      <a:srgbClr val="FFFFFF"/>
                    </a:solidFill>
                  </a:tcPr>
                </a:tc>
                <a:tc>
                  <a:txBody>
                    <a:bodyPr wrap="square"/>
                    <a:lstStyle/>
                    <a:p>
                      <a:r>
                        <a:rPr sz="1150" b="0">
                          <a:solidFill>
                            <a:srgbClr val="3C3C3C"/>
                          </a:solidFill>
                          <a:latin typeface="Segoe UI"/>
                        </a:rPr>
                        <a:t>Pega export to normalised config JSON</a:t>
                      </a:r>
                    </a:p>
                  </a:txBody>
                  <a:tcPr anchor="ctr" marL="91440" marT="18288" marB="18288">
                    <a:solidFill>
                      <a:srgbClr val="FFFFFF"/>
                    </a:solidFill>
                  </a:tcPr>
                </a:tc>
                <a:tc>
                  <a:txBody>
                    <a:bodyPr wrap="square"/>
                    <a:lstStyle/>
                    <a:p>
                      <a:r>
                        <a:rPr sz="1150" b="1">
                          <a:solidFill>
                            <a:srgbClr val="1A1A1A"/>
                          </a:solidFill>
                          <a:latin typeface="Segoe UI"/>
                        </a:rPr>
                        <a:t>Yes</a:t>
                      </a:r>
                    </a:p>
                  </a:txBody>
                  <a:tcPr anchor="ctr" marL="91440" marT="18288" marB="18288">
                    <a:solidFill>
                      <a:srgbClr val="FFFFFF"/>
                    </a:solidFill>
                  </a:tcPr>
                </a:tc>
              </a:tr>
              <a:tr h="274320">
                <a:tc>
                  <a:txBody>
                    <a:bodyPr wrap="square"/>
                    <a:lstStyle/>
                    <a:p>
                      <a:r>
                        <a:rPr sz="1150" b="1">
                          <a:solidFill>
                            <a:srgbClr val="1A1A1A"/>
                          </a:solidFill>
                          <a:latin typeface="Segoe UI"/>
                        </a:rPr>
                        <a:t>seed-prototype.mjs</a:t>
                      </a:r>
                    </a:p>
                  </a:txBody>
                  <a:tcPr anchor="ctr" marL="91440" marT="18288" marB="18288">
                    <a:solidFill>
                      <a:srgbClr val="F4F5F7"/>
                    </a:solidFill>
                  </a:tcPr>
                </a:tc>
                <a:tc>
                  <a:txBody>
                    <a:bodyPr wrap="square"/>
                    <a:lstStyle/>
                    <a:p>
                      <a:r>
                        <a:rPr sz="1150" b="0">
                          <a:solidFill>
                            <a:srgbClr val="3C3C3C"/>
                          </a:solidFill>
                          <a:latin typeface="Segoe UI"/>
                        </a:rPr>
                        <a:t>Config JSON to Dataverse, idempotent</a:t>
                      </a:r>
                    </a:p>
                  </a:txBody>
                  <a:tcPr anchor="ctr" marL="91440" marT="18288" marB="18288">
                    <a:solidFill>
                      <a:srgbClr val="F4F5F7"/>
                    </a:solidFill>
                  </a:tcPr>
                </a:tc>
                <a:tc>
                  <a:txBody>
                    <a:bodyPr wrap="square"/>
                    <a:lstStyle/>
                    <a:p>
                      <a:r>
                        <a:rPr sz="1150" b="1">
                          <a:solidFill>
                            <a:srgbClr val="1A1A1A"/>
                          </a:solidFill>
                          <a:latin typeface="Segoe UI"/>
                        </a:rPr>
                        <a:t>Yes</a:t>
                      </a:r>
                    </a:p>
                  </a:txBody>
                  <a:tcPr anchor="ctr" marL="91440" marT="18288" marB="18288">
                    <a:solidFill>
                      <a:srgbClr val="F4F5F7"/>
                    </a:solidFill>
                  </a:tcPr>
                </a:tc>
              </a:tr>
              <a:tr h="274320">
                <a:tc>
                  <a:txBody>
                    <a:bodyPr wrap="square"/>
                    <a:lstStyle/>
                    <a:p>
                      <a:r>
                        <a:rPr sz="1150" b="1">
                          <a:solidFill>
                            <a:srgbClr val="1A1A1A"/>
                          </a:solidFill>
                          <a:latin typeface="Segoe UI"/>
                        </a:rPr>
                        <a:t>schema-v2.mjs</a:t>
                      </a:r>
                    </a:p>
                  </a:txBody>
                  <a:tcPr anchor="ctr" marL="91440" marT="18288" marB="18288">
                    <a:solidFill>
                      <a:srgbClr val="FFFFFF"/>
                    </a:solidFill>
                  </a:tcPr>
                </a:tc>
                <a:tc>
                  <a:txBody>
                    <a:bodyPr wrap="square"/>
                    <a:lstStyle/>
                    <a:p>
                      <a:r>
                        <a:rPr sz="1150" b="0">
                          <a:solidFill>
                            <a:srgbClr val="3C3C3C"/>
                          </a:solidFill>
                          <a:latin typeface="Segoe UI"/>
                        </a:rPr>
                        <a:t>27-table Dataverse schema definition</a:t>
                      </a:r>
                    </a:p>
                  </a:txBody>
                  <a:tcPr anchor="ctr" marL="91440" marT="18288" marB="18288">
                    <a:solidFill>
                      <a:srgbClr val="FFFFFF"/>
                    </a:solidFill>
                  </a:tcPr>
                </a:tc>
                <a:tc>
                  <a:txBody>
                    <a:bodyPr wrap="square"/>
                    <a:lstStyle/>
                    <a:p>
                      <a:r>
                        <a:rPr sz="1150" b="0">
                          <a:solidFill>
                            <a:srgbClr val="3C3C3C"/>
                          </a:solidFill>
                          <a:latin typeface="Segoe UI"/>
                        </a:rPr>
                        <a:t>Template</a:t>
                      </a:r>
                    </a:p>
                  </a:txBody>
                  <a:tcPr anchor="ctr" marL="91440" marT="18288" marB="18288">
                    <a:solidFill>
                      <a:srgbClr val="FFFFFF"/>
                    </a:solidFill>
                  </a:tcPr>
                </a:tc>
              </a:tr>
              <a:tr h="274320">
                <a:tc>
                  <a:txBody>
                    <a:bodyPr wrap="square"/>
                    <a:lstStyle/>
                    <a:p>
                      <a:r>
                        <a:rPr sz="1150" b="1">
                          <a:solidFill>
                            <a:srgbClr val="1A1A1A"/>
                          </a:solidFill>
                          <a:latin typeface="Segoe UI"/>
                        </a:rPr>
                        <a:t>provision-dataverse.mjs</a:t>
                      </a:r>
                    </a:p>
                  </a:txBody>
                  <a:tcPr anchor="ctr" marL="91440" marT="18288" marB="18288">
                    <a:solidFill>
                      <a:srgbClr val="F4F5F7"/>
                    </a:solidFill>
                  </a:tcPr>
                </a:tc>
                <a:tc>
                  <a:txBody>
                    <a:bodyPr wrap="square"/>
                    <a:lstStyle/>
                    <a:p>
                      <a:r>
                        <a:rPr sz="1150" b="0">
                          <a:solidFill>
                            <a:srgbClr val="3C3C3C"/>
                          </a:solidFill>
                          <a:latin typeface="Segoe UI"/>
                        </a:rPr>
                        <a:t>Creates tables in the solution</a:t>
                      </a:r>
                    </a:p>
                  </a:txBody>
                  <a:tcPr anchor="ctr" marL="91440" marT="18288" marB="18288">
                    <a:solidFill>
                      <a:srgbClr val="F4F5F7"/>
                    </a:solidFill>
                  </a:tcPr>
                </a:tc>
                <a:tc>
                  <a:txBody>
                    <a:bodyPr wrap="square"/>
                    <a:lstStyle/>
                    <a:p>
                      <a:r>
                        <a:rPr sz="1150" b="1">
                          <a:solidFill>
                            <a:srgbClr val="1A1A1A"/>
                          </a:solidFill>
                          <a:latin typeface="Segoe UI"/>
                        </a:rPr>
                        <a:t>Yes</a:t>
                      </a:r>
                    </a:p>
                  </a:txBody>
                  <a:tcPr anchor="ctr" marL="91440" marT="18288" marB="18288">
                    <a:solidFill>
                      <a:srgbClr val="F4F5F7"/>
                    </a:solidFill>
                  </a:tcPr>
                </a:tc>
              </a:tr>
              <a:tr h="274320">
                <a:tc>
                  <a:txBody>
                    <a:bodyPr wrap="square"/>
                    <a:lstStyle/>
                    <a:p>
                      <a:r>
                        <a:rPr sz="1150" b="1">
                          <a:solidFill>
                            <a:srgbClr val="1A1A1A"/>
                          </a:solidFill>
                          <a:latin typeface="Segoe UI"/>
                        </a:rPr>
                        <a:t>gen-detail-columns.mjs</a:t>
                      </a:r>
                    </a:p>
                  </a:txBody>
                  <a:tcPr anchor="ctr" marL="91440" marT="18288" marB="18288">
                    <a:solidFill>
                      <a:srgbClr val="FFFFFF"/>
                    </a:solidFill>
                  </a:tcPr>
                </a:tc>
                <a:tc>
                  <a:txBody>
                    <a:bodyPr wrap="square"/>
                    <a:lstStyle/>
                    <a:p>
                      <a:r>
                        <a:rPr sz="1150" b="0">
                          <a:solidFill>
                            <a:srgbClr val="3C3C3C"/>
                          </a:solidFill>
                          <a:latin typeface="Segoe UI"/>
                        </a:rPr>
                        <a:t>Generates typed detail column mappings</a:t>
                      </a:r>
                    </a:p>
                  </a:txBody>
                  <a:tcPr anchor="ctr" marL="91440" marT="18288" marB="18288">
                    <a:solidFill>
                      <a:srgbClr val="FFFFFF"/>
                    </a:solidFill>
                  </a:tcPr>
                </a:tc>
                <a:tc>
                  <a:txBody>
                    <a:bodyPr wrap="square"/>
                    <a:lstStyle/>
                    <a:p>
                      <a:r>
                        <a:rPr sz="1150" b="1">
                          <a:solidFill>
                            <a:srgbClr val="1A1A1A"/>
                          </a:solidFill>
                          <a:latin typeface="Segoe UI"/>
                        </a:rPr>
                        <a:t>Yes</a:t>
                      </a:r>
                    </a:p>
                  </a:txBody>
                  <a:tcPr anchor="ctr" marL="91440" marT="18288" marB="18288">
                    <a:solidFill>
                      <a:srgbClr val="FFFFFF"/>
                    </a:solidFill>
                  </a:tcPr>
                </a:tc>
              </a:tr>
              <a:tr h="274320">
                <a:tc>
                  <a:txBody>
                    <a:bodyPr wrap="square"/>
                    <a:lstStyle/>
                    <a:p>
                      <a:r>
                        <a:rPr sz="1150" b="1">
                          <a:solidFill>
                            <a:srgbClr val="1A1A1A"/>
                          </a:solidFill>
                          <a:latin typeface="Segoe UI"/>
                        </a:rPr>
                        <a:t>verify-engine.mjs</a:t>
                      </a:r>
                    </a:p>
                  </a:txBody>
                  <a:tcPr anchor="ctr" marL="91440" marT="18288" marB="18288">
                    <a:solidFill>
                      <a:srgbClr val="F4F5F7"/>
                    </a:solidFill>
                  </a:tcPr>
                </a:tc>
                <a:tc>
                  <a:txBody>
                    <a:bodyPr wrap="square"/>
                    <a:lstStyle/>
                    <a:p>
                      <a:r>
                        <a:rPr sz="1150" b="0">
                          <a:solidFill>
                            <a:srgbClr val="3C3C3C"/>
                          </a:solidFill>
                          <a:latin typeface="Segoe UI"/>
                        </a:rPr>
                        <a:t>Live end-to-end verification, 49 checks</a:t>
                      </a:r>
                    </a:p>
                  </a:txBody>
                  <a:tcPr anchor="ctr" marL="91440" marT="18288" marB="18288">
                    <a:solidFill>
                      <a:srgbClr val="F4F5F7"/>
                    </a:solidFill>
                  </a:tcPr>
                </a:tc>
                <a:tc>
                  <a:txBody>
                    <a:bodyPr wrap="square"/>
                    <a:lstStyle/>
                    <a:p>
                      <a:r>
                        <a:rPr sz="1150" b="1">
                          <a:solidFill>
                            <a:srgbClr val="1A1A1A"/>
                          </a:solidFill>
                          <a:latin typeface="Segoe UI"/>
                        </a:rPr>
                        <a:t>Yes</a:t>
                      </a:r>
                    </a:p>
                  </a:txBody>
                  <a:tcPr anchor="ctr" marL="91440" marT="18288" marB="18288">
                    <a:solidFill>
                      <a:srgbClr val="F4F5F7"/>
                    </a:solidFill>
                  </a:tcPr>
                </a:tc>
              </a:tr>
              <a:tr h="274320">
                <a:tc>
                  <a:txBody>
                    <a:bodyPr wrap="square"/>
                    <a:lstStyle/>
                    <a:p>
                      <a:r>
                        <a:rPr sz="1150" b="1">
                          <a:solidFill>
                            <a:srgbClr val="1A1A1A"/>
                          </a:solidFill>
                          <a:latin typeface="Segoe UI"/>
                        </a:rPr>
                        <a:t>engine.ts</a:t>
                      </a:r>
                    </a:p>
                  </a:txBody>
                  <a:tcPr anchor="ctr" marL="91440" marT="18288" marB="18288">
                    <a:solidFill>
                      <a:srgbClr val="FFFFFF"/>
                    </a:solidFill>
                  </a:tcPr>
                </a:tc>
                <a:tc>
                  <a:txBody>
                    <a:bodyPr wrap="square"/>
                    <a:lstStyle/>
                    <a:p>
                      <a:r>
                        <a:rPr sz="1150" b="0">
                          <a:solidFill>
                            <a:srgbClr val="3C3C3C"/>
                          </a:solidFill>
                          <a:latin typeface="Segoe UI"/>
                        </a:rPr>
                        <a:t>Pure case planner</a:t>
                      </a:r>
                    </a:p>
                  </a:txBody>
                  <a:tcPr anchor="ctr" marL="91440" marT="18288" marB="18288">
                    <a:solidFill>
                      <a:srgbClr val="FFFFFF"/>
                    </a:solidFill>
                  </a:tcPr>
                </a:tc>
                <a:tc>
                  <a:txBody>
                    <a:bodyPr wrap="square"/>
                    <a:lstStyle/>
                    <a:p>
                      <a:r>
                        <a:rPr sz="1150" b="1">
                          <a:solidFill>
                            <a:srgbClr val="1A1A1A"/>
                          </a:solidFill>
                          <a:latin typeface="Segoe UI"/>
                        </a:rPr>
                        <a:t>Yes</a:t>
                      </a:r>
                    </a:p>
                  </a:txBody>
                  <a:tcPr anchor="ctr" marL="91440" marT="18288" marB="18288">
                    <a:solidFill>
                      <a:srgbClr val="FFFFFF"/>
                    </a:solidFill>
                  </a:tcPr>
                </a:tc>
              </a:tr>
              <a:tr h="274320">
                <a:tc>
                  <a:txBody>
                    <a:bodyPr wrap="square"/>
                    <a:lstStyle/>
                    <a:p>
                      <a:r>
                        <a:rPr sz="1150" b="1">
                          <a:solidFill>
                            <a:srgbClr val="1A1A1A"/>
                          </a:solidFill>
                          <a:latin typeface="Segoe UI"/>
                        </a:rPr>
                        <a:t>orchestrator.ts</a:t>
                      </a:r>
                    </a:p>
                  </a:txBody>
                  <a:tcPr anchor="ctr" marL="91440" marT="18288" marB="18288">
                    <a:solidFill>
                      <a:srgbClr val="F4F5F7"/>
                    </a:solidFill>
                  </a:tcPr>
                </a:tc>
                <a:tc>
                  <a:txBody>
                    <a:bodyPr wrap="square"/>
                    <a:lstStyle/>
                    <a:p>
                      <a:r>
                        <a:rPr sz="1150" b="0">
                          <a:solidFill>
                            <a:srgbClr val="3C3C3C"/>
                          </a:solidFill>
                          <a:latin typeface="Segoe UI"/>
                        </a:rPr>
                        <a:t>Engine plans to Dataverse writes</a:t>
                      </a:r>
                    </a:p>
                  </a:txBody>
                  <a:tcPr anchor="ctr" marL="91440" marT="18288" marB="18288">
                    <a:solidFill>
                      <a:srgbClr val="F4F5F7"/>
                    </a:solidFill>
                  </a:tcPr>
                </a:tc>
                <a:tc>
                  <a:txBody>
                    <a:bodyPr wrap="square"/>
                    <a:lstStyle/>
                    <a:p>
                      <a:r>
                        <a:rPr sz="1150" b="1">
                          <a:solidFill>
                            <a:srgbClr val="1A1A1A"/>
                          </a:solidFill>
                          <a:latin typeface="Segoe UI"/>
                        </a:rPr>
                        <a:t>Yes</a:t>
                      </a:r>
                    </a:p>
                  </a:txBody>
                  <a:tcPr anchor="ctr" marL="91440" marT="18288" marB="18288">
                    <a:solidFill>
                      <a:srgbClr val="F4F5F7"/>
                    </a:solidFill>
                  </a:tcPr>
                </a:tc>
              </a:tr>
              <a:tr h="274320">
                <a:tc>
                  <a:txBody>
                    <a:bodyPr wrap="square"/>
                    <a:lstStyle/>
                    <a:p>
                      <a:r>
                        <a:rPr sz="1150" b="1">
                          <a:solidFill>
                            <a:srgbClr val="1A1A1A"/>
                          </a:solidFill>
                          <a:latin typeface="Segoe UI"/>
                        </a:rPr>
                        <a:t>DynamicForm.tsx</a:t>
                      </a:r>
                    </a:p>
                  </a:txBody>
                  <a:tcPr anchor="ctr" marL="91440" marT="18288" marB="18288">
                    <a:solidFill>
                      <a:srgbClr val="FFFFFF"/>
                    </a:solidFill>
                  </a:tcPr>
                </a:tc>
                <a:tc>
                  <a:txBody>
                    <a:bodyPr wrap="square"/>
                    <a:lstStyle/>
                    <a:p>
                      <a:r>
                        <a:rPr sz="1150" b="0">
                          <a:solidFill>
                            <a:srgbClr val="3C3C3C"/>
                          </a:solidFill>
                          <a:latin typeface="Segoe UI"/>
                        </a:rPr>
                        <a:t>Renders any view from metadata</a:t>
                      </a:r>
                    </a:p>
                  </a:txBody>
                  <a:tcPr anchor="ctr" marL="91440" marT="18288" marB="18288">
                    <a:solidFill>
                      <a:srgbClr val="FFFFFF"/>
                    </a:solidFill>
                  </a:tcPr>
                </a:tc>
                <a:tc>
                  <a:txBody>
                    <a:bodyPr wrap="square"/>
                    <a:lstStyle/>
                    <a:p>
                      <a:r>
                        <a:rPr sz="1150" b="1">
                          <a:solidFill>
                            <a:srgbClr val="1A1A1A"/>
                          </a:solidFill>
                          <a:latin typeface="Segoe UI"/>
                        </a:rPr>
                        <a:t>Yes</a:t>
                      </a:r>
                    </a:p>
                  </a:txBody>
                  <a:tcPr anchor="ctr" marL="91440" marT="18288" marB="18288">
                    <a:solidFill>
                      <a:srgbClr val="FFFFFF"/>
                    </a:solidFill>
                  </a:tcPr>
                </a:tc>
              </a:tr>
              <a:tr h="274320">
                <a:tc>
                  <a:txBody>
                    <a:bodyPr wrap="square"/>
                    <a:lstStyle/>
                    <a:p>
                      <a:r>
                        <a:rPr sz="1150" b="1">
                          <a:solidFill>
                            <a:srgbClr val="1A1A1A"/>
                          </a:solidFill>
                          <a:latin typeface="Segoe UI"/>
                        </a:rPr>
                        <a:t>DEVELOPER-HANDOVER.md</a:t>
                      </a:r>
                    </a:p>
                  </a:txBody>
                  <a:tcPr anchor="ctr" marL="91440" marT="18288" marB="18288">
                    <a:solidFill>
                      <a:srgbClr val="F4F5F7"/>
                    </a:solidFill>
                  </a:tcPr>
                </a:tc>
                <a:tc>
                  <a:txBody>
                    <a:bodyPr wrap="square"/>
                    <a:lstStyle/>
                    <a:p>
                      <a:r>
                        <a:rPr sz="1150" b="0">
                          <a:solidFill>
                            <a:srgbClr val="3C3C3C"/>
                          </a:solidFill>
                          <a:latin typeface="Segoe UI"/>
                        </a:rPr>
                        <a:t>Architecture and production backlog</a:t>
                      </a:r>
                    </a:p>
                  </a:txBody>
                  <a:tcPr anchor="ctr" marL="91440" marT="18288" marB="18288">
                    <a:solidFill>
                      <a:srgbClr val="F4F5F7"/>
                    </a:solidFill>
                  </a:tcPr>
                </a:tc>
                <a:tc>
                  <a:txBody>
                    <a:bodyPr wrap="square"/>
                    <a:lstStyle/>
                    <a:p>
                      <a:r>
                        <a:rPr sz="1150" b="0">
                          <a:solidFill>
                            <a:srgbClr val="3C3C3C"/>
                          </a:solidFill>
                          <a:latin typeface="Segoe UI"/>
                        </a:rPr>
                        <a:t>Template</a:t>
                      </a:r>
                    </a:p>
                  </a:txBody>
                  <a:tcPr anchor="ctr" marL="91440" marT="18288" marB="18288">
                    <a:solidFill>
                      <a:srgbClr val="F4F5F7"/>
                    </a:solidFill>
                  </a:tcPr>
                </a:tc>
              </a:tr>
            </a:tbl>
          </a:graphicData>
        </a:graphic>
      </p:graphicFrame>
      <p:sp>
        <p:nvSpPr>
          <p:cNvPr id="6" name="TextBox 5"/>
          <p:cNvSpPr txBox="1"/>
          <p:nvPr/>
        </p:nvSpPr>
        <p:spPr>
          <a:xfrm>
            <a:off x="566928" y="5257800"/>
            <a:ext cx="11064240" cy="647699"/>
          </a:xfrm>
          <a:prstGeom prst="rect">
            <a:avLst/>
          </a:prstGeom>
          <a:noFill/>
        </p:spPr>
        <p:txBody>
          <a:bodyPr wrap="square">
            <a:spAutoFit/>
          </a:bodyPr>
          <a:lstStyle/>
          <a:p>
            <a:pPr algn="l">
              <a:spcBef>
                <a:spcPts val="0"/>
              </a:spcBef>
              <a:spcAft>
                <a:spcPts val="900"/>
              </a:spcAft>
            </a:pPr>
            <a:r>
              <a:rPr sz="1250" b="1" i="0">
                <a:solidFill>
                  <a:srgbClr val="1A1A1A"/>
                </a:solidFill>
                <a:latin typeface="Segoe UI"/>
              </a:rPr>
              <a:t>Codebase</a:t>
            </a:r>
          </a:p>
          <a:p>
            <a:pPr algn="l">
              <a:spcBef>
                <a:spcPts val="0"/>
              </a:spcBef>
              <a:spcAft>
                <a:spcPts val="900"/>
              </a:spcAft>
            </a:pPr>
            <a:r>
              <a:rPr sz="1250" b="0" i="0">
                <a:solidFill>
                  <a:srgbClr val="1A1A1A"/>
                </a:solidFill>
                <a:latin typeface="Segoe UI"/>
              </a:rPr>
              <a:t>•  3,503 lines of application source, 2,892 lines of migration scripts, and 4,987 lines of generated Dataverse services.</a:t>
            </a:r>
          </a:p>
        </p:txBody>
      </p:sp>
      <p:sp>
        <p:nvSpPr>
          <p:cNvPr id="7" name="TextBox 6"/>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10515600" cy="274320"/>
          </a:xfrm>
          <a:prstGeom prst="rect">
            <a:avLst/>
          </a:prstGeom>
          <a:noFill/>
        </p:spPr>
        <p:txBody>
          <a:bodyPr wrap="square">
            <a:spAutoFit/>
          </a:bodyPr>
          <a:lstStyle/>
          <a:p>
            <a:pPr algn="l">
              <a:spcBef>
                <a:spcPts val="0"/>
              </a:spcBef>
              <a:spcAft>
                <a:spcPts val="0"/>
              </a:spcAft>
            </a:pPr>
            <a:r>
              <a:rPr sz="1050" b="1" i="0">
                <a:solidFill>
                  <a:srgbClr val="006D77"/>
                </a:solidFill>
                <a:latin typeface="Segoe UI"/>
              </a:rPr>
              <a:t>APPENDIX</a:t>
            </a:r>
          </a:p>
        </p:txBody>
      </p:sp>
      <p:sp>
        <p:nvSpPr>
          <p:cNvPr id="4" name="TextBox 3"/>
          <p:cNvSpPr txBox="1"/>
          <p:nvPr/>
        </p:nvSpPr>
        <p:spPr>
          <a:xfrm>
            <a:off x="566928" y="530352"/>
            <a:ext cx="11064240" cy="685800"/>
          </a:xfrm>
          <a:prstGeom prst="rect">
            <a:avLst/>
          </a:prstGeom>
          <a:noFill/>
        </p:spPr>
        <p:txBody>
          <a:bodyPr wrap="square">
            <a:spAutoFit/>
          </a:bodyPr>
          <a:lstStyle/>
          <a:p>
            <a:pPr algn="l">
              <a:spcBef>
                <a:spcPts val="0"/>
              </a:spcBef>
              <a:spcAft>
                <a:spcPts val="0"/>
              </a:spcAft>
            </a:pPr>
            <a:r>
              <a:rPr sz="2700" b="1" i="0">
                <a:solidFill>
                  <a:srgbClr val="1A1A1A"/>
                </a:solidFill>
                <a:latin typeface="Segoe UI"/>
              </a:rPr>
              <a:t>Technical assumptions</a:t>
            </a:r>
          </a:p>
        </p:txBody>
      </p:sp>
      <p:graphicFrame>
        <p:nvGraphicFramePr>
          <p:cNvPr id="5" name="Table 4"/>
          <p:cNvGraphicFramePr>
            <a:graphicFrameLocks noGrp="1"/>
          </p:cNvGraphicFramePr>
          <p:nvPr/>
        </p:nvGraphicFramePr>
        <p:xfrm>
          <a:off x="566928" y="1554480"/>
          <a:ext cx="11064238" cy="2542032"/>
        </p:xfrm>
        <a:graphic>
          <a:graphicData uri="http://schemas.openxmlformats.org/drawingml/2006/table">
            <a:tbl>
              <a:tblPr firstRow="1" bandRow="1">
                <a:tableStyleId>{5C22544A-7EE6-4342-B048-85BDC9FD1C3A}</a:tableStyleId>
              </a:tblPr>
              <a:tblGrid>
                <a:gridCol w="457199"/>
                <a:gridCol w="4937760"/>
                <a:gridCol w="5669279"/>
              </a:tblGrid>
              <a:tr h="347472">
                <a:tc>
                  <a:txBody>
                    <a:bodyPr wrap="square"/>
                    <a:lstStyle/>
                    <a:p>
                      <a:r>
                        <a:rPr sz="1150" b="1">
                          <a:solidFill>
                            <a:srgbClr val="FFFFFF"/>
                          </a:solidFill>
                          <a:latin typeface="Segoe UI"/>
                        </a:rPr>
                        <a:t>#</a:t>
                      </a:r>
                    </a:p>
                  </a:txBody>
                  <a:tcPr anchor="ctr" marL="91440">
                    <a:solidFill>
                      <a:srgbClr val="006D77"/>
                    </a:solidFill>
                  </a:tcPr>
                </a:tc>
                <a:tc>
                  <a:txBody>
                    <a:bodyPr wrap="square"/>
                    <a:lstStyle/>
                    <a:p>
                      <a:r>
                        <a:rPr sz="1150" b="1">
                          <a:solidFill>
                            <a:srgbClr val="FFFFFF"/>
                          </a:solidFill>
                          <a:latin typeface="Segoe UI"/>
                        </a:rPr>
                        <a:t>Assumption</a:t>
                      </a:r>
                    </a:p>
                  </a:txBody>
                  <a:tcPr anchor="ctr" marL="91440">
                    <a:solidFill>
                      <a:srgbClr val="006D77"/>
                    </a:solidFill>
                  </a:tcPr>
                </a:tc>
                <a:tc>
                  <a:txBody>
                    <a:bodyPr wrap="square"/>
                    <a:lstStyle/>
                    <a:p>
                      <a:r>
                        <a:rPr sz="1150" b="1">
                          <a:solidFill>
                            <a:srgbClr val="FFFFFF"/>
                          </a:solidFill>
                          <a:latin typeface="Segoe UI"/>
                        </a:rPr>
                        <a:t>Basis</a:t>
                      </a:r>
                    </a:p>
                  </a:txBody>
                  <a:tcPr anchor="ctr" marL="91440">
                    <a:solidFill>
                      <a:srgbClr val="006D77"/>
                    </a:solidFill>
                  </a:tcPr>
                </a:tc>
              </a:tr>
              <a:tr h="274320">
                <a:tc>
                  <a:txBody>
                    <a:bodyPr wrap="square"/>
                    <a:lstStyle/>
                    <a:p>
                      <a:r>
                        <a:rPr sz="1150" b="1">
                          <a:solidFill>
                            <a:srgbClr val="1A1A1A"/>
                          </a:solidFill>
                          <a:latin typeface="Segoe UI"/>
                        </a:rPr>
                        <a:t>1</a:t>
                      </a:r>
                    </a:p>
                  </a:txBody>
                  <a:tcPr anchor="ctr" marL="91440" marT="18288" marB="18288">
                    <a:solidFill>
                      <a:srgbClr val="FFFFFF"/>
                    </a:solidFill>
                  </a:tcPr>
                </a:tc>
                <a:tc>
                  <a:txBody>
                    <a:bodyPr wrap="square"/>
                    <a:lstStyle/>
                    <a:p>
                      <a:r>
                        <a:rPr sz="1150" b="0">
                          <a:solidFill>
                            <a:srgbClr val="3C3C3C"/>
                          </a:solidFill>
                          <a:latin typeface="Segoe UI"/>
                        </a:rPr>
                        <a:t>Dataverse row and storage volumes are within standard limits</a:t>
                      </a:r>
                    </a:p>
                  </a:txBody>
                  <a:tcPr anchor="ctr" marL="91440" marT="18288" marB="18288">
                    <a:solidFill>
                      <a:srgbClr val="FFFFFF"/>
                    </a:solidFill>
                  </a:tcPr>
                </a:tc>
                <a:tc>
                  <a:txBody>
                    <a:bodyPr wrap="square"/>
                    <a:lstStyle/>
                    <a:p>
                      <a:r>
                        <a:rPr sz="1150" b="0">
                          <a:solidFill>
                            <a:srgbClr val="3C3C3C"/>
                          </a:solidFill>
                          <a:latin typeface="Segoe UI"/>
                        </a:rPr>
                        <a:t>PoC volumes are small; production volumes not supplied</a:t>
                      </a:r>
                    </a:p>
                  </a:txBody>
                  <a:tcPr anchor="ctr" marL="91440" marT="18288" marB="18288">
                    <a:solidFill>
                      <a:srgbClr val="FFFFFF"/>
                    </a:solidFill>
                  </a:tcPr>
                </a:tc>
              </a:tr>
              <a:tr h="274320">
                <a:tc>
                  <a:txBody>
                    <a:bodyPr wrap="square"/>
                    <a:lstStyle/>
                    <a:p>
                      <a:r>
                        <a:rPr sz="1150" b="1">
                          <a:solidFill>
                            <a:srgbClr val="1A1A1A"/>
                          </a:solidFill>
                          <a:latin typeface="Segoe UI"/>
                        </a:rPr>
                        <a:t>2</a:t>
                      </a:r>
                    </a:p>
                  </a:txBody>
                  <a:tcPr anchor="ctr" marL="91440" marT="18288" marB="18288">
                    <a:solidFill>
                      <a:srgbClr val="F4F5F7"/>
                    </a:solidFill>
                  </a:tcPr>
                </a:tc>
                <a:tc>
                  <a:txBody>
                    <a:bodyPr wrap="square"/>
                    <a:lstStyle/>
                    <a:p>
                      <a:r>
                        <a:rPr sz="1150" b="0">
                          <a:solidFill>
                            <a:srgbClr val="3C3C3C"/>
                          </a:solidFill>
                          <a:latin typeface="Segoe UI"/>
                        </a:rPr>
                        <a:t>Business days for SLA use a standard calendar</a:t>
                      </a:r>
                    </a:p>
                  </a:txBody>
                  <a:tcPr anchor="ctr" marL="91440" marT="18288" marB="18288">
                    <a:solidFill>
                      <a:srgbClr val="F4F5F7"/>
                    </a:solidFill>
                  </a:tcPr>
                </a:tc>
                <a:tc>
                  <a:txBody>
                    <a:bodyPr wrap="square"/>
                    <a:lstStyle/>
                    <a:p>
                      <a:r>
                        <a:rPr sz="1150" b="0">
                          <a:solidFill>
                            <a:srgbClr val="3C3C3C"/>
                          </a:solidFill>
                          <a:latin typeface="Segoe UI"/>
                        </a:rPr>
                        <a:t>Pega holiday calendars were not in the export</a:t>
                      </a:r>
                    </a:p>
                  </a:txBody>
                  <a:tcPr anchor="ctr" marL="91440" marT="18288" marB="18288">
                    <a:solidFill>
                      <a:srgbClr val="F4F5F7"/>
                    </a:solidFill>
                  </a:tcPr>
                </a:tc>
              </a:tr>
              <a:tr h="274320">
                <a:tc>
                  <a:txBody>
                    <a:bodyPr wrap="square"/>
                    <a:lstStyle/>
                    <a:p>
                      <a:r>
                        <a:rPr sz="1150" b="1">
                          <a:solidFill>
                            <a:srgbClr val="1A1A1A"/>
                          </a:solidFill>
                          <a:latin typeface="Segoe UI"/>
                        </a:rPr>
                        <a:t>3</a:t>
                      </a:r>
                    </a:p>
                  </a:txBody>
                  <a:tcPr anchor="ctr" marL="91440" marT="18288" marB="18288">
                    <a:solidFill>
                      <a:srgbClr val="FFFFFF"/>
                    </a:solidFill>
                  </a:tcPr>
                </a:tc>
                <a:tc>
                  <a:txBody>
                    <a:bodyPr wrap="square"/>
                    <a:lstStyle/>
                    <a:p>
                      <a:r>
                        <a:rPr sz="1150" b="0">
                          <a:solidFill>
                            <a:srgbClr val="3C3C3C"/>
                          </a:solidFill>
                          <a:latin typeface="Segoe UI"/>
                        </a:rPr>
                        <a:t>Case ID prefixes follow the Pega convention</a:t>
                      </a:r>
                    </a:p>
                  </a:txBody>
                  <a:tcPr anchor="ctr" marL="91440" marT="18288" marB="18288">
                    <a:solidFill>
                      <a:srgbClr val="FFFFFF"/>
                    </a:solidFill>
                  </a:tcPr>
                </a:tc>
                <a:tc>
                  <a:txBody>
                    <a:bodyPr wrap="square"/>
                    <a:lstStyle/>
                    <a:p>
                      <a:r>
                        <a:rPr sz="1150" b="0">
                          <a:solidFill>
                            <a:srgbClr val="3C3C3C"/>
                          </a:solidFill>
                          <a:latin typeface="Segoe UI"/>
                        </a:rPr>
                        <a:t>Prefixes read from the case type definitions</a:t>
                      </a:r>
                    </a:p>
                  </a:txBody>
                  <a:tcPr anchor="ctr" marL="91440" marT="18288" marB="18288">
                    <a:solidFill>
                      <a:srgbClr val="FFFFFF"/>
                    </a:solidFill>
                  </a:tcPr>
                </a:tc>
              </a:tr>
              <a:tr h="274320">
                <a:tc>
                  <a:txBody>
                    <a:bodyPr wrap="square"/>
                    <a:lstStyle/>
                    <a:p>
                      <a:r>
                        <a:rPr sz="1150" b="1">
                          <a:solidFill>
                            <a:srgbClr val="1A1A1A"/>
                          </a:solidFill>
                          <a:latin typeface="Segoe UI"/>
                        </a:rPr>
                        <a:t>4</a:t>
                      </a:r>
                    </a:p>
                  </a:txBody>
                  <a:tcPr anchor="ctr" marL="91440" marT="18288" marB="18288">
                    <a:solidFill>
                      <a:srgbClr val="F4F5F7"/>
                    </a:solidFill>
                  </a:tcPr>
                </a:tc>
                <a:tc>
                  <a:txBody>
                    <a:bodyPr wrap="square"/>
                    <a:lstStyle/>
                    <a:p>
                      <a:r>
                        <a:rPr sz="1150" b="0">
                          <a:solidFill>
                            <a:srgbClr val="3C3C3C"/>
                          </a:solidFill>
                          <a:latin typeface="Segoe UI"/>
                        </a:rPr>
                        <a:t>Detail column names map as ava_ plus lowercased field name</a:t>
                      </a:r>
                    </a:p>
                  </a:txBody>
                  <a:tcPr anchor="ctr" marL="91440" marT="18288" marB="18288">
                    <a:solidFill>
                      <a:srgbClr val="F4F5F7"/>
                    </a:solidFill>
                  </a:tcPr>
                </a:tc>
                <a:tc>
                  <a:txBody>
                    <a:bodyPr wrap="square"/>
                    <a:lstStyle/>
                    <a:p>
                      <a:r>
                        <a:rPr sz="1150" b="0">
                          <a:solidFill>
                            <a:srgbClr val="3C3C3C"/>
                          </a:solidFill>
                          <a:latin typeface="Segoe UI"/>
                        </a:rPr>
                        <a:t>Deterministic mapping; unmapped fields reported, not silently dropped</a:t>
                      </a:r>
                    </a:p>
                  </a:txBody>
                  <a:tcPr anchor="ctr" marL="91440" marT="18288" marB="18288">
                    <a:solidFill>
                      <a:srgbClr val="F4F5F7"/>
                    </a:solidFill>
                  </a:tcPr>
                </a:tc>
              </a:tr>
              <a:tr h="274320">
                <a:tc>
                  <a:txBody>
                    <a:bodyPr wrap="square"/>
                    <a:lstStyle/>
                    <a:p>
                      <a:r>
                        <a:rPr sz="1150" b="1">
                          <a:solidFill>
                            <a:srgbClr val="1A1A1A"/>
                          </a:solidFill>
                          <a:latin typeface="Segoe UI"/>
                        </a:rPr>
                        <a:t>5</a:t>
                      </a:r>
                    </a:p>
                  </a:txBody>
                  <a:tcPr anchor="ctr" marL="91440" marT="18288" marB="18288">
                    <a:solidFill>
                      <a:srgbClr val="FFFFFF"/>
                    </a:solidFill>
                  </a:tcPr>
                </a:tc>
                <a:tc>
                  <a:txBody>
                    <a:bodyPr wrap="square"/>
                    <a:lstStyle/>
                    <a:p>
                      <a:r>
                        <a:rPr sz="1150" b="0">
                          <a:solidFill>
                            <a:srgbClr val="3C3C3C"/>
                          </a:solidFill>
                          <a:latin typeface="Segoe UI"/>
                        </a:rPr>
                        <a:t>Choice values are stable strings</a:t>
                      </a:r>
                    </a:p>
                  </a:txBody>
                  <a:tcPr anchor="ctr" marL="91440" marT="18288" marB="18288">
                    <a:solidFill>
                      <a:srgbClr val="FFFFFF"/>
                    </a:solidFill>
                  </a:tcPr>
                </a:tc>
                <a:tc>
                  <a:txBody>
                    <a:bodyPr wrap="square"/>
                    <a:lstStyle/>
                    <a:p>
                      <a:r>
                        <a:rPr sz="1150" b="0">
                          <a:solidFill>
                            <a:srgbClr val="3C3C3C"/>
                          </a:solidFill>
                          <a:latin typeface="Segoe UI"/>
                        </a:rPr>
                        <a:t>Imported as rows; changes require a re-seed</a:t>
                      </a:r>
                    </a:p>
                  </a:txBody>
                  <a:tcPr anchor="ctr" marL="91440" marT="18288" marB="18288">
                    <a:solidFill>
                      <a:srgbClr val="FFFFFF"/>
                    </a:solidFill>
                  </a:tcPr>
                </a:tc>
              </a:tr>
              <a:tr h="274320">
                <a:tc>
                  <a:txBody>
                    <a:bodyPr wrap="square"/>
                    <a:lstStyle/>
                    <a:p>
                      <a:r>
                        <a:rPr sz="1150" b="1">
                          <a:solidFill>
                            <a:srgbClr val="1A1A1A"/>
                          </a:solidFill>
                          <a:latin typeface="Segoe UI"/>
                        </a:rPr>
                        <a:t>6</a:t>
                      </a:r>
                    </a:p>
                  </a:txBody>
                  <a:tcPr anchor="ctr" marL="91440" marT="18288" marB="18288">
                    <a:solidFill>
                      <a:srgbClr val="F4F5F7"/>
                    </a:solidFill>
                  </a:tcPr>
                </a:tc>
                <a:tc>
                  <a:txBody>
                    <a:bodyPr wrap="square"/>
                    <a:lstStyle/>
                    <a:p>
                      <a:r>
                        <a:rPr sz="1150" b="0">
                          <a:solidFill>
                            <a:srgbClr val="3C3C3C"/>
                          </a:solidFill>
                          <a:latin typeface="Segoe UI"/>
                        </a:rPr>
                        <a:t>One Dataverse solution per application</a:t>
                      </a:r>
                    </a:p>
                  </a:txBody>
                  <a:tcPr anchor="ctr" marL="91440" marT="18288" marB="18288">
                    <a:solidFill>
                      <a:srgbClr val="F4F5F7"/>
                    </a:solidFill>
                  </a:tcPr>
                </a:tc>
                <a:tc>
                  <a:txBody>
                    <a:bodyPr wrap="square"/>
                    <a:lstStyle/>
                    <a:p>
                      <a:r>
                        <a:rPr sz="1150" b="0">
                          <a:solidFill>
                            <a:srgbClr val="3C3C3C"/>
                          </a:solidFill>
                          <a:latin typeface="Segoe UI"/>
                        </a:rPr>
                        <a:t>Matches Power Platform ALM guidance</a:t>
                      </a:r>
                    </a:p>
                  </a:txBody>
                  <a:tcPr anchor="ctr" marL="91440" marT="18288" marB="18288">
                    <a:solidFill>
                      <a:srgbClr val="F4F5F7"/>
                    </a:solidFill>
                  </a:tcPr>
                </a:tc>
              </a:tr>
              <a:tr h="274320">
                <a:tc>
                  <a:txBody>
                    <a:bodyPr wrap="square"/>
                    <a:lstStyle/>
                    <a:p>
                      <a:r>
                        <a:rPr sz="1150" b="1">
                          <a:solidFill>
                            <a:srgbClr val="1A1A1A"/>
                          </a:solidFill>
                          <a:latin typeface="Segoe UI"/>
                        </a:rPr>
                        <a:t>7</a:t>
                      </a:r>
                    </a:p>
                  </a:txBody>
                  <a:tcPr anchor="ctr" marL="91440" marT="18288" marB="18288">
                    <a:solidFill>
                      <a:srgbClr val="FFFFFF"/>
                    </a:solidFill>
                  </a:tcPr>
                </a:tc>
                <a:tc>
                  <a:txBody>
                    <a:bodyPr wrap="square"/>
                    <a:lstStyle/>
                    <a:p>
                      <a:r>
                        <a:rPr sz="1150" b="0">
                          <a:solidFill>
                            <a:srgbClr val="3C3C3C"/>
                          </a:solidFill>
                          <a:latin typeface="Segoe UI"/>
                        </a:rPr>
                        <a:t>Users authenticate via Entra ID with Dataverse privileges</a:t>
                      </a:r>
                    </a:p>
                  </a:txBody>
                  <a:tcPr anchor="ctr" marL="91440" marT="18288" marB="18288">
                    <a:solidFill>
                      <a:srgbClr val="FFFFFF"/>
                    </a:solidFill>
                  </a:tcPr>
                </a:tc>
                <a:tc>
                  <a:txBody>
                    <a:bodyPr wrap="square"/>
                    <a:lstStyle/>
                    <a:p>
                      <a:r>
                        <a:rPr sz="1150" b="0">
                          <a:solidFill>
                            <a:srgbClr val="3C3C3C"/>
                          </a:solidFill>
                          <a:latin typeface="Segoe UI"/>
                        </a:rPr>
                        <a:t>Standard Power Platform model</a:t>
                      </a:r>
                    </a:p>
                  </a:txBody>
                  <a:tcPr anchor="ctr" marL="91440" marT="18288" marB="18288">
                    <a:solidFill>
                      <a:srgbClr val="FFFFFF"/>
                    </a:solidFill>
                  </a:tcPr>
                </a:tc>
              </a:tr>
              <a:tr h="274320">
                <a:tc>
                  <a:txBody>
                    <a:bodyPr wrap="square"/>
                    <a:lstStyle/>
                    <a:p>
                      <a:r>
                        <a:rPr sz="1150" b="1">
                          <a:solidFill>
                            <a:srgbClr val="1A1A1A"/>
                          </a:solidFill>
                          <a:latin typeface="Segoe UI"/>
                        </a:rPr>
                        <a:t>8</a:t>
                      </a:r>
                    </a:p>
                  </a:txBody>
                  <a:tcPr anchor="ctr" marL="91440" marT="18288" marB="18288">
                    <a:solidFill>
                      <a:srgbClr val="F4F5F7"/>
                    </a:solidFill>
                  </a:tcPr>
                </a:tc>
                <a:tc>
                  <a:txBody>
                    <a:bodyPr wrap="square"/>
                    <a:lstStyle/>
                    <a:p>
                      <a:r>
                        <a:rPr sz="1150" b="0">
                          <a:solidFill>
                            <a:srgbClr val="3C3C3C"/>
                          </a:solidFill>
                          <a:latin typeface="Segoe UI"/>
                        </a:rPr>
                        <a:t>Decision tables evaluate top-down, first match wins</a:t>
                      </a:r>
                    </a:p>
                  </a:txBody>
                  <a:tcPr anchor="ctr" marL="91440" marT="18288" marB="18288">
                    <a:solidFill>
                      <a:srgbClr val="F4F5F7"/>
                    </a:solidFill>
                  </a:tcPr>
                </a:tc>
                <a:tc>
                  <a:txBody>
                    <a:bodyPr wrap="square"/>
                    <a:lstStyle/>
                    <a:p>
                      <a:r>
                        <a:rPr sz="1150" b="0">
                          <a:solidFill>
                            <a:srgbClr val="3C3C3C"/>
                          </a:solidFill>
                          <a:latin typeface="Segoe UI"/>
                        </a:rPr>
                        <a:t>Matches observed Pega semantics</a:t>
                      </a:r>
                    </a:p>
                  </a:txBody>
                  <a:tcPr anchor="ctr" marL="91440" marT="18288" marB="18288">
                    <a:solidFill>
                      <a:srgbClr val="F4F5F7"/>
                    </a:solidFill>
                  </a:tcPr>
                </a:tc>
              </a:tr>
            </a:tbl>
          </a:graphicData>
        </a:graphic>
      </p:graphicFrame>
      <p:sp>
        <p:nvSpPr>
          <p:cNvPr id="6" name="TextBox 5"/>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6D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2514600"/>
            <a:ext cx="9418320" cy="914400"/>
          </a:xfrm>
          <a:prstGeom prst="rect">
            <a:avLst/>
          </a:prstGeom>
          <a:noFill/>
        </p:spPr>
        <p:txBody>
          <a:bodyPr wrap="square">
            <a:spAutoFit/>
          </a:bodyPr>
          <a:lstStyle/>
          <a:p>
            <a:pPr algn="l">
              <a:spcBef>
                <a:spcPts val="0"/>
              </a:spcBef>
              <a:spcAft>
                <a:spcPts val="600"/>
              </a:spcAft>
            </a:pPr>
            <a:r>
              <a:rPr sz="4000" b="1" i="0">
                <a:solidFill>
                  <a:srgbClr val="FFFFFF"/>
                </a:solidFill>
                <a:latin typeface="Segoe UI"/>
              </a:rPr>
              <a:t>Questions</a:t>
            </a:r>
          </a:p>
        </p:txBody>
      </p:sp>
      <p:sp>
        <p:nvSpPr>
          <p:cNvPr id="5" name="TextBox 4"/>
          <p:cNvSpPr txBox="1"/>
          <p:nvPr/>
        </p:nvSpPr>
        <p:spPr>
          <a:xfrm>
            <a:off x="1371600" y="3429000"/>
            <a:ext cx="9418320" cy="1463040"/>
          </a:xfrm>
          <a:prstGeom prst="rect">
            <a:avLst/>
          </a:prstGeom>
          <a:noFill/>
        </p:spPr>
        <p:txBody>
          <a:bodyPr wrap="square">
            <a:spAutoFit/>
          </a:bodyPr>
          <a:lstStyle/>
          <a:p>
            <a:pPr algn="l">
              <a:spcBef>
                <a:spcPts val="0"/>
              </a:spcBef>
              <a:spcAft>
                <a:spcPts val="600"/>
              </a:spcAft>
            </a:pPr>
            <a:r>
              <a:rPr sz="1500" b="0" i="0">
                <a:solidFill>
                  <a:srgbClr val="D6ECEE"/>
                </a:solidFill>
                <a:latin typeface="Segoe UI"/>
              </a:rPr>
              <a:t>Pega to Power Platform  ·  Lending Due Diligence PoC</a:t>
            </a:r>
          </a:p>
          <a:p>
            <a:pPr algn="l">
              <a:spcBef>
                <a:spcPts val="0"/>
              </a:spcBef>
              <a:spcAft>
                <a:spcPts val="0"/>
              </a:spcAft>
            </a:pPr>
            <a:r>
              <a:rPr sz="1300" b="0" i="0">
                <a:solidFill>
                  <a:srgbClr val="BFDFE3"/>
                </a:solidFill>
                <a:latin typeface="Segoe UI"/>
              </a:rPr>
              <a:t>5 case types  ·  39 stages  ·  80 steps  ·  27 Dataverse tables  ·  49/49 verification checks passing</a:t>
            </a:r>
          </a:p>
        </p:txBody>
      </p:sp>
      <p:sp>
        <p:nvSpPr>
          <p:cNvPr id="6" name="TextBox 5"/>
          <p:cNvSpPr txBox="1"/>
          <p:nvPr/>
        </p:nvSpPr>
        <p:spPr>
          <a:xfrm>
            <a:off x="10607040" y="6355080"/>
            <a:ext cx="1280160" cy="320040"/>
          </a:xfrm>
          <a:prstGeom prst="rect">
            <a:avLst/>
          </a:prstGeom>
          <a:noFill/>
        </p:spPr>
        <p:txBody>
          <a:bodyPr wrap="square">
            <a:spAutoFit/>
          </a:bodyPr>
          <a:lstStyle/>
          <a:p>
            <a:pPr algn="r">
              <a:spcBef>
                <a:spcPts val="0"/>
              </a:spcBef>
              <a:spcAft>
                <a:spcPts val="0"/>
              </a:spcAft>
            </a:pPr>
            <a:r>
              <a:rPr sz="1000" b="0" i="0">
                <a:solidFill>
                  <a:srgbClr val="6E6E6E"/>
                </a:solidFill>
                <a:latin typeface="Segoe UI"/>
              </a:rPr>
              <a:t>49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