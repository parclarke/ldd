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reports on a completed PoC, not a paper study. The Lending Due Diligence Pega application was migrated to a Power Apps Code App on Dataverse, deployed, and verified end to end. Every number quoted is drawn from the migration artefacts or the automated verification harness.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fact that this is a completed implementation. The five KPIs are all measured, not estimated. Be precise about the two different numbers: 41 of 80 step bodies (51%) still need building, which is the effort story; 24 of those have no implementation anywhere in the source. Expect the challenge 'could a developer not just read these in Dev Studio?' - the answer is no, because the rules do not exist: 0 of 20 transform steps resolve to a transform rule, and Pega's own design-time warning on every document step says the template field cannot be blank. See the Migration Findings section.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matters most to this client. Their stated problem is not migration cost - it is that requirements elicitation consumes business time they will not give. Lead with it and the rest of the deck reads as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block matters for credibility. Being explicit about what the PoC does not prove makes the rest of the claims defensible under challenge.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 version 26.1.0, application version 01.01.01, exported 1 September 2026. The 191 UI views is the total in the application; only 49 are reachable from a case step, which is why the migration targets that subset.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originally claimed the rule bodies could not be decoded outside a Pega instance, repeating the extraction tool's own documentation. That was wrong, and testing it changed the recommendation: there are no guards to recover, so the engine's re-visit cap is permanent design rather than a stopgap.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repeatability. This is not a bespoke effort for one application - the extract and seed pipeline discovers class prefixes, case types and choice sets rather than hardcoding them, so it runs against the next application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learned the hard way during the PoC - two extractions of the same application disagreed about the stage model. The seeder now refuses to load a low-fidelity 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journey 3 on Compliance Monitoring - it exercises a decision, a guarded rework transition that gets skipped, and reaches resolution in eight iterations. It is the most complete single demonstration of the engine, and it is the case type that originally exposed the infinite-loop defect.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1 is worth dwelling on. It is the clearest evidence that a naive structural migration produces a broken application, and that the mitigation has to be defence in depth - an inferred guard alone would not be safe.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answer to 'we have no time for requirements'. You are not asking them to specify an application. Two of the five rows have collapsed to nothing since the artefacts were mined properly, and the rest are specific questions against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because it is the first challenge a technical reviewer raises, and it is a reasonable one. Be clear that the finding is specific to this application: it was generated rather than hand-built, which is why the shells are empty. For a real hand-built application, expect the opposite - and note that the UTF-16BE extraction reads those bodies straight from the export, so even then Dev Studio is a convenience rather than a necessity.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74320"/>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0"/>
            <a:ext cx="12191695" cy="27432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10332720" cy="411480"/>
          </a:xfrm>
          <a:prstGeom prst="rect">
            <a:avLst/>
          </a:prstGeom>
          <a:noFill/>
        </p:spPr>
        <p:txBody>
          <a:bodyPr wrap="square">
            <a:spAutoFit/>
          </a:bodyPr>
          <a:lstStyle/>
          <a:p>
            <a:pPr algn="l">
              <a:spcBef>
                <a:spcPts val="0"/>
              </a:spcBef>
              <a:spcAft>
                <a:spcPts val="0"/>
              </a:spcAft>
            </a:pPr>
            <a:r>
              <a:rPr sz="1300" b="1" i="0">
                <a:solidFill>
                  <a:srgbClr val="007BA4"/>
                </a:solidFill>
                <a:latin typeface="Segoe UI"/>
              </a:rPr>
              <a:t>PROOF OF CONCEPT  |  MIGRATION APPROACH</a:t>
            </a:r>
          </a:p>
        </p:txBody>
      </p:sp>
      <p:sp>
        <p:nvSpPr>
          <p:cNvPr id="6" name="TextBox 5"/>
          <p:cNvSpPr txBox="1"/>
          <p:nvPr/>
        </p:nvSpPr>
        <p:spPr>
          <a:xfrm>
            <a:off x="914400" y="2395728"/>
            <a:ext cx="10332720" cy="1691640"/>
          </a:xfrm>
          <a:prstGeom prst="rect">
            <a:avLst/>
          </a:prstGeom>
          <a:noFill/>
        </p:spPr>
        <p:txBody>
          <a:bodyPr wrap="square">
            <a:spAutoFit/>
          </a:bodyPr>
          <a:lstStyle/>
          <a:p>
            <a:pPr algn="l">
              <a:spcBef>
                <a:spcPts val="0"/>
              </a:spcBef>
              <a:spcAft>
                <a:spcPts val="200"/>
              </a:spcAft>
            </a:pPr>
            <a:r>
              <a:rPr sz="4400" b="1" i="0">
                <a:solidFill>
                  <a:srgbClr val="1A1A1A"/>
                </a:solidFill>
                <a:latin typeface="Segoe UI"/>
              </a:rPr>
              <a:t>Pega to Power Platform</a:t>
            </a:r>
          </a:p>
          <a:p>
            <a:pPr algn="l">
              <a:spcBef>
                <a:spcPts val="0"/>
              </a:spcBef>
              <a:spcAft>
                <a:spcPts val="0"/>
              </a:spcAft>
            </a:pPr>
            <a:r>
              <a:rPr sz="4400" b="1" i="0">
                <a:solidFill>
                  <a:srgbClr val="C41F3E"/>
                </a:solidFill>
                <a:latin typeface="Segoe UI"/>
              </a:rPr>
              <a:t>Code App Migration Approach</a:t>
            </a:r>
          </a:p>
        </p:txBody>
      </p:sp>
      <p:sp>
        <p:nvSpPr>
          <p:cNvPr id="7" name="Rectangle 6"/>
          <p:cNvSpPr/>
          <p:nvPr/>
        </p:nvSpPr>
        <p:spPr>
          <a:xfrm>
            <a:off x="932688" y="4133087"/>
            <a:ext cx="2377440" cy="4114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70832"/>
            <a:ext cx="10332720" cy="822960"/>
          </a:xfrm>
          <a:prstGeom prst="rect">
            <a:avLst/>
          </a:prstGeom>
          <a:noFill/>
        </p:spPr>
        <p:txBody>
          <a:bodyPr wrap="square">
            <a:spAutoFit/>
          </a:bodyPr>
          <a:lstStyle/>
          <a:p>
            <a:pPr algn="l">
              <a:spcBef>
                <a:spcPts val="0"/>
              </a:spcBef>
              <a:spcAft>
                <a:spcPts val="400"/>
              </a:spcAft>
            </a:pPr>
            <a:r>
              <a:rPr sz="1600" b="0" i="0">
                <a:solidFill>
                  <a:srgbClr val="3C3C3C"/>
                </a:solidFill>
                <a:latin typeface="Segoe UI"/>
              </a:rPr>
              <a:t>A repeatable method for reverse-engineering Pega applications without business workshops</a:t>
            </a:r>
          </a:p>
          <a:p>
            <a:pPr algn="l">
              <a:spcBef>
                <a:spcPts val="0"/>
              </a:spcBef>
              <a:spcAft>
                <a:spcPts val="0"/>
              </a:spcAft>
            </a:pPr>
            <a:r>
              <a:rPr sz="1350" b="0" i="1">
                <a:solidFill>
                  <a:srgbClr val="6E6E6E"/>
                </a:solidFill>
                <a:latin typeface="Segoe UI"/>
              </a:rPr>
              <a:t>Evidence-based findings from a working, deployed implementation</a:t>
            </a:r>
          </a:p>
        </p:txBody>
      </p:sp>
      <p:sp>
        <p:nvSpPr>
          <p:cNvPr id="9" name="TextBox 8"/>
          <p:cNvSpPr txBox="1"/>
          <p:nvPr/>
        </p:nvSpPr>
        <p:spPr>
          <a:xfrm>
            <a:off x="914400" y="5806440"/>
            <a:ext cx="10332720" cy="365760"/>
          </a:xfrm>
          <a:prstGeom prst="rect">
            <a:avLst/>
          </a:prstGeom>
          <a:noFill/>
        </p:spPr>
        <p:txBody>
          <a:bodyPr wrap="square">
            <a:spAutoFit/>
          </a:bodyPr>
          <a:lstStyle/>
          <a:p>
            <a:pPr algn="l">
              <a:spcBef>
                <a:spcPts val="0"/>
              </a:spcBef>
              <a:spcAft>
                <a:spcPts val="0"/>
              </a:spcAft>
            </a:pPr>
            <a:r>
              <a:rPr sz="1200" b="0" i="0">
                <a:solidFill>
                  <a:srgbClr val="6E6E6E"/>
                </a:solidFill>
                <a:latin typeface="Segoe UI"/>
              </a:rPr>
              <a:t>Prepared for CIBC  ·  September 2026</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Contents</a:t>
            </a:r>
          </a:p>
        </p:txBody>
      </p:sp>
      <p:sp>
        <p:nvSpPr>
          <p:cNvPr id="4" name="TextBox 3"/>
          <p:cNvSpPr txBox="1"/>
          <p:nvPr/>
        </p:nvSpPr>
        <p:spPr>
          <a:xfrm>
            <a:off x="822960" y="1691640"/>
            <a:ext cx="5120640" cy="3412744"/>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1   Executive Summary</a:t>
            </a:r>
          </a:p>
          <a:p>
            <a:pPr algn="l">
              <a:spcBef>
                <a:spcPts val="800"/>
              </a:spcBef>
              <a:spcAft>
                <a:spcPts val="1700"/>
              </a:spcAft>
            </a:pPr>
            <a:r>
              <a:rPr sz="1600" b="1" i="0">
                <a:solidFill>
                  <a:srgbClr val="1A1A1A"/>
                </a:solidFill>
                <a:latin typeface="Segoe UI"/>
              </a:rPr>
              <a:t>2   Current State Architecture (Pega)</a:t>
            </a:r>
          </a:p>
          <a:p>
            <a:pPr algn="l">
              <a:spcBef>
                <a:spcPts val="800"/>
              </a:spcBef>
              <a:spcAft>
                <a:spcPts val="1700"/>
              </a:spcAft>
            </a:pPr>
            <a:r>
              <a:rPr sz="1600" b="1" i="0">
                <a:solidFill>
                  <a:srgbClr val="1A1A1A"/>
                </a:solidFill>
                <a:latin typeface="Segoe UI"/>
              </a:rPr>
              <a:t>3   Target State Architecture</a:t>
            </a:r>
          </a:p>
          <a:p>
            <a:pPr algn="l">
              <a:spcBef>
                <a:spcPts val="800"/>
              </a:spcBef>
              <a:spcAft>
                <a:spcPts val="1700"/>
              </a:spcAft>
            </a:pPr>
            <a:r>
              <a:rPr sz="1600" b="1" i="0">
                <a:solidFill>
                  <a:srgbClr val="1A1A1A"/>
                </a:solidFill>
                <a:latin typeface="Segoe UI"/>
              </a:rPr>
              <a:t>4   Migration Approach</a:t>
            </a:r>
          </a:p>
          <a:p>
            <a:pPr algn="l">
              <a:spcBef>
                <a:spcPts val="800"/>
              </a:spcBef>
              <a:spcAft>
                <a:spcPts val="1700"/>
              </a:spcAft>
            </a:pPr>
            <a:r>
              <a:rPr sz="1600" b="1" i="0">
                <a:solidFill>
                  <a:srgbClr val="1A1A1A"/>
                </a:solidFill>
                <a:latin typeface="Segoe UI"/>
              </a:rPr>
              <a:t>5   PoC Scope</a:t>
            </a:r>
          </a:p>
          <a:p>
            <a:pPr algn="l">
              <a:spcBef>
                <a:spcPts val="800"/>
              </a:spcBef>
              <a:spcAft>
                <a:spcPts val="1700"/>
              </a:spcAft>
            </a:pPr>
            <a:r>
              <a:rPr sz="1600" b="1" i="0">
                <a:solidFill>
                  <a:srgbClr val="1A1A1A"/>
                </a:solidFill>
                <a:latin typeface="Segoe UI"/>
              </a:rPr>
              <a:t>6   Live Demo</a:t>
            </a:r>
          </a:p>
        </p:txBody>
      </p:sp>
      <p:sp>
        <p:nvSpPr>
          <p:cNvPr id="5" name="TextBox 4"/>
          <p:cNvSpPr txBox="1"/>
          <p:nvPr/>
        </p:nvSpPr>
        <p:spPr>
          <a:xfrm>
            <a:off x="6309360" y="1691640"/>
            <a:ext cx="5120640" cy="2827020"/>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7    Migration Findings</a:t>
            </a:r>
          </a:p>
          <a:p>
            <a:pPr algn="l">
              <a:spcBef>
                <a:spcPts val="800"/>
              </a:spcBef>
              <a:spcAft>
                <a:spcPts val="1700"/>
              </a:spcAft>
            </a:pPr>
            <a:r>
              <a:rPr sz="1600" b="1" i="0">
                <a:solidFill>
                  <a:srgbClr val="1A1A1A"/>
                </a:solidFill>
                <a:latin typeface="Segoe UI"/>
              </a:rPr>
              <a:t>8    Validation Results</a:t>
            </a:r>
          </a:p>
          <a:p>
            <a:pPr algn="l">
              <a:spcBef>
                <a:spcPts val="800"/>
              </a:spcBef>
              <a:spcAft>
                <a:spcPts val="1700"/>
              </a:spcAft>
            </a:pPr>
            <a:r>
              <a:rPr sz="1600" b="1" i="0">
                <a:solidFill>
                  <a:srgbClr val="1A1A1A"/>
                </a:solidFill>
                <a:latin typeface="Segoe UI"/>
              </a:rPr>
              <a:t>9    Effort &amp; Risk Assessment</a:t>
            </a:r>
          </a:p>
          <a:p>
            <a:pPr algn="l">
              <a:spcBef>
                <a:spcPts val="800"/>
              </a:spcBef>
              <a:spcAft>
                <a:spcPts val="1700"/>
              </a:spcAft>
            </a:pPr>
            <a:r>
              <a:rPr sz="1600" b="1" i="0">
                <a:solidFill>
                  <a:srgbClr val="1A1A1A"/>
                </a:solidFill>
                <a:latin typeface="Segoe UI"/>
              </a:rPr>
              <a:t>10  Recommendations &amp; Next Steps</a:t>
            </a:r>
          </a:p>
          <a:p>
            <a:pPr algn="l">
              <a:spcBef>
                <a:spcPts val="800"/>
              </a:spcBef>
              <a:spcAft>
                <a:spcPts val="1700"/>
              </a:spcAft>
            </a:pPr>
            <a:r>
              <a:rPr sz="1600" b="1" i="0">
                <a:solidFill>
                  <a:srgbClr val="1A1A1A"/>
                </a:solidFill>
                <a:latin typeface="Segoe UI"/>
              </a:rPr>
              <a:t>11  Appendix</a:t>
            </a:r>
          </a:p>
        </p:txBody>
      </p:sp>
      <p:sp>
        <p:nvSpPr>
          <p:cNvPr id="6" name="Rectangle 5"/>
          <p:cNvSpPr/>
          <p:nvPr/>
        </p:nvSpPr>
        <p:spPr>
          <a:xfrm>
            <a:off x="566928" y="537870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378704"/>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47014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Sections 6 to 8 report observed results from a deployed, working application - not projections.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Executive Summary</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Objective, challenges and outcomes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working migration, not a feasibility study</a:t>
            </a:r>
          </a:p>
        </p:txBody>
      </p:sp>
      <p:sp>
        <p:nvSpPr>
          <p:cNvPr id="5" name="Rectangle 4"/>
          <p:cNvSpPr/>
          <p:nvPr/>
        </p:nvSpPr>
        <p:spPr>
          <a:xfrm>
            <a:off x="566928"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81328"/>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64208"/>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0</a:t>
            </a:r>
          </a:p>
        </p:txBody>
      </p:sp>
      <p:sp>
        <p:nvSpPr>
          <p:cNvPr id="8" name="TextBox 7"/>
          <p:cNvSpPr txBox="1"/>
          <p:nvPr/>
        </p:nvSpPr>
        <p:spPr>
          <a:xfrm>
            <a:off x="640080"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required</a:t>
            </a:r>
          </a:p>
        </p:txBody>
      </p:sp>
      <p:sp>
        <p:nvSpPr>
          <p:cNvPr id="9" name="Rectangle 8"/>
          <p:cNvSpPr/>
          <p:nvPr/>
        </p:nvSpPr>
        <p:spPr>
          <a:xfrm>
            <a:off x="2812694"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81328"/>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64208"/>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100%</a:t>
            </a:r>
          </a:p>
        </p:txBody>
      </p:sp>
      <p:sp>
        <p:nvSpPr>
          <p:cNvPr id="12" name="TextBox 11"/>
          <p:cNvSpPr txBox="1"/>
          <p:nvPr/>
        </p:nvSpPr>
        <p:spPr>
          <a:xfrm>
            <a:off x="2885846"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lifecycle structure
migrated automatically</a:t>
            </a:r>
          </a:p>
        </p:txBody>
      </p:sp>
      <p:sp>
        <p:nvSpPr>
          <p:cNvPr id="13" name="Rectangle 12"/>
          <p:cNvSpPr/>
          <p:nvPr/>
        </p:nvSpPr>
        <p:spPr>
          <a:xfrm>
            <a:off x="5058460"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81328"/>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64208"/>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58/58</a:t>
            </a:r>
          </a:p>
        </p:txBody>
      </p:sp>
      <p:sp>
        <p:nvSpPr>
          <p:cNvPr id="16" name="TextBox 15"/>
          <p:cNvSpPr txBox="1"/>
          <p:nvPr/>
        </p:nvSpPr>
        <p:spPr>
          <a:xfrm>
            <a:off x="5131612"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Automated verification
checks passing</a:t>
            </a:r>
          </a:p>
        </p:txBody>
      </p:sp>
      <p:sp>
        <p:nvSpPr>
          <p:cNvPr id="17" name="Rectangle 16"/>
          <p:cNvSpPr/>
          <p:nvPr/>
        </p:nvSpPr>
        <p:spPr>
          <a:xfrm>
            <a:off x="7304227"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81328"/>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64208"/>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5 of 5</a:t>
            </a:r>
          </a:p>
        </p:txBody>
      </p:sp>
      <p:sp>
        <p:nvSpPr>
          <p:cNvPr id="20" name="TextBox 19"/>
          <p:cNvSpPr txBox="1"/>
          <p:nvPr/>
        </p:nvSpPr>
        <p:spPr>
          <a:xfrm>
            <a:off x="7377379"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running
end to end</a:t>
            </a:r>
          </a:p>
        </p:txBody>
      </p:sp>
      <p:sp>
        <p:nvSpPr>
          <p:cNvPr id="21" name="Rectangle 20"/>
          <p:cNvSpPr/>
          <p:nvPr/>
        </p:nvSpPr>
        <p:spPr>
          <a:xfrm>
            <a:off x="9549993"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81328"/>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64208"/>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24 of 80</a:t>
            </a:r>
          </a:p>
        </p:txBody>
      </p:sp>
      <p:sp>
        <p:nvSpPr>
          <p:cNvPr id="24" name="TextBox 23"/>
          <p:cNvSpPr txBox="1"/>
          <p:nvPr/>
        </p:nvSpPr>
        <p:spPr>
          <a:xfrm>
            <a:off x="9623145"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 bodies never
implemented in Pega</a:t>
            </a:r>
          </a:p>
        </p:txBody>
      </p:sp>
      <p:sp>
        <p:nvSpPr>
          <p:cNvPr id="25" name="TextBox 24"/>
          <p:cNvSpPr txBox="1"/>
          <p:nvPr/>
        </p:nvSpPr>
        <p:spPr>
          <a:xfrm>
            <a:off x="566928" y="2926080"/>
            <a:ext cx="11064240" cy="32260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Objective</a:t>
            </a:r>
          </a:p>
          <a:p>
            <a:pPr algn="l">
              <a:spcBef>
                <a:spcPts val="0"/>
              </a:spcBef>
              <a:spcAft>
                <a:spcPts val="700"/>
              </a:spcAft>
            </a:pPr>
            <a:r>
              <a:rPr sz="1350" b="0" i="0">
                <a:solidFill>
                  <a:srgbClr val="1A1A1A"/>
                </a:solidFill>
                <a:latin typeface="Segoe UI"/>
              </a:rPr>
              <a:t>•  Prove that a production Pega application can be migrated to the Power Platform without asking the business to re-specify it - and quantify precisely what still needs their input.</a:t>
            </a:r>
          </a:p>
          <a:p>
            <a:pPr algn="l">
              <a:spcBef>
                <a:spcPts val="800"/>
              </a:spcBef>
              <a:spcAft>
                <a:spcPts val="700"/>
              </a:spcAft>
            </a:pPr>
            <a:r>
              <a:rPr sz="1350" b="1" i="0">
                <a:solidFill>
                  <a:srgbClr val="1A1A1A"/>
                </a:solidFill>
                <a:latin typeface="Segoe UI"/>
              </a:rPr>
              <a:t>Outcome</a:t>
            </a:r>
          </a:p>
          <a:p>
            <a:pPr algn="l">
              <a:spcBef>
                <a:spcPts val="0"/>
              </a:spcBef>
              <a:spcAft>
                <a:spcPts val="700"/>
              </a:spcAft>
            </a:pPr>
            <a:r>
              <a:rPr sz="1350" b="0" i="0">
                <a:solidFill>
                  <a:srgbClr val="1A1A1A"/>
                </a:solidFill>
                <a:latin typeface="Segoe UI"/>
              </a:rPr>
              <a:t>•  The Lending Due Diligence application is deployed and operating in the Patrick Clarke environment. All five case types create, advance through their stages, evaluate decisions and reach resolution. Zero business workshops were held to get there.</a:t>
            </a:r>
          </a:p>
          <a:p>
            <a:pPr algn="l">
              <a:spcBef>
                <a:spcPts val="800"/>
              </a:spcBef>
              <a:spcAft>
                <a:spcPts val="700"/>
              </a:spcAft>
            </a:pPr>
            <a:r>
              <a:rPr sz="1350" b="1" i="0">
                <a:solidFill>
                  <a:srgbClr val="1A1A1A"/>
                </a:solidFill>
                <a:latin typeface="Segoe UI"/>
              </a:rPr>
              <a:t>The headline finding</a:t>
            </a:r>
          </a:p>
          <a:p>
            <a:pPr algn="l">
              <a:spcBef>
                <a:spcPts val="0"/>
              </a:spcBef>
              <a:spcAft>
                <a:spcPts val="700"/>
              </a:spcAft>
            </a:pPr>
            <a:r>
              <a:rPr sz="1350" b="0" i="0">
                <a:solidFill>
                  <a:srgbClr val="1A1A1A"/>
                </a:solidFill>
                <a:latin typeface="Segoe UI"/>
              </a:rPr>
              <a:t>•  Process structure migrates almost entirely through automation. Process behaviour - notifications, data transforms, document generation - does not. But 41 steps still needing implementation is not the same as 41 unknowns: notification wording is fully recovered, and the remaining 24 were never implemented in Pega either, so there is no source logic to port and no Dev Studio session that would reveal any.</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real bottleneck is requirements elicitation</a:t>
            </a:r>
          </a:p>
        </p:txBody>
      </p:sp>
      <p:sp>
        <p:nvSpPr>
          <p:cNvPr id="5" name="TextBox 4"/>
          <p:cNvSpPr txBox="1"/>
          <p:nvPr/>
        </p:nvSpPr>
        <p:spPr>
          <a:xfrm>
            <a:off x="566928" y="1417320"/>
            <a:ext cx="11064240" cy="2041398"/>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The client's constraint</a:t>
            </a:r>
          </a:p>
          <a:p>
            <a:pPr algn="l">
              <a:spcBef>
                <a:spcPts val="0"/>
              </a:spcBef>
              <a:spcAft>
                <a:spcPts val="700"/>
              </a:spcAft>
            </a:pPr>
            <a:r>
              <a:rPr sz="1350" b="0" i="0">
                <a:solidFill>
                  <a:srgbClr val="1A1A1A"/>
                </a:solidFill>
                <a:latin typeface="Segoe UI"/>
              </a:rPr>
              <a:t>•  Traditional migration starts with weeks of workshops to rediscover what an application already does. For this client that is the binding constraint - the business does not have the time, and understandably has little appetite for re-specifying a system that is already running in production.</a:t>
            </a:r>
          </a:p>
          <a:p>
            <a:pPr algn="l">
              <a:spcBef>
                <a:spcPts val="800"/>
              </a:spcBef>
              <a:spcAft>
                <a:spcPts val="700"/>
              </a:spcAft>
            </a:pPr>
            <a:r>
              <a:rPr sz="1350" b="1" i="0">
                <a:solidFill>
                  <a:srgbClr val="1A1A1A"/>
                </a:solidFill>
                <a:latin typeface="Segoe UI"/>
              </a:rPr>
              <a:t>Why that constraint drove the method</a:t>
            </a:r>
          </a:p>
          <a:p>
            <a:pPr algn="l">
              <a:spcBef>
                <a:spcPts val="0"/>
              </a:spcBef>
              <a:spcAft>
                <a:spcPts val="700"/>
              </a:spcAft>
            </a:pPr>
            <a:r>
              <a:rPr sz="1350" b="0" i="0">
                <a:solidFill>
                  <a:srgbClr val="1A1A1A"/>
                </a:solidFill>
                <a:latin typeface="Segoe UI"/>
              </a:rPr>
              <a:t>•  So we inverted the approach. Rather than asking the business to describe the application, we reverse-engineer it from artefacts the Pega platform already holds, and use the business only to confirm the residue.</a:t>
            </a:r>
          </a:p>
        </p:txBody>
      </p:sp>
      <p:graphicFrame>
        <p:nvGraphicFramePr>
          <p:cNvPr id="6" name="Table 5"/>
          <p:cNvGraphicFramePr>
            <a:graphicFrameLocks noGrp="1"/>
          </p:cNvGraphicFramePr>
          <p:nvPr/>
        </p:nvGraphicFramePr>
        <p:xfrm>
          <a:off x="566928" y="3520440"/>
          <a:ext cx="11064240" cy="1993392"/>
        </p:xfrm>
        <a:graphic>
          <a:graphicData uri="http://schemas.openxmlformats.org/drawingml/2006/table">
            <a:tbl>
              <a:tblPr firstRow="1" bandRow="1">
                <a:tableStyleId>{5C22544A-7EE6-4342-B048-85BDC9FD1C3A}</a:tableStyleId>
              </a:tblPr>
              <a:tblGrid>
                <a:gridCol w="5120640"/>
                <a:gridCol w="5943600"/>
              </a:tblGrid>
              <a:tr h="347472">
                <a:tc>
                  <a:txBody>
                    <a:bodyPr wrap="square"/>
                    <a:lstStyle/>
                    <a:p>
                      <a:r>
                        <a:rPr sz="1200" b="1">
                          <a:solidFill>
                            <a:srgbClr val="FFFFFF"/>
                          </a:solidFill>
                          <a:latin typeface="Segoe UI"/>
                        </a:rPr>
                        <a:t>Traditional discovery</a:t>
                      </a:r>
                    </a:p>
                  </a:txBody>
                  <a:tcPr anchor="ctr" marL="91440">
                    <a:solidFill>
                      <a:srgbClr val="007BA4"/>
                    </a:solidFill>
                  </a:tcPr>
                </a:tc>
                <a:tc>
                  <a:txBody>
                    <a:bodyPr wrap="square"/>
                    <a:lstStyle/>
                    <a:p>
                      <a:r>
                        <a:rPr sz="1200" b="1">
                          <a:solidFill>
                            <a:srgbClr val="FFFFFF"/>
                          </a:solidFill>
                          <a:latin typeface="Segoe UI"/>
                        </a:rPr>
                        <a:t>This methodology</a:t>
                      </a:r>
                    </a:p>
                  </a:txBody>
                  <a:tcPr anchor="ctr" marL="91440">
                    <a:solidFill>
                      <a:srgbClr val="007BA4"/>
                    </a:solidFill>
                  </a:tcPr>
                </a:tc>
              </a:tr>
              <a:tr h="274320">
                <a:tc>
                  <a:txBody>
                    <a:bodyPr wrap="square"/>
                    <a:lstStyle/>
                    <a:p>
                      <a:r>
                        <a:rPr sz="1200" b="0">
                          <a:solidFill>
                            <a:srgbClr val="3C3C3C"/>
                          </a:solidFill>
                          <a:latin typeface="Segoe UI"/>
                        </a:rPr>
                        <a:t>Workshops to map the process model</a:t>
                      </a:r>
                    </a:p>
                  </a:txBody>
                  <a:tcPr anchor="ctr" marL="91440" marT="18288" marB="18288">
                    <a:solidFill>
                      <a:srgbClr val="FFFFFF"/>
                    </a:solidFill>
                  </a:tcPr>
                </a:tc>
                <a:tc>
                  <a:txBody>
                    <a:bodyPr wrap="square"/>
                    <a:lstStyle/>
                    <a:p>
                      <a:r>
                        <a:rPr sz="1200" b="1">
                          <a:solidFill>
                            <a:srgbClr val="1A1A1A"/>
                          </a:solidFill>
                          <a:latin typeface="Segoe UI"/>
                        </a:rPr>
                        <a:t>Extracted: 5 case types, 39 stages, 80 steps</a:t>
                      </a:r>
                    </a:p>
                  </a:txBody>
                  <a:tcPr anchor="ctr" marL="91440" marT="18288" marB="18288">
                    <a:solidFill>
                      <a:srgbClr val="FFFFFF"/>
                    </a:solidFill>
                  </a:tcPr>
                </a:tc>
              </a:tr>
              <a:tr h="274320">
                <a:tc>
                  <a:txBody>
                    <a:bodyPr wrap="square"/>
                    <a:lstStyle/>
                    <a:p>
                      <a:r>
                        <a:rPr sz="1200" b="0">
                          <a:solidFill>
                            <a:srgbClr val="3C3C3C"/>
                          </a:solidFill>
                          <a:latin typeface="Segoe UI"/>
                        </a:rPr>
                        <a:t>Workshops to document business rules</a:t>
                      </a:r>
                    </a:p>
                  </a:txBody>
                  <a:tcPr anchor="ctr" marL="91440" marT="18288" marB="18288">
                    <a:solidFill>
                      <a:srgbClr val="F4F5F7"/>
                    </a:solidFill>
                  </a:tcPr>
                </a:tc>
                <a:tc>
                  <a:txBody>
                    <a:bodyPr wrap="square"/>
                    <a:lstStyle/>
                    <a:p>
                      <a:r>
                        <a:rPr sz="1200" b="1">
                          <a:solidFill>
                            <a:srgbClr val="1A1A1A"/>
                          </a:solidFill>
                          <a:latin typeface="Segoe UI"/>
                        </a:rPr>
                        <a:t>Extracted: 10 decision tables with 28 rules of logic</a:t>
                      </a:r>
                    </a:p>
                  </a:txBody>
                  <a:tcPr anchor="ctr" marL="91440" marT="18288" marB="18288">
                    <a:solidFill>
                      <a:srgbClr val="F4F5F7"/>
                    </a:solidFill>
                  </a:tcPr>
                </a:tc>
              </a:tr>
              <a:tr h="274320">
                <a:tc>
                  <a:txBody>
                    <a:bodyPr wrap="square"/>
                    <a:lstStyle/>
                    <a:p>
                      <a:r>
                        <a:rPr sz="1200" b="0">
                          <a:solidFill>
                            <a:srgbClr val="3C3C3C"/>
                          </a:solidFill>
                          <a:latin typeface="Segoe UI"/>
                        </a:rPr>
                        <a:t>Workshops and mock-ups to specify screens</a:t>
                      </a:r>
                    </a:p>
                  </a:txBody>
                  <a:tcPr anchor="ctr" marL="91440" marT="18288" marB="18288">
                    <a:solidFill>
                      <a:srgbClr val="FFFFFF"/>
                    </a:solidFill>
                  </a:tcPr>
                </a:tc>
                <a:tc>
                  <a:txBody>
                    <a:bodyPr wrap="square"/>
                    <a:lstStyle/>
                    <a:p>
                      <a:r>
                        <a:rPr sz="1200" b="1">
                          <a:solidFill>
                            <a:srgbClr val="1A1A1A"/>
                          </a:solidFill>
                          <a:latin typeface="Segoe UI"/>
                        </a:rPr>
                        <a:t>Extracted: 24 screens with 59 fields, plus screenshots</a:t>
                      </a:r>
                    </a:p>
                  </a:txBody>
                  <a:tcPr anchor="ctr" marL="91440" marT="18288" marB="18288">
                    <a:solidFill>
                      <a:srgbClr val="FFFFFF"/>
                    </a:solidFill>
                  </a:tcPr>
                </a:tc>
              </a:tr>
              <a:tr h="274320">
                <a:tc>
                  <a:txBody>
                    <a:bodyPr wrap="square"/>
                    <a:lstStyle/>
                    <a:p>
                      <a:r>
                        <a:rPr sz="1200" b="0">
                          <a:solidFill>
                            <a:srgbClr val="3C3C3C"/>
                          </a:solidFill>
                          <a:latin typeface="Segoe UI"/>
                        </a:rPr>
                        <a:t>Workshops to define the data model</a:t>
                      </a:r>
                    </a:p>
                  </a:txBody>
                  <a:tcPr anchor="ctr" marL="91440" marT="18288" marB="18288">
                    <a:solidFill>
                      <a:srgbClr val="F4F5F7"/>
                    </a:solidFill>
                  </a:tcPr>
                </a:tc>
                <a:tc>
                  <a:txBody>
                    <a:bodyPr wrap="square"/>
                    <a:lstStyle/>
                    <a:p>
                      <a:r>
                        <a:rPr sz="1200" b="1">
                          <a:solidFill>
                            <a:srgbClr val="1A1A1A"/>
                          </a:solidFill>
                          <a:latin typeface="Segoe UI"/>
                        </a:rPr>
                        <a:t>Extracted: 10 data objects, 334 properties</a:t>
                      </a:r>
                    </a:p>
                  </a:txBody>
                  <a:tcPr anchor="ctr" marL="91440" marT="18288" marB="18288">
                    <a:solidFill>
                      <a:srgbClr val="F4F5F7"/>
                    </a:solidFill>
                  </a:tcPr>
                </a:tc>
              </a:tr>
              <a:tr h="274320">
                <a:tc>
                  <a:txBody>
                    <a:bodyPr wrap="square"/>
                    <a:lstStyle/>
                    <a:p>
                      <a:r>
                        <a:rPr sz="1200" b="0">
                          <a:solidFill>
                            <a:srgbClr val="3C3C3C"/>
                          </a:solidFill>
                          <a:latin typeface="Segoe UI"/>
                        </a:rPr>
                        <a:t>Workshops to agree the security model</a:t>
                      </a:r>
                    </a:p>
                  </a:txBody>
                  <a:tcPr anchor="ctr" marL="91440" marT="18288" marB="18288">
                    <a:solidFill>
                      <a:srgbClr val="FFFFFF"/>
                    </a:solidFill>
                  </a:tcPr>
                </a:tc>
                <a:tc>
                  <a:txBody>
                    <a:bodyPr wrap="square"/>
                    <a:lstStyle/>
                    <a:p>
                      <a:r>
                        <a:rPr sz="1200" b="1">
                          <a:solidFill>
                            <a:srgbClr val="1A1A1A"/>
                          </a:solidFill>
                          <a:latin typeface="Segoe UI"/>
                        </a:rPr>
                        <a:t>Extracted: 19 roles, 18 workbaskets</a:t>
                      </a:r>
                    </a:p>
                  </a:txBody>
                  <a:tcPr anchor="ctr" marL="91440" marT="18288" marB="18288">
                    <a:solidFill>
                      <a:srgbClr val="FFFFFF"/>
                    </a:solidFill>
                  </a:tcPr>
                </a:tc>
              </a:tr>
              <a:tr h="274320">
                <a:tc>
                  <a:txBody>
                    <a:bodyPr wrap="square"/>
                    <a:lstStyle/>
                    <a:p>
                      <a:r>
                        <a:rPr sz="1200" b="0">
                          <a:solidFill>
                            <a:srgbClr val="3C3C3C"/>
                          </a:solidFill>
                          <a:latin typeface="Segoe UI"/>
                        </a:rPr>
                        <a:t>Elapsed before a line of code is written</a:t>
                      </a:r>
                    </a:p>
                  </a:txBody>
                  <a:tcPr anchor="ctr" marL="91440" marT="18288" marB="18288">
                    <a:solidFill>
                      <a:srgbClr val="F4F5F7"/>
                    </a:solidFill>
                  </a:tcPr>
                </a:tc>
                <a:tc>
                  <a:txBody>
                    <a:bodyPr wrap="square"/>
                    <a:lstStyle/>
                    <a:p>
                      <a:r>
                        <a:rPr sz="1200" b="1">
                          <a:solidFill>
                            <a:srgbClr val="1A1A1A"/>
                          </a:solidFill>
                          <a:latin typeface="Segoe UI"/>
                        </a:rPr>
                        <a:t>Days, and the output is a running application</a:t>
                      </a:r>
                    </a:p>
                  </a:txBody>
                  <a:tcPr anchor="ctr" marL="91440" marT="18288" marB="18288">
                    <a:solidFill>
                      <a:srgbClr val="F4F5F7"/>
                    </a:solidFill>
                  </a:tcPr>
                </a:tc>
              </a:tr>
            </a:tbl>
          </a:graphicData>
        </a:graphic>
      </p:graphicFrame>
      <p:sp>
        <p:nvSpPr>
          <p:cNvPr id="7" name="Rectangle 6"/>
          <p:cNvSpPr/>
          <p:nvPr/>
        </p:nvSpPr>
        <p:spPr>
          <a:xfrm>
            <a:off x="566928" y="57881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788152"/>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8795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None of the extracted material required a business workshop. The artefacts are the specification.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Business challenges being addressed</a:t>
            </a:r>
          </a:p>
        </p:txBody>
      </p:sp>
      <p:graphicFrame>
        <p:nvGraphicFramePr>
          <p:cNvPr id="5" name="Table 4"/>
          <p:cNvGraphicFramePr>
            <a:graphicFrameLocks noGrp="1"/>
          </p:cNvGraphicFramePr>
          <p:nvPr/>
        </p:nvGraphicFramePr>
        <p:xfrm>
          <a:off x="566928" y="1572768"/>
          <a:ext cx="11064240" cy="1993392"/>
        </p:xfrm>
        <a:graphic>
          <a:graphicData uri="http://schemas.openxmlformats.org/drawingml/2006/table">
            <a:tbl>
              <a:tblPr firstRow="1" bandRow="1">
                <a:tableStyleId>{5C22544A-7EE6-4342-B048-85BDC9FD1C3A}</a:tableStyleId>
              </a:tblPr>
              <a:tblGrid>
                <a:gridCol w="2377440"/>
                <a:gridCol w="4114800"/>
                <a:gridCol w="4572000"/>
              </a:tblGrid>
              <a:tr h="347472">
                <a:tc>
                  <a:txBody>
                    <a:bodyPr wrap="square"/>
                    <a:lstStyle/>
                    <a:p>
                      <a:r>
                        <a:rPr sz="1150" b="1">
                          <a:solidFill>
                            <a:srgbClr val="FFFFFF"/>
                          </a:solidFill>
                          <a:latin typeface="Segoe UI"/>
                        </a:rPr>
                        <a:t>Challenge</a:t>
                      </a:r>
                    </a:p>
                  </a:txBody>
                  <a:tcPr anchor="ctr" marL="91440">
                    <a:solidFill>
                      <a:srgbClr val="007BA4"/>
                    </a:solidFill>
                  </a:tcPr>
                </a:tc>
                <a:tc>
                  <a:txBody>
                    <a:bodyPr wrap="square"/>
                    <a:lstStyle/>
                    <a:p>
                      <a:r>
                        <a:rPr sz="1150" b="1">
                          <a:solidFill>
                            <a:srgbClr val="FFFFFF"/>
                          </a:solidFill>
                          <a:latin typeface="Segoe UI"/>
                        </a:rPr>
                        <a:t>Impact today</a:t>
                      </a:r>
                    </a:p>
                  </a:txBody>
                  <a:tcPr anchor="ctr" marL="91440">
                    <a:solidFill>
                      <a:srgbClr val="007BA4"/>
                    </a:solidFill>
                  </a:tcPr>
                </a:tc>
                <a:tc>
                  <a:txBody>
                    <a:bodyPr wrap="square"/>
                    <a:lstStyle/>
                    <a:p>
                      <a:r>
                        <a:rPr sz="1150" b="1">
                          <a:solidFill>
                            <a:srgbClr val="FFFFFF"/>
                          </a:solidFill>
                          <a:latin typeface="Segoe UI"/>
                        </a:rPr>
                        <a:t>How the target state responds</a:t>
                      </a:r>
                    </a:p>
                  </a:txBody>
                  <a:tcPr anchor="ctr" marL="91440">
                    <a:solidFill>
                      <a:srgbClr val="007BA4"/>
                    </a:solidFill>
                  </a:tcPr>
                </a:tc>
              </a:tr>
              <a:tr h="274320">
                <a:tc>
                  <a:txBody>
                    <a:bodyPr wrap="square"/>
                    <a:lstStyle/>
                    <a:p>
                      <a:r>
                        <a:rPr sz="1150" b="1">
                          <a:solidFill>
                            <a:srgbClr val="1A1A1A"/>
                          </a:solidFill>
                          <a:latin typeface="Segoe UI"/>
                        </a:rPr>
                        <a:t>Requirements elicitation load</a:t>
                      </a:r>
                    </a:p>
                  </a:txBody>
                  <a:tcPr anchor="ctr" marL="91440" marT="18288" marB="18288">
                    <a:solidFill>
                      <a:srgbClr val="FFFFFF"/>
                    </a:solidFill>
                  </a:tcPr>
                </a:tc>
                <a:tc>
                  <a:txBody>
                    <a:bodyPr wrap="square"/>
                    <a:lstStyle/>
                    <a:p>
                      <a:r>
                        <a:rPr sz="1150" b="0">
                          <a:solidFill>
                            <a:srgbClr val="3C3C3C"/>
                          </a:solidFill>
                          <a:latin typeface="Segoe UI"/>
                        </a:rPr>
                        <a:t>Migration normally demands weeks of business workshops to re-specify a system that already exists</a:t>
                      </a:r>
                    </a:p>
                  </a:txBody>
                  <a:tcPr anchor="ctr" marL="91440" marT="18288" marB="18288">
                    <a:solidFill>
                      <a:srgbClr val="FFFFFF"/>
                    </a:solidFill>
                  </a:tcPr>
                </a:tc>
                <a:tc>
                  <a:txBody>
                    <a:bodyPr wrap="square"/>
                    <a:lstStyle/>
                    <a:p>
                      <a:r>
                        <a:rPr sz="1150" b="0">
                          <a:solidFill>
                            <a:srgbClr val="3C3C3C"/>
                          </a:solidFill>
                          <a:latin typeface="Segoe UI"/>
                        </a:rPr>
                        <a:t>Artefact-driven reverse engineering recovers the specification without them</a:t>
                      </a:r>
                    </a:p>
                  </a:txBody>
                  <a:tcPr anchor="ctr" marL="91440" marT="18288" marB="18288">
                    <a:solidFill>
                      <a:srgbClr val="FFFFFF"/>
                    </a:solidFill>
                  </a:tcPr>
                </a:tc>
              </a:tr>
              <a:tr h="274320">
                <a:tc>
                  <a:txBody>
                    <a:bodyPr wrap="square"/>
                    <a:lstStyle/>
                    <a:p>
                      <a:r>
                        <a:rPr sz="1150" b="1">
                          <a:solidFill>
                            <a:srgbClr val="1A1A1A"/>
                          </a:solidFill>
                          <a:latin typeface="Segoe UI"/>
                        </a:rPr>
                        <a:t>Specialist skill dependency</a:t>
                      </a:r>
                    </a:p>
                  </a:txBody>
                  <a:tcPr anchor="ctr" marL="91440" marT="18288" marB="18288">
                    <a:solidFill>
                      <a:srgbClr val="F4F5F7"/>
                    </a:solidFill>
                  </a:tcPr>
                </a:tc>
                <a:tc>
                  <a:txBody>
                    <a:bodyPr wrap="square"/>
                    <a:lstStyle/>
                    <a:p>
                      <a:r>
                        <a:rPr sz="1150" b="0">
                          <a:solidFill>
                            <a:srgbClr val="3C3C3C"/>
                          </a:solidFill>
                          <a:latin typeface="Segoe UI"/>
                        </a:rPr>
                        <a:t>Pega development requires scarce, costly certified specialists</a:t>
                      </a:r>
                    </a:p>
                  </a:txBody>
                  <a:tcPr anchor="ctr" marL="91440" marT="18288" marB="18288">
                    <a:solidFill>
                      <a:srgbClr val="F4F5F7"/>
                    </a:solidFill>
                  </a:tcPr>
                </a:tc>
                <a:tc>
                  <a:txBody>
                    <a:bodyPr wrap="square"/>
                    <a:lstStyle/>
                    <a:p>
                      <a:r>
                        <a:rPr sz="1150" b="0">
                          <a:solidFill>
                            <a:srgbClr val="3C3C3C"/>
                          </a:solidFill>
                          <a:latin typeface="Segoe UI"/>
                        </a:rPr>
                        <a:t>React + TypeScript + Dataverse draws on a far larger talent pool</a:t>
                      </a:r>
                    </a:p>
                  </a:txBody>
                  <a:tcPr anchor="ctr" marL="91440" marT="18288" marB="18288">
                    <a:solidFill>
                      <a:srgbClr val="F4F5F7"/>
                    </a:solidFill>
                  </a:tcPr>
                </a:tc>
              </a:tr>
              <a:tr h="274320">
                <a:tc>
                  <a:txBody>
                    <a:bodyPr wrap="square"/>
                    <a:lstStyle/>
                    <a:p>
                      <a:r>
                        <a:rPr sz="1150" b="1">
                          <a:solidFill>
                            <a:srgbClr val="1A1A1A"/>
                          </a:solidFill>
                          <a:latin typeface="Segoe UI"/>
                        </a:rPr>
                        <a:t>Licence cost concentration</a:t>
                      </a:r>
                    </a:p>
                  </a:txBody>
                  <a:tcPr anchor="ctr" marL="91440" marT="18288" marB="18288">
                    <a:solidFill>
                      <a:srgbClr val="FFFFFF"/>
                    </a:solidFill>
                  </a:tcPr>
                </a:tc>
                <a:tc>
                  <a:txBody>
                    <a:bodyPr wrap="square"/>
                    <a:lstStyle/>
                    <a:p>
                      <a:r>
                        <a:rPr sz="1150" b="0">
                          <a:solidFill>
                            <a:srgbClr val="3C3C3C"/>
                          </a:solidFill>
                          <a:latin typeface="Segoe UI"/>
                        </a:rPr>
                        <a:t>Per-case and per-user Pega licensing scales unfavourably</a:t>
                      </a:r>
                    </a:p>
                  </a:txBody>
                  <a:tcPr anchor="ctr" marL="91440" marT="18288" marB="18288">
                    <a:solidFill>
                      <a:srgbClr val="FFFFFF"/>
                    </a:solidFill>
                  </a:tcPr>
                </a:tc>
                <a:tc>
                  <a:txBody>
                    <a:bodyPr wrap="square"/>
                    <a:lstStyle/>
                    <a:p>
                      <a:r>
                        <a:rPr sz="1150" b="0">
                          <a:solidFill>
                            <a:srgbClr val="3C3C3C"/>
                          </a:solidFill>
                          <a:latin typeface="Segoe UI"/>
                        </a:rPr>
                        <a:t>Consolidates onto existing M365 / Power Platform investment</a:t>
                      </a:r>
                    </a:p>
                  </a:txBody>
                  <a:tcPr anchor="ctr" marL="91440" marT="18288" marB="18288">
                    <a:solidFill>
                      <a:srgbClr val="FFFFFF"/>
                    </a:solidFill>
                  </a:tcPr>
                </a:tc>
              </a:tr>
              <a:tr h="274320">
                <a:tc>
                  <a:txBody>
                    <a:bodyPr wrap="square"/>
                    <a:lstStyle/>
                    <a:p>
                      <a:r>
                        <a:rPr sz="1150" b="1">
                          <a:solidFill>
                            <a:srgbClr val="1A1A1A"/>
                          </a:solidFill>
                          <a:latin typeface="Segoe UI"/>
                        </a:rPr>
                        <a:t>Change latency</a:t>
                      </a:r>
                    </a:p>
                  </a:txBody>
                  <a:tcPr anchor="ctr" marL="91440" marT="18288" marB="18288">
                    <a:solidFill>
                      <a:srgbClr val="F4F5F7"/>
                    </a:solidFill>
                  </a:tcPr>
                </a:tc>
                <a:tc>
                  <a:txBody>
                    <a:bodyPr wrap="square"/>
                    <a:lstStyle/>
                    <a:p>
                      <a:r>
                        <a:rPr sz="1150" b="0">
                          <a:solidFill>
                            <a:srgbClr val="3C3C3C"/>
                          </a:solidFill>
                          <a:latin typeface="Segoe UI"/>
                        </a:rPr>
                        <a:t>Process changes need a developer, a build and a deployment</a:t>
                      </a:r>
                    </a:p>
                  </a:txBody>
                  <a:tcPr anchor="ctr" marL="91440" marT="18288" marB="18288">
                    <a:solidFill>
                      <a:srgbClr val="F4F5F7"/>
                    </a:solidFill>
                  </a:tcPr>
                </a:tc>
                <a:tc>
                  <a:txBody>
                    <a:bodyPr wrap="square"/>
                    <a:lstStyle/>
                    <a:p>
                      <a:r>
                        <a:rPr sz="1150" b="0">
                          <a:solidFill>
                            <a:srgbClr val="3C3C3C"/>
                          </a:solidFill>
                          <a:latin typeface="Segoe UI"/>
                        </a:rPr>
                        <a:t>Process is configuration data - change without a code release</a:t>
                      </a:r>
                    </a:p>
                  </a:txBody>
                  <a:tcPr anchor="ctr" marL="91440" marT="18288" marB="18288">
                    <a:solidFill>
                      <a:srgbClr val="F4F5F7"/>
                    </a:solidFill>
                  </a:tcPr>
                </a:tc>
              </a:tr>
              <a:tr h="274320">
                <a:tc>
                  <a:txBody>
                    <a:bodyPr wrap="square"/>
                    <a:lstStyle/>
                    <a:p>
                      <a:r>
                        <a:rPr sz="1150" b="1">
                          <a:solidFill>
                            <a:srgbClr val="1A1A1A"/>
                          </a:solidFill>
                          <a:latin typeface="Segoe UI"/>
                        </a:rPr>
                        <a:t>Platform isolation</a:t>
                      </a:r>
                    </a:p>
                  </a:txBody>
                  <a:tcPr anchor="ctr" marL="91440" marT="18288" marB="18288">
                    <a:solidFill>
                      <a:srgbClr val="FFFFFF"/>
                    </a:solidFill>
                  </a:tcPr>
                </a:tc>
                <a:tc>
                  <a:txBody>
                    <a:bodyPr wrap="square"/>
                    <a:lstStyle/>
                    <a:p>
                      <a:r>
                        <a:rPr sz="1150" b="0">
                          <a:solidFill>
                            <a:srgbClr val="3C3C3C"/>
                          </a:solidFill>
                          <a:latin typeface="Segoe UI"/>
                        </a:rPr>
                        <a:t>Integration to M365, Azure and Teams is bespoke work</a:t>
                      </a:r>
                    </a:p>
                  </a:txBody>
                  <a:tcPr anchor="ctr" marL="91440" marT="18288" marB="18288">
                    <a:solidFill>
                      <a:srgbClr val="FFFFFF"/>
                    </a:solidFill>
                  </a:tcPr>
                </a:tc>
                <a:tc>
                  <a:txBody>
                    <a:bodyPr wrap="square"/>
                    <a:lstStyle/>
                    <a:p>
                      <a:r>
                        <a:rPr sz="1150" b="0">
                          <a:solidFill>
                            <a:srgbClr val="3C3C3C"/>
                          </a:solidFill>
                          <a:latin typeface="Segoe UI"/>
                        </a:rPr>
                        <a:t>Native connectors; Dataverse is already inside the tenant</a:t>
                      </a:r>
                    </a:p>
                  </a:txBody>
                  <a:tcPr anchor="ctr" marL="91440" marT="18288" marB="18288">
                    <a:solidFill>
                      <a:srgbClr val="FFFFFF"/>
                    </a:solidFill>
                  </a:tcPr>
                </a:tc>
              </a:tr>
              <a:tr h="274320">
                <a:tc>
                  <a:txBody>
                    <a:bodyPr wrap="square"/>
                    <a:lstStyle/>
                    <a:p>
                      <a:r>
                        <a:rPr sz="1150" b="1">
                          <a:solidFill>
                            <a:srgbClr val="1A1A1A"/>
                          </a:solidFill>
                          <a:latin typeface="Segoe UI"/>
                        </a:rPr>
                        <a:t>Opaque logic</a:t>
                      </a:r>
                    </a:p>
                  </a:txBody>
                  <a:tcPr anchor="ctr" marL="91440" marT="18288" marB="18288">
                    <a:solidFill>
                      <a:srgbClr val="F4F5F7"/>
                    </a:solidFill>
                  </a:tcPr>
                </a:tc>
                <a:tc>
                  <a:txBody>
                    <a:bodyPr wrap="square"/>
                    <a:lstStyle/>
                    <a:p>
                      <a:r>
                        <a:rPr sz="1150" b="0">
                          <a:solidFill>
                            <a:srgbClr val="3C3C3C"/>
                          </a:solidFill>
                          <a:latin typeface="Segoe UI"/>
                        </a:rPr>
                        <a:t>Business rules are locked inside a proprietary rule engine</a:t>
                      </a:r>
                    </a:p>
                  </a:txBody>
                  <a:tcPr anchor="ctr" marL="91440" marT="18288" marB="18288">
                    <a:solidFill>
                      <a:srgbClr val="F4F5F7"/>
                    </a:solidFill>
                  </a:tcPr>
                </a:tc>
                <a:tc>
                  <a:txBody>
                    <a:bodyPr wrap="square"/>
                    <a:lstStyle/>
                    <a:p>
                      <a:r>
                        <a:rPr sz="1150" b="0">
                          <a:solidFill>
                            <a:srgbClr val="3C3C3C"/>
                          </a:solidFill>
                          <a:latin typeface="Segoe UI"/>
                        </a:rPr>
                        <a:t>Decision tables become inspectable, queryable Dataverse rows</a:t>
                      </a:r>
                    </a:p>
                  </a:txBody>
                  <a:tcPr anchor="ctr" marL="91440" marT="18288" marB="18288">
                    <a:solidFill>
                      <a:srgbClr val="F4F5F7"/>
                    </a:solidFill>
                  </a:tcPr>
                </a:tc>
              </a:tr>
            </a:tbl>
          </a:graphicData>
        </a:graphic>
      </p:graphicFrame>
      <p:sp>
        <p:nvSpPr>
          <p:cNvPr id="6" name="Rectangle 5"/>
          <p:cNvSpPr/>
          <p:nvPr/>
        </p:nvSpPr>
        <p:spPr>
          <a:xfrm>
            <a:off x="566928" y="476250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62500"/>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5393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row is the client's stated priority. The rest follow from the target platform; that one follows from the method.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Expected outcomes and benefits</a:t>
            </a:r>
          </a:p>
        </p:txBody>
      </p:sp>
      <p:sp>
        <p:nvSpPr>
          <p:cNvPr id="5" name="TextBox 4"/>
          <p:cNvSpPr txBox="1"/>
          <p:nvPr/>
        </p:nvSpPr>
        <p:spPr>
          <a:xfrm>
            <a:off x="566928" y="1417320"/>
            <a:ext cx="11064240" cy="4135881"/>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Proven in this PoC</a:t>
            </a:r>
          </a:p>
          <a:p>
            <a:pPr algn="l">
              <a:spcBef>
                <a:spcPts val="0"/>
              </a:spcBef>
              <a:spcAft>
                <a:spcPts val="650"/>
              </a:spcAft>
            </a:pPr>
            <a:r>
              <a:rPr sz="1350" b="0" i="0">
                <a:solidFill>
                  <a:srgbClr val="1A1A1A"/>
                </a:solidFill>
                <a:latin typeface="Segoe UI"/>
              </a:rPr>
              <a:t>•  Automated migration of case types, stages, steps, decision tables, view layouts, choice sets and roles from the Pega export</a:t>
            </a:r>
          </a:p>
          <a:p>
            <a:pPr algn="l">
              <a:spcBef>
                <a:spcPts val="0"/>
              </a:spcBef>
              <a:spcAft>
                <a:spcPts val="650"/>
              </a:spcAft>
            </a:pPr>
            <a:r>
              <a:rPr sz="1350" b="0" i="0">
                <a:solidFill>
                  <a:srgbClr val="1A1A1A"/>
                </a:solidFill>
                <a:latin typeface="Segoe UI"/>
              </a:rPr>
              <a:t>•  A metadata-driven engine: process changes are Dataverse row edits, not code</a:t>
            </a:r>
          </a:p>
          <a:p>
            <a:pPr algn="l">
              <a:spcBef>
                <a:spcPts val="0"/>
              </a:spcBef>
              <a:spcAft>
                <a:spcPts val="650"/>
              </a:spcAft>
            </a:pPr>
            <a:r>
              <a:rPr sz="1350" b="0" i="0">
                <a:solidFill>
                  <a:srgbClr val="1A1A1A"/>
                </a:solidFill>
                <a:latin typeface="Segoe UI"/>
              </a:rPr>
              <a:t>•  Full audit trail on every case event, queryable with standard Dataverse tooling</a:t>
            </a:r>
          </a:p>
          <a:p>
            <a:pPr algn="l">
              <a:spcBef>
                <a:spcPts val="0"/>
              </a:spcBef>
              <a:spcAft>
                <a:spcPts val="650"/>
              </a:spcAft>
            </a:pPr>
            <a:r>
              <a:rPr sz="1350" b="0" i="0">
                <a:solidFill>
                  <a:srgbClr val="1A1A1A"/>
                </a:solidFill>
                <a:latin typeface="Segoe UI"/>
              </a:rPr>
              <a:t>•  Automated regression harness that exercises the real engine against live data</a:t>
            </a:r>
          </a:p>
          <a:p>
            <a:pPr algn="l">
              <a:spcBef>
                <a:spcPts val="800"/>
              </a:spcBef>
              <a:spcAft>
                <a:spcPts val="650"/>
              </a:spcAft>
            </a:pPr>
            <a:r>
              <a:rPr sz="1350" b="1" i="0">
                <a:solidFill>
                  <a:srgbClr val="1A1A1A"/>
                </a:solidFill>
                <a:latin typeface="Segoe UI"/>
              </a:rPr>
              <a:t>Expected on production adoption</a:t>
            </a:r>
          </a:p>
          <a:p>
            <a:pPr algn="l">
              <a:spcBef>
                <a:spcPts val="0"/>
              </a:spcBef>
              <a:spcAft>
                <a:spcPts val="650"/>
              </a:spcAft>
            </a:pPr>
            <a:r>
              <a:rPr sz="1350" b="0" i="0">
                <a:solidFill>
                  <a:srgbClr val="1A1A1A"/>
                </a:solidFill>
                <a:latin typeface="Segoe UI"/>
              </a:rPr>
              <a:t>•  Reduced platform and licensing cost by consolidating onto existing investment</a:t>
            </a:r>
          </a:p>
          <a:p>
            <a:pPr algn="l">
              <a:spcBef>
                <a:spcPts val="0"/>
              </a:spcBef>
              <a:spcAft>
                <a:spcPts val="650"/>
              </a:spcAft>
            </a:pPr>
            <a:r>
              <a:rPr sz="1350" b="0" i="0">
                <a:solidFill>
                  <a:srgbClr val="1A1A1A"/>
                </a:solidFill>
                <a:latin typeface="Segoe UI"/>
              </a:rPr>
              <a:t>•  Faster process change cycles - configuration rather than development</a:t>
            </a:r>
          </a:p>
          <a:p>
            <a:pPr algn="l">
              <a:spcBef>
                <a:spcPts val="0"/>
              </a:spcBef>
              <a:spcAft>
                <a:spcPts val="650"/>
              </a:spcAft>
            </a:pPr>
            <a:r>
              <a:rPr sz="1350" b="0" i="0">
                <a:solidFill>
                  <a:srgbClr val="1A1A1A"/>
                </a:solidFill>
                <a:latin typeface="Segoe UI"/>
              </a:rPr>
              <a:t>•  Native M365 integration for notification, approval and document workflows</a:t>
            </a:r>
          </a:p>
          <a:p>
            <a:pPr algn="l">
              <a:spcBef>
                <a:spcPts val="0"/>
              </a:spcBef>
              <a:spcAft>
                <a:spcPts val="650"/>
              </a:spcAft>
            </a:pPr>
            <a:r>
              <a:rPr sz="1350" b="0" i="0">
                <a:solidFill>
                  <a:srgbClr val="1A1A1A"/>
                </a:solidFill>
                <a:latin typeface="Segoe UI"/>
              </a:rPr>
              <a:t>•  Business rules visible to analysts, not just to Pega developers</a:t>
            </a:r>
          </a:p>
          <a:p>
            <a:pPr algn="l">
              <a:spcBef>
                <a:spcPts val="800"/>
              </a:spcBef>
              <a:spcAft>
                <a:spcPts val="650"/>
              </a:spcAft>
            </a:pPr>
            <a:r>
              <a:rPr sz="1350" b="1" i="0">
                <a:solidFill>
                  <a:srgbClr val="1A1A1A"/>
                </a:solidFill>
                <a:latin typeface="Segoe UI"/>
              </a:rPr>
              <a:t>Deliberately not claimed</a:t>
            </a:r>
          </a:p>
          <a:p>
            <a:pPr algn="l">
              <a:spcBef>
                <a:spcPts val="0"/>
              </a:spcBef>
              <a:spcAft>
                <a:spcPts val="650"/>
              </a:spcAft>
            </a:pPr>
            <a:r>
              <a:rPr sz="1350" b="0" i="0">
                <a:solidFill>
                  <a:srgbClr val="1A1A1A"/>
                </a:solidFill>
                <a:latin typeface="Segoe UI"/>
              </a:rPr>
              <a:t>•  This PoC does not prove performance at production volume, nor does it address data migration of in-flight cases. Both are called out in Section 8.</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02</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Current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The Pega application as it exists today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Pega application</a:t>
            </a:r>
          </a:p>
        </p:txBody>
      </p:sp>
      <p:sp>
        <p:nvSpPr>
          <p:cNvPr id="5" name="Rectangle 4"/>
          <p:cNvSpPr/>
          <p:nvPr/>
        </p:nvSpPr>
        <p:spPr>
          <a:xfrm>
            <a:off x="566928"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1,096</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Rule instances
in the export</a:t>
            </a:r>
          </a:p>
        </p:txBody>
      </p:sp>
      <p:sp>
        <p:nvSpPr>
          <p:cNvPr id="9" name="Rectangle 8"/>
          <p:cNvSpPr/>
          <p:nvPr/>
        </p:nvSpPr>
        <p:spPr>
          <a:xfrm>
            <a:off x="2812694"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5</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a:t>
            </a:r>
          </a:p>
        </p:txBody>
      </p:sp>
      <p:sp>
        <p:nvSpPr>
          <p:cNvPr id="13" name="Rectangle 12"/>
          <p:cNvSpPr/>
          <p:nvPr/>
        </p:nvSpPr>
        <p:spPr>
          <a:xfrm>
            <a:off x="5058460"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35</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Flow rules</a:t>
            </a:r>
          </a:p>
        </p:txBody>
      </p:sp>
      <p:sp>
        <p:nvSpPr>
          <p:cNvPr id="17" name="Rectangle 16"/>
          <p:cNvSpPr/>
          <p:nvPr/>
        </p:nvSpPr>
        <p:spPr>
          <a:xfrm>
            <a:off x="7304227"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334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Property
definitions</a:t>
            </a:r>
          </a:p>
        </p:txBody>
      </p:sp>
      <p:sp>
        <p:nvSpPr>
          <p:cNvPr id="21" name="Rectangle 20"/>
          <p:cNvSpPr/>
          <p:nvPr/>
        </p:nvSpPr>
        <p:spPr>
          <a:xfrm>
            <a:off x="9549993"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22</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Database tables</a:t>
            </a:r>
          </a:p>
        </p:txBody>
      </p:sp>
      <p:graphicFrame>
        <p:nvGraphicFramePr>
          <p:cNvPr id="25" name="Table 24"/>
          <p:cNvGraphicFramePr>
            <a:graphicFrameLocks noGrp="1"/>
          </p:cNvGraphicFramePr>
          <p:nvPr/>
        </p:nvGraphicFramePr>
        <p:xfrm>
          <a:off x="566928" y="2880360"/>
          <a:ext cx="11064238" cy="2267712"/>
        </p:xfrm>
        <a:graphic>
          <a:graphicData uri="http://schemas.openxmlformats.org/drawingml/2006/table">
            <a:tbl>
              <a:tblPr firstRow="1" bandRow="1">
                <a:tableStyleId>{5C22544A-7EE6-4342-B048-85BDC9FD1C3A}</a:tableStyleId>
              </a:tblPr>
              <a:tblGrid>
                <a:gridCol w="2011680"/>
                <a:gridCol w="6035039"/>
                <a:gridCol w="3017519"/>
              </a:tblGrid>
              <a:tr h="347472">
                <a:tc>
                  <a:txBody>
                    <a:bodyPr wrap="square"/>
                    <a:lstStyle/>
                    <a:p>
                      <a:r>
                        <a:rPr sz="1200" b="1">
                          <a:solidFill>
                            <a:srgbClr val="FFFFFF"/>
                          </a:solidFill>
                          <a:latin typeface="Segoe UI"/>
                        </a:rPr>
                        <a:t>Layer</a:t>
                      </a:r>
                    </a:p>
                  </a:txBody>
                  <a:tcPr anchor="ctr" marL="91440">
                    <a:solidFill>
                      <a:srgbClr val="007BA4"/>
                    </a:solidFill>
                  </a:tcPr>
                </a:tc>
                <a:tc>
                  <a:txBody>
                    <a:bodyPr wrap="square"/>
                    <a:lstStyle/>
                    <a:p>
                      <a:r>
                        <a:rPr sz="1200" b="1">
                          <a:solidFill>
                            <a:srgbClr val="FFFFFF"/>
                          </a:solidFill>
                          <a:latin typeface="Segoe UI"/>
                        </a:rPr>
                        <a:t>Pega artefacts</a:t>
                      </a:r>
                    </a:p>
                  </a:txBody>
                  <a:tcPr anchor="ctr" marL="91440">
                    <a:solidFill>
                      <a:srgbClr val="007BA4"/>
                    </a:solidFill>
                  </a:tcPr>
                </a:tc>
                <a:tc>
                  <a:txBody>
                    <a:bodyPr wrap="square"/>
                    <a:lstStyle/>
                    <a:p>
                      <a:r>
                        <a:rPr sz="1200" b="1">
                          <a:solidFill>
                            <a:srgbClr val="FFFFFF"/>
                          </a:solidFill>
                          <a:latin typeface="Segoe UI"/>
                        </a:rPr>
                        <a:t>Volume</a:t>
                      </a:r>
                    </a:p>
                  </a:txBody>
                  <a:tcPr anchor="ctr" marL="91440">
                    <a:solidFill>
                      <a:srgbClr val="007BA4"/>
                    </a:solidFill>
                  </a:tcPr>
                </a:tc>
              </a:tr>
              <a:tr h="274320">
                <a:tc>
                  <a:txBody>
                    <a:bodyPr wrap="square"/>
                    <a:lstStyle/>
                    <a:p>
                      <a:r>
                        <a:rPr sz="1200" b="1">
                          <a:solidFill>
                            <a:srgbClr val="1A1A1A"/>
                          </a:solidFill>
                          <a:latin typeface="Segoe UI"/>
                        </a:rPr>
                        <a:t>Case model</a:t>
                      </a:r>
                    </a:p>
                  </a:txBody>
                  <a:tcPr anchor="ctr" marL="91440" marT="18288" marB="18288">
                    <a:solidFill>
                      <a:srgbClr val="FFFFFF"/>
                    </a:solidFill>
                  </a:tcPr>
                </a:tc>
                <a:tc>
                  <a:txBody>
                    <a:bodyPr wrap="square"/>
                    <a:lstStyle/>
                    <a:p>
                      <a:r>
                        <a:rPr sz="1200" b="0">
                          <a:solidFill>
                            <a:srgbClr val="3C3C3C"/>
                          </a:solidFill>
                          <a:latin typeface="Segoe UI"/>
                        </a:rPr>
                        <a:t>Case types, stages, steps</a:t>
                      </a:r>
                    </a:p>
                  </a:txBody>
                  <a:tcPr anchor="ctr" marL="91440" marT="18288" marB="18288">
                    <a:solidFill>
                      <a:srgbClr val="FFFFFF"/>
                    </a:solidFill>
                  </a:tcPr>
                </a:tc>
                <a:tc>
                  <a:txBody>
                    <a:bodyPr wrap="square"/>
                    <a:lstStyle/>
                    <a:p>
                      <a:r>
                        <a:rPr sz="1200" b="0">
                          <a:solidFill>
                            <a:srgbClr val="3C3C3C"/>
                          </a:solidFill>
                          <a:latin typeface="Segoe UI"/>
                        </a:rPr>
                        <a:t>5 / 39 / 80</a:t>
                      </a:r>
                    </a:p>
                  </a:txBody>
                  <a:tcPr anchor="ctr" marL="91440" marT="18288" marB="18288">
                    <a:solidFill>
                      <a:srgbClr val="FFFFFF"/>
                    </a:solidFill>
                  </a:tcPr>
                </a:tc>
              </a:tr>
              <a:tr h="274320">
                <a:tc>
                  <a:txBody>
                    <a:bodyPr wrap="square"/>
                    <a:lstStyle/>
                    <a:p>
                      <a:r>
                        <a:rPr sz="1200" b="1">
                          <a:solidFill>
                            <a:srgbClr val="1A1A1A"/>
                          </a:solidFill>
                          <a:latin typeface="Segoe UI"/>
                        </a:rPr>
                        <a:t>Process</a:t>
                      </a:r>
                    </a:p>
                  </a:txBody>
                  <a:tcPr anchor="ctr" marL="91440" marT="18288" marB="18288">
                    <a:solidFill>
                      <a:srgbClr val="F4F5F7"/>
                    </a:solidFill>
                  </a:tcPr>
                </a:tc>
                <a:tc>
                  <a:txBody>
                    <a:bodyPr wrap="square"/>
                    <a:lstStyle/>
                    <a:p>
                      <a:r>
                        <a:rPr sz="1200" b="0">
                          <a:solidFill>
                            <a:srgbClr val="3C3C3C"/>
                          </a:solidFill>
                          <a:latin typeface="Segoe UI"/>
                        </a:rPr>
                        <a:t>Flow rules, flow actions</a:t>
                      </a:r>
                    </a:p>
                  </a:txBody>
                  <a:tcPr anchor="ctr" marL="91440" marT="18288" marB="18288">
                    <a:solidFill>
                      <a:srgbClr val="F4F5F7"/>
                    </a:solidFill>
                  </a:tcPr>
                </a:tc>
                <a:tc>
                  <a:txBody>
                    <a:bodyPr wrap="square"/>
                    <a:lstStyle/>
                    <a:p>
                      <a:r>
                        <a:rPr sz="1200" b="0">
                          <a:solidFill>
                            <a:srgbClr val="3C3C3C"/>
                          </a:solidFill>
                          <a:latin typeface="Segoe UI"/>
                        </a:rPr>
                        <a:t>35 / 39</a:t>
                      </a:r>
                    </a:p>
                  </a:txBody>
                  <a:tcPr anchor="ctr" marL="91440" marT="18288" marB="18288">
                    <a:solidFill>
                      <a:srgbClr val="F4F5F7"/>
                    </a:solidFill>
                  </a:tcPr>
                </a:tc>
              </a:tr>
              <a:tr h="274320">
                <a:tc>
                  <a:txBody>
                    <a:bodyPr wrap="square"/>
                    <a:lstStyle/>
                    <a:p>
                      <a:r>
                        <a:rPr sz="1200" b="1">
                          <a:solidFill>
                            <a:srgbClr val="1A1A1A"/>
                          </a:solidFill>
                          <a:latin typeface="Segoe UI"/>
                        </a:rPr>
                        <a:t>Logic</a:t>
                      </a:r>
                    </a:p>
                  </a:txBody>
                  <a:tcPr anchor="ctr" marL="91440" marT="18288" marB="18288">
                    <a:solidFill>
                      <a:srgbClr val="FFFFFF"/>
                    </a:solidFill>
                  </a:tcPr>
                </a:tc>
                <a:tc>
                  <a:txBody>
                    <a:bodyPr wrap="square"/>
                    <a:lstStyle/>
                    <a:p>
                      <a:r>
                        <a:rPr sz="1200" b="0">
                          <a:solidFill>
                            <a:srgbClr val="3C3C3C"/>
                          </a:solidFill>
                          <a:latin typeface="Segoe UI"/>
                        </a:rPr>
                        <a:t>Decision tables (with rows)</a:t>
                      </a:r>
                    </a:p>
                  </a:txBody>
                  <a:tcPr anchor="ctr" marL="91440" marT="18288" marB="18288">
                    <a:solidFill>
                      <a:srgbClr val="FFFFFF"/>
                    </a:solidFill>
                  </a:tcPr>
                </a:tc>
                <a:tc>
                  <a:txBody>
                    <a:bodyPr wrap="square"/>
                    <a:lstStyle/>
                    <a:p>
                      <a:r>
                        <a:rPr sz="1200" b="0">
                          <a:solidFill>
                            <a:srgbClr val="3C3C3C"/>
                          </a:solidFill>
                          <a:latin typeface="Segoe UI"/>
                        </a:rPr>
                        <a:t>10 / 28</a:t>
                      </a:r>
                    </a:p>
                  </a:txBody>
                  <a:tcPr anchor="ctr" marL="91440" marT="18288" marB="18288">
                    <a:solidFill>
                      <a:srgbClr val="FFFFFF"/>
                    </a:solidFill>
                  </a:tcPr>
                </a:tc>
              </a:tr>
              <a:tr h="274320">
                <a:tc>
                  <a:txBody>
                    <a:bodyPr wrap="square"/>
                    <a:lstStyle/>
                    <a:p>
                      <a:r>
                        <a:rPr sz="1200" b="1">
                          <a:solidFill>
                            <a:srgbClr val="1A1A1A"/>
                          </a:solidFill>
                          <a:latin typeface="Segoe UI"/>
                        </a:rPr>
                        <a:t>Presentation</a:t>
                      </a:r>
                    </a:p>
                  </a:txBody>
                  <a:tcPr anchor="ctr" marL="91440" marT="18288" marB="18288">
                    <a:solidFill>
                      <a:srgbClr val="F4F5F7"/>
                    </a:solidFill>
                  </a:tcPr>
                </a:tc>
                <a:tc>
                  <a:txBody>
                    <a:bodyPr wrap="square"/>
                    <a:lstStyle/>
                    <a:p>
                      <a:r>
                        <a:rPr sz="1200" b="0">
                          <a:solidFill>
                            <a:srgbClr val="3C3C3C"/>
                          </a:solidFill>
                          <a:latin typeface="Segoe UI"/>
                        </a:rPr>
                        <a:t>UI views (49 reachable from steps)</a:t>
                      </a:r>
                    </a:p>
                  </a:txBody>
                  <a:tcPr anchor="ctr" marL="91440" marT="18288" marB="18288">
                    <a:solidFill>
                      <a:srgbClr val="F4F5F7"/>
                    </a:solidFill>
                  </a:tcPr>
                </a:tc>
                <a:tc>
                  <a:txBody>
                    <a:bodyPr wrap="square"/>
                    <a:lstStyle/>
                    <a:p>
                      <a:r>
                        <a:rPr sz="1200" b="0">
                          <a:solidFill>
                            <a:srgbClr val="3C3C3C"/>
                          </a:solidFill>
                          <a:latin typeface="Segoe UI"/>
                        </a:rPr>
                        <a:t>191</a:t>
                      </a:r>
                    </a:p>
                  </a:txBody>
                  <a:tcPr anchor="ctr" marL="91440" marT="18288" marB="18288">
                    <a:solidFill>
                      <a:srgbClr val="F4F5F7"/>
                    </a:solidFill>
                  </a:tcPr>
                </a:tc>
              </a:tr>
              <a:tr h="274320">
                <a:tc>
                  <a:txBody>
                    <a:bodyPr wrap="square"/>
                    <a:lstStyle/>
                    <a:p>
                      <a:r>
                        <a:rPr sz="1200" b="1">
                          <a:solidFill>
                            <a:srgbClr val="1A1A1A"/>
                          </a:solidFill>
                          <a:latin typeface="Segoe UI"/>
                        </a:rPr>
                        <a:t>Data</a:t>
                      </a:r>
                    </a:p>
                  </a:txBody>
                  <a:tcPr anchor="ctr" marL="91440" marT="18288" marB="18288">
                    <a:solidFill>
                      <a:srgbClr val="FFFFFF"/>
                    </a:solidFill>
                  </a:tcPr>
                </a:tc>
                <a:tc>
                  <a:txBody>
                    <a:bodyPr wrap="square"/>
                    <a:lstStyle/>
                    <a:p>
                      <a:r>
                        <a:rPr sz="1200" b="0">
                          <a:solidFill>
                            <a:srgbClr val="3C3C3C"/>
                          </a:solidFill>
                          <a:latin typeface="Segoe UI"/>
                        </a:rPr>
                        <a:t>Data objects, properties, DB tables</a:t>
                      </a:r>
                    </a:p>
                  </a:txBody>
                  <a:tcPr anchor="ctr" marL="91440" marT="18288" marB="18288">
                    <a:solidFill>
                      <a:srgbClr val="FFFFFF"/>
                    </a:solidFill>
                  </a:tcPr>
                </a:tc>
                <a:tc>
                  <a:txBody>
                    <a:bodyPr wrap="square"/>
                    <a:lstStyle/>
                    <a:p>
                      <a:r>
                        <a:rPr sz="1200" b="0">
                          <a:solidFill>
                            <a:srgbClr val="3C3C3C"/>
                          </a:solidFill>
                          <a:latin typeface="Segoe UI"/>
                        </a:rPr>
                        <a:t>10 / 334 / 22</a:t>
                      </a:r>
                    </a:p>
                  </a:txBody>
                  <a:tcPr anchor="ctr" marL="91440" marT="18288" marB="18288">
                    <a:solidFill>
                      <a:srgbClr val="FFFFFF"/>
                    </a:solidFill>
                  </a:tcPr>
                </a:tc>
              </a:tr>
              <a:tr h="274320">
                <a:tc>
                  <a:txBody>
                    <a:bodyPr wrap="square"/>
                    <a:lstStyle/>
                    <a:p>
                      <a:r>
                        <a:rPr sz="1200" b="1">
                          <a:solidFill>
                            <a:srgbClr val="1A1A1A"/>
                          </a:solidFill>
                          <a:latin typeface="Segoe UI"/>
                        </a:rPr>
                        <a:t>Security</a:t>
                      </a:r>
                    </a:p>
                  </a:txBody>
                  <a:tcPr anchor="ctr" marL="91440" marT="18288" marB="18288">
                    <a:solidFill>
                      <a:srgbClr val="F4F5F7"/>
                    </a:solidFill>
                  </a:tcPr>
                </a:tc>
                <a:tc>
                  <a:txBody>
                    <a:bodyPr wrap="square"/>
                    <a:lstStyle/>
                    <a:p>
                      <a:r>
                        <a:rPr sz="1200" b="0">
                          <a:solidFill>
                            <a:srgbClr val="3C3C3C"/>
                          </a:solidFill>
                          <a:latin typeface="Segoe UI"/>
                        </a:rPr>
                        <a:t>Access groups, role grants, workbaskets</a:t>
                      </a:r>
                    </a:p>
                  </a:txBody>
                  <a:tcPr anchor="ctr" marL="91440" marT="18288" marB="18288">
                    <a:solidFill>
                      <a:srgbClr val="F4F5F7"/>
                    </a:solidFill>
                  </a:tcPr>
                </a:tc>
                <a:tc>
                  <a:txBody>
                    <a:bodyPr wrap="square"/>
                    <a:lstStyle/>
                    <a:p>
                      <a:r>
                        <a:rPr sz="1200" b="0">
                          <a:solidFill>
                            <a:srgbClr val="3C3C3C"/>
                          </a:solidFill>
                          <a:latin typeface="Segoe UI"/>
                        </a:rPr>
                        <a:t>19 / 30 / 18</a:t>
                      </a:r>
                    </a:p>
                  </a:txBody>
                  <a:tcPr anchor="ctr" marL="91440" marT="18288" marB="18288">
                    <a:solidFill>
                      <a:srgbClr val="F4F5F7"/>
                    </a:solidFill>
                  </a:tcPr>
                </a:tc>
              </a:tr>
              <a:tr h="274320">
                <a:tc>
                  <a:txBody>
                    <a:bodyPr wrap="square"/>
                    <a:lstStyle/>
                    <a:p>
                      <a:r>
                        <a:rPr sz="1200" b="1">
                          <a:solidFill>
                            <a:srgbClr val="1A1A1A"/>
                          </a:solidFill>
                          <a:latin typeface="Segoe UI"/>
                        </a:rPr>
                        <a:t>Comms</a:t>
                      </a:r>
                    </a:p>
                  </a:txBody>
                  <a:tcPr anchor="ctr" marL="91440" marT="18288" marB="18288">
                    <a:solidFill>
                      <a:srgbClr val="FFFFFF"/>
                    </a:solidFill>
                  </a:tcPr>
                </a:tc>
                <a:tc>
                  <a:txBody>
                    <a:bodyPr wrap="square"/>
                    <a:lstStyle/>
                    <a:p>
                      <a:r>
                        <a:rPr sz="1200" b="0">
                          <a:solidFill>
                            <a:srgbClr val="3C3C3C"/>
                          </a:solidFill>
                          <a:latin typeface="Segoe UI"/>
                        </a:rPr>
                        <a:t>Notifications, correspondence rules</a:t>
                      </a:r>
                    </a:p>
                  </a:txBody>
                  <a:tcPr anchor="ctr" marL="91440" marT="18288" marB="18288">
                    <a:solidFill>
                      <a:srgbClr val="FFFFFF"/>
                    </a:solidFill>
                  </a:tcPr>
                </a:tc>
                <a:tc>
                  <a:txBody>
                    <a:bodyPr wrap="square"/>
                    <a:lstStyle/>
                    <a:p>
                      <a:r>
                        <a:rPr sz="1200" b="0">
                          <a:solidFill>
                            <a:srgbClr val="3C3C3C"/>
                          </a:solidFill>
                          <a:latin typeface="Segoe UI"/>
                        </a:rPr>
                        <a:t>27 / 27</a:t>
                      </a:r>
                    </a:p>
                  </a:txBody>
                  <a:tcPr anchor="ctr" marL="91440" marT="18288" marB="18288">
                    <a:solidFill>
                      <a:srgbClr val="FFFFFF"/>
                    </a:solidFill>
                  </a:tcPr>
                </a:tc>
              </a:tr>
            </a:tbl>
          </a:graphicData>
        </a:graphic>
      </p:graphicFrame>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workflows</a:t>
            </a:r>
          </a:p>
        </p:txBody>
      </p:sp>
      <p:graphicFrame>
        <p:nvGraphicFramePr>
          <p:cNvPr id="5" name="Table 4"/>
          <p:cNvGraphicFramePr>
            <a:graphicFrameLocks noGrp="1"/>
          </p:cNvGraphicFramePr>
          <p:nvPr/>
        </p:nvGraphicFramePr>
        <p:xfrm>
          <a:off x="566928" y="1554480"/>
          <a:ext cx="11064237" cy="1719072"/>
        </p:xfrm>
        <a:graphic>
          <a:graphicData uri="http://schemas.openxmlformats.org/drawingml/2006/table">
            <a:tbl>
              <a:tblPr firstRow="1" bandRow="1">
                <a:tableStyleId>{5C22544A-7EE6-4342-B048-85BDC9FD1C3A}</a:tableStyleId>
              </a:tblPr>
              <a:tblGrid>
                <a:gridCol w="2468880"/>
                <a:gridCol w="914399"/>
                <a:gridCol w="914399"/>
                <a:gridCol w="6766559"/>
              </a:tblGrid>
              <a:tr h="347472">
                <a:tc>
                  <a:txBody>
                    <a:bodyPr wrap="square"/>
                    <a:lstStyle/>
                    <a:p>
                      <a:r>
                        <a:rPr sz="1250" b="1">
                          <a:solidFill>
                            <a:srgbClr val="FFFFFF"/>
                          </a:solidFill>
                          <a:latin typeface="Segoe UI"/>
                        </a:rPr>
                        <a:t>Case type</a:t>
                      </a:r>
                    </a:p>
                  </a:txBody>
                  <a:tcPr anchor="ctr" marL="91440">
                    <a:solidFill>
                      <a:srgbClr val="007BA4"/>
                    </a:solidFill>
                  </a:tcPr>
                </a:tc>
                <a:tc>
                  <a:txBody>
                    <a:bodyPr wrap="square"/>
                    <a:lstStyle/>
                    <a:p>
                      <a:r>
                        <a:rPr sz="1250" b="1">
                          <a:solidFill>
                            <a:srgbClr val="FFFFFF"/>
                          </a:solidFill>
                          <a:latin typeface="Segoe UI"/>
                        </a:rPr>
                        <a:t>Stages</a:t>
                      </a:r>
                    </a:p>
                  </a:txBody>
                  <a:tcPr anchor="ctr" marL="91440">
                    <a:solidFill>
                      <a:srgbClr val="007BA4"/>
                    </a:solidFill>
                  </a:tcPr>
                </a:tc>
                <a:tc>
                  <a:txBody>
                    <a:bodyPr wrap="square"/>
                    <a:lstStyle/>
                    <a:p>
                      <a:r>
                        <a:rPr sz="1250" b="1">
                          <a:solidFill>
                            <a:srgbClr val="FFFFFF"/>
                          </a:solidFill>
                          <a:latin typeface="Segoe UI"/>
                        </a:rPr>
                        <a:t>Steps</a:t>
                      </a:r>
                    </a:p>
                  </a:txBody>
                  <a:tcPr anchor="ctr" marL="91440">
                    <a:solidFill>
                      <a:srgbClr val="007BA4"/>
                    </a:solidFill>
                  </a:tcPr>
                </a:tc>
                <a:tc>
                  <a:txBody>
                    <a:bodyPr wrap="square"/>
                    <a:lstStyle/>
                    <a:p>
                      <a:r>
                        <a:rPr sz="1250" b="1">
                          <a:solidFill>
                            <a:srgbClr val="FFFFFF"/>
                          </a:solidFill>
                          <a:latin typeface="Segoe UI"/>
                        </a:rPr>
                        <a:t>Purpose</a:t>
                      </a:r>
                    </a:p>
                  </a:txBody>
                  <a:tcPr anchor="ctr" marL="91440">
                    <a:solidFill>
                      <a:srgbClr val="007BA4"/>
                    </a:solidFill>
                  </a:tcPr>
                </a:tc>
              </a:tr>
              <a:tr h="274320">
                <a:tc>
                  <a:txBody>
                    <a:bodyPr wrap="square"/>
                    <a:lstStyle/>
                    <a:p>
                      <a:r>
                        <a:rPr sz="1250" b="1">
                          <a:solidFill>
                            <a:srgbClr val="1A1A1A"/>
                          </a:solidFill>
                          <a:latin typeface="Segoe UI"/>
                        </a:rPr>
                        <a:t>Lending Review</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23</a:t>
                      </a:r>
                    </a:p>
                  </a:txBody>
                  <a:tcPr anchor="ctr" marL="91440" marT="18288" marB="18288">
                    <a:solidFill>
                      <a:srgbClr val="FFFFFF"/>
                    </a:solidFill>
                  </a:tcPr>
                </a:tc>
                <a:tc>
                  <a:txBody>
                    <a:bodyPr wrap="square"/>
                    <a:lstStyle/>
                    <a:p>
                      <a:r>
                        <a:rPr sz="1250" b="0">
                          <a:solidFill>
                            <a:srgbClr val="3C3C3C"/>
                          </a:solidFill>
                          <a:latin typeface="Segoe UI"/>
                        </a:rPr>
                        <a:t>Primary intake, review and approval of lending transactions</a:t>
                      </a:r>
                    </a:p>
                  </a:txBody>
                  <a:tcPr anchor="ctr" marL="91440" marT="18288" marB="18288">
                    <a:solidFill>
                      <a:srgbClr val="FFFFFF"/>
                    </a:solidFill>
                  </a:tcPr>
                </a:tc>
              </a:tr>
              <a:tr h="274320">
                <a:tc>
                  <a:txBody>
                    <a:bodyPr wrap="square"/>
                    <a:lstStyle/>
                    <a:p>
                      <a:r>
                        <a:rPr sz="1250" b="1">
                          <a:solidFill>
                            <a:srgbClr val="1A1A1A"/>
                          </a:solidFill>
                          <a:latin typeface="Segoe UI"/>
                        </a:rPr>
                        <a:t>Risk Assessment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18</a:t>
                      </a:r>
                    </a:p>
                  </a:txBody>
                  <a:tcPr anchor="ctr" marL="91440" marT="18288" marB="18288">
                    <a:solidFill>
                      <a:srgbClr val="F4F5F7"/>
                    </a:solidFill>
                  </a:tcPr>
                </a:tc>
                <a:tc>
                  <a:txBody>
                    <a:bodyPr wrap="square"/>
                    <a:lstStyle/>
                    <a:p>
                      <a:r>
                        <a:rPr sz="1250" b="0">
                          <a:solidFill>
                            <a:srgbClr val="3C3C3C"/>
                          </a:solidFill>
                          <a:latin typeface="Segoe UI"/>
                        </a:rPr>
                        <a:t>Risk profiling, scoring and escalation of flagged transactions</a:t>
                      </a:r>
                    </a:p>
                  </a:txBody>
                  <a:tcPr anchor="ctr" marL="91440" marT="18288" marB="18288">
                    <a:solidFill>
                      <a:srgbClr val="F4F5F7"/>
                    </a:solidFill>
                  </a:tcPr>
                </a:tc>
              </a:tr>
              <a:tr h="274320">
                <a:tc>
                  <a:txBody>
                    <a:bodyPr wrap="square"/>
                    <a:lstStyle/>
                    <a:p>
                      <a:r>
                        <a:rPr sz="1250" b="1">
                          <a:solidFill>
                            <a:srgbClr val="1A1A1A"/>
                          </a:solidFill>
                          <a:latin typeface="Segoe UI"/>
                        </a:rPr>
                        <a:t>Compliance Monitoring</a:t>
                      </a:r>
                    </a:p>
                  </a:txBody>
                  <a:tcPr anchor="ctr" marL="91440" marT="18288" marB="18288">
                    <a:solidFill>
                      <a:srgbClr val="FFFFFF"/>
                    </a:solidFill>
                  </a:tcPr>
                </a:tc>
                <a:tc>
                  <a:txBody>
                    <a:bodyPr wrap="square"/>
                    <a:lstStyle/>
                    <a:p>
                      <a:r>
                        <a:rPr sz="1250" b="0">
                          <a:solidFill>
                            <a:srgbClr val="3C3C3C"/>
                          </a:solidFill>
                          <a:latin typeface="Segoe UI"/>
                        </a:rPr>
                        <a:t>7</a:t>
                      </a:r>
                    </a:p>
                  </a:txBody>
                  <a:tcPr anchor="ctr" marL="91440" marT="18288" marB="18288">
                    <a:solidFill>
                      <a:srgbClr val="FFFFFF"/>
                    </a:solidFill>
                  </a:tcPr>
                </a:tc>
                <a:tc>
                  <a:txBody>
                    <a:bodyPr wrap="square"/>
                    <a:lstStyle/>
                    <a:p>
                      <a:r>
                        <a:rPr sz="1250" b="0">
                          <a:solidFill>
                            <a:srgbClr val="3C3C3C"/>
                          </a:solidFill>
                          <a:latin typeface="Segoe UI"/>
                        </a:rPr>
                        <a:t>22</a:t>
                      </a:r>
                    </a:p>
                  </a:txBody>
                  <a:tcPr anchor="ctr" marL="91440" marT="18288" marB="18288">
                    <a:solidFill>
                      <a:srgbClr val="FFFFFF"/>
                    </a:solidFill>
                  </a:tcPr>
                </a:tc>
                <a:tc>
                  <a:txBody>
                    <a:bodyPr wrap="square"/>
                    <a:lstStyle/>
                    <a:p>
                      <a:r>
                        <a:rPr sz="1250" b="0">
                          <a:solidFill>
                            <a:srgbClr val="3C3C3C"/>
                          </a:solidFill>
                          <a:latin typeface="Segoe UI"/>
                        </a:rPr>
                        <a:t>Sampling, issue assessment, remediation and closure</a:t>
                      </a:r>
                    </a:p>
                  </a:txBody>
                  <a:tcPr anchor="ctr" marL="91440" marT="18288" marB="18288">
                    <a:solidFill>
                      <a:srgbClr val="FFFFFF"/>
                    </a:solidFill>
                  </a:tcPr>
                </a:tc>
              </a:tr>
              <a:tr h="274320">
                <a:tc>
                  <a:txBody>
                    <a:bodyPr wrap="square"/>
                    <a:lstStyle/>
                    <a:p>
                      <a:r>
                        <a:rPr sz="1250" b="1">
                          <a:solidFill>
                            <a:srgbClr val="1A1A1A"/>
                          </a:solidFill>
                          <a:latin typeface="Segoe UI"/>
                        </a:rPr>
                        <a:t>Escalation Management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12</a:t>
                      </a:r>
                    </a:p>
                  </a:txBody>
                  <a:tcPr anchor="ctr" marL="91440" marT="18288" marB="18288">
                    <a:solidFill>
                      <a:srgbClr val="F4F5F7"/>
                    </a:solidFill>
                  </a:tcPr>
                </a:tc>
                <a:tc>
                  <a:txBody>
                    <a:bodyPr wrap="square"/>
                    <a:lstStyle/>
                    <a:p>
                      <a:r>
                        <a:rPr sz="1250" b="0">
                          <a:solidFill>
                            <a:srgbClr val="3C3C3C"/>
                          </a:solidFill>
                          <a:latin typeface="Segoe UI"/>
                        </a:rPr>
                        <a:t>Routing and resolution of escalated items</a:t>
                      </a:r>
                    </a:p>
                  </a:txBody>
                  <a:tcPr anchor="ctr" marL="91440" marT="18288" marB="18288">
                    <a:solidFill>
                      <a:srgbClr val="F4F5F7"/>
                    </a:solidFill>
                  </a:tcPr>
                </a:tc>
              </a:tr>
              <a:tr h="274320">
                <a:tc>
                  <a:txBody>
                    <a:bodyPr wrap="square"/>
                    <a:lstStyle/>
                    <a:p>
                      <a:r>
                        <a:rPr sz="1250" b="1">
                          <a:solidFill>
                            <a:srgbClr val="1A1A1A"/>
                          </a:solidFill>
                          <a:latin typeface="Segoe UI"/>
                        </a:rPr>
                        <a:t>Quality Recommendation</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5</a:t>
                      </a:r>
                    </a:p>
                  </a:txBody>
                  <a:tcPr anchor="ctr" marL="91440" marT="18288" marB="18288">
                    <a:solidFill>
                      <a:srgbClr val="FFFFFF"/>
                    </a:solidFill>
                  </a:tcPr>
                </a:tc>
                <a:tc>
                  <a:txBody>
                    <a:bodyPr wrap="square"/>
                    <a:lstStyle/>
                    <a:p>
                      <a:r>
                        <a:rPr sz="1250" b="0">
                          <a:solidFill>
                            <a:srgbClr val="3C3C3C"/>
                          </a:solidFill>
                          <a:latin typeface="Segoe UI"/>
                        </a:rPr>
                        <a:t>Recommendation formulation and resolution tracking</a:t>
                      </a:r>
                    </a:p>
                  </a:txBody>
                  <a:tcPr anchor="ctr" marL="91440" marT="18288" marB="18288">
                    <a:solidFill>
                      <a:srgbClr val="FFFFFF"/>
                    </a:solidFill>
                  </a:tcPr>
                </a:tc>
              </a:tr>
            </a:tbl>
          </a:graphicData>
        </a:graphic>
      </p:graphicFrame>
      <p:sp>
        <p:nvSpPr>
          <p:cNvPr id="6" name="TextBox 5"/>
          <p:cNvSpPr txBox="1"/>
          <p:nvPr/>
        </p:nvSpPr>
        <p:spPr>
          <a:xfrm>
            <a:off x="566928" y="3977639"/>
            <a:ext cx="11064240" cy="9966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Step composition across all five case types</a:t>
            </a:r>
          </a:p>
          <a:p>
            <a:pPr algn="l">
              <a:spcBef>
                <a:spcPts val="0"/>
              </a:spcBef>
              <a:spcAft>
                <a:spcPts val="900"/>
              </a:spcAft>
            </a:pPr>
            <a:r>
              <a:rPr sz="1300" b="0" i="0">
                <a:solidFill>
                  <a:srgbClr val="1A1A1A"/>
                </a:solidFill>
                <a:latin typeface="Segoe UI"/>
              </a:rPr>
              <a:t>•  48 utility steps  ·  21 human assignments  ·  7 decisions  ·  4 approval sub-processes</a:t>
            </a:r>
          </a:p>
          <a:p>
            <a:pPr algn="l">
              <a:spcBef>
                <a:spcPts val="0"/>
              </a:spcBef>
              <a:spcAft>
                <a:spcPts val="900"/>
              </a:spcAft>
            </a:pPr>
            <a:r>
              <a:rPr sz="1300" b="0" i="0">
                <a:solidFill>
                  <a:srgbClr val="1A1A1A"/>
                </a:solidFill>
                <a:latin typeface="Segoe UI"/>
              </a:rPr>
              <a:t>•  Routing splits 9 to a named worklist and 12 to a shared workbasket</a:t>
            </a:r>
          </a:p>
        </p:txBody>
      </p:sp>
      <p:sp>
        <p:nvSpPr>
          <p:cNvPr id="7" name="Rectangle 6"/>
          <p:cNvSpPr/>
          <p:nvPr/>
        </p:nvSpPr>
        <p:spPr>
          <a:xfrm>
            <a:off x="566928" y="524865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865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4009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utility steps are where the migration difficulty concentrates - 41 of the 48 carry logic Pega does not export.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Challenges and limitations of the current platform</a:t>
            </a:r>
          </a:p>
        </p:txBody>
      </p:sp>
      <p:sp>
        <p:nvSpPr>
          <p:cNvPr id="5" name="TextBox 4"/>
          <p:cNvSpPr txBox="1"/>
          <p:nvPr/>
        </p:nvSpPr>
        <p:spPr>
          <a:xfrm>
            <a:off x="566928" y="1417320"/>
            <a:ext cx="11064240" cy="35054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Rule bodies are recoverable - but only if you know the encoding</a:t>
            </a:r>
          </a:p>
          <a:p>
            <a:pPr algn="l">
              <a:spcBef>
                <a:spcPts val="0"/>
              </a:spcBef>
              <a:spcAft>
                <a:spcPts val="700"/>
              </a:spcAft>
            </a:pPr>
            <a:r>
              <a:rPr sz="1350" b="0" i="0">
                <a:solidFill>
                  <a:srgbClr val="1A1A1A"/>
                </a:solidFill>
                <a:latin typeface="Segoe UI"/>
              </a:rPr>
              <a:t>•  Rule bodies ship inside rules.jar as a Java-serialised stream. An ASCII scan finds nothing, so the format is widely assumed opaque. The payload strings are UTF-16BE; decoding them makes every rule body readable.</a:t>
            </a:r>
          </a:p>
          <a:p>
            <a:pPr algn="l">
              <a:spcBef>
                <a:spcPts val="800"/>
              </a:spcBef>
              <a:spcAft>
                <a:spcPts val="700"/>
              </a:spcAft>
            </a:pPr>
            <a:r>
              <a:rPr sz="1350" b="1" i="0">
                <a:solidFill>
                  <a:srgbClr val="1A1A1A"/>
                </a:solidFill>
                <a:latin typeface="Segoe UI"/>
              </a:rPr>
              <a:t>Conditional routing genuinely does not exist</a:t>
            </a:r>
          </a:p>
          <a:p>
            <a:pPr algn="l">
              <a:spcBef>
                <a:spcPts val="0"/>
              </a:spcBef>
              <a:spcAft>
                <a:spcPts val="700"/>
              </a:spcAft>
            </a:pPr>
            <a:r>
              <a:rPr sz="1350" b="0" i="0">
                <a:solidFill>
                  <a:srgbClr val="1A1A1A"/>
                </a:solidFill>
                <a:latin typeface="Segoe UI"/>
              </a:rPr>
              <a:t>•  Having extracted the flow bodies, all 264 connector transitions are unconditional - 225 Always, 32 Action, 7 Else. Not one is when-guarded.</a:t>
            </a:r>
          </a:p>
          <a:p>
            <a:pPr algn="l">
              <a:spcBef>
                <a:spcPts val="800"/>
              </a:spcBef>
              <a:spcAft>
                <a:spcPts val="700"/>
              </a:spcAft>
            </a:pPr>
            <a:r>
              <a:rPr sz="1350" b="1" i="0">
                <a:solidFill>
                  <a:srgbClr val="1A1A1A"/>
                </a:solidFill>
                <a:latin typeface="Segoe UI"/>
              </a:rPr>
              <a:t>Behaviour is still locked to the engine</a:t>
            </a:r>
          </a:p>
          <a:p>
            <a:pPr algn="l">
              <a:spcBef>
                <a:spcPts val="0"/>
              </a:spcBef>
              <a:spcAft>
                <a:spcPts val="700"/>
              </a:spcAft>
            </a:pPr>
            <a:r>
              <a:rPr sz="1350" b="0" i="0">
                <a:solidFill>
                  <a:srgbClr val="1A1A1A"/>
                </a:solidFill>
                <a:latin typeface="Segoe UI"/>
              </a:rPr>
              <a:t>•  Data transforms, correspondence bodies and notification templates are engine-executed and have no exportable representation.</a:t>
            </a:r>
          </a:p>
          <a:p>
            <a:pPr algn="l">
              <a:spcBef>
                <a:spcPts val="800"/>
              </a:spcBef>
              <a:spcAft>
                <a:spcPts val="700"/>
              </a:spcAft>
            </a:pPr>
            <a:r>
              <a:rPr sz="1350" b="1" i="0">
                <a:solidFill>
                  <a:srgbClr val="1A1A1A"/>
                </a:solidFill>
                <a:latin typeface="Segoe UI"/>
              </a:rPr>
              <a:t>Skills and cost</a:t>
            </a:r>
          </a:p>
          <a:p>
            <a:pPr algn="l">
              <a:spcBef>
                <a:spcPts val="0"/>
              </a:spcBef>
              <a:spcAft>
                <a:spcPts val="700"/>
              </a:spcAft>
            </a:pPr>
            <a:r>
              <a:rPr sz="1350" b="0" i="0">
                <a:solidFill>
                  <a:srgbClr val="1A1A1A"/>
                </a:solidFill>
                <a:latin typeface="Segoe UI"/>
              </a:rPr>
              <a:t>•  Certified Pega specialists are scarce and expensive relative to the React / TypeScript / Dataverse talent pool.</a:t>
            </a:r>
          </a:p>
        </p:txBody>
      </p:sp>
      <p:sp>
        <p:nvSpPr>
          <p:cNvPr id="6" name="Rectangle 5"/>
          <p:cNvSpPr/>
          <p:nvPr/>
        </p:nvSpPr>
        <p:spPr>
          <a:xfrm>
            <a:off x="566928" y="519709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19709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28853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routing finding is a defect in the source application, not a migration gap - those flows really would loop.</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03</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Target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Power Platform solution design</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Solution architecture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Design principle: separate process from behaviour</a:t>
            </a:r>
          </a:p>
          <a:p>
            <a:pPr algn="l">
              <a:spcBef>
                <a:spcPts val="0"/>
              </a:spcBef>
              <a:spcAft>
                <a:spcPts val="900"/>
              </a:spcAft>
            </a:pPr>
            <a:r>
              <a:rPr sz="1350" b="0" i="0">
                <a:solidFill>
                  <a:srgbClr val="1A1A1A"/>
                </a:solidFill>
                <a:latin typeface="Segoe UI"/>
              </a:rPr>
              <a:t>•  Process configuration lives as Dataverse rows imported from the Pega export. Business data uses strongly-typed tables. Changing the process is a data change - which is how Pega itself behaves.</a:t>
            </a:r>
          </a:p>
        </p:txBody>
      </p:sp>
      <p:graphicFrame>
        <p:nvGraphicFramePr>
          <p:cNvPr id="6" name="Table 5"/>
          <p:cNvGraphicFramePr>
            <a:graphicFrameLocks noGrp="1"/>
          </p:cNvGraphicFramePr>
          <p:nvPr/>
        </p:nvGraphicFramePr>
        <p:xfrm>
          <a:off x="566928" y="2395728"/>
          <a:ext cx="11064237" cy="1993392"/>
        </p:xfrm>
        <a:graphic>
          <a:graphicData uri="http://schemas.openxmlformats.org/drawingml/2006/table">
            <a:tbl>
              <a:tblPr firstRow="1" bandRow="1">
                <a:tableStyleId>{5C22544A-7EE6-4342-B048-85BDC9FD1C3A}</a:tableStyleId>
              </a:tblPr>
              <a:tblGrid>
                <a:gridCol w="1737359"/>
                <a:gridCol w="3200399"/>
                <a:gridCol w="6126479"/>
              </a:tblGrid>
              <a:tr h="347472">
                <a:tc>
                  <a:txBody>
                    <a:bodyPr wrap="square"/>
                    <a:lstStyle/>
                    <a:p>
                      <a:r>
                        <a:rPr sz="1150" b="1">
                          <a:solidFill>
                            <a:srgbClr val="FFFFFF"/>
                          </a:solidFill>
                          <a:latin typeface="Segoe UI"/>
                        </a:rPr>
                        <a:t>Layer</a:t>
                      </a:r>
                    </a:p>
                  </a:txBody>
                  <a:tcPr anchor="ctr" marL="91440">
                    <a:solidFill>
                      <a:srgbClr val="007BA4"/>
                    </a:solidFill>
                  </a:tcPr>
                </a:tc>
                <a:tc>
                  <a:txBody>
                    <a:bodyPr wrap="square"/>
                    <a:lstStyle/>
                    <a:p>
                      <a:r>
                        <a:rPr sz="1150" b="1">
                          <a:solidFill>
                            <a:srgbClr val="FFFFFF"/>
                          </a:solidFill>
                          <a:latin typeface="Segoe UI"/>
                        </a:rPr>
                        <a:t>Implementation</a:t>
                      </a:r>
                    </a:p>
                  </a:txBody>
                  <a:tcPr anchor="ctr" marL="91440">
                    <a:solidFill>
                      <a:srgbClr val="007BA4"/>
                    </a:solidFill>
                  </a:tcPr>
                </a:tc>
                <a:tc>
                  <a:txBody>
                    <a:bodyPr wrap="square"/>
                    <a:lstStyle/>
                    <a:p>
                      <a:r>
                        <a:rPr sz="1150" b="1">
                          <a:solidFill>
                            <a:srgbClr val="FFFFFF"/>
                          </a:solidFill>
                          <a:latin typeface="Segoe UI"/>
                        </a:rPr>
                        <a:t>Responsibility</a:t>
                      </a:r>
                    </a:p>
                  </a:txBody>
                  <a:tcPr anchor="ctr" marL="91440">
                    <a:solidFill>
                      <a:srgbClr val="007BA4"/>
                    </a:solidFill>
                  </a:tcPr>
                </a:tc>
              </a:tr>
              <a:tr h="274320">
                <a:tc>
                  <a:txBody>
                    <a:bodyPr wrap="square"/>
                    <a:lstStyle/>
                    <a:p>
                      <a:r>
                        <a:rPr sz="1150" b="1">
                          <a:solidFill>
                            <a:srgbClr val="1A1A1A"/>
                          </a:solidFill>
                          <a:latin typeface="Segoe UI"/>
                        </a:rPr>
                        <a:t>Presentation</a:t>
                      </a:r>
                    </a:p>
                  </a:txBody>
                  <a:tcPr anchor="ctr" marL="91440" marT="18288" marB="18288">
                    <a:solidFill>
                      <a:srgbClr val="FFFFFF"/>
                    </a:solidFill>
                  </a:tcPr>
                </a:tc>
                <a:tc>
                  <a:txBody>
                    <a:bodyPr wrap="square"/>
                    <a:lstStyle/>
                    <a:p>
                      <a:r>
                        <a:rPr sz="1150" b="0">
                          <a:solidFill>
                            <a:srgbClr val="3C3C3C"/>
                          </a:solidFill>
                          <a:latin typeface="Segoe UI"/>
                        </a:rPr>
                        <a:t>React + Vite + TypeScript (Code App)</a:t>
                      </a:r>
                    </a:p>
                  </a:txBody>
                  <a:tcPr anchor="ctr" marL="91440" marT="18288" marB="18288">
                    <a:solidFill>
                      <a:srgbClr val="FFFFFF"/>
                    </a:solidFill>
                  </a:tcPr>
                </a:tc>
                <a:tc>
                  <a:txBody>
                    <a:bodyPr wrap="square"/>
                    <a:lstStyle/>
                    <a:p>
                      <a:r>
                        <a:rPr sz="1150" b="0">
                          <a:solidFill>
                            <a:srgbClr val="3C3C3C"/>
                          </a:solidFill>
                          <a:latin typeface="Segoe UI"/>
                        </a:rPr>
                        <a:t>Worklist, case workspace, dynamic forms rendered from view metadata</a:t>
                      </a:r>
                    </a:p>
                  </a:txBody>
                  <a:tcPr anchor="ctr" marL="91440" marT="18288" marB="18288">
                    <a:solidFill>
                      <a:srgbClr val="FFFFFF"/>
                    </a:solidFill>
                  </a:tcPr>
                </a:tc>
              </a:tr>
              <a:tr h="274320">
                <a:tc>
                  <a:txBody>
                    <a:bodyPr wrap="square"/>
                    <a:lstStyle/>
                    <a:p>
                      <a:r>
                        <a:rPr sz="1150" b="1">
                          <a:solidFill>
                            <a:srgbClr val="1A1A1A"/>
                          </a:solidFill>
                          <a:latin typeface="Segoe UI"/>
                        </a:rPr>
                        <a:t>Orchestration</a:t>
                      </a:r>
                    </a:p>
                  </a:txBody>
                  <a:tcPr anchor="ctr" marL="91440" marT="18288" marB="18288">
                    <a:solidFill>
                      <a:srgbClr val="F4F5F7"/>
                    </a:solidFill>
                  </a:tcPr>
                </a:tc>
                <a:tc>
                  <a:txBody>
                    <a:bodyPr wrap="square"/>
                    <a:lstStyle/>
                    <a:p>
                      <a:r>
                        <a:rPr sz="1150" b="0">
                          <a:solidFill>
                            <a:srgbClr val="3C3C3C"/>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Translates engine plans into Dataverse writes; the only I/O layer</a:t>
                      </a:r>
                    </a:p>
                  </a:txBody>
                  <a:tcPr anchor="ctr" marL="91440" marT="18288" marB="18288">
                    <a:solidFill>
                      <a:srgbClr val="F4F5F7"/>
                    </a:solidFill>
                  </a:tcPr>
                </a:tc>
              </a:tr>
              <a:tr h="274320">
                <a:tc>
                  <a:txBody>
                    <a:bodyPr wrap="square"/>
                    <a:lstStyle/>
                    <a:p>
                      <a:r>
                        <a:rPr sz="1150" b="1">
                          <a:solidFill>
                            <a:srgbClr val="1A1A1A"/>
                          </a:solidFill>
                          <a:latin typeface="Segoe UI"/>
                        </a:rPr>
                        <a:t>Engine</a:t>
                      </a:r>
                    </a:p>
                  </a:txBody>
                  <a:tcPr anchor="ctr" marL="91440" marT="18288" marB="18288">
                    <a:solidFill>
                      <a:srgbClr val="FFFFFF"/>
                    </a:solidFill>
                  </a:tcPr>
                </a:tc>
                <a:tc>
                  <a:txBody>
                    <a:bodyPr wrap="square"/>
                    <a:lstStyle/>
                    <a:p>
                      <a:r>
                        <a:rPr sz="1150" b="0">
                          <a:solidFill>
                            <a:srgbClr val="3C3C3C"/>
                          </a:solidFill>
                          <a:latin typeface="Segoe UI"/>
                        </a:rPr>
                        <a:t>engine.ts (pure functions)</a:t>
                      </a:r>
                    </a:p>
                  </a:txBody>
                  <a:tcPr anchor="ctr" marL="91440" marT="18288" marB="18288">
                    <a:solidFill>
                      <a:srgbClr val="FFFFFF"/>
                    </a:solidFill>
                  </a:tcPr>
                </a:tc>
                <a:tc>
                  <a:txBody>
                    <a:bodyPr wrap="square"/>
                    <a:lstStyle/>
                    <a:p>
                      <a:r>
                        <a:rPr sz="1150" b="0">
                          <a:solidFill>
                            <a:srgbClr val="3C3C3C"/>
                          </a:solidFill>
                          <a:latin typeface="Segoe UI"/>
                        </a:rPr>
                        <a:t>Plans next actions, evaluates decisions - no side effects, fully testable</a:t>
                      </a:r>
                    </a:p>
                  </a:txBody>
                  <a:tcPr anchor="ctr" marL="91440" marT="18288" marB="18288">
                    <a:solidFill>
                      <a:srgbClr val="FFFFFF"/>
                    </a:solidFill>
                  </a:tcPr>
                </a:tc>
              </a:tr>
              <a:tr h="274320">
                <a:tc>
                  <a:txBody>
                    <a:bodyPr wrap="square"/>
                    <a:lstStyle/>
                    <a:p>
                      <a:r>
                        <a:rPr sz="1150" b="1">
                          <a:solidFill>
                            <a:srgbClr val="1A1A1A"/>
                          </a:solidFill>
                          <a:latin typeface="Segoe UI"/>
                        </a:rPr>
                        <a:t>Data access</a:t>
                      </a:r>
                    </a:p>
                  </a:txBody>
                  <a:tcPr anchor="ctr" marL="91440" marT="18288" marB="18288">
                    <a:solidFill>
                      <a:srgbClr val="F4F5F7"/>
                    </a:solidFill>
                  </a:tcPr>
                </a:tc>
                <a:tc>
                  <a:txBody>
                    <a:bodyPr wrap="square"/>
                    <a:lstStyle/>
                    <a:p>
                      <a:r>
                        <a:rPr sz="1150" b="0">
                          <a:solidFill>
                            <a:srgbClr val="3C3C3C"/>
                          </a:solidFill>
                          <a:latin typeface="Segoe UI"/>
                        </a:rPr>
                        <a:t>Generated Dataverse services</a:t>
                      </a:r>
                    </a:p>
                  </a:txBody>
                  <a:tcPr anchor="ctr" marL="91440" marT="18288" marB="18288">
                    <a:solidFill>
                      <a:srgbClr val="F4F5F7"/>
                    </a:solidFill>
                  </a:tcPr>
                </a:tc>
                <a:tc>
                  <a:txBody>
                    <a:bodyPr wrap="square"/>
                    <a:lstStyle/>
                    <a:p>
                      <a:r>
                        <a:rPr sz="1150" b="0">
                          <a:solidFill>
                            <a:srgbClr val="3C3C3C"/>
                          </a:solidFill>
                          <a:latin typeface="Segoe UI"/>
                        </a:rPr>
                        <a:t>Type-safe access; sandbox blocks raw fetch</a:t>
                      </a:r>
                    </a:p>
                  </a:txBody>
                  <a:tcPr anchor="ctr" marL="91440" marT="18288" marB="18288">
                    <a:solidFill>
                      <a:srgbClr val="F4F5F7"/>
                    </a:solidFill>
                  </a:tcPr>
                </a:tc>
              </a:tr>
              <a:tr h="274320">
                <a:tc>
                  <a:txBody>
                    <a:bodyPr wrap="square"/>
                    <a:lstStyle/>
                    <a:p>
                      <a:r>
                        <a:rPr sz="1150" b="1">
                          <a:solidFill>
                            <a:srgbClr val="1A1A1A"/>
                          </a:solidFill>
                          <a:latin typeface="Segoe UI"/>
                        </a:rPr>
                        <a:t>Persistence</a:t>
                      </a:r>
                    </a:p>
                  </a:txBody>
                  <a:tcPr anchor="ctr" marL="91440" marT="18288" marB="18288">
                    <a:solidFill>
                      <a:srgbClr val="FFFFFF"/>
                    </a:solidFill>
                  </a:tcPr>
                </a:tc>
                <a:tc>
                  <a:txBody>
                    <a:bodyPr wrap="square"/>
                    <a:lstStyle/>
                    <a:p>
                      <a:r>
                        <a:rPr sz="1150" b="0">
                          <a:solidFill>
                            <a:srgbClr val="3C3C3C"/>
                          </a:solidFill>
                          <a:latin typeface="Segoe UI"/>
                        </a:rPr>
                        <a:t>Dataverse (27 tables)</a:t>
                      </a:r>
                    </a:p>
                  </a:txBody>
                  <a:tcPr anchor="ctr" marL="91440" marT="18288" marB="18288">
                    <a:solidFill>
                      <a:srgbClr val="FFFFFF"/>
                    </a:solidFill>
                  </a:tcPr>
                </a:tc>
                <a:tc>
                  <a:txBody>
                    <a:bodyPr wrap="square"/>
                    <a:lstStyle/>
                    <a:p>
                      <a:r>
                        <a:rPr sz="1150" b="0">
                          <a:solidFill>
                            <a:srgbClr val="3C3C3C"/>
                          </a:solidFill>
                          <a:latin typeface="Segoe UI"/>
                        </a:rPr>
                        <a:t>Configuration, data objects, work/runtime and per-type detail</a:t>
                      </a:r>
                    </a:p>
                  </a:txBody>
                  <a:tcPr anchor="ctr" marL="91440" marT="18288" marB="18288">
                    <a:solidFill>
                      <a:srgbClr val="FFFFFF"/>
                    </a:solidFill>
                  </a:tcPr>
                </a:tc>
              </a:tr>
              <a:tr h="274320">
                <a:tc>
                  <a:txBody>
                    <a:bodyPr wrap="square"/>
                    <a:lstStyle/>
                    <a:p>
                      <a:r>
                        <a:rPr sz="1150" b="1">
                          <a:solidFill>
                            <a:srgbClr val="1A1A1A"/>
                          </a:solidFill>
                          <a:latin typeface="Segoe UI"/>
                        </a:rPr>
                        <a:t>Import</a:t>
                      </a:r>
                    </a:p>
                  </a:txBody>
                  <a:tcPr anchor="ctr" marL="91440" marT="18288" marB="18288">
                    <a:solidFill>
                      <a:srgbClr val="F4F5F7"/>
                    </a:solidFill>
                  </a:tcPr>
                </a:tc>
                <a:tc>
                  <a:txBody>
                    <a:bodyPr wrap="square"/>
                    <a:lstStyle/>
                    <a:p>
                      <a:r>
                        <a:rPr sz="1150" b="0">
                          <a:solidFill>
                            <a:srgbClr val="3C3C3C"/>
                          </a:solidFill>
                          <a:latin typeface="Segoe UI"/>
                        </a:rPr>
                        <a:t>Node scripts (extract / seed)</a:t>
                      </a:r>
                    </a:p>
                  </a:txBody>
                  <a:tcPr anchor="ctr" marL="91440" marT="18288" marB="18288">
                    <a:solidFill>
                      <a:srgbClr val="F4F5F7"/>
                    </a:solidFill>
                  </a:tcPr>
                </a:tc>
                <a:tc>
                  <a:txBody>
                    <a:bodyPr wrap="square"/>
                    <a:lstStyle/>
                    <a:p>
                      <a:r>
                        <a:rPr sz="1150" b="0">
                          <a:solidFill>
                            <a:srgbClr val="3C3C3C"/>
                          </a:solidFill>
                          <a:latin typeface="Segoe UI"/>
                        </a:rPr>
                        <a:t>Pega export to config JSON to Dataverse, idempotent</a:t>
                      </a:r>
                    </a:p>
                  </a:txBody>
                  <a:tcPr anchor="ctr" marL="91440" marT="18288" marB="18288">
                    <a:solidFill>
                      <a:srgbClr val="F4F5F7"/>
                    </a:solidFill>
                  </a:tcPr>
                </a:tc>
              </a:tr>
            </a:tbl>
          </a:graphicData>
        </a:graphic>
      </p:graphicFrame>
      <p:sp>
        <p:nvSpPr>
          <p:cNvPr id="7" name="Rectangle 6"/>
          <p:cNvSpPr/>
          <p:nvPr/>
        </p:nvSpPr>
        <p:spPr>
          <a:xfrm>
            <a:off x="566928" y="466344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3440"/>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488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engine being side-effect free is what makes the verification harness possible - it tests the real shipped code, not a copy.</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Dataverse data model</a:t>
            </a:r>
          </a:p>
        </p:txBody>
      </p:sp>
      <p:graphicFrame>
        <p:nvGraphicFramePr>
          <p:cNvPr id="5" name="Table 4"/>
          <p:cNvGraphicFramePr>
            <a:graphicFrameLocks noGrp="1"/>
          </p:cNvGraphicFramePr>
          <p:nvPr/>
        </p:nvGraphicFramePr>
        <p:xfrm>
          <a:off x="566928" y="1554480"/>
          <a:ext cx="11064240" cy="1444752"/>
        </p:xfrm>
        <a:graphic>
          <a:graphicData uri="http://schemas.openxmlformats.org/drawingml/2006/table">
            <a:tbl>
              <a:tblPr firstRow="1" bandRow="1">
                <a:tableStyleId>{5C22544A-7EE6-4342-B048-85BDC9FD1C3A}</a:tableStyleId>
              </a:tblPr>
              <a:tblGrid>
                <a:gridCol w="2011680"/>
                <a:gridCol w="1005840"/>
                <a:gridCol w="8046720"/>
              </a:tblGrid>
              <a:tr h="347472">
                <a:tc>
                  <a:txBody>
                    <a:bodyPr wrap="square"/>
                    <a:lstStyle/>
                    <a:p>
                      <a:r>
                        <a:rPr sz="1250" b="1">
                          <a:solidFill>
                            <a:srgbClr val="FFFFFF"/>
                          </a:solidFill>
                          <a:latin typeface="Segoe UI"/>
                        </a:rPr>
                        <a:t>Group</a:t>
                      </a:r>
                    </a:p>
                  </a:txBody>
                  <a:tcPr anchor="ctr" marL="91440">
                    <a:solidFill>
                      <a:srgbClr val="007BA4"/>
                    </a:solidFill>
                  </a:tcPr>
                </a:tc>
                <a:tc>
                  <a:txBody>
                    <a:bodyPr wrap="square"/>
                    <a:lstStyle/>
                    <a:p>
                      <a:r>
                        <a:rPr sz="1250" b="1">
                          <a:solidFill>
                            <a:srgbClr val="FFFFFF"/>
                          </a:solidFill>
                          <a:latin typeface="Segoe UI"/>
                        </a:rPr>
                        <a:t>Tables</a:t>
                      </a:r>
                    </a:p>
                  </a:txBody>
                  <a:tcPr anchor="ctr" marL="91440">
                    <a:solidFill>
                      <a:srgbClr val="007BA4"/>
                    </a:solidFill>
                  </a:tcPr>
                </a:tc>
                <a:tc>
                  <a:txBody>
                    <a:bodyPr wrap="square"/>
                    <a:lstStyle/>
                    <a:p>
                      <a:r>
                        <a:rPr sz="1250" b="1">
                          <a:solidFill>
                            <a:srgbClr val="FFFFFF"/>
                          </a:solidFill>
                          <a:latin typeface="Segoe UI"/>
                        </a:rPr>
                        <a:t>Contents</a:t>
                      </a:r>
                    </a:p>
                  </a:txBody>
                  <a:tcPr anchor="ctr" marL="91440">
                    <a:solidFill>
                      <a:srgbClr val="007BA4"/>
                    </a:solidFill>
                  </a:tcPr>
                </a:tc>
              </a:tr>
              <a:tr h="274320">
                <a:tc>
                  <a:txBody>
                    <a:bodyPr wrap="square"/>
                    <a:lstStyle/>
                    <a:p>
                      <a:r>
                        <a:rPr sz="1250" b="1">
                          <a:solidFill>
                            <a:srgbClr val="1A1A1A"/>
                          </a:solidFill>
                          <a:latin typeface="Segoe UI"/>
                        </a:rPr>
                        <a:t>Configuration</a:t>
                      </a:r>
                    </a:p>
                  </a:txBody>
                  <a:tcPr anchor="ctr" marL="91440" marT="18288" marB="18288">
                    <a:solidFill>
                      <a:srgbClr val="FFFFFF"/>
                    </a:solidFill>
                  </a:tcPr>
                </a:tc>
                <a:tc>
                  <a:txBody>
                    <a:bodyPr wrap="square"/>
                    <a:lstStyle/>
                    <a:p>
                      <a:r>
                        <a:rPr sz="1250" b="0">
                          <a:solidFill>
                            <a:srgbClr val="3C3C3C"/>
                          </a:solidFill>
                          <a:latin typeface="Segoe UI"/>
                        </a:rPr>
                        <a:t>10</a:t>
                      </a:r>
                    </a:p>
                  </a:txBody>
                  <a:tcPr anchor="ctr" marL="91440" marT="18288" marB="18288">
                    <a:solidFill>
                      <a:srgbClr val="FFFFFF"/>
                    </a:solidFill>
                  </a:tcPr>
                </a:tc>
                <a:tc>
                  <a:txBody>
                    <a:bodyPr wrap="square"/>
                    <a:lstStyle/>
                    <a:p>
                      <a:r>
                        <a:rPr sz="1250" b="0">
                          <a:solidFill>
                            <a:srgbClr val="3C3C3C"/>
                          </a:solidFill>
                          <a:latin typeface="Segoe UI"/>
                        </a:rPr>
                        <a:t>Case types, stages, steps, views, view fields, choice sets, choice values, decisions, decision rows, roles</a:t>
                      </a:r>
                    </a:p>
                  </a:txBody>
                  <a:tcPr anchor="ctr" marL="91440" marT="18288" marB="18288">
                    <a:solidFill>
                      <a:srgbClr val="FFFFFF"/>
                    </a:solidFill>
                  </a:tcPr>
                </a:tc>
              </a:tr>
              <a:tr h="274320">
                <a:tc>
                  <a:txBody>
                    <a:bodyPr wrap="square"/>
                    <a:lstStyle/>
                    <a:p>
                      <a:r>
                        <a:rPr sz="1250" b="1">
                          <a:solidFill>
                            <a:srgbClr val="1A1A1A"/>
                          </a:solidFill>
                          <a:latin typeface="Segoe UI"/>
                        </a:rPr>
                        <a:t>Data objects</a:t>
                      </a:r>
                    </a:p>
                  </a:txBody>
                  <a:tcPr anchor="ctr" marL="91440" marT="18288" marB="18288">
                    <a:solidFill>
                      <a:srgbClr val="F4F5F7"/>
                    </a:solidFill>
                  </a:tcPr>
                </a:tc>
                <a:tc>
                  <a:txBody>
                    <a:bodyPr wrap="square"/>
                    <a:lstStyle/>
                    <a:p>
                      <a:r>
                        <a:rPr sz="1250" b="0">
                          <a:solidFill>
                            <a:srgbClr val="3C3C3C"/>
                          </a:solidFill>
                          <a:latin typeface="Segoe UI"/>
                        </a:rPr>
                        <a:t>9</a:t>
                      </a:r>
                    </a:p>
                  </a:txBody>
                  <a:tcPr anchor="ctr" marL="91440" marT="18288" marB="18288">
                    <a:solidFill>
                      <a:srgbClr val="F4F5F7"/>
                    </a:solidFill>
                  </a:tcPr>
                </a:tc>
                <a:tc>
                  <a:txBody>
                    <a:bodyPr wrap="square"/>
                    <a:lstStyle/>
                    <a:p>
                      <a:r>
                        <a:rPr sz="1250" b="0">
                          <a:solidFill>
                            <a:srgbClr val="3C3C3C"/>
                          </a:solidFill>
                          <a:latin typeface="Segoe UI"/>
                        </a:rPr>
                        <a:t>Customers, lending transactions, risk profiles, compliance findings and related reference entities</a:t>
                      </a:r>
                    </a:p>
                  </a:txBody>
                  <a:tcPr anchor="ctr" marL="91440" marT="18288" marB="18288">
                    <a:solidFill>
                      <a:srgbClr val="F4F5F7"/>
                    </a:solidFill>
                  </a:tcPr>
                </a:tc>
              </a:tr>
              <a:tr h="274320">
                <a:tc>
                  <a:txBody>
                    <a:bodyPr wrap="square"/>
                    <a:lstStyle/>
                    <a:p>
                      <a:r>
                        <a:rPr sz="1250" b="1">
                          <a:solidFill>
                            <a:srgbClr val="1A1A1A"/>
                          </a:solidFill>
                          <a:latin typeface="Segoe UI"/>
                        </a:rPr>
                        <a:t>Work / runtime</a:t>
                      </a:r>
                    </a:p>
                  </a:txBody>
                  <a:tcPr anchor="ctr" marL="91440" marT="18288" marB="18288">
                    <a:solidFill>
                      <a:srgbClr val="FFFFFF"/>
                    </a:solidFill>
                  </a:tcPr>
                </a:tc>
                <a:tc>
                  <a:txBody>
                    <a:bodyPr wrap="square"/>
                    <a:lstStyle/>
                    <a:p>
                      <a:r>
                        <a:rPr sz="1250" b="0">
                          <a:solidFill>
                            <a:srgbClr val="3C3C3C"/>
                          </a:solidFill>
                          <a:latin typeface="Segoe UI"/>
                        </a:rPr>
                        <a:t>4</a:t>
                      </a:r>
                    </a:p>
                  </a:txBody>
                  <a:tcPr anchor="ctr" marL="91440" marT="18288" marB="18288">
                    <a:solidFill>
                      <a:srgbClr val="FFFFFF"/>
                    </a:solidFill>
                  </a:tcPr>
                </a:tc>
                <a:tc>
                  <a:txBody>
                    <a:bodyPr wrap="square"/>
                    <a:lstStyle/>
                    <a:p>
                      <a:r>
                        <a:rPr sz="1250" b="0">
                          <a:solidFill>
                            <a:srgbClr val="3C3C3C"/>
                          </a:solidFill>
                          <a:latin typeface="Segoe UI"/>
                        </a:rPr>
                        <a:t>Work case (shared envelope), assignment, approval, case history</a:t>
                      </a:r>
                    </a:p>
                  </a:txBody>
                  <a:tcPr anchor="ctr" marL="91440" marT="18288" marB="18288">
                    <a:solidFill>
                      <a:srgbClr val="FFFFFF"/>
                    </a:solidFill>
                  </a:tcPr>
                </a:tc>
              </a:tr>
              <a:tr h="274320">
                <a:tc>
                  <a:txBody>
                    <a:bodyPr wrap="square"/>
                    <a:lstStyle/>
                    <a:p>
                      <a:r>
                        <a:rPr sz="1250" b="1">
                          <a:solidFill>
                            <a:srgbClr val="1A1A1A"/>
                          </a:solidFill>
                          <a:latin typeface="Segoe UI"/>
                        </a:rPr>
                        <a:t>Detail</a:t>
                      </a:r>
                    </a:p>
                  </a:txBody>
                  <a:tcPr anchor="ctr" marL="91440" marT="18288" marB="18288">
                    <a:solidFill>
                      <a:srgbClr val="F4F5F7"/>
                    </a:solidFill>
                  </a:tcPr>
                </a:tc>
                <a:tc>
                  <a:txBody>
                    <a:bodyPr wrap="square"/>
                    <a:lstStyle/>
                    <a:p>
                      <a:r>
                        <a:rPr sz="1250" b="0">
                          <a:solidFill>
                            <a:srgbClr val="3C3C3C"/>
                          </a:solidFill>
                          <a:latin typeface="Segoe UI"/>
                        </a:rPr>
                        <a:t>5</a:t>
                      </a:r>
                    </a:p>
                  </a:txBody>
                  <a:tcPr anchor="ctr" marL="91440" marT="18288" marB="18288">
                    <a:solidFill>
                      <a:srgbClr val="F4F5F7"/>
                    </a:solidFill>
                  </a:tcPr>
                </a:tc>
                <a:tc>
                  <a:txBody>
                    <a:bodyPr wrap="square"/>
                    <a:lstStyle/>
                    <a:p>
                      <a:r>
                        <a:rPr sz="1250" b="0">
                          <a:solidFill>
                            <a:srgbClr val="3C3C3C"/>
                          </a:solidFill>
                          <a:latin typeface="Segoe UI"/>
                        </a:rPr>
                        <a:t>One strongly-typed detail table per case type</a:t>
                      </a:r>
                    </a:p>
                  </a:txBody>
                  <a:tcPr anchor="ctr" marL="91440" marT="18288" marB="18288">
                    <a:solidFill>
                      <a:srgbClr val="F4F5F7"/>
                    </a:solidFill>
                  </a:tcPr>
                </a:tc>
              </a:tr>
            </a:tbl>
          </a:graphicData>
        </a:graphic>
      </p:graphicFrame>
      <p:sp>
        <p:nvSpPr>
          <p:cNvPr id="6" name="TextBox 5"/>
          <p:cNvSpPr txBox="1"/>
          <p:nvPr/>
        </p:nvSpPr>
        <p:spPr>
          <a:xfrm>
            <a:off x="566928" y="3794760"/>
            <a:ext cx="11064240" cy="1227328"/>
          </a:xfrm>
          <a:prstGeom prst="rect">
            <a:avLst/>
          </a:prstGeom>
          <a:noFill/>
        </p:spPr>
        <p:txBody>
          <a:bodyPr wrap="square">
            <a:spAutoFit/>
          </a:bodyPr>
          <a:lstStyle/>
          <a:p>
            <a:pPr algn="l">
              <a:spcBef>
                <a:spcPts val="0"/>
              </a:spcBef>
              <a:spcAft>
                <a:spcPts val="700"/>
              </a:spcAft>
            </a:pPr>
            <a:r>
              <a:rPr sz="1300" b="1" i="0">
                <a:solidFill>
                  <a:srgbClr val="1A1A1A"/>
                </a:solidFill>
                <a:latin typeface="Segoe UI"/>
              </a:rPr>
              <a:t>Why a shared envelope plus per-type detail tables</a:t>
            </a:r>
          </a:p>
          <a:p>
            <a:pPr algn="l">
              <a:spcBef>
                <a:spcPts val="0"/>
              </a:spcBef>
              <a:spcAft>
                <a:spcPts val="700"/>
              </a:spcAft>
            </a:pPr>
            <a:r>
              <a:rPr sz="1300" b="0" i="0">
                <a:solidFill>
                  <a:srgbClr val="1A1A1A"/>
                </a:solidFill>
                <a:latin typeface="Segoe UI"/>
              </a:rPr>
              <a:t>•  A single work case table keeps the worklist queryable across every case type in one request</a:t>
            </a:r>
          </a:p>
          <a:p>
            <a:pPr algn="l">
              <a:spcBef>
                <a:spcPts val="0"/>
              </a:spcBef>
              <a:spcAft>
                <a:spcPts val="700"/>
              </a:spcAft>
            </a:pPr>
            <a:r>
              <a:rPr sz="1300" b="0" i="0">
                <a:solidFill>
                  <a:srgbClr val="1A1A1A"/>
                </a:solidFill>
                <a:latin typeface="Segoe UI"/>
              </a:rPr>
              <a:t>•  Per-type detail tables still give each case type real, typed columns rather than a generic key-value bag</a:t>
            </a:r>
          </a:p>
          <a:p>
            <a:pPr algn="l">
              <a:spcBef>
                <a:spcPts val="0"/>
              </a:spcBef>
              <a:spcAft>
                <a:spcPts val="700"/>
              </a:spcAft>
            </a:pPr>
            <a:r>
              <a:rPr sz="1300" b="0" i="0">
                <a:solidFill>
                  <a:srgbClr val="1A1A1A"/>
                </a:solidFill>
                <a:latin typeface="Segoe UI"/>
              </a:rPr>
              <a:t>•  This mirrors Pega's own work class hierarchy without inheriting its rigidity</a:t>
            </a:r>
          </a:p>
        </p:txBody>
      </p:sp>
      <p:sp>
        <p:nvSpPr>
          <p:cNvPr id="7" name="Rectangle 6"/>
          <p:cNvSpPr/>
          <p:nvPr/>
        </p:nvSpPr>
        <p:spPr>
          <a:xfrm>
            <a:off x="566928" y="5296408"/>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96408"/>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87848"/>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Seeded content: 26 choice sets (107 values), 24 views (59 fields), 10 decision tables (28 rows), 5 case types, 39 stages, 80 steps.</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Integration approach</a:t>
            </a:r>
          </a:p>
        </p:txBody>
      </p:sp>
      <p:graphicFrame>
        <p:nvGraphicFramePr>
          <p:cNvPr id="5" name="Table 4"/>
          <p:cNvGraphicFramePr>
            <a:graphicFrameLocks noGrp="1"/>
          </p:cNvGraphicFramePr>
          <p:nvPr/>
        </p:nvGraphicFramePr>
        <p:xfrm>
          <a:off x="566928" y="1536192"/>
          <a:ext cx="11064238" cy="2816352"/>
        </p:xfrm>
        <a:graphic>
          <a:graphicData uri="http://schemas.openxmlformats.org/drawingml/2006/table">
            <a:tbl>
              <a:tblPr firstRow="1" bandRow="1">
                <a:tableStyleId>{5C22544A-7EE6-4342-B048-85BDC9FD1C3A}</a:tableStyleId>
              </a:tblPr>
              <a:tblGrid>
                <a:gridCol w="2743199"/>
                <a:gridCol w="4937760"/>
                <a:gridCol w="3383279"/>
              </a:tblGrid>
              <a:tr h="347472">
                <a:tc>
                  <a:txBody>
                    <a:bodyPr wrap="square"/>
                    <a:lstStyle/>
                    <a:p>
                      <a:r>
                        <a:rPr sz="1150" b="1">
                          <a:solidFill>
                            <a:srgbClr val="FFFFFF"/>
                          </a:solidFill>
                          <a:latin typeface="Segoe UI"/>
                        </a:rPr>
                        <a:t>Pega capability</a:t>
                      </a:r>
                    </a:p>
                  </a:txBody>
                  <a:tcPr anchor="ctr" marL="91440">
                    <a:solidFill>
                      <a:srgbClr val="007BA4"/>
                    </a:solidFill>
                  </a:tcPr>
                </a:tc>
                <a:tc>
                  <a:txBody>
                    <a:bodyPr wrap="square"/>
                    <a:lstStyle/>
                    <a:p>
                      <a:r>
                        <a:rPr sz="1150" b="1">
                          <a:solidFill>
                            <a:srgbClr val="FFFFFF"/>
                          </a:solidFill>
                          <a:latin typeface="Segoe UI"/>
                        </a:rPr>
                        <a:t>Power Platform target</a:t>
                      </a:r>
                    </a:p>
                  </a:txBody>
                  <a:tcPr anchor="ctr" marL="91440">
                    <a:solidFill>
                      <a:srgbClr val="007BA4"/>
                    </a:solidFill>
                  </a:tcPr>
                </a:tc>
                <a:tc>
                  <a:txBody>
                    <a:bodyPr wrap="square"/>
                    <a:lstStyle/>
                    <a:p>
                      <a:r>
                        <a:rPr sz="1150" b="1">
                          <a:solidFill>
                            <a:srgbClr val="FFFFFF"/>
                          </a:solidFill>
                          <a:latin typeface="Segoe UI"/>
                        </a:rPr>
                        <a:t>Status in PoC</a:t>
                      </a:r>
                    </a:p>
                  </a:txBody>
                  <a:tcPr anchor="ctr" marL="91440">
                    <a:solidFill>
                      <a:srgbClr val="007BA4"/>
                    </a:solidFill>
                  </a:tcPr>
                </a:tc>
              </a:tr>
              <a:tr h="274320">
                <a:tc>
                  <a:txBody>
                    <a:bodyPr wrap="square"/>
                    <a:lstStyle/>
                    <a:p>
                      <a:r>
                        <a:rPr sz="1150" b="1">
                          <a:solidFill>
                            <a:srgbClr val="1A1A1A"/>
                          </a:solidFill>
                          <a:latin typeface="Segoe UI"/>
                        </a:rPr>
                        <a:t>Human assignments</a:t>
                      </a:r>
                    </a:p>
                  </a:txBody>
                  <a:tcPr anchor="ctr" marL="91440" marT="18288" marB="18288">
                    <a:solidFill>
                      <a:srgbClr val="FFFFFF"/>
                    </a:solidFill>
                  </a:tcPr>
                </a:tc>
                <a:tc>
                  <a:txBody>
                    <a:bodyPr wrap="square"/>
                    <a:lstStyle/>
                    <a:p>
                      <a:r>
                        <a:rPr sz="1150" b="0">
                          <a:solidFill>
                            <a:srgbClr val="3C3C3C"/>
                          </a:solidFill>
                          <a:latin typeface="Segoe UI"/>
                        </a:rPr>
                        <a:t>Dataverse rows + Code App UI</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Approvals</a:t>
                      </a:r>
                    </a:p>
                  </a:txBody>
                  <a:tcPr anchor="ctr" marL="91440" marT="18288" marB="18288">
                    <a:solidFill>
                      <a:srgbClr val="F4F5F7"/>
                    </a:solidFill>
                  </a:tcPr>
                </a:tc>
                <a:tc>
                  <a:txBody>
                    <a:bodyPr wrap="square"/>
                    <a:lstStyle/>
                    <a:p>
                      <a:r>
                        <a:rPr sz="1150" b="0">
                          <a:solidFill>
                            <a:srgbClr val="3C3C3C"/>
                          </a:solidFill>
                          <a:latin typeface="Segoe UI"/>
                        </a:rPr>
                        <a:t>Dataverse approval rows + UI</a:t>
                      </a:r>
                    </a:p>
                  </a:txBody>
                  <a:tcPr anchor="ctr" marL="91440" marT="18288" marB="18288">
                    <a:solidFill>
                      <a:srgbClr val="F4F5F7"/>
                    </a:solidFill>
                  </a:tcPr>
                </a:tc>
                <a:tc>
                  <a:txBody>
                    <a:bodyPr wrap="square"/>
                    <a:lstStyle/>
                    <a:p>
                      <a:r>
                        <a:rPr sz="1150" b="0">
                          <a:solidFill>
                            <a:srgbClr val="3C3C3C"/>
                          </a:solidFill>
                          <a:latin typeface="Segoe UI"/>
                        </a:rPr>
                        <a:t>Implemented</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Dataverse rows, evaluated in engine.ts</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Notifications (17)</a:t>
                      </a:r>
                    </a:p>
                  </a:txBody>
                  <a:tcPr anchor="ctr" marL="91440" marT="18288" marB="18288">
                    <a:solidFill>
                      <a:srgbClr val="F4F5F7"/>
                    </a:solidFill>
                  </a:tcPr>
                </a:tc>
                <a:tc>
                  <a:txBody>
                    <a:bodyPr wrap="square"/>
                    <a:lstStyle/>
                    <a:p>
                      <a:r>
                        <a:rPr sz="1150" b="0">
                          <a:solidFill>
                            <a:srgbClr val="3C3C3C"/>
                          </a:solidFill>
                          <a:latin typeface="Segoe UI"/>
                        </a:rPr>
                        <a:t>Outbox table + Power Automate flow</a:t>
                      </a:r>
                    </a:p>
                  </a:txBody>
                  <a:tcPr anchor="ctr" marL="91440" marT="18288" marB="18288">
                    <a:solidFill>
                      <a:srgbClr val="F4F5F7"/>
                    </a:solidFill>
                  </a:tcPr>
                </a:tc>
                <a:tc>
                  <a:txBody>
                    <a:bodyPr wrap="square"/>
                    <a:lstStyle/>
                    <a:p>
                      <a:r>
                        <a:rPr sz="1150" b="1">
                          <a:solidFill>
                            <a:srgbClr val="1A1A1A"/>
                          </a:solidFill>
                          <a:latin typeface="Segoe UI"/>
                        </a:rPr>
                        <a:t>Queued by the app; flow sends</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(20)</a:t>
                      </a:r>
                    </a:p>
                  </a:txBody>
                  <a:tcPr anchor="ctr" marL="91440" marT="18288" marB="18288">
                    <a:solidFill>
                      <a:srgbClr val="FFFFFF"/>
                    </a:solidFill>
                  </a:tcPr>
                </a:tc>
                <a:tc>
                  <a:txBody>
                    <a:bodyPr wrap="square"/>
                    <a:lstStyle/>
                    <a:p>
                      <a:r>
                        <a:rPr sz="1150" b="0">
                          <a:solidFill>
                            <a:srgbClr val="3C3C3C"/>
                          </a:solidFill>
                          <a:latin typeface="Segoe UI"/>
                        </a:rPr>
                        <a:t>Transform registry in the orchestrator</a:t>
                      </a:r>
                    </a:p>
                  </a:txBody>
                  <a:tcPr anchor="ctr" marL="91440" marT="18288" marB="18288">
                    <a:solidFill>
                      <a:srgbClr val="FFFFFF"/>
                    </a:solidFill>
                  </a:tcPr>
                </a:tc>
                <a:tc>
                  <a:txBody>
                    <a:bodyPr wrap="square"/>
                    <a:lstStyle/>
                    <a:p>
                      <a:r>
                        <a:rPr sz="1150" b="0">
                          <a:solidFill>
                            <a:srgbClr val="3C3C3C"/>
                          </a:solidFill>
                          <a:latin typeface="Segoe UI"/>
                        </a:rPr>
                        <a:t>Audited, not executed</a:t>
                      </a:r>
                    </a:p>
                  </a:txBody>
                  <a:tcPr anchor="ctr" marL="91440" marT="18288" marB="18288">
                    <a:solidFill>
                      <a:srgbClr val="FFFFFF"/>
                    </a:solidFill>
                  </a:tcPr>
                </a:tc>
              </a:tr>
              <a:tr h="274320">
                <a:tc>
                  <a:txBody>
                    <a:bodyPr wrap="square"/>
                    <a:lstStyle/>
                    <a:p>
                      <a:r>
                        <a:rPr sz="1150" b="1">
                          <a:solidFill>
                            <a:srgbClr val="1A1A1A"/>
                          </a:solidFill>
                          <a:latin typeface="Segoe UI"/>
                        </a:rPr>
                        <a:t>Documents (4)</a:t>
                      </a:r>
                    </a:p>
                  </a:txBody>
                  <a:tcPr anchor="ctr" marL="91440" marT="18288" marB="18288">
                    <a:solidFill>
                      <a:srgbClr val="F4F5F7"/>
                    </a:solidFill>
                  </a:tcPr>
                </a:tc>
                <a:tc>
                  <a:txBody>
                    <a:bodyPr wrap="square"/>
                    <a:lstStyle/>
                    <a:p>
                      <a:r>
                        <a:rPr sz="1150" b="0">
                          <a:solidFill>
                            <a:srgbClr val="3C3C3C"/>
                          </a:solidFill>
                          <a:latin typeface="Segoe UI"/>
                        </a:rPr>
                        <a:t>Power Automate + Word templates, or Dataverse file column</a:t>
                      </a:r>
                    </a:p>
                  </a:txBody>
                  <a:tcPr anchor="ctr" marL="91440" marT="18288" marB="18288">
                    <a:solidFill>
                      <a:srgbClr val="F4F5F7"/>
                    </a:solidFill>
                  </a:tcPr>
                </a:tc>
                <a:tc>
                  <a:txBody>
                    <a:bodyPr wrap="square"/>
                    <a:lstStyle/>
                    <a:p>
                      <a:r>
                        <a:rPr sz="1150" b="0">
                          <a:solidFill>
                            <a:srgbClr val="3C3C3C"/>
                          </a:solidFill>
                          <a:latin typeface="Segoe UI"/>
                        </a:rPr>
                        <a:t>Audited, not generated</a:t>
                      </a:r>
                    </a:p>
                  </a:txBody>
                  <a:tcPr anchor="ctr" marL="91440" marT="18288" marB="18288">
                    <a:solidFill>
                      <a:srgbClr val="F4F5F7"/>
                    </a:solidFill>
                  </a:tcPr>
                </a:tc>
              </a:tr>
              <a:tr h="274320">
                <a:tc>
                  <a:txBody>
                    <a:bodyPr wrap="square"/>
                    <a:lstStyle/>
                    <a:p>
                      <a:r>
                        <a:rPr sz="1150" b="1">
                          <a:solidFill>
                            <a:srgbClr val="1A1A1A"/>
                          </a:solidFill>
                          <a:latin typeface="Segoe UI"/>
                        </a:rPr>
                        <a:t>Workbaskets (18)</a:t>
                      </a:r>
                    </a:p>
                  </a:txBody>
                  <a:tcPr anchor="ctr" marL="91440" marT="18288" marB="18288">
                    <a:solidFill>
                      <a:srgbClr val="FFFFFF"/>
                    </a:solidFill>
                  </a:tcPr>
                </a:tc>
                <a:tc>
                  <a:txBody>
                    <a:bodyPr wrap="square"/>
                    <a:lstStyle/>
                    <a:p>
                      <a:r>
                        <a:rPr sz="1150" b="0">
                          <a:solidFill>
                            <a:srgbClr val="3C3C3C"/>
                          </a:solidFill>
                          <a:latin typeface="Segoe UI"/>
                        </a:rPr>
                        <a:t>Dataverse teams + row-level security</a:t>
                      </a:r>
                    </a:p>
                  </a:txBody>
                  <a:tcPr anchor="ctr" marL="91440" marT="18288" marB="18288">
                    <a:solidFill>
                      <a:srgbClr val="FFFFFF"/>
                    </a:solidFill>
                  </a:tcPr>
                </a:tc>
                <a:tc>
                  <a:txBody>
                    <a:bodyPr wrap="square"/>
                    <a:lstStyle/>
                    <a:p>
                      <a:r>
                        <a:rPr sz="1150" b="0">
                          <a:solidFill>
                            <a:srgbClr val="3C3C3C"/>
                          </a:solidFill>
                          <a:latin typeface="Segoe UI"/>
                        </a:rPr>
                        <a:t>Not mapped</a:t>
                      </a:r>
                    </a:p>
                  </a:txBody>
                  <a:tcPr anchor="ctr" marL="91440" marT="18288" marB="18288">
                    <a:solidFill>
                      <a:srgbClr val="FFFFFF"/>
                    </a:solidFill>
                  </a:tcPr>
                </a:tc>
              </a:tr>
              <a:tr h="274320">
                <a:tc>
                  <a:txBody>
                    <a:bodyPr wrap="square"/>
                    <a:lstStyle/>
                    <a:p>
                      <a:r>
                        <a:rPr sz="1150" b="1">
                          <a:solidFill>
                            <a:srgbClr val="1A1A1A"/>
                          </a:solidFill>
                          <a:latin typeface="Segoe UI"/>
                        </a:rPr>
                        <a:t>Access groups (19)</a:t>
                      </a:r>
                    </a:p>
                  </a:txBody>
                  <a:tcPr anchor="ctr" marL="91440" marT="18288" marB="18288">
                    <a:solidFill>
                      <a:srgbClr val="F4F5F7"/>
                    </a:solidFill>
                  </a:tcPr>
                </a:tc>
                <a:tc>
                  <a:txBody>
                    <a:bodyPr wrap="square"/>
                    <a:lstStyle/>
                    <a:p>
                      <a:r>
                        <a:rPr sz="1150" b="0">
                          <a:solidFill>
                            <a:srgbClr val="3C3C3C"/>
                          </a:solidFill>
                          <a:latin typeface="Segoe UI"/>
                        </a:rPr>
                        <a:t>Dataverse security roles</a:t>
                      </a:r>
                    </a:p>
                  </a:txBody>
                  <a:tcPr anchor="ctr" marL="91440" marT="18288" marB="18288">
                    <a:solidFill>
                      <a:srgbClr val="F4F5F7"/>
                    </a:solidFill>
                  </a:tcPr>
                </a:tc>
                <a:tc>
                  <a:txBody>
                    <a:bodyPr wrap="square"/>
                    <a:lstStyle/>
                    <a:p>
                      <a:r>
                        <a:rPr sz="1150" b="0">
                          <a:solidFill>
                            <a:srgbClr val="3C3C3C"/>
                          </a:solidFill>
                          <a:latin typeface="Segoe UI"/>
                        </a:rPr>
                        <a:t>Imported as data only</a:t>
                      </a:r>
                    </a:p>
                  </a:txBody>
                  <a:tcPr anchor="ctr" marL="91440" marT="18288" marB="18288">
                    <a:solidFill>
                      <a:srgbClr val="F4F5F7"/>
                    </a:solidFill>
                  </a:tcPr>
                </a:tc>
              </a:tr>
              <a:tr h="274320">
                <a:tc>
                  <a:txBody>
                    <a:bodyPr wrap="square"/>
                    <a:lstStyle/>
                    <a:p>
                      <a:r>
                        <a:rPr sz="1150" b="1">
                          <a:solidFill>
                            <a:srgbClr val="1A1A1A"/>
                          </a:solidFill>
                          <a:latin typeface="Segoe UI"/>
                        </a:rPr>
                        <a:t>Reporting (30)</a:t>
                      </a:r>
                    </a:p>
                  </a:txBody>
                  <a:tcPr anchor="ctr" marL="91440" marT="18288" marB="18288">
                    <a:solidFill>
                      <a:srgbClr val="FFFFFF"/>
                    </a:solidFill>
                  </a:tcPr>
                </a:tc>
                <a:tc>
                  <a:txBody>
                    <a:bodyPr wrap="square"/>
                    <a:lstStyle/>
                    <a:p>
                      <a:r>
                        <a:rPr sz="1150" b="0">
                          <a:solidFill>
                            <a:srgbClr val="3C3C3C"/>
                          </a:solidFill>
                          <a:latin typeface="Segoe UI"/>
                        </a:rPr>
                        <a:t>Insights screen + Power BI</a:t>
                      </a:r>
                    </a:p>
                  </a:txBody>
                  <a:tcPr anchor="ctr" marL="91440" marT="18288" marB="18288">
                    <a:solidFill>
                      <a:srgbClr val="FFFFFF"/>
                    </a:solidFill>
                  </a:tcPr>
                </a:tc>
                <a:tc>
                  <a:txBody>
                    <a:bodyPr wrap="square"/>
                    <a:lstStyle/>
                    <a:p>
                      <a:r>
                        <a:rPr sz="1150" b="1">
                          <a:solidFill>
                            <a:srgbClr val="1A1A1A"/>
                          </a:solidFill>
                          <a:latin typeface="Segoe UI"/>
                        </a:rPr>
                        <a:t>No logic to port; capability built</a:t>
                      </a:r>
                    </a:p>
                  </a:txBody>
                  <a:tcPr anchor="ctr" marL="91440" marT="18288" marB="18288">
                    <a:solidFill>
                      <a:srgbClr val="FFFFFF"/>
                    </a:solidFill>
                  </a:tcPr>
                </a:tc>
              </a:tr>
            </a:tbl>
          </a:graphicData>
        </a:graphic>
      </p:graphicFrame>
      <p:sp>
        <p:nvSpPr>
          <p:cNvPr id="6" name="Rectangle 5"/>
          <p:cNvSpPr/>
          <p:nvPr/>
        </p:nvSpPr>
        <p:spPr>
          <a:xfrm>
            <a:off x="566928" y="462686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626864"/>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71830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Azure services were not required for this PoC. Dataverse and the Power Platform connector set cover the full scope; Azure Functions would only be needed for heavy custom compute.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04</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Approach</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Assessment, analysis and mapping strategy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repeatable reverse-engineering methodology</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Principle: the running system is the specification</a:t>
            </a:r>
          </a:p>
          <a:p>
            <a:pPr algn="l">
              <a:spcBef>
                <a:spcPts val="0"/>
              </a:spcBef>
              <a:spcAft>
                <a:spcPts val="900"/>
              </a:spcAft>
            </a:pPr>
            <a:r>
              <a:rPr sz="1350" b="0" i="0">
                <a:solidFill>
                  <a:srgbClr val="1A1A1A"/>
                </a:solidFill>
                <a:latin typeface="Segoe UI"/>
              </a:rPr>
              <a:t>•  Four artefact sources, each independently obtainable from the Pega estate, combine into a single normalised model. No business workshop is required to produce any of them.</a:t>
            </a:r>
          </a:p>
        </p:txBody>
      </p:sp>
      <p:graphicFrame>
        <p:nvGraphicFramePr>
          <p:cNvPr id="6" name="Table 5"/>
          <p:cNvGraphicFramePr>
            <a:graphicFrameLocks noGrp="1"/>
          </p:cNvGraphicFramePr>
          <p:nvPr/>
        </p:nvGraphicFramePr>
        <p:xfrm>
          <a:off x="566928" y="2395728"/>
          <a:ext cx="11064239" cy="1444752"/>
        </p:xfrm>
        <a:graphic>
          <a:graphicData uri="http://schemas.openxmlformats.org/drawingml/2006/table">
            <a:tbl>
              <a:tblPr firstRow="1" bandRow="1">
                <a:tableStyleId>{5C22544A-7EE6-4342-B048-85BDC9FD1C3A}</a:tableStyleId>
              </a:tblPr>
              <a:tblGrid>
                <a:gridCol w="457200"/>
                <a:gridCol w="2743200"/>
                <a:gridCol w="3200400"/>
                <a:gridCol w="4663439"/>
              </a:tblGrid>
              <a:tr h="347472">
                <a:tc>
                  <a:txBody>
                    <a:bodyPr wrap="square"/>
                    <a:lstStyle/>
                    <a:p>
                      <a:r>
                        <a:rPr sz="1150" b="1">
                          <a:solidFill>
                            <a:srgbClr val="FFFFFF"/>
                          </a:solidFill>
                          <a:latin typeface="Segoe UI"/>
                        </a:rPr>
                        <a:t>#</a:t>
                      </a:r>
                    </a:p>
                  </a:txBody>
                  <a:tcPr anchor="ctr" marL="91440">
                    <a:solidFill>
                      <a:srgbClr val="007BA4"/>
                    </a:solidFill>
                  </a:tcPr>
                </a:tc>
                <a:tc>
                  <a:txBody>
                    <a:bodyPr wrap="square"/>
                    <a:lstStyle/>
                    <a:p>
                      <a:r>
                        <a:rPr sz="1150" b="1">
                          <a:solidFill>
                            <a:srgbClr val="FFFFFF"/>
                          </a:solidFill>
                          <a:latin typeface="Segoe UI"/>
                        </a:rPr>
                        <a:t>Artefact source</a:t>
                      </a:r>
                    </a:p>
                  </a:txBody>
                  <a:tcPr anchor="ctr" marL="91440">
                    <a:solidFill>
                      <a:srgbClr val="007BA4"/>
                    </a:solidFill>
                  </a:tcPr>
                </a:tc>
                <a:tc>
                  <a:txBody>
                    <a:bodyPr wrap="square"/>
                    <a:lstStyle/>
                    <a:p>
                      <a:r>
                        <a:rPr sz="1150" b="1">
                          <a:solidFill>
                            <a:srgbClr val="FFFFFF"/>
                          </a:solidFill>
                          <a:latin typeface="Segoe UI"/>
                        </a:rPr>
                        <a:t>How it is obtained</a:t>
                      </a:r>
                    </a:p>
                  </a:txBody>
                  <a:tcPr anchor="ctr" marL="91440">
                    <a:solidFill>
                      <a:srgbClr val="007BA4"/>
                    </a:solidFill>
                  </a:tcPr>
                </a:tc>
                <a:tc>
                  <a:txBody>
                    <a:bodyPr wrap="square"/>
                    <a:lstStyle/>
                    <a:p>
                      <a:r>
                        <a:rPr sz="1150" b="1">
                          <a:solidFill>
                            <a:srgbClr val="FFFFFF"/>
                          </a:solidFill>
                          <a:latin typeface="Segoe UI"/>
                        </a:rPr>
                        <a:t>What it contributes</a:t>
                      </a:r>
                    </a:p>
                  </a:txBody>
                  <a:tcPr anchor="ctr" marL="91440">
                    <a:solidFill>
                      <a:srgbClr val="007BA4"/>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Application export (.zip)</a:t>
                      </a:r>
                    </a:p>
                  </a:txBody>
                  <a:tcPr anchor="ctr" marL="91440" marT="18288" marB="18288">
                    <a:solidFill>
                      <a:srgbClr val="FFFFFF"/>
                    </a:solidFill>
                  </a:tcPr>
                </a:tc>
                <a:tc>
                  <a:txBody>
                    <a:bodyPr wrap="square"/>
                    <a:lstStyle/>
                    <a:p>
                      <a:r>
                        <a:rPr sz="1150" b="0">
                          <a:solidFill>
                            <a:srgbClr val="3C3C3C"/>
                          </a:solidFill>
                          <a:latin typeface="Segoe UI"/>
                        </a:rPr>
                        <a:t>Dev Studio product export</a:t>
                      </a:r>
                    </a:p>
                  </a:txBody>
                  <a:tcPr anchor="ctr" marL="91440" marT="18288" marB="18288">
                    <a:solidFill>
                      <a:srgbClr val="FFFFFF"/>
                    </a:solidFill>
                  </a:tcPr>
                </a:tc>
                <a:tc>
                  <a:txBody>
                    <a:bodyPr wrap="square"/>
                    <a:lstStyle/>
                    <a:p>
                      <a:r>
                        <a:rPr sz="1150" b="0">
                          <a:solidFill>
                            <a:srgbClr val="3C3C3C"/>
                          </a:solidFill>
                          <a:latin typeface="Segoe UI"/>
                        </a:rPr>
                        <a:t>SQL schema, full rule inventory, and - decoded as UTF-16BE - the flow rule bodies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Application documentation (.docx)</a:t>
                      </a:r>
                    </a:p>
                  </a:txBody>
                  <a:tcPr anchor="ctr" marL="91440" marT="18288" marB="18288">
                    <a:solidFill>
                      <a:srgbClr val="F4F5F7"/>
                    </a:solidFill>
                  </a:tcPr>
                </a:tc>
                <a:tc>
                  <a:txBody>
                    <a:bodyPr wrap="square"/>
                    <a:lstStyle/>
                    <a:p>
                      <a:r>
                        <a:rPr sz="1150" b="0">
                          <a:solidFill>
                            <a:srgbClr val="3C3C3C"/>
                          </a:solidFill>
                          <a:latin typeface="Segoe UI"/>
                        </a:rPr>
                        <a:t>Generated from the platform</a:t>
                      </a:r>
                    </a:p>
                  </a:txBody>
                  <a:tcPr anchor="ctr" marL="91440" marT="18288" marB="18288">
                    <a:solidFill>
                      <a:srgbClr val="F4F5F7"/>
                    </a:solidFill>
                  </a:tcPr>
                </a:tc>
                <a:tc>
                  <a:txBody>
                    <a:bodyPr wrap="square"/>
                    <a:lstStyle/>
                    <a:p>
                      <a:r>
                        <a:rPr sz="1150" b="0">
                          <a:solidFill>
                            <a:srgbClr val="3C3C3C"/>
                          </a:solidFill>
                          <a:latin typeface="Segoe UI"/>
                        </a:rPr>
                        <a:t>Stages, flows, decision table logic, security model</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pegakit + Pega DX API</a:t>
                      </a:r>
                    </a:p>
                  </a:txBody>
                  <a:tcPr anchor="ctr" marL="91440" marT="18288" marB="18288">
                    <a:solidFill>
                      <a:srgbClr val="FFFFFF"/>
                    </a:solidFill>
                  </a:tcPr>
                </a:tc>
                <a:tc>
                  <a:txBody>
                    <a:bodyPr wrap="square"/>
                    <a:lstStyle/>
                    <a:p>
                      <a:r>
                        <a:rPr sz="1150" b="0">
                          <a:solidFill>
                            <a:srgbClr val="3C3C3C"/>
                          </a:solidFill>
                          <a:latin typeface="Segoe UI"/>
                        </a:rPr>
                        <a:t>Client-credentials OAuth against a sandbox</a:t>
                      </a:r>
                    </a:p>
                  </a:txBody>
                  <a:tcPr anchor="ctr" marL="91440" marT="18288" marB="18288">
                    <a:solidFill>
                      <a:srgbClr val="FFFFFF"/>
                    </a:solidFill>
                  </a:tcPr>
                </a:tc>
                <a:tc>
                  <a:txBody>
                    <a:bodyPr wrap="square"/>
                    <a:lstStyle/>
                    <a:p>
                      <a:r>
                        <a:rPr sz="1150" b="0">
                          <a:solidFill>
                            <a:srgbClr val="3C3C3C"/>
                          </a:solidFill>
                          <a:latin typeface="Segoe UI"/>
                        </a:rPr>
                        <a:t>Screens, fields, choice values, theme - the largest single uplift</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Screenshots of the running app</a:t>
                      </a:r>
                    </a:p>
                  </a:txBody>
                  <a:tcPr anchor="ctr" marL="91440" marT="18288" marB="18288">
                    <a:solidFill>
                      <a:srgbClr val="F4F5F7"/>
                    </a:solidFill>
                  </a:tcPr>
                </a:tc>
                <a:tc>
                  <a:txBody>
                    <a:bodyPr wrap="square"/>
                    <a:lstStyle/>
                    <a:p>
                      <a:r>
                        <a:rPr sz="1150" b="0">
                          <a:solidFill>
                            <a:srgbClr val="3C3C3C"/>
                          </a:solidFill>
                          <a:latin typeface="Segoe UI"/>
                        </a:rPr>
                        <a:t>Captured from the live system</a:t>
                      </a:r>
                    </a:p>
                  </a:txBody>
                  <a:tcPr anchor="ctr" marL="91440" marT="18288" marB="18288">
                    <a:solidFill>
                      <a:srgbClr val="F4F5F7"/>
                    </a:solidFill>
                  </a:tcPr>
                </a:tc>
                <a:tc>
                  <a:txBody>
                    <a:bodyPr wrap="square"/>
                    <a:lstStyle/>
                    <a:p>
                      <a:r>
                        <a:rPr sz="1150" b="0">
                          <a:solidFill>
                            <a:srgbClr val="3C3C3C"/>
                          </a:solidFill>
                          <a:latin typeface="Segoe UI"/>
                        </a:rPr>
                        <a:t>Visual fidelity, layout and branding for like-for-like rebuild</a:t>
                      </a:r>
                    </a:p>
                  </a:txBody>
                  <a:tcPr anchor="ctr" marL="91440" marT="18288" marB="18288">
                    <a:solidFill>
                      <a:srgbClr val="F4F5F7"/>
                    </a:solidFill>
                  </a:tcPr>
                </a:tc>
              </a:tr>
            </a:tbl>
          </a:graphicData>
        </a:graphic>
      </p:graphicFrame>
      <p:sp>
        <p:nvSpPr>
          <p:cNvPr id="7" name="Rectangle 6"/>
          <p:cNvSpPr/>
          <p:nvPr/>
        </p:nvSpPr>
        <p:spPr>
          <a:xfrm>
            <a:off x="566928" y="466801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8012"/>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94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are artefacts the client already owns or can generate unattended. The business is not in the critical path.</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Assessment methodology</a:t>
            </a:r>
          </a:p>
        </p:txBody>
      </p:sp>
      <p:sp>
        <p:nvSpPr>
          <p:cNvPr id="5" name="TextBox 4"/>
          <p:cNvSpPr txBox="1"/>
          <p:nvPr/>
        </p:nvSpPr>
        <p:spPr>
          <a:xfrm>
            <a:off x="566928" y="1389888"/>
            <a:ext cx="11064240" cy="348996"/>
          </a:xfrm>
          <a:prstGeom prst="rect">
            <a:avLst/>
          </a:prstGeom>
          <a:noFill/>
        </p:spPr>
        <p:txBody>
          <a:bodyPr wrap="square">
            <a:spAutoFit/>
          </a:bodyPr>
          <a:lstStyle/>
          <a:p>
            <a:pPr algn="l">
              <a:spcBef>
                <a:spcPts val="0"/>
              </a:spcBef>
              <a:spcAft>
                <a:spcPts val="900"/>
              </a:spcAft>
            </a:pPr>
            <a:r>
              <a:rPr sz="1400" b="1" i="0">
                <a:solidFill>
                  <a:srgbClr val="1A1A1A"/>
                </a:solidFill>
                <a:latin typeface="Segoe UI"/>
              </a:rPr>
              <a:t>Extraction uses three complementary sources</a:t>
            </a:r>
          </a:p>
        </p:txBody>
      </p:sp>
      <p:graphicFrame>
        <p:nvGraphicFramePr>
          <p:cNvPr id="6" name="Table 5"/>
          <p:cNvGraphicFramePr>
            <a:graphicFrameLocks noGrp="1"/>
          </p:cNvGraphicFramePr>
          <p:nvPr/>
        </p:nvGraphicFramePr>
        <p:xfrm>
          <a:off x="566928" y="1874519"/>
          <a:ext cx="11064238" cy="1170432"/>
        </p:xfrm>
        <a:graphic>
          <a:graphicData uri="http://schemas.openxmlformats.org/drawingml/2006/table">
            <a:tbl>
              <a:tblPr firstRow="1" bandRow="1">
                <a:tableStyleId>{5C22544A-7EE6-4342-B048-85BDC9FD1C3A}</a:tableStyleId>
              </a:tblPr>
              <a:tblGrid>
                <a:gridCol w="2926079"/>
                <a:gridCol w="4937760"/>
                <a:gridCol w="3200399"/>
              </a:tblGrid>
              <a:tr h="347472">
                <a:tc>
                  <a:txBody>
                    <a:bodyPr wrap="square"/>
                    <a:lstStyle/>
                    <a:p>
                      <a:r>
                        <a:rPr sz="1200" b="1">
                          <a:solidFill>
                            <a:srgbClr val="FFFFFF"/>
                          </a:solidFill>
                          <a:latin typeface="Segoe UI"/>
                        </a:rPr>
                        <a:t>Source</a:t>
                      </a:r>
                    </a:p>
                  </a:txBody>
                  <a:tcPr anchor="ctr" marL="91440">
                    <a:solidFill>
                      <a:srgbClr val="007BA4"/>
                    </a:solidFill>
                  </a:tcPr>
                </a:tc>
                <a:tc>
                  <a:txBody>
                    <a:bodyPr wrap="square"/>
                    <a:lstStyle/>
                    <a:p>
                      <a:r>
                        <a:rPr sz="1200" b="1">
                          <a:solidFill>
                            <a:srgbClr val="FFFFFF"/>
                          </a:solidFill>
                          <a:latin typeface="Segoe UI"/>
                        </a:rPr>
                        <a:t>Yields</a:t>
                      </a:r>
                    </a:p>
                  </a:txBody>
                  <a:tcPr anchor="ctr" marL="91440">
                    <a:solidFill>
                      <a:srgbClr val="007BA4"/>
                    </a:solidFill>
                  </a:tcPr>
                </a:tc>
                <a:tc>
                  <a:txBody>
                    <a:bodyPr wrap="square"/>
                    <a:lstStyle/>
                    <a:p>
                      <a:r>
                        <a:rPr sz="1200" b="1">
                          <a:solidFill>
                            <a:srgbClr val="FFFFFF"/>
                          </a:solidFill>
                          <a:latin typeface="Segoe UI"/>
                        </a:rPr>
                        <a:t>Necessity</a:t>
                      </a:r>
                    </a:p>
                  </a:txBody>
                  <a:tcPr anchor="ctr" marL="91440">
                    <a:solidFill>
                      <a:srgbClr val="007BA4"/>
                    </a:solidFill>
                  </a:tcPr>
                </a:tc>
              </a:tr>
              <a:tr h="274320">
                <a:tc>
                  <a:txBody>
                    <a:bodyPr wrap="square"/>
                    <a:lstStyle/>
                    <a:p>
                      <a:r>
                        <a:rPr sz="1200" b="1">
                          <a:solidFill>
                            <a:srgbClr val="1A1A1A"/>
                          </a:solidFill>
                          <a:latin typeface="Segoe UI"/>
                        </a:rPr>
                        <a:t>Application export (.zip)</a:t>
                      </a:r>
                    </a:p>
                  </a:txBody>
                  <a:tcPr anchor="ctr" marL="91440" marT="18288" marB="18288">
                    <a:solidFill>
                      <a:srgbClr val="FFFFFF"/>
                    </a:solidFill>
                  </a:tcPr>
                </a:tc>
                <a:tc>
                  <a:txBody>
                    <a:bodyPr wrap="square"/>
                    <a:lstStyle/>
                    <a:p>
                      <a:r>
                        <a:rPr sz="1200" b="0">
                          <a:solidFill>
                            <a:srgbClr val="3C3C3C"/>
                          </a:solidFill>
                          <a:latin typeface="Segoe UI"/>
                        </a:rPr>
                        <a:t>SQL schema, full rule inventory</a:t>
                      </a:r>
                    </a:p>
                  </a:txBody>
                  <a:tcPr anchor="ctr" marL="91440" marT="18288" marB="18288">
                    <a:solidFill>
                      <a:srgbClr val="FFFFFF"/>
                    </a:solidFill>
                  </a:tcPr>
                </a:tc>
                <a:tc>
                  <a:txBody>
                    <a:bodyPr wrap="square"/>
                    <a:lstStyle/>
                    <a:p>
                      <a:r>
                        <a:rPr sz="1200" b="0">
                          <a:solidFill>
                            <a:srgbClr val="3C3C3C"/>
                          </a:solidFill>
                          <a:latin typeface="Segoe UI"/>
                        </a:rPr>
                        <a:t>Baseline - what exists</a:t>
                      </a:r>
                    </a:p>
                  </a:txBody>
                  <a:tcPr anchor="ctr" marL="91440" marT="18288" marB="18288">
                    <a:solidFill>
                      <a:srgbClr val="FFFFFF"/>
                    </a:solidFill>
                  </a:tcPr>
                </a:tc>
              </a:tr>
              <a:tr h="274320">
                <a:tc>
                  <a:txBody>
                    <a:bodyPr wrap="square"/>
                    <a:lstStyle/>
                    <a:p>
                      <a:r>
                        <a:rPr sz="1200" b="1">
                          <a:solidFill>
                            <a:srgbClr val="1A1A1A"/>
                          </a:solidFill>
                          <a:latin typeface="Segoe UI"/>
                        </a:rPr>
                        <a:t>Application document (.docx)</a:t>
                      </a:r>
                    </a:p>
                  </a:txBody>
                  <a:tcPr anchor="ctr" marL="91440" marT="18288" marB="18288">
                    <a:solidFill>
                      <a:srgbClr val="F4F5F7"/>
                    </a:solidFill>
                  </a:tcPr>
                </a:tc>
                <a:tc>
                  <a:txBody>
                    <a:bodyPr wrap="square"/>
                    <a:lstStyle/>
                    <a:p>
                      <a:r>
                        <a:rPr sz="1200" b="0">
                          <a:solidFill>
                            <a:srgbClr val="3C3C3C"/>
                          </a:solidFill>
                          <a:latin typeface="Segoe UI"/>
                        </a:rPr>
                        <a:t>Stages, flows, decision tables, security</a:t>
                      </a:r>
                    </a:p>
                  </a:txBody>
                  <a:tcPr anchor="ctr" marL="91440" marT="18288" marB="18288">
                    <a:solidFill>
                      <a:srgbClr val="F4F5F7"/>
                    </a:solidFill>
                  </a:tcPr>
                </a:tc>
                <a:tc>
                  <a:txBody>
                    <a:bodyPr wrap="square"/>
                    <a:lstStyle/>
                    <a:p>
                      <a:r>
                        <a:rPr sz="1200" b="0">
                          <a:solidFill>
                            <a:srgbClr val="3C3C3C"/>
                          </a:solidFill>
                          <a:latin typeface="Segoe UI"/>
                        </a:rPr>
                        <a:t>Structure and logic</a:t>
                      </a:r>
                    </a:p>
                  </a:txBody>
                  <a:tcPr anchor="ctr" marL="91440" marT="18288" marB="18288">
                    <a:solidFill>
                      <a:srgbClr val="F4F5F7"/>
                    </a:solidFill>
                  </a:tcPr>
                </a:tc>
              </a:tr>
              <a:tr h="274320">
                <a:tc>
                  <a:txBody>
                    <a:bodyPr wrap="square"/>
                    <a:lstStyle/>
                    <a:p>
                      <a:r>
                        <a:rPr sz="1200" b="1">
                          <a:solidFill>
                            <a:srgbClr val="1A1A1A"/>
                          </a:solidFill>
                          <a:latin typeface="Segoe UI"/>
                        </a:rPr>
                        <a:t>Live instance (DX API)</a:t>
                      </a:r>
                    </a:p>
                  </a:txBody>
                  <a:tcPr anchor="ctr" marL="91440" marT="18288" marB="18288">
                    <a:solidFill>
                      <a:srgbClr val="FFFFFF"/>
                    </a:solidFill>
                  </a:tcPr>
                </a:tc>
                <a:tc>
                  <a:txBody>
                    <a:bodyPr wrap="square"/>
                    <a:lstStyle/>
                    <a:p>
                      <a:r>
                        <a:rPr sz="1200" b="0">
                          <a:solidFill>
                            <a:srgbClr val="3C3C3C"/>
                          </a:solidFill>
                          <a:latin typeface="Segoe UI"/>
                        </a:rPr>
                        <a:t>Views, fields, choice values, theme</a:t>
                      </a:r>
                    </a:p>
                  </a:txBody>
                  <a:tcPr anchor="ctr" marL="91440" marT="18288" marB="18288">
                    <a:solidFill>
                      <a:srgbClr val="FFFFFF"/>
                    </a:solidFill>
                  </a:tcPr>
                </a:tc>
                <a:tc>
                  <a:txBody>
                    <a:bodyPr wrap="square"/>
                    <a:lstStyle/>
                    <a:p>
                      <a:r>
                        <a:rPr sz="1200" b="1">
                          <a:solidFill>
                            <a:srgbClr val="1A1A1A"/>
                          </a:solidFill>
                          <a:latin typeface="Segoe UI"/>
                        </a:rPr>
                        <a:t>Essential - the largest single uplift</a:t>
                      </a:r>
                    </a:p>
                  </a:txBody>
                  <a:tcPr anchor="ctr" marL="91440" marT="18288" marB="18288">
                    <a:solidFill>
                      <a:srgbClr val="FFFFFF"/>
                    </a:solidFill>
                  </a:tcPr>
                </a:tc>
              </a:tr>
            </a:tbl>
          </a:graphicData>
        </a:graphic>
      </p:graphicFrame>
      <p:sp>
        <p:nvSpPr>
          <p:cNvPr id="7" name="TextBox 6"/>
          <p:cNvSpPr txBox="1"/>
          <p:nvPr/>
        </p:nvSpPr>
        <p:spPr>
          <a:xfrm>
            <a:off x="566928" y="3520440"/>
            <a:ext cx="11064240" cy="2122424"/>
          </a:xfrm>
          <a:prstGeom prst="rect">
            <a:avLst/>
          </a:prstGeom>
          <a:noFill/>
        </p:spPr>
        <p:txBody>
          <a:bodyPr wrap="square">
            <a:spAutoFit/>
          </a:bodyPr>
          <a:lstStyle/>
          <a:p>
            <a:pPr algn="l">
              <a:spcBef>
                <a:spcPts val="0"/>
              </a:spcBef>
              <a:spcAft>
                <a:spcPts val="650"/>
              </a:spcAft>
            </a:pPr>
            <a:r>
              <a:rPr sz="1300" b="1" i="0">
                <a:solidFill>
                  <a:srgbClr val="1A1A1A"/>
                </a:solidFill>
                <a:latin typeface="Segoe UI"/>
              </a:rPr>
              <a:t>Fidelity is determined by the source combination</a:t>
            </a:r>
          </a:p>
          <a:p>
            <a:pPr algn="l">
              <a:spcBef>
                <a:spcPts val="0"/>
              </a:spcBef>
              <a:spcAft>
                <a:spcPts val="650"/>
              </a:spcAft>
            </a:pPr>
            <a:r>
              <a:rPr sz="1300" b="0" i="0">
                <a:solidFill>
                  <a:srgbClr val="1A1A1A"/>
                </a:solidFill>
                <a:latin typeface="Segoe UI"/>
              </a:rPr>
              <a:t>•  Export only - schema and inventory, no lifecycle or screens</a:t>
            </a:r>
          </a:p>
          <a:p>
            <a:pPr algn="l">
              <a:spcBef>
                <a:spcPts val="0"/>
              </a:spcBef>
              <a:spcAft>
                <a:spcPts val="650"/>
              </a:spcAft>
            </a:pPr>
            <a:r>
              <a:rPr sz="1300" b="0" i="0">
                <a:solidFill>
                  <a:srgbClr val="1A1A1A"/>
                </a:solidFill>
                <a:latin typeface="Segoe UI"/>
              </a:rPr>
              <a:t>•  Export plus document - case types, stages, flows, decisions, data model</a:t>
            </a:r>
          </a:p>
          <a:p>
            <a:pPr algn="l">
              <a:spcBef>
                <a:spcPts val="0"/>
              </a:spcBef>
              <a:spcAft>
                <a:spcPts val="650"/>
              </a:spcAft>
            </a:pPr>
            <a:r>
              <a:rPr sz="1300" b="0" i="0">
                <a:solidFill>
                  <a:srgbClr val="1A1A1A"/>
                </a:solidFill>
                <a:latin typeface="Segoe UI"/>
              </a:rPr>
              <a:t>•  All three - the above plus real screens and choice sets</a:t>
            </a:r>
          </a:p>
          <a:p>
            <a:pPr algn="l">
              <a:spcBef>
                <a:spcPts val="800"/>
              </a:spcBef>
              <a:spcAft>
                <a:spcPts val="650"/>
              </a:spcAft>
            </a:pPr>
            <a:r>
              <a:rPr sz="1300" b="1" i="0">
                <a:solidFill>
                  <a:srgbClr val="1A1A1A"/>
                </a:solidFill>
                <a:latin typeface="Segoe UI"/>
              </a:rPr>
              <a:t>Verified during the PoC</a:t>
            </a:r>
          </a:p>
          <a:p>
            <a:pPr algn="l">
              <a:spcBef>
                <a:spcPts val="0"/>
              </a:spcBef>
              <a:spcAft>
                <a:spcPts val="650"/>
              </a:spcAft>
            </a:pPr>
            <a:r>
              <a:rPr sz="1300" b="0" i="0">
                <a:solidFill>
                  <a:srgbClr val="1A1A1A"/>
                </a:solidFill>
                <a:latin typeface="Segoe UI"/>
              </a:rPr>
              <a:t>•  An export-plus-document run captured 0 of 49 views and 0 choice sets, and inferred a different stage decomposition from document prose. The three-source run captured 28 views and 27 choice sets and walks real cases via the API.</a:t>
            </a:r>
          </a:p>
        </p:txBody>
      </p:sp>
      <p:sp>
        <p:nvSpPr>
          <p:cNvPr id="8" name="Rectangle 7"/>
          <p:cNvSpPr/>
          <p:nvPr/>
        </p:nvSpPr>
        <p:spPr>
          <a:xfrm>
            <a:off x="566928" y="591718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91718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600862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Recommendation: never assess a Pega application without DX API access to a sandbox. Structure inferred from prose is unreliable.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Rules, forms and workflows analysed</a:t>
            </a:r>
          </a:p>
        </p:txBody>
      </p:sp>
      <p:graphicFrame>
        <p:nvGraphicFramePr>
          <p:cNvPr id="5" name="Table 4"/>
          <p:cNvGraphicFramePr>
            <a:graphicFrameLocks noGrp="1"/>
          </p:cNvGraphicFramePr>
          <p:nvPr/>
        </p:nvGraphicFramePr>
        <p:xfrm>
          <a:off x="566928" y="1536192"/>
          <a:ext cx="11064238" cy="3090672"/>
        </p:xfrm>
        <a:graphic>
          <a:graphicData uri="http://schemas.openxmlformats.org/drawingml/2006/table">
            <a:tbl>
              <a:tblPr firstRow="1" bandRow="1">
                <a:tableStyleId>{5C22544A-7EE6-4342-B048-85BDC9FD1C3A}</a:tableStyleId>
              </a:tblPr>
              <a:tblGrid>
                <a:gridCol w="2720714"/>
                <a:gridCol w="1904500"/>
                <a:gridCol w="1904500"/>
                <a:gridCol w="4534524"/>
              </a:tblGrid>
              <a:tr h="347472">
                <a:tc>
                  <a:txBody>
                    <a:bodyPr wrap="square"/>
                    <a:lstStyle/>
                    <a:p>
                      <a:r>
                        <a:rPr sz="1150" b="1">
                          <a:solidFill>
                            <a:srgbClr val="FFFFFF"/>
                          </a:solidFill>
                          <a:latin typeface="Segoe UI"/>
                        </a:rPr>
                        <a:t>Artefact class</a:t>
                      </a:r>
                    </a:p>
                  </a:txBody>
                  <a:tcPr anchor="ctr" marL="91440">
                    <a:solidFill>
                      <a:srgbClr val="007BA4"/>
                    </a:solidFill>
                  </a:tcPr>
                </a:tc>
                <a:tc>
                  <a:txBody>
                    <a:bodyPr wrap="square"/>
                    <a:lstStyle/>
                    <a:p>
                      <a:r>
                        <a:rPr sz="1150" b="1">
                          <a:solidFill>
                            <a:srgbClr val="FFFFFF"/>
                          </a:solidFill>
                          <a:latin typeface="Segoe UI"/>
                        </a:rPr>
                        <a:t>Count</a:t>
                      </a:r>
                    </a:p>
                  </a:txBody>
                  <a:tcPr anchor="ctr" marL="91440">
                    <a:solidFill>
                      <a:srgbClr val="007BA4"/>
                    </a:solidFill>
                  </a:tcPr>
                </a:tc>
                <a:tc>
                  <a:txBody>
                    <a:bodyPr wrap="square"/>
                    <a:lstStyle/>
                    <a:p>
                      <a:r>
                        <a:rPr sz="1150" b="1">
                          <a:solidFill>
                            <a:srgbClr val="FFFFFF"/>
                          </a:solidFill>
                          <a:latin typeface="Segoe UI"/>
                        </a:rPr>
                        <a:t>Analysed</a:t>
                      </a:r>
                    </a:p>
                  </a:txBody>
                  <a:tcPr anchor="ctr" marL="91440">
                    <a:solidFill>
                      <a:srgbClr val="007BA4"/>
                    </a:solidFill>
                  </a:tcPr>
                </a:tc>
                <a:tc>
                  <a:txBody>
                    <a:bodyPr wrap="square"/>
                    <a:lstStyle/>
                    <a:p>
                      <a:r>
                        <a:rPr sz="1150" b="1">
                          <a:solidFill>
                            <a:srgbClr val="FFFFFF"/>
                          </a:solidFill>
                          <a:latin typeface="Segoe UI"/>
                        </a:rPr>
                        <a:t>Outcome</a:t>
                      </a:r>
                    </a:p>
                  </a:txBody>
                  <a:tcPr anchor="ctr" marL="91440">
                    <a:solidFill>
                      <a:srgbClr val="007BA4"/>
                    </a:solidFill>
                  </a:tcPr>
                </a:tc>
              </a:tr>
              <a:tr h="274320">
                <a:tc>
                  <a:txBody>
                    <a:bodyPr wrap="square"/>
                    <a:lstStyle/>
                    <a:p>
                      <a:r>
                        <a:rPr sz="1150" b="1">
                          <a:solidFill>
                            <a:srgbClr val="1A1A1A"/>
                          </a:solidFill>
                          <a:latin typeface="Segoe UI"/>
                        </a:rPr>
                        <a:t>Case types</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Migrated to configuration rows</a:t>
                      </a:r>
                    </a:p>
                  </a:txBody>
                  <a:tcPr anchor="ctr" marL="91440" marT="18288" marB="18288">
                    <a:solidFill>
                      <a:srgbClr val="FFFFFF"/>
                    </a:solidFill>
                  </a:tcPr>
                </a:tc>
              </a:tr>
              <a:tr h="274320">
                <a:tc>
                  <a:txBody>
                    <a:bodyPr wrap="square"/>
                    <a:lstStyle/>
                    <a:p>
                      <a:r>
                        <a:rPr sz="1150" b="1">
                          <a:solidFill>
                            <a:srgbClr val="1A1A1A"/>
                          </a:solidFill>
                          <a:latin typeface="Segoe UI"/>
                        </a:rPr>
                        <a:t>Stages / steps</a:t>
                      </a:r>
                    </a:p>
                  </a:txBody>
                  <a:tcPr anchor="ctr" marL="91440" marT="18288" marB="18288">
                    <a:solidFill>
                      <a:srgbClr val="F4F5F7"/>
                    </a:solidFill>
                  </a:tcPr>
                </a:tc>
                <a:tc>
                  <a:txBody>
                    <a:bodyPr wrap="square"/>
                    <a:lstStyle/>
                    <a:p>
                      <a:r>
                        <a:rPr sz="1150" b="0">
                          <a:solidFill>
                            <a:srgbClr val="3C3C3C"/>
                          </a:solidFill>
                          <a:latin typeface="Segoe UI"/>
                        </a:rPr>
                        <a:t>39 / 80</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Migrated to configuration rows</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10 (28 rows)</a:t>
                      </a:r>
                    </a:p>
                  </a:txBody>
                  <a:tcPr anchor="ctr" marL="91440" marT="18288" marB="18288">
                    <a:solidFill>
                      <a:srgbClr val="FFFFFF"/>
                    </a:solidFill>
                  </a:tcPr>
                </a:tc>
                <a:tc>
                  <a:txBody>
                    <a:bodyPr wrap="square"/>
                    <a:lstStyle/>
                    <a:p>
                      <a:r>
                        <a:rPr sz="1150" b="0">
                          <a:solidFill>
                            <a:srgbClr val="3C3C3C"/>
                          </a:solidFill>
                          <a:latin typeface="Segoe UI"/>
                        </a:rPr>
                        <a:t>All</a:t>
                      </a:r>
                    </a:p>
                  </a:txBody>
                  <a:tcPr anchor="ctr" marL="91440" marT="18288" marB="18288">
                    <a:solidFill>
                      <a:srgbClr val="FFFFFF"/>
                    </a:solidFill>
                  </a:tcPr>
                </a:tc>
                <a:tc>
                  <a:txBody>
                    <a:bodyPr wrap="square"/>
                    <a:lstStyle/>
                    <a:p>
                      <a:r>
                        <a:rPr sz="1150" b="0">
                          <a:solidFill>
                            <a:srgbClr val="3C3C3C"/>
                          </a:solidFill>
                          <a:latin typeface="Segoe UI"/>
                        </a:rPr>
                        <a:t>Migrated and executing</a:t>
                      </a:r>
                    </a:p>
                  </a:txBody>
                  <a:tcPr anchor="ctr" marL="91440" marT="18288" marB="18288">
                    <a:solidFill>
                      <a:srgbClr val="FFFFFF"/>
                    </a:solidFill>
                  </a:tcPr>
                </a:tc>
              </a:tr>
              <a:tr h="274320">
                <a:tc>
                  <a:txBody>
                    <a:bodyPr wrap="square"/>
                    <a:lstStyle/>
                    <a:p>
                      <a:r>
                        <a:rPr sz="1150" b="1">
                          <a:solidFill>
                            <a:srgbClr val="1A1A1A"/>
                          </a:solidFill>
                          <a:latin typeface="Segoe UI"/>
                        </a:rPr>
                        <a:t>UI views</a:t>
                      </a:r>
                    </a:p>
                  </a:txBody>
                  <a:tcPr anchor="ctr" marL="91440" marT="18288" marB="18288">
                    <a:solidFill>
                      <a:srgbClr val="F4F5F7"/>
                    </a:solidFill>
                  </a:tcPr>
                </a:tc>
                <a:tc>
                  <a:txBody>
                    <a:bodyPr wrap="square"/>
                    <a:lstStyle/>
                    <a:p>
                      <a:r>
                        <a:rPr sz="1150" b="0">
                          <a:solidFill>
                            <a:srgbClr val="3C3C3C"/>
                          </a:solidFill>
                          <a:latin typeface="Segoe UI"/>
                        </a:rPr>
                        <a:t>191 (49 step-bound)</a:t>
                      </a:r>
                    </a:p>
                  </a:txBody>
                  <a:tcPr anchor="ctr" marL="91440" marT="18288" marB="18288">
                    <a:solidFill>
                      <a:srgbClr val="F4F5F7"/>
                    </a:solidFill>
                  </a:tcPr>
                </a:tc>
                <a:tc>
                  <a:txBody>
                    <a:bodyPr wrap="square"/>
                    <a:lstStyle/>
                    <a:p>
                      <a:r>
                        <a:rPr sz="1150" b="0">
                          <a:solidFill>
                            <a:srgbClr val="3C3C3C"/>
                          </a:solidFill>
                          <a:latin typeface="Segoe UI"/>
                        </a:rPr>
                        <a:t>49</a:t>
                      </a:r>
                    </a:p>
                  </a:txBody>
                  <a:tcPr anchor="ctr" marL="91440" marT="18288" marB="18288">
                    <a:solidFill>
                      <a:srgbClr val="F4F5F7"/>
                    </a:solidFill>
                  </a:tcPr>
                </a:tc>
                <a:tc>
                  <a:txBody>
                    <a:bodyPr wrap="square"/>
                    <a:lstStyle/>
                    <a:p>
                      <a:r>
                        <a:rPr sz="1150" b="0">
                          <a:solidFill>
                            <a:srgbClr val="3C3C3C"/>
                          </a:solidFill>
                          <a:latin typeface="Segoe UI"/>
                        </a:rPr>
                        <a:t>24 migrated with 59 fields</a:t>
                      </a:r>
                    </a:p>
                  </a:txBody>
                  <a:tcPr anchor="ctr" marL="91440" marT="18288" marB="18288">
                    <a:solidFill>
                      <a:srgbClr val="F4F5F7"/>
                    </a:solidFill>
                  </a:tcPr>
                </a:tc>
              </a:tr>
              <a:tr h="274320">
                <a:tc>
                  <a:txBody>
                    <a:bodyPr wrap="square"/>
                    <a:lstStyle/>
                    <a:p>
                      <a:r>
                        <a:rPr sz="1150" b="1">
                          <a:solidFill>
                            <a:srgbClr val="1A1A1A"/>
                          </a:solidFill>
                          <a:latin typeface="Segoe UI"/>
                        </a:rPr>
                        <a:t>Choice sets</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Migrated with 107 values</a:t>
                      </a:r>
                    </a:p>
                  </a:txBody>
                  <a:tcPr anchor="ctr" marL="91440" marT="18288" marB="18288">
                    <a:solidFill>
                      <a:srgbClr val="FFFFFF"/>
                    </a:solidFill>
                  </a:tcPr>
                </a:tc>
              </a:tr>
              <a:tr h="274320">
                <a:tc>
                  <a:txBody>
                    <a:bodyPr wrap="square"/>
                    <a:lstStyle/>
                    <a:p>
                      <a:r>
                        <a:rPr sz="1150" b="1">
                          <a:solidFill>
                            <a:srgbClr val="1A1A1A"/>
                          </a:solidFill>
                          <a:latin typeface="Segoe UI"/>
                        </a:rPr>
                        <a:t>Properties</a:t>
                      </a:r>
                    </a:p>
                  </a:txBody>
                  <a:tcPr anchor="ctr" marL="91440" marT="18288" marB="18288">
                    <a:solidFill>
                      <a:srgbClr val="F4F5F7"/>
                    </a:solidFill>
                  </a:tcPr>
                </a:tc>
                <a:tc>
                  <a:txBody>
                    <a:bodyPr wrap="square"/>
                    <a:lstStyle/>
                    <a:p>
                      <a:r>
                        <a:rPr sz="1150" b="0">
                          <a:solidFill>
                            <a:srgbClr val="3C3C3C"/>
                          </a:solidFill>
                          <a:latin typeface="Segoe UI"/>
                        </a:rPr>
                        <a:t>334</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Mapped to typed Dataverse columns</a:t>
                      </a:r>
                    </a:p>
                  </a:txBody>
                  <a:tcPr anchor="ctr" marL="91440" marT="18288" marB="18288">
                    <a:solidFill>
                      <a:srgbClr val="F4F5F7"/>
                    </a:solidFill>
                  </a:tcPr>
                </a:tc>
              </a:tr>
              <a:tr h="274320">
                <a:tc>
                  <a:txBody>
                    <a:bodyPr wrap="square"/>
                    <a:lstStyle/>
                    <a:p>
                      <a:r>
                        <a:rPr sz="1150" b="1">
                          <a:solidFill>
                            <a:srgbClr val="1A1A1A"/>
                          </a:solidFill>
                          <a:latin typeface="Segoe UI"/>
                        </a:rPr>
                        <a:t>Access groups</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Imported as data; not yet enforced</a:t>
                      </a:r>
                    </a:p>
                  </a:txBody>
                  <a:tcPr anchor="ctr" marL="91440" marT="18288" marB="18288">
                    <a:solidFill>
                      <a:srgbClr val="FFFFFF"/>
                    </a:solidFill>
                  </a:tcPr>
                </a:tc>
              </a:tr>
              <a:tr h="274320">
                <a:tc>
                  <a:txBody>
                    <a:bodyPr wrap="square"/>
                    <a:lstStyle/>
                    <a:p>
                      <a:r>
                        <a:rPr sz="1150" b="1">
                          <a:solidFill>
                            <a:srgbClr val="1A1A1A"/>
                          </a:solidFill>
                          <a:latin typeface="Segoe UI"/>
                        </a:rPr>
                        <a:t>Flow rules</a:t>
                      </a:r>
                    </a:p>
                  </a:txBody>
                  <a:tcPr anchor="ctr" marL="91440" marT="18288" marB="18288">
                    <a:solidFill>
                      <a:srgbClr val="F4F5F7"/>
                    </a:solidFill>
                  </a:tcPr>
                </a:tc>
                <a:tc>
                  <a:txBody>
                    <a:bodyPr wrap="square"/>
                    <a:lstStyle/>
                    <a:p>
                      <a:r>
                        <a:rPr sz="1150" b="0">
                          <a:solidFill>
                            <a:srgbClr val="3C3C3C"/>
                          </a:solidFill>
                          <a:latin typeface="Segoe UI"/>
                        </a:rPr>
                        <a:t>35</a:t>
                      </a:r>
                    </a:p>
                  </a:txBody>
                  <a:tcPr anchor="ctr" marL="91440" marT="18288" marB="18288">
                    <a:solidFill>
                      <a:srgbClr val="F4F5F7"/>
                    </a:solidFill>
                  </a:tcPr>
                </a:tc>
                <a:tc>
                  <a:txBody>
                    <a:bodyPr wrap="square"/>
                    <a:lstStyle/>
                    <a:p>
                      <a:r>
                        <a:rPr sz="1150" b="1">
                          <a:solidFill>
                            <a:srgbClr val="1A1A1A"/>
                          </a:solidFill>
                          <a:latin typeface="Segoe UI"/>
                        </a:rPr>
                        <a:t>Bodies extracted</a:t>
                      </a:r>
                    </a:p>
                  </a:txBody>
                  <a:tcPr anchor="ctr" marL="91440" marT="18288" marB="18288">
                    <a:solidFill>
                      <a:srgbClr val="F4F5F7"/>
                    </a:solidFill>
                  </a:tcPr>
                </a:tc>
                <a:tc>
                  <a:txBody>
                    <a:bodyPr wrap="square"/>
                    <a:lstStyle/>
                    <a:p>
                      <a:r>
                        <a:rPr sz="1150" b="1">
                          <a:solidFill>
                            <a:srgbClr val="1A1A1A"/>
                          </a:solidFill>
                          <a:latin typeface="Segoe UI"/>
                        </a:rPr>
                        <a:t>0 conditional transitions</a:t>
                      </a:r>
                    </a:p>
                  </a:txBody>
                  <a:tcPr anchor="ctr" marL="91440" marT="18288" marB="18288">
                    <a:solidFill>
                      <a:srgbClr val="F4F5F7"/>
                    </a:solidFill>
                  </a:tcPr>
                </a:tc>
              </a:tr>
              <a:tr h="274320">
                <a:tc>
                  <a:txBody>
                    <a:bodyPr wrap="square"/>
                    <a:lstStyle/>
                    <a:p>
                      <a:r>
                        <a:rPr sz="1150" b="1">
                          <a:solidFill>
                            <a:srgbClr val="1A1A1A"/>
                          </a:solidFill>
                          <a:latin typeface="Segoe UI"/>
                        </a:rPr>
                        <a:t>Notifications</a:t>
                      </a:r>
                    </a:p>
                  </a:txBody>
                  <a:tcPr anchor="ctr" marL="91440" marT="18288" marB="18288">
                    <a:solidFill>
                      <a:srgbClr val="FFFFFF"/>
                    </a:solidFill>
                  </a:tcPr>
                </a:tc>
                <a:tc>
                  <a:txBody>
                    <a:bodyPr wrap="square"/>
                    <a:lstStyle/>
                    <a:p>
                      <a:r>
                        <a:rPr sz="1150" b="0">
                          <a:solidFill>
                            <a:srgbClr val="3C3C3C"/>
                          </a:solidFill>
                          <a:latin typeface="Segoe UI"/>
                        </a:rPr>
                        <a:t>27</a:t>
                      </a:r>
                    </a:p>
                  </a:txBody>
                  <a:tcPr anchor="ctr" marL="91440" marT="18288" marB="18288">
                    <a:solidFill>
                      <a:srgbClr val="FFFFFF"/>
                    </a:solidFill>
                  </a:tcPr>
                </a:tc>
                <a:tc>
                  <a:txBody>
                    <a:bodyPr wrap="square"/>
                    <a:lstStyle/>
                    <a:p>
                      <a:r>
                        <a:rPr sz="1150" b="0">
                          <a:solidFill>
                            <a:srgbClr val="3C3C3C"/>
                          </a:solidFill>
                          <a:latin typeface="Segoe UI"/>
                        </a:rPr>
                        <a:t>Inventory only</a:t>
                      </a:r>
                    </a:p>
                  </a:txBody>
                  <a:tcPr anchor="ctr" marL="91440" marT="18288" marB="18288">
                    <a:solidFill>
                      <a:srgbClr val="FFFFFF"/>
                    </a:solidFill>
                  </a:tcPr>
                </a:tc>
                <a:tc>
                  <a:txBody>
                    <a:bodyPr wrap="square"/>
                    <a:lstStyle/>
                    <a:p>
                      <a:r>
                        <a:rPr sz="1150" b="1">
                          <a:solidFill>
                            <a:srgbClr val="1A1A1A"/>
                          </a:solidFill>
                          <a:latin typeface="Segoe UI"/>
                        </a:rPr>
                        <a:t>Bodies not exportable</a:t>
                      </a:r>
                    </a:p>
                  </a:txBody>
                  <a:tcPr anchor="ctr" marL="91440" marT="18288" marB="18288">
                    <a:solidFill>
                      <a:srgbClr val="FFFFFF"/>
                    </a:solidFill>
                  </a:tcPr>
                </a:tc>
              </a:tr>
              <a:tr h="274320">
                <a:tc>
                  <a:txBody>
                    <a:bodyPr wrap="square"/>
                    <a:lstStyle/>
                    <a:p>
                      <a:r>
                        <a:rPr sz="1150" b="1">
                          <a:solidFill>
                            <a:srgbClr val="1A1A1A"/>
                          </a:solidFill>
                          <a:latin typeface="Segoe UI"/>
                        </a:rPr>
                        <a:t>Declarative expressions</a:t>
                      </a:r>
                    </a:p>
                  </a:txBody>
                  <a:tcPr anchor="ctr" marL="91440" marT="18288" marB="18288">
                    <a:solidFill>
                      <a:srgbClr val="F4F5F7"/>
                    </a:solidFill>
                  </a:tcPr>
                </a:tc>
                <a:tc>
                  <a:txBody>
                    <a:bodyPr wrap="square"/>
                    <a:lstStyle/>
                    <a:p>
                      <a:r>
                        <a:rPr sz="1150" b="0">
                          <a:solidFill>
                            <a:srgbClr val="3C3C3C"/>
                          </a:solidFill>
                          <a:latin typeface="Segoe UI"/>
                        </a:rPr>
                        <a:t>36</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All literal defaults - no logic lost</a:t>
                      </a:r>
                    </a:p>
                  </a:txBody>
                  <a:tcPr anchor="ctr" marL="91440" marT="18288" marB="18288">
                    <a:solidFill>
                      <a:srgbClr val="F4F5F7"/>
                    </a:solidFill>
                  </a:tcPr>
                </a:tc>
              </a:tr>
            </a:tbl>
          </a:graphicData>
        </a:graphic>
      </p:graphicFrame>
      <p:sp>
        <p:nvSpPr>
          <p:cNvPr id="6" name="Rectangle 5"/>
          <p:cNvSpPr/>
          <p:nvPr/>
        </p:nvSpPr>
        <p:spPr>
          <a:xfrm>
            <a:off x="566928" y="490118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01183"/>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99262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36 declarative expressions were individually inspected rather than assumed - every one sets a literal default, so nothing was lost by not importing them.</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Mapping strategy</a:t>
            </a:r>
          </a:p>
        </p:txBody>
      </p:sp>
      <p:graphicFrame>
        <p:nvGraphicFramePr>
          <p:cNvPr id="5" name="Table 4"/>
          <p:cNvGraphicFramePr>
            <a:graphicFrameLocks noGrp="1"/>
          </p:cNvGraphicFramePr>
          <p:nvPr/>
        </p:nvGraphicFramePr>
        <p:xfrm>
          <a:off x="566928" y="1536192"/>
          <a:ext cx="11064240" cy="3639312"/>
        </p:xfrm>
        <a:graphic>
          <a:graphicData uri="http://schemas.openxmlformats.org/drawingml/2006/table">
            <a:tbl>
              <a:tblPr firstRow="1" bandRow="1">
                <a:tableStyleId>{5C22544A-7EE6-4342-B048-85BDC9FD1C3A}</a:tableStyleId>
              </a:tblPr>
              <a:tblGrid>
                <a:gridCol w="3017520"/>
                <a:gridCol w="4937760"/>
                <a:gridCol w="3108960"/>
              </a:tblGrid>
              <a:tr h="347472">
                <a:tc>
                  <a:txBody>
                    <a:bodyPr wrap="square"/>
                    <a:lstStyle/>
                    <a:p>
                      <a:r>
                        <a:rPr sz="1100" b="1">
                          <a:solidFill>
                            <a:srgbClr val="FFFFFF"/>
                          </a:solidFill>
                          <a:latin typeface="Segoe UI"/>
                        </a:rPr>
                        <a:t>Pega artefact</a:t>
                      </a:r>
                    </a:p>
                  </a:txBody>
                  <a:tcPr anchor="ctr" marL="91440">
                    <a:solidFill>
                      <a:srgbClr val="007BA4"/>
                    </a:solidFill>
                  </a:tcPr>
                </a:tc>
                <a:tc>
                  <a:txBody>
                    <a:bodyPr wrap="square"/>
                    <a:lstStyle/>
                    <a:p>
                      <a:r>
                        <a:rPr sz="1100" b="1">
                          <a:solidFill>
                            <a:srgbClr val="FFFFFF"/>
                          </a:solidFill>
                          <a:latin typeface="Segoe UI"/>
                        </a:rPr>
                        <a:t>Power Platform component</a:t>
                      </a:r>
                    </a:p>
                  </a:txBody>
                  <a:tcPr anchor="ctr" marL="91440">
                    <a:solidFill>
                      <a:srgbClr val="007BA4"/>
                    </a:solidFill>
                  </a:tcPr>
                </a:tc>
                <a:tc>
                  <a:txBody>
                    <a:bodyPr wrap="square"/>
                    <a:lstStyle/>
                    <a:p>
                      <a:r>
                        <a:rPr sz="1100" b="1">
                          <a:solidFill>
                            <a:srgbClr val="FFFFFF"/>
                          </a:solidFill>
                          <a:latin typeface="Segoe UI"/>
                        </a:rPr>
                        <a:t>Method</a:t>
                      </a:r>
                    </a:p>
                  </a:txBody>
                  <a:tcPr anchor="ctr" marL="91440">
                    <a:solidFill>
                      <a:srgbClr val="007BA4"/>
                    </a:solidFill>
                  </a:tcPr>
                </a:tc>
              </a:tr>
              <a:tr h="274320">
                <a:tc>
                  <a:txBody>
                    <a:bodyPr wrap="square"/>
                    <a:lstStyle/>
                    <a:p>
                      <a:r>
                        <a:rPr sz="1100" b="1">
                          <a:solidFill>
                            <a:srgbClr val="1A1A1A"/>
                          </a:solidFill>
                          <a:latin typeface="Segoe UI"/>
                        </a:rPr>
                        <a:t>Case type</a:t>
                      </a:r>
                    </a:p>
                  </a:txBody>
                  <a:tcPr anchor="ctr" marL="91440" marT="18288" marB="18288">
                    <a:solidFill>
                      <a:srgbClr val="FFFFFF"/>
                    </a:solidFill>
                  </a:tcPr>
                </a:tc>
                <a:tc>
                  <a:txBody>
                    <a:bodyPr wrap="square"/>
                    <a:lstStyle/>
                    <a:p>
                      <a:r>
                        <a:rPr sz="1100" b="0">
                          <a:solidFill>
                            <a:srgbClr val="3C3C3C"/>
                          </a:solidFill>
                          <a:latin typeface="Segoe UI"/>
                        </a:rPr>
                        <a:t>ava_lddcasetype row + detail table</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Stage</a:t>
                      </a:r>
                    </a:p>
                  </a:txBody>
                  <a:tcPr anchor="ctr" marL="91440" marT="18288" marB="18288">
                    <a:solidFill>
                      <a:srgbClr val="F4F5F7"/>
                    </a:solidFill>
                  </a:tcPr>
                </a:tc>
                <a:tc>
                  <a:txBody>
                    <a:bodyPr wrap="square"/>
                    <a:lstStyle/>
                    <a:p>
                      <a:r>
                        <a:rPr sz="1100" b="0">
                          <a:solidFill>
                            <a:srgbClr val="3C3C3C"/>
                          </a:solidFill>
                          <a:latin typeface="Segoe UI"/>
                        </a:rPr>
                        <a:t>ava_lddstage row</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Step</a:t>
                      </a:r>
                    </a:p>
                  </a:txBody>
                  <a:tcPr anchor="ctr" marL="91440" marT="18288" marB="18288">
                    <a:solidFill>
                      <a:srgbClr val="FFFFFF"/>
                    </a:solidFill>
                  </a:tcPr>
                </a:tc>
                <a:tc>
                  <a:txBody>
                    <a:bodyPr wrap="square"/>
                    <a:lstStyle/>
                    <a:p>
                      <a:r>
                        <a:rPr sz="1100" b="0">
                          <a:solidFill>
                            <a:srgbClr val="3C3C3C"/>
                          </a:solidFill>
                          <a:latin typeface="Segoe UI"/>
                        </a:rPr>
                        <a:t>ava_lddstep row (kind + impl)</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Decision table</a:t>
                      </a:r>
                    </a:p>
                  </a:txBody>
                  <a:tcPr anchor="ctr" marL="91440" marT="18288" marB="18288">
                    <a:solidFill>
                      <a:srgbClr val="F4F5F7"/>
                    </a:solidFill>
                  </a:tcPr>
                </a:tc>
                <a:tc>
                  <a:txBody>
                    <a:bodyPr wrap="square"/>
                    <a:lstStyle/>
                    <a:p>
                      <a:r>
                        <a:rPr sz="1100" b="0">
                          <a:solidFill>
                            <a:srgbClr val="3C3C3C"/>
                          </a:solidFill>
                          <a:latin typeface="Segoe UI"/>
                        </a:rPr>
                        <a:t>ava_ldddecision + rows, engine-evaluated</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UI view</a:t>
                      </a:r>
                    </a:p>
                  </a:txBody>
                  <a:tcPr anchor="ctr" marL="91440" marT="18288" marB="18288">
                    <a:solidFill>
                      <a:srgbClr val="FFFFFF"/>
                    </a:solidFill>
                  </a:tcPr>
                </a:tc>
                <a:tc>
                  <a:txBody>
                    <a:bodyPr wrap="square"/>
                    <a:lstStyle/>
                    <a:p>
                      <a:r>
                        <a:rPr sz="1100" b="0">
                          <a:solidFill>
                            <a:srgbClr val="3C3C3C"/>
                          </a:solidFill>
                          <a:latin typeface="Segoe UI"/>
                        </a:rPr>
                        <a:t>ava_lddview + ava_lddviewfield, rendered dynamically</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Choice set</a:t>
                      </a:r>
                    </a:p>
                  </a:txBody>
                  <a:tcPr anchor="ctr" marL="91440" marT="18288" marB="18288">
                    <a:solidFill>
                      <a:srgbClr val="F4F5F7"/>
                    </a:solidFill>
                  </a:tcPr>
                </a:tc>
                <a:tc>
                  <a:txBody>
                    <a:bodyPr wrap="square"/>
                    <a:lstStyle/>
                    <a:p>
                      <a:r>
                        <a:rPr sz="1100" b="0">
                          <a:solidFill>
                            <a:srgbClr val="3C3C3C"/>
                          </a:solidFill>
                          <a:latin typeface="Segoe UI"/>
                        </a:rPr>
                        <a:t>ava_lddchoiceset + values</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Property</a:t>
                      </a:r>
                    </a:p>
                  </a:txBody>
                  <a:tcPr anchor="ctr" marL="91440" marT="18288" marB="18288">
                    <a:solidFill>
                      <a:srgbClr val="FFFFFF"/>
                    </a:solidFill>
                  </a:tcPr>
                </a:tc>
                <a:tc>
                  <a:txBody>
                    <a:bodyPr wrap="square"/>
                    <a:lstStyle/>
                    <a:p>
                      <a:r>
                        <a:rPr sz="1100" b="0">
                          <a:solidFill>
                            <a:srgbClr val="3C3C3C"/>
                          </a:solidFill>
                          <a:latin typeface="Segoe UI"/>
                        </a:rPr>
                        <a:t>Typed Dataverse column</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Access group</a:t>
                      </a:r>
                    </a:p>
                  </a:txBody>
                  <a:tcPr anchor="ctr" marL="91440" marT="18288" marB="18288">
                    <a:solidFill>
                      <a:srgbClr val="F4F5F7"/>
                    </a:solidFill>
                  </a:tcPr>
                </a:tc>
                <a:tc>
                  <a:txBody>
                    <a:bodyPr wrap="square"/>
                    <a:lstStyle/>
                    <a:p>
                      <a:r>
                        <a:rPr sz="1100" b="0">
                          <a:solidFill>
                            <a:srgbClr val="3C3C3C"/>
                          </a:solidFill>
                          <a:latin typeface="Segoe UI"/>
                        </a:rPr>
                        <a:t>ava_lddrole row</a:t>
                      </a:r>
                    </a:p>
                  </a:txBody>
                  <a:tcPr anchor="ctr" marL="91440" marT="18288" marB="18288">
                    <a:solidFill>
                      <a:srgbClr val="F4F5F7"/>
                    </a:solidFill>
                  </a:tcPr>
                </a:tc>
                <a:tc>
                  <a:txBody>
                    <a:bodyPr wrap="square"/>
                    <a:lstStyle/>
                    <a:p>
                      <a:r>
                        <a:rPr sz="1100" b="0">
                          <a:solidFill>
                            <a:srgbClr val="3C3C3C"/>
                          </a:solidFill>
                          <a:latin typeface="Segoe UI"/>
                        </a:rPr>
                        <a:t>Automated (data only)</a:t>
                      </a:r>
                    </a:p>
                  </a:txBody>
                  <a:tcPr anchor="ctr" marL="91440" marT="18288" marB="18288">
                    <a:solidFill>
                      <a:srgbClr val="F4F5F7"/>
                    </a:solidFill>
                  </a:tcPr>
                </a:tc>
              </a:tr>
              <a:tr h="274320">
                <a:tc>
                  <a:txBody>
                    <a:bodyPr wrap="square"/>
                    <a:lstStyle/>
                    <a:p>
                      <a:r>
                        <a:rPr sz="1100" b="1">
                          <a:solidFill>
                            <a:srgbClr val="1A1A1A"/>
                          </a:solidFill>
                          <a:latin typeface="Segoe UI"/>
                        </a:rPr>
                        <a:t>Flow when condition</a:t>
                      </a:r>
                    </a:p>
                  </a:txBody>
                  <a:tcPr anchor="ctr" marL="91440" marT="18288" marB="18288">
                    <a:solidFill>
                      <a:srgbClr val="FFFFFF"/>
                    </a:solidFill>
                  </a:tcPr>
                </a:tc>
                <a:tc>
                  <a:txBody>
                    <a:bodyPr wrap="square"/>
                    <a:lstStyle/>
                    <a:p>
                      <a:r>
                        <a:rPr sz="1100" b="0">
                          <a:solidFill>
                            <a:srgbClr val="3C3C3C"/>
                          </a:solidFill>
                          <a:latin typeface="Segoe UI"/>
                        </a:rPr>
                        <a:t>Step guard columns</a:t>
                      </a:r>
                    </a:p>
                  </a:txBody>
                  <a:tcPr anchor="ctr" marL="91440" marT="18288" marB="18288">
                    <a:solidFill>
                      <a:srgbClr val="FFFFFF"/>
                    </a:solidFill>
                  </a:tcPr>
                </a:tc>
                <a:tc>
                  <a:txBody>
                    <a:bodyPr wrap="square"/>
                    <a:lstStyle/>
                    <a:p>
                      <a:r>
                        <a:rPr sz="1100" b="0">
                          <a:solidFill>
                            <a:srgbClr val="3C3C3C"/>
                          </a:solidFill>
                          <a:latin typeface="Segoe UI"/>
                        </a:rPr>
                        <a:t>Inferred + capped</a:t>
                      </a:r>
                    </a:p>
                  </a:txBody>
                  <a:tcPr anchor="ctr" marL="91440" marT="18288" marB="18288">
                    <a:solidFill>
                      <a:srgbClr val="FFFFFF"/>
                    </a:solidFill>
                  </a:tcPr>
                </a:tc>
              </a:tr>
              <a:tr h="274320">
                <a:tc>
                  <a:txBody>
                    <a:bodyPr wrap="square"/>
                    <a:lstStyle/>
                    <a:p>
                      <a:r>
                        <a:rPr sz="1100" b="1">
                          <a:solidFill>
                            <a:srgbClr val="1A1A1A"/>
                          </a:solidFill>
                          <a:latin typeface="Segoe UI"/>
                        </a:rPr>
                        <a:t>pzNotifyWrapper</a:t>
                      </a:r>
                    </a:p>
                  </a:txBody>
                  <a:tcPr anchor="ctr" marL="91440" marT="18288" marB="18288">
                    <a:solidFill>
                      <a:srgbClr val="F4F5F7"/>
                    </a:solidFill>
                  </a:tcPr>
                </a:tc>
                <a:tc>
                  <a:txBody>
                    <a:bodyPr wrap="square"/>
                    <a:lstStyle/>
                    <a:p>
                      <a:r>
                        <a:rPr sz="1100" b="0">
                          <a:solidFill>
                            <a:srgbClr val="3C3C3C"/>
                          </a:solidFill>
                          <a:latin typeface="Segoe UI"/>
                        </a:rPr>
                        <a:t>Power Automate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r h="274320">
                <a:tc>
                  <a:txBody>
                    <a:bodyPr wrap="square"/>
                    <a:lstStyle/>
                    <a:p>
                      <a:r>
                        <a:rPr sz="1100" b="1">
                          <a:solidFill>
                            <a:srgbClr val="1A1A1A"/>
                          </a:solidFill>
                          <a:latin typeface="Segoe UI"/>
                        </a:rPr>
                        <a:t>pzRunDataTransform</a:t>
                      </a:r>
                    </a:p>
                  </a:txBody>
                  <a:tcPr anchor="ctr" marL="91440" marT="18288" marB="18288">
                    <a:solidFill>
                      <a:srgbClr val="FFFFFF"/>
                    </a:solidFill>
                  </a:tcPr>
                </a:tc>
                <a:tc>
                  <a:txBody>
                    <a:bodyPr wrap="square"/>
                    <a:lstStyle/>
                    <a:p>
                      <a:r>
                        <a:rPr sz="1100" b="0">
                          <a:solidFill>
                            <a:srgbClr val="3C3C3C"/>
                          </a:solidFill>
                          <a:latin typeface="Segoe UI"/>
                        </a:rPr>
                        <a:t>Transform registry entry</a:t>
                      </a:r>
                    </a:p>
                  </a:txBody>
                  <a:tcPr anchor="ctr" marL="91440" marT="18288" marB="18288">
                    <a:solidFill>
                      <a:srgbClr val="FFFFFF"/>
                    </a:solidFill>
                  </a:tcPr>
                </a:tc>
                <a:tc>
                  <a:txBody>
                    <a:bodyPr wrap="square"/>
                    <a:lstStyle/>
                    <a:p>
                      <a:r>
                        <a:rPr sz="1100" b="0">
                          <a:solidFill>
                            <a:srgbClr val="3C3C3C"/>
                          </a:solidFill>
                          <a:latin typeface="Segoe UI"/>
                        </a:rPr>
                        <a:t>Manual</a:t>
                      </a:r>
                    </a:p>
                  </a:txBody>
                  <a:tcPr anchor="ctr" marL="91440" marT="18288" marB="18288">
                    <a:solidFill>
                      <a:srgbClr val="FFFFFF"/>
                    </a:solidFill>
                  </a:tcPr>
                </a:tc>
              </a:tr>
              <a:tr h="274320">
                <a:tc>
                  <a:txBody>
                    <a:bodyPr wrap="square"/>
                    <a:lstStyle/>
                    <a:p>
                      <a:r>
                        <a:rPr sz="1100" b="1">
                          <a:solidFill>
                            <a:srgbClr val="1A1A1A"/>
                          </a:solidFill>
                          <a:latin typeface="Segoe UI"/>
                        </a:rPr>
                        <a:t>pxGenerateAndAttachDocument</a:t>
                      </a:r>
                    </a:p>
                  </a:txBody>
                  <a:tcPr anchor="ctr" marL="91440" marT="18288" marB="18288">
                    <a:solidFill>
                      <a:srgbClr val="F4F5F7"/>
                    </a:solidFill>
                  </a:tcPr>
                </a:tc>
                <a:tc>
                  <a:txBody>
                    <a:bodyPr wrap="square"/>
                    <a:lstStyle/>
                    <a:p>
                      <a:r>
                        <a:rPr sz="1100" b="0">
                          <a:solidFill>
                            <a:srgbClr val="3C3C3C"/>
                          </a:solidFill>
                          <a:latin typeface="Segoe UI"/>
                        </a:rPr>
                        <a:t>Word template +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bl>
          </a:graphicData>
        </a:graphic>
      </p:graphicFrame>
      <p:sp>
        <p:nvSpPr>
          <p:cNvPr id="6" name="Rectangle 5"/>
          <p:cNvSpPr/>
          <p:nvPr/>
        </p:nvSpPr>
        <p:spPr>
          <a:xfrm>
            <a:off x="566928" y="544982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449823"/>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54126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Everything above the guard row is automated and repeatable. Everything below requires human analysis - this is the boundary that drives the effort estimate.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05</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PoC Scope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Inclusions, exclusions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Scope</a:t>
            </a:r>
          </a:p>
        </p:txBody>
      </p:sp>
      <p:sp>
        <p:nvSpPr>
          <p:cNvPr id="5" name="Rectangle 4"/>
          <p:cNvSpPr/>
          <p:nvPr/>
        </p:nvSpPr>
        <p:spPr>
          <a:xfrm>
            <a:off x="566928" y="1417320"/>
            <a:ext cx="5440680" cy="45720"/>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36192"/>
            <a:ext cx="5440680" cy="365760"/>
          </a:xfrm>
          <a:prstGeom prst="rect">
            <a:avLst/>
          </a:prstGeom>
          <a:noFill/>
        </p:spPr>
        <p:txBody>
          <a:bodyPr wrap="square">
            <a:spAutoFit/>
          </a:bodyPr>
          <a:lstStyle/>
          <a:p>
            <a:pPr algn="l">
              <a:spcBef>
                <a:spcPts val="0"/>
              </a:spcBef>
              <a:spcAft>
                <a:spcPts val="0"/>
              </a:spcAft>
            </a:pPr>
            <a:r>
              <a:rPr sz="1200" b="1" i="0">
                <a:solidFill>
                  <a:srgbClr val="1E7D32"/>
                </a:solidFill>
                <a:latin typeface="Segoe UI"/>
              </a:rPr>
              <a:t>IN SCOPE - AND DELIVERED</a:t>
            </a:r>
          </a:p>
        </p:txBody>
      </p:sp>
      <p:sp>
        <p:nvSpPr>
          <p:cNvPr id="7" name="TextBox 6"/>
          <p:cNvSpPr txBox="1"/>
          <p:nvPr/>
        </p:nvSpPr>
        <p:spPr>
          <a:xfrm>
            <a:off x="566928" y="1920240"/>
            <a:ext cx="544068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All 5 case types, end to end to resolution</a:t>
            </a:r>
          </a:p>
          <a:p>
            <a:pPr algn="l">
              <a:spcBef>
                <a:spcPts val="0"/>
              </a:spcBef>
              <a:spcAft>
                <a:spcPts val="500"/>
              </a:spcAft>
            </a:pPr>
            <a:r>
              <a:rPr sz="1250" b="0" i="0">
                <a:solidFill>
                  <a:srgbClr val="1A1A1A"/>
                </a:solidFill>
                <a:latin typeface="Segoe UI"/>
              </a:rPr>
              <a:t>•  39 stages and 80 steps executing in sequence</a:t>
            </a:r>
          </a:p>
          <a:p>
            <a:pPr algn="l">
              <a:spcBef>
                <a:spcPts val="0"/>
              </a:spcBef>
              <a:spcAft>
                <a:spcPts val="500"/>
              </a:spcAft>
            </a:pPr>
            <a:r>
              <a:rPr sz="1250" b="0" i="0">
                <a:solidFill>
                  <a:srgbClr val="1A1A1A"/>
                </a:solidFill>
                <a:latin typeface="Segoe UI"/>
              </a:rPr>
              <a:t>•  All 10 decision tables evaluating live data</a:t>
            </a:r>
          </a:p>
          <a:p>
            <a:pPr algn="l">
              <a:spcBef>
                <a:spcPts val="0"/>
              </a:spcBef>
              <a:spcAft>
                <a:spcPts val="500"/>
              </a:spcAft>
            </a:pPr>
            <a:r>
              <a:rPr sz="1250" b="0" i="0">
                <a:solidFill>
                  <a:srgbClr val="1A1A1A"/>
                </a:solidFill>
                <a:latin typeface="Segoe UI"/>
              </a:rPr>
              <a:t>•  24 step-bound views rendered dynamically</a:t>
            </a:r>
          </a:p>
          <a:p>
            <a:pPr algn="l">
              <a:spcBef>
                <a:spcPts val="0"/>
              </a:spcBef>
              <a:spcAft>
                <a:spcPts val="500"/>
              </a:spcAft>
            </a:pPr>
            <a:r>
              <a:rPr sz="1250" b="0" i="0">
                <a:solidFill>
                  <a:srgbClr val="1A1A1A"/>
                </a:solidFill>
                <a:latin typeface="Segoe UI"/>
              </a:rPr>
              <a:t>•  26 choice sets with 107 values</a:t>
            </a:r>
          </a:p>
          <a:p>
            <a:pPr algn="l">
              <a:spcBef>
                <a:spcPts val="0"/>
              </a:spcBef>
              <a:spcAft>
                <a:spcPts val="500"/>
              </a:spcAft>
            </a:pPr>
            <a:r>
              <a:rPr sz="1250" b="0" i="0">
                <a:solidFill>
                  <a:srgbClr val="1A1A1A"/>
                </a:solidFill>
                <a:latin typeface="Segoe UI"/>
              </a:rPr>
              <a:t>•  Human assignments and approval sub-processes</a:t>
            </a:r>
          </a:p>
          <a:p>
            <a:pPr algn="l">
              <a:spcBef>
                <a:spcPts val="0"/>
              </a:spcBef>
              <a:spcAft>
                <a:spcPts val="500"/>
              </a:spcAft>
            </a:pPr>
            <a:r>
              <a:rPr sz="1250" b="0" i="0">
                <a:solidFill>
                  <a:srgbClr val="1A1A1A"/>
                </a:solidFill>
                <a:latin typeface="Segoe UI"/>
              </a:rPr>
              <a:t>•  SLA goal and deadline calculation in business days</a:t>
            </a:r>
          </a:p>
          <a:p>
            <a:pPr algn="l">
              <a:spcBef>
                <a:spcPts val="0"/>
              </a:spcBef>
              <a:spcAft>
                <a:spcPts val="500"/>
              </a:spcAft>
            </a:pPr>
            <a:r>
              <a:rPr sz="1250" b="0" i="0">
                <a:solidFill>
                  <a:srgbClr val="1A1A1A"/>
                </a:solidFill>
                <a:latin typeface="Segoe UI"/>
              </a:rPr>
              <a:t>•  Full audit trail on every case event</a:t>
            </a:r>
          </a:p>
          <a:p>
            <a:pPr algn="l">
              <a:spcBef>
                <a:spcPts val="0"/>
              </a:spcBef>
              <a:spcAft>
                <a:spcPts val="500"/>
              </a:spcAft>
            </a:pPr>
            <a:r>
              <a:rPr sz="1250" b="0" i="0">
                <a:solidFill>
                  <a:srgbClr val="1A1A1A"/>
                </a:solidFill>
                <a:latin typeface="Segoe UI"/>
              </a:rPr>
              <a:t>•  Automated verification harness (58 checks)</a:t>
            </a:r>
          </a:p>
          <a:p>
            <a:pPr algn="l">
              <a:spcBef>
                <a:spcPts val="0"/>
              </a:spcBef>
              <a:spcAft>
                <a:spcPts val="500"/>
              </a:spcAft>
            </a:pPr>
            <a:r>
              <a:rPr sz="1250" b="0" i="0">
                <a:solidFill>
                  <a:srgbClr val="1A1A1A"/>
                </a:solidFill>
                <a:latin typeface="Segoe UI"/>
              </a:rPr>
              <a:t>•  Deployed to the Patrick Clarke environment</a:t>
            </a:r>
          </a:p>
        </p:txBody>
      </p:sp>
      <p:sp>
        <p:nvSpPr>
          <p:cNvPr id="8" name="Rectangle 7"/>
          <p:cNvSpPr/>
          <p:nvPr/>
        </p:nvSpPr>
        <p:spPr>
          <a:xfrm>
            <a:off x="6355080" y="1417320"/>
            <a:ext cx="5257800" cy="457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536192"/>
            <a:ext cx="5257800" cy="365760"/>
          </a:xfrm>
          <a:prstGeom prst="rect">
            <a:avLst/>
          </a:prstGeom>
          <a:noFill/>
        </p:spPr>
        <p:txBody>
          <a:bodyPr wrap="square">
            <a:spAutoFit/>
          </a:bodyPr>
          <a:lstStyle/>
          <a:p>
            <a:pPr algn="l">
              <a:spcBef>
                <a:spcPts val="0"/>
              </a:spcBef>
              <a:spcAft>
                <a:spcPts val="0"/>
              </a:spcAft>
            </a:pPr>
            <a:r>
              <a:rPr sz="1200" b="1" i="0">
                <a:solidFill>
                  <a:srgbClr val="B56A00"/>
                </a:solidFill>
                <a:latin typeface="Segoe UI"/>
              </a:rPr>
              <a:t>EXPLICITLY OUT OF SCOPE</a:t>
            </a:r>
          </a:p>
        </p:txBody>
      </p:sp>
      <p:sp>
        <p:nvSpPr>
          <p:cNvPr id="10" name="TextBox 9"/>
          <p:cNvSpPr txBox="1"/>
          <p:nvPr/>
        </p:nvSpPr>
        <p:spPr>
          <a:xfrm>
            <a:off x="6355080" y="1920240"/>
            <a:ext cx="525780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Sending notifications (17 steps audited only)</a:t>
            </a:r>
          </a:p>
          <a:p>
            <a:pPr algn="l">
              <a:spcBef>
                <a:spcPts val="0"/>
              </a:spcBef>
              <a:spcAft>
                <a:spcPts val="500"/>
              </a:spcAft>
            </a:pPr>
            <a:r>
              <a:rPr sz="1250" b="0" i="0">
                <a:solidFill>
                  <a:srgbClr val="1A1A1A"/>
                </a:solidFill>
                <a:latin typeface="Segoe UI"/>
              </a:rPr>
              <a:t>•  Executing data transforms (20 steps)</a:t>
            </a:r>
          </a:p>
          <a:p>
            <a:pPr algn="l">
              <a:spcBef>
                <a:spcPts val="0"/>
              </a:spcBef>
              <a:spcAft>
                <a:spcPts val="500"/>
              </a:spcAft>
            </a:pPr>
            <a:r>
              <a:rPr sz="1250" b="0" i="0">
                <a:solidFill>
                  <a:srgbClr val="1A1A1A"/>
                </a:solidFill>
                <a:latin typeface="Segoe UI"/>
              </a:rPr>
              <a:t>•  Generating documents (4 steps)</a:t>
            </a:r>
          </a:p>
          <a:p>
            <a:pPr algn="l">
              <a:spcBef>
                <a:spcPts val="0"/>
              </a:spcBef>
              <a:spcAft>
                <a:spcPts val="500"/>
              </a:spcAft>
            </a:pPr>
            <a:r>
              <a:rPr sz="1250" b="0" i="0">
                <a:solidFill>
                  <a:srgbClr val="1A1A1A"/>
                </a:solidFill>
                <a:latin typeface="Segoe UI"/>
              </a:rPr>
              <a:t>•  Row-level security and workbasket routing</a:t>
            </a:r>
          </a:p>
          <a:p>
            <a:pPr algn="l">
              <a:spcBef>
                <a:spcPts val="0"/>
              </a:spcBef>
              <a:spcAft>
                <a:spcPts val="500"/>
              </a:spcAft>
            </a:pPr>
            <a:r>
              <a:rPr sz="1250" b="0" i="0">
                <a:solidFill>
                  <a:srgbClr val="1A1A1A"/>
                </a:solidFill>
                <a:latin typeface="Segoe UI"/>
              </a:rPr>
              <a:t>•  Attachment and document storage</a:t>
            </a:r>
          </a:p>
          <a:p>
            <a:pPr algn="l">
              <a:spcBef>
                <a:spcPts val="0"/>
              </a:spcBef>
              <a:spcAft>
                <a:spcPts val="500"/>
              </a:spcAft>
            </a:pPr>
            <a:r>
              <a:rPr sz="1250" b="0" i="0">
                <a:solidFill>
                  <a:srgbClr val="1A1A1A"/>
                </a:solidFill>
                <a:latin typeface="Segoe UI"/>
              </a:rPr>
              <a:t>•  SLA escalation timers</a:t>
            </a:r>
          </a:p>
          <a:p>
            <a:pPr algn="l">
              <a:spcBef>
                <a:spcPts val="0"/>
              </a:spcBef>
              <a:spcAft>
                <a:spcPts val="500"/>
              </a:spcAft>
            </a:pPr>
            <a:r>
              <a:rPr sz="1250" b="0" i="0">
                <a:solidFill>
                  <a:srgbClr val="1A1A1A"/>
                </a:solidFill>
                <a:latin typeface="Segoe UI"/>
              </a:rPr>
              <a:t>•  Reporting and dashboards (30 definitions)</a:t>
            </a:r>
          </a:p>
          <a:p>
            <a:pPr algn="l">
              <a:spcBef>
                <a:spcPts val="0"/>
              </a:spcBef>
              <a:spcAft>
                <a:spcPts val="500"/>
              </a:spcAft>
            </a:pPr>
            <a:r>
              <a:rPr sz="1250" b="0" i="0">
                <a:solidFill>
                  <a:srgbClr val="1A1A1A"/>
                </a:solidFill>
                <a:latin typeface="Segoe UI"/>
              </a:rPr>
              <a:t>•  Migration of in-flight case data</a:t>
            </a:r>
          </a:p>
          <a:p>
            <a:pPr algn="l">
              <a:spcBef>
                <a:spcPts val="0"/>
              </a:spcBef>
              <a:spcAft>
                <a:spcPts val="500"/>
              </a:spcAft>
            </a:pPr>
            <a:r>
              <a:rPr sz="1250" b="0" i="0">
                <a:solidFill>
                  <a:srgbClr val="1A1A1A"/>
                </a:solidFill>
                <a:latin typeface="Segoe UI"/>
              </a:rPr>
              <a:t>•  Performance and load testing</a:t>
            </a:r>
          </a:p>
          <a:p>
            <a:pPr algn="l">
              <a:spcBef>
                <a:spcPts val="0"/>
              </a:spcBef>
              <a:spcAft>
                <a:spcPts val="500"/>
              </a:spcAft>
            </a:pPr>
            <a:r>
              <a:rPr sz="1250" b="0" i="0">
                <a:solidFill>
                  <a:srgbClr val="1A1A1A"/>
                </a:solidFill>
                <a:latin typeface="Segoe UI"/>
              </a:rPr>
              <a:t>•  Production ALM pipeline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Assumptions and constraints</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457199"/>
                <a:gridCol w="5669279"/>
                <a:gridCol w="4937760"/>
              </a:tblGrid>
              <a:tr h="347472">
                <a:tc>
                  <a:txBody>
                    <a:bodyPr wrap="square"/>
                    <a:lstStyle/>
                    <a:p>
                      <a:r>
                        <a:rPr sz="1150" b="1">
                          <a:solidFill>
                            <a:srgbClr val="FFFFFF"/>
                          </a:solidFill>
                          <a:latin typeface="Segoe UI"/>
                        </a:rPr>
                        <a:t>#</a:t>
                      </a:r>
                    </a:p>
                  </a:txBody>
                  <a:tcPr anchor="ctr" marL="91440">
                    <a:solidFill>
                      <a:srgbClr val="007BA4"/>
                    </a:solidFill>
                  </a:tcPr>
                </a:tc>
                <a:tc>
                  <a:txBody>
                    <a:bodyPr wrap="square"/>
                    <a:lstStyle/>
                    <a:p>
                      <a:r>
                        <a:rPr sz="1150" b="1">
                          <a:solidFill>
                            <a:srgbClr val="FFFFFF"/>
                          </a:solidFill>
                          <a:latin typeface="Segoe UI"/>
                        </a:rPr>
                        <a:t>Assumption or constraint</a:t>
                      </a:r>
                    </a:p>
                  </a:txBody>
                  <a:tcPr anchor="ctr" marL="91440">
                    <a:solidFill>
                      <a:srgbClr val="007BA4"/>
                    </a:solidFill>
                  </a:tcPr>
                </a:tc>
                <a:tc>
                  <a:txBody>
                    <a:bodyPr wrap="square"/>
                    <a:lstStyle/>
                    <a:p>
                      <a:r>
                        <a:rPr sz="1150" b="1">
                          <a:solidFill>
                            <a:srgbClr val="FFFFFF"/>
                          </a:solidFill>
                          <a:latin typeface="Segoe UI"/>
                        </a:rPr>
                        <a:t>Consequence if it changes</a:t>
                      </a:r>
                    </a:p>
                  </a:txBody>
                  <a:tcPr anchor="ctr" marL="91440">
                    <a:solidFill>
                      <a:srgbClr val="007BA4"/>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The Pega export plus DX API access represents the complete application</a:t>
                      </a:r>
                    </a:p>
                  </a:txBody>
                  <a:tcPr anchor="ctr" marL="91440" marT="18288" marB="18288">
                    <a:solidFill>
                      <a:srgbClr val="FFFFFF"/>
                    </a:solidFill>
                  </a:tcPr>
                </a:tc>
                <a:tc>
                  <a:txBody>
                    <a:bodyPr wrap="square"/>
                    <a:lstStyle/>
                    <a:p>
                      <a:r>
                        <a:rPr sz="1150" b="0">
                          <a:solidFill>
                            <a:srgbClr val="3C3C3C"/>
                          </a:solidFill>
                          <a:latin typeface="Segoe UI"/>
                        </a:rPr>
                        <a:t>Additional rules would need a further extraction pass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Rework conditions can be agreed with the business</a:t>
                      </a:r>
                    </a:p>
                  </a:txBody>
                  <a:tcPr anchor="ctr" marL="91440" marT="18288" marB="18288">
                    <a:solidFill>
                      <a:srgbClr val="F4F5F7"/>
                    </a:solidFill>
                  </a:tcPr>
                </a:tc>
                <a:tc>
                  <a:txBody>
                    <a:bodyPr wrap="square"/>
                    <a:lstStyle/>
                    <a:p>
                      <a:r>
                        <a:rPr sz="1150" b="1">
                          <a:solidFill>
                            <a:srgbClr val="1A1A1A"/>
                          </a:solidFill>
                          <a:latin typeface="Segoe UI"/>
                        </a:rPr>
                        <a:t>Extraction proved none exist in Pega to recover</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Notification and correspondence content can be re-authored, not migrated</a:t>
                      </a:r>
                    </a:p>
                  </a:txBody>
                  <a:tcPr anchor="ctr" marL="91440" marT="18288" marB="18288">
                    <a:solidFill>
                      <a:srgbClr val="FFFFFF"/>
                    </a:solidFill>
                  </a:tcPr>
                </a:tc>
                <a:tc>
                  <a:txBody>
                    <a:bodyPr wrap="square"/>
                    <a:lstStyle/>
                    <a:p>
                      <a:r>
                        <a:rPr sz="1150" b="0">
                          <a:solidFill>
                            <a:srgbClr val="3C3C3C"/>
                          </a:solidFill>
                          <a:latin typeface="Segoe UI"/>
                        </a:rPr>
                        <a:t>Effort increases if exact templates are mandatory</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Dataverse security roles can express the 19 Pega access groups</a:t>
                      </a:r>
                    </a:p>
                  </a:txBody>
                  <a:tcPr anchor="ctr" marL="91440" marT="18288" marB="18288">
                    <a:solidFill>
                      <a:srgbClr val="F4F5F7"/>
                    </a:solidFill>
                  </a:tcPr>
                </a:tc>
                <a:tc>
                  <a:txBody>
                    <a:bodyPr wrap="square"/>
                    <a:lstStyle/>
                    <a:p>
                      <a:r>
                        <a:rPr sz="1150" b="0">
                          <a:solidFill>
                            <a:srgbClr val="3C3C3C"/>
                          </a:solidFill>
                          <a:latin typeface="Segoe UI"/>
                        </a:rPr>
                        <a:t>A more granular model would need custom logic</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Business volumes are within standard Dataverse limits</a:t>
                      </a:r>
                    </a:p>
                  </a:txBody>
                  <a:tcPr anchor="ctr" marL="91440" marT="18288" marB="18288">
                    <a:solidFill>
                      <a:srgbClr val="FFFFFF"/>
                    </a:solidFill>
                  </a:tcPr>
                </a:tc>
                <a:tc>
                  <a:txBody>
                    <a:bodyPr wrap="square"/>
                    <a:lstStyle/>
                    <a:p>
                      <a:r>
                        <a:rPr sz="1150" b="0">
                          <a:solidFill>
                            <a:srgbClr val="3C3C3C"/>
                          </a:solidFill>
                          <a:latin typeface="Segoe UI"/>
                        </a:rPr>
                        <a:t>High volume may require Azure services or elastic tables</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In-flight cases will not be migrated mid-flight</a:t>
                      </a:r>
                    </a:p>
                  </a:txBody>
                  <a:tcPr anchor="ctr" marL="91440" marT="18288" marB="18288">
                    <a:solidFill>
                      <a:srgbClr val="F4F5F7"/>
                    </a:solidFill>
                  </a:tcPr>
                </a:tc>
                <a:tc>
                  <a:txBody>
                    <a:bodyPr wrap="square"/>
                    <a:lstStyle/>
                    <a:p>
                      <a:r>
                        <a:rPr sz="1150" b="0">
                          <a:solidFill>
                            <a:srgbClr val="3C3C3C"/>
                          </a:solidFill>
                          <a:latin typeface="Segoe UI"/>
                        </a:rPr>
                        <a:t>Cutover strategy would need to change materially</a:t>
                      </a:r>
                    </a:p>
                  </a:txBody>
                  <a:tcPr anchor="ctr" marL="91440" marT="18288" marB="18288">
                    <a:solidFill>
                      <a:srgbClr val="F4F5F7"/>
                    </a:solidFill>
                  </a:tcPr>
                </a:tc>
              </a:tr>
            </a:tbl>
          </a:graphicData>
        </a:graphic>
      </p:graphicFrame>
      <p:sp>
        <p:nvSpPr>
          <p:cNvPr id="6" name="Rectangle 5"/>
          <p:cNvSpPr/>
          <p:nvPr/>
        </p:nvSpPr>
        <p:spPr>
          <a:xfrm>
            <a:off x="566928" y="382219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382219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39136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Assumption 2 is the one to resolve first. Everything else is routine delivery work; that one determines whether the process behaves correctly.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06</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Live Demo</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Pega original and Power Platform equivalent</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user journeys and end-to-end execution</a:t>
            </a:r>
          </a:p>
        </p:txBody>
      </p:sp>
      <p:graphicFrame>
        <p:nvGraphicFramePr>
          <p:cNvPr id="5" name="Table 4"/>
          <p:cNvGraphicFramePr>
            <a:graphicFrameLocks noGrp="1"/>
          </p:cNvGraphicFramePr>
          <p:nvPr/>
        </p:nvGraphicFramePr>
        <p:xfrm>
          <a:off x="566928" y="1536192"/>
          <a:ext cx="11064238" cy="2542032"/>
        </p:xfrm>
        <a:graphic>
          <a:graphicData uri="http://schemas.openxmlformats.org/drawingml/2006/table">
            <a:tbl>
              <a:tblPr firstRow="1" bandRow="1">
                <a:tableStyleId>{5C22544A-7EE6-4342-B048-85BDC9FD1C3A}</a:tableStyleId>
              </a:tblPr>
              <a:tblGrid>
                <a:gridCol w="457199"/>
                <a:gridCol w="2560319"/>
                <a:gridCol w="8046720"/>
              </a:tblGrid>
              <a:tr h="347472">
                <a:tc>
                  <a:txBody>
                    <a:bodyPr wrap="square"/>
                    <a:lstStyle/>
                    <a:p>
                      <a:r>
                        <a:rPr sz="1150" b="1">
                          <a:solidFill>
                            <a:srgbClr val="FFFFFF"/>
                          </a:solidFill>
                          <a:latin typeface="Segoe UI"/>
                        </a:rPr>
                        <a:t>#</a:t>
                      </a:r>
                    </a:p>
                  </a:txBody>
                  <a:tcPr anchor="ctr" marL="91440">
                    <a:solidFill>
                      <a:srgbClr val="007BA4"/>
                    </a:solidFill>
                  </a:tcPr>
                </a:tc>
                <a:tc>
                  <a:txBody>
                    <a:bodyPr wrap="square"/>
                    <a:lstStyle/>
                    <a:p>
                      <a:r>
                        <a:rPr sz="1150" b="1">
                          <a:solidFill>
                            <a:srgbClr val="FFFFFF"/>
                          </a:solidFill>
                          <a:latin typeface="Segoe UI"/>
                        </a:rPr>
                        <a:t>Journey</a:t>
                      </a:r>
                    </a:p>
                  </a:txBody>
                  <a:tcPr anchor="ctr" marL="91440">
                    <a:solidFill>
                      <a:srgbClr val="007BA4"/>
                    </a:solidFill>
                  </a:tcPr>
                </a:tc>
                <a:tc>
                  <a:txBody>
                    <a:bodyPr wrap="square"/>
                    <a:lstStyle/>
                    <a:p>
                      <a:r>
                        <a:rPr sz="1150" b="1">
                          <a:solidFill>
                            <a:srgbClr val="FFFFFF"/>
                          </a:solidFill>
                          <a:latin typeface="Segoe UI"/>
                        </a:rPr>
                        <a:t>What to observe</a:t>
                      </a:r>
                    </a:p>
                  </a:txBody>
                  <a:tcPr anchor="ctr" marL="91440">
                    <a:solidFill>
                      <a:srgbClr val="007BA4"/>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Pending assignments across all five case types in one view - not achievable per-case-type in Pega without custom work</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Create a case</a:t>
                      </a:r>
                    </a:p>
                  </a:txBody>
                  <a:tcPr anchor="ctr" marL="91440" marT="18288" marB="18288">
                    <a:solidFill>
                      <a:srgbClr val="F4F5F7"/>
                    </a:solidFill>
                  </a:tcPr>
                </a:tc>
                <a:tc>
                  <a:txBody>
                    <a:bodyPr wrap="square"/>
                    <a:lstStyle/>
                    <a:p>
                      <a:r>
                        <a:rPr sz="1150" b="0">
                          <a:solidFill>
                            <a:srgbClr val="3C3C3C"/>
                          </a:solidFill>
                          <a:latin typeface="Segoe UI"/>
                        </a:rPr>
                        <a:t>Case ID generated with the Pega prefix convention; engine plans the first assignment automatically</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Complete an assignment</a:t>
                      </a:r>
                    </a:p>
                  </a:txBody>
                  <a:tcPr anchor="ctr" marL="91440" marT="18288" marB="18288">
                    <a:solidFill>
                      <a:srgbClr val="FFFFFF"/>
                    </a:solidFill>
                  </a:tcPr>
                </a:tc>
                <a:tc>
                  <a:txBody>
                    <a:bodyPr wrap="square"/>
                    <a:lstStyle/>
                    <a:p>
                      <a:r>
                        <a:rPr sz="1150" b="0">
                          <a:solidFill>
                            <a:srgbClr val="3C3C3C"/>
                          </a:solidFill>
                          <a:latin typeface="Segoe UI"/>
                        </a:rPr>
                        <a:t>Form is rendered entirely from view metadata - no screen was hand-coded</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Decision evaluation</a:t>
                      </a:r>
                    </a:p>
                  </a:txBody>
                  <a:tcPr anchor="ctr" marL="91440" marT="18288" marB="18288">
                    <a:solidFill>
                      <a:srgbClr val="F4F5F7"/>
                    </a:solidFill>
                  </a:tcPr>
                </a:tc>
                <a:tc>
                  <a:txBody>
                    <a:bodyPr wrap="square"/>
                    <a:lstStyle/>
                    <a:p>
                      <a:r>
                        <a:rPr sz="1150" b="0">
                          <a:solidFill>
                            <a:srgbClr val="3C3C3C"/>
                          </a:solidFill>
                          <a:latin typeface="Segoe UI"/>
                        </a:rPr>
                        <a:t>A Pega decision table executes against live case data and routes the case</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Approval sub-process</a:t>
                      </a:r>
                    </a:p>
                  </a:txBody>
                  <a:tcPr anchor="ctr" marL="91440" marT="18288" marB="18288">
                    <a:solidFill>
                      <a:srgbClr val="FFFFFF"/>
                    </a:solidFill>
                  </a:tcPr>
                </a:tc>
                <a:tc>
                  <a:txBody>
                    <a:bodyPr wrap="square"/>
                    <a:lstStyle/>
                    <a:p>
                      <a:r>
                        <a:rPr sz="1150" b="0">
                          <a:solidFill>
                            <a:srgbClr val="3C3C3C"/>
                          </a:solidFill>
                          <a:latin typeface="Segoe UI"/>
                        </a:rPr>
                        <a:t>Case pauses; approve or reject routes onward or into the rejection path</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Stage progression</a:t>
                      </a:r>
                    </a:p>
                  </a:txBody>
                  <a:tcPr anchor="ctr" marL="91440" marT="18288" marB="18288">
                    <a:solidFill>
                      <a:srgbClr val="F4F5F7"/>
                    </a:solidFill>
                  </a:tcPr>
                </a:tc>
                <a:tc>
                  <a:txBody>
                    <a:bodyPr wrap="square"/>
                    <a:lstStyle/>
                    <a:p>
                      <a:r>
                        <a:rPr sz="1150" b="0">
                          <a:solidFill>
                            <a:srgbClr val="3C3C3C"/>
                          </a:solidFill>
                          <a:latin typeface="Segoe UI"/>
                        </a:rPr>
                        <a:t>Chevron stepper advances; note the guarded rework transition being skipped</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Resolution</a:t>
                      </a:r>
                    </a:p>
                  </a:txBody>
                  <a:tcPr anchor="ctr" marL="91440" marT="18288" marB="18288">
                    <a:solidFill>
                      <a:srgbClr val="FFFFFF"/>
                    </a:solidFill>
                  </a:tcPr>
                </a:tc>
                <a:tc>
                  <a:txBody>
                    <a:bodyPr wrap="square"/>
                    <a:lstStyle/>
                    <a:p>
                      <a:r>
                        <a:rPr sz="1150" b="0">
                          <a:solidFill>
                            <a:srgbClr val="3C3C3C"/>
                          </a:solidFill>
                          <a:latin typeface="Segoe UI"/>
                        </a:rPr>
                        <a:t>Case reaches a resolved status</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Audit trail</a:t>
                      </a:r>
                    </a:p>
                  </a:txBody>
                  <a:tcPr anchor="ctr" marL="91440" marT="18288" marB="18288">
                    <a:solidFill>
                      <a:srgbClr val="F4F5F7"/>
                    </a:solidFill>
                  </a:tcPr>
                </a:tc>
                <a:tc>
                  <a:txBody>
                    <a:bodyPr wrap="square"/>
                    <a:lstStyle/>
                    <a:p>
                      <a:r>
                        <a:rPr sz="1150" b="0">
                          <a:solidFill>
                            <a:srgbClr val="3C3C3C"/>
                          </a:solidFill>
                          <a:latin typeface="Segoe UI"/>
                        </a:rPr>
                        <a:t>Every step, decision and transition recorded</a:t>
                      </a:r>
                    </a:p>
                  </a:txBody>
                  <a:tcPr anchor="ctr" marL="91440" marT="18288" marB="18288">
                    <a:solidFill>
                      <a:srgbClr val="F4F5F7"/>
                    </a:solidFill>
                  </a:tcPr>
                </a:tc>
              </a:tr>
            </a:tbl>
          </a:graphicData>
        </a:graphic>
      </p:graphicFrame>
      <p:sp>
        <p:nvSpPr>
          <p:cNvPr id="6" name="Rectangle 5"/>
          <p:cNvSpPr/>
          <p:nvPr/>
        </p:nvSpPr>
        <p:spPr>
          <a:xfrm>
            <a:off x="566928" y="4536947"/>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36947"/>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28387"/>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Live app: https://apps.powerapps.com/play/e/158bbd11-b487-e44e-b175-46d9e2809617/app/175161cf-c385-4c35-8b29-133f0b397d0d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Original Pega process and Power Platform equivalent</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285999"/>
                <a:gridCol w="4023360"/>
                <a:gridCol w="4754879"/>
              </a:tblGrid>
              <a:tr h="347472">
                <a:tc>
                  <a:txBody>
                    <a:bodyPr wrap="square"/>
                    <a:lstStyle/>
                    <a:p>
                      <a:r>
                        <a:rPr sz="1200" b="1">
                          <a:solidFill>
                            <a:srgbClr val="FFFFFF"/>
                          </a:solidFill>
                          <a:latin typeface="Segoe UI"/>
                        </a:rPr>
                        <a:t>Element</a:t>
                      </a:r>
                    </a:p>
                  </a:txBody>
                  <a:tcPr anchor="ctr" marL="91440">
                    <a:solidFill>
                      <a:srgbClr val="007BA4"/>
                    </a:solidFill>
                  </a:tcPr>
                </a:tc>
                <a:tc>
                  <a:txBody>
                    <a:bodyPr wrap="square"/>
                    <a:lstStyle/>
                    <a:p>
                      <a:r>
                        <a:rPr sz="1200" b="1">
                          <a:solidFill>
                            <a:srgbClr val="FFFFFF"/>
                          </a:solidFill>
                          <a:latin typeface="Segoe UI"/>
                        </a:rPr>
                        <a:t>Pega</a:t>
                      </a:r>
                    </a:p>
                  </a:txBody>
                  <a:tcPr anchor="ctr" marL="91440">
                    <a:solidFill>
                      <a:srgbClr val="007BA4"/>
                    </a:solidFill>
                  </a:tcPr>
                </a:tc>
                <a:tc>
                  <a:txBody>
                    <a:bodyPr wrap="square"/>
                    <a:lstStyle/>
                    <a:p>
                      <a:r>
                        <a:rPr sz="1200" b="1">
                          <a:solidFill>
                            <a:srgbClr val="FFFFFF"/>
                          </a:solidFill>
                          <a:latin typeface="Segoe UI"/>
                        </a:rPr>
                        <a:t>Power Platform implementation</a:t>
                      </a:r>
                    </a:p>
                  </a:txBody>
                  <a:tcPr anchor="ctr" marL="91440">
                    <a:solidFill>
                      <a:srgbClr val="007BA4"/>
                    </a:solidFill>
                  </a:tcPr>
                </a:tc>
              </a:tr>
              <a:tr h="274320">
                <a:tc>
                  <a:txBody>
                    <a:bodyPr wrap="square"/>
                    <a:lstStyle/>
                    <a:p>
                      <a:r>
                        <a:rPr sz="1200" b="1">
                          <a:solidFill>
                            <a:srgbClr val="1A1A1A"/>
                          </a:solidFill>
                          <a:latin typeface="Segoe UI"/>
                        </a:rPr>
                        <a:t>Masthead</a:t>
                      </a:r>
                    </a:p>
                  </a:txBody>
                  <a:tcPr anchor="ctr" marL="91440" marT="18288" marB="18288">
                    <a:solidFill>
                      <a:srgbClr val="FFFFFF"/>
                    </a:solidFill>
                  </a:tcPr>
                </a:tc>
                <a:tc>
                  <a:txBody>
                    <a:bodyPr wrap="square"/>
                    <a:lstStyle/>
                    <a:p>
                      <a:r>
                        <a:rPr sz="1200" b="0">
                          <a:solidFill>
                            <a:srgbClr val="3C3C3C"/>
                          </a:solidFill>
                          <a:latin typeface="Segoe UI"/>
                        </a:rPr>
                        <a:t>Red application banner</a:t>
                      </a:r>
                    </a:p>
                  </a:txBody>
                  <a:tcPr anchor="ctr" marL="91440" marT="18288" marB="18288">
                    <a:solidFill>
                      <a:srgbClr val="FFFFFF"/>
                    </a:solidFill>
                  </a:tcPr>
                </a:tc>
                <a:tc>
                  <a:txBody>
                    <a:bodyPr wrap="square"/>
                    <a:lstStyle/>
                    <a:p>
                      <a:r>
                        <a:rPr sz="1200" b="0">
                          <a:solidFill>
                            <a:srgbClr val="3C3C3C"/>
                          </a:solidFill>
                          <a:latin typeface="Segoe UI"/>
                        </a:rPr>
                        <a:t>Reproduced</a:t>
                      </a:r>
                    </a:p>
                  </a:txBody>
                  <a:tcPr anchor="ctr" marL="91440" marT="18288" marB="18288">
                    <a:solidFill>
                      <a:srgbClr val="FFFFFF"/>
                    </a:solidFill>
                  </a:tcPr>
                </a:tc>
              </a:tr>
              <a:tr h="274320">
                <a:tc>
                  <a:txBody>
                    <a:bodyPr wrap="square"/>
                    <a:lstStyle/>
                    <a:p>
                      <a:r>
                        <a:rPr sz="1200" b="1">
                          <a:solidFill>
                            <a:srgbClr val="1A1A1A"/>
                          </a:solidFill>
                          <a:latin typeface="Segoe UI"/>
                        </a:rPr>
                        <a:t>Case banner</a:t>
                      </a:r>
                    </a:p>
                  </a:txBody>
                  <a:tcPr anchor="ctr" marL="91440" marT="18288" marB="18288">
                    <a:solidFill>
                      <a:srgbClr val="F4F5F7"/>
                    </a:solidFill>
                  </a:tcPr>
                </a:tc>
                <a:tc>
                  <a:txBody>
                    <a:bodyPr wrap="square"/>
                    <a:lstStyle/>
                    <a:p>
                      <a:r>
                        <a:rPr sz="1200" b="0">
                          <a:solidFill>
                            <a:srgbClr val="3C3C3C"/>
                          </a:solidFill>
                          <a:latin typeface="Segoe UI"/>
                        </a:rPr>
                        <a:t>Teal case header with ID and status</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Stage stepper</a:t>
                      </a:r>
                    </a:p>
                  </a:txBody>
                  <a:tcPr anchor="ctr" marL="91440" marT="18288" marB="18288">
                    <a:solidFill>
                      <a:srgbClr val="FFFFFF"/>
                    </a:solidFill>
                  </a:tcPr>
                </a:tc>
                <a:tc>
                  <a:txBody>
                    <a:bodyPr wrap="square"/>
                    <a:lstStyle/>
                    <a:p>
                      <a:r>
                        <a:rPr sz="1200" b="0">
                          <a:solidFill>
                            <a:srgbClr val="3C3C3C"/>
                          </a:solidFill>
                          <a:latin typeface="Segoe UI"/>
                        </a:rPr>
                        <a:t>Chevron stage indicator</a:t>
                      </a:r>
                    </a:p>
                  </a:txBody>
                  <a:tcPr anchor="ctr" marL="91440" marT="18288" marB="18288">
                    <a:solidFill>
                      <a:srgbClr val="FFFFFF"/>
                    </a:solidFill>
                  </a:tcPr>
                </a:tc>
                <a:tc>
                  <a:txBody>
                    <a:bodyPr wrap="square"/>
                    <a:lstStyle/>
                    <a:p>
                      <a:r>
                        <a:rPr sz="1200" b="0">
                          <a:solidFill>
                            <a:srgbClr val="3C3C3C"/>
                          </a:solidFill>
                          <a:latin typeface="Segoe UI"/>
                        </a:rPr>
                        <a:t>Reproduced, data-driven</a:t>
                      </a:r>
                    </a:p>
                  </a:txBody>
                  <a:tcPr anchor="ctr" marL="91440" marT="18288" marB="18288">
                    <a:solidFill>
                      <a:srgbClr val="FFFFFF"/>
                    </a:solidFill>
                  </a:tcPr>
                </a:tc>
              </a:tr>
              <a:tr h="274320">
                <a:tc>
                  <a:txBody>
                    <a:bodyPr wrap="square"/>
                    <a:lstStyle/>
                    <a:p>
                      <a:r>
                        <a:rPr sz="1200" b="1">
                          <a:solidFill>
                            <a:srgbClr val="1A1A1A"/>
                          </a:solidFill>
                          <a:latin typeface="Segoe UI"/>
                        </a:rPr>
                        <a:t>Left rail</a:t>
                      </a:r>
                    </a:p>
                  </a:txBody>
                  <a:tcPr anchor="ctr" marL="91440" marT="18288" marB="18288">
                    <a:solidFill>
                      <a:srgbClr val="F4F5F7"/>
                    </a:solidFill>
                  </a:tcPr>
                </a:tc>
                <a:tc>
                  <a:txBody>
                    <a:bodyPr wrap="square"/>
                    <a:lstStyle/>
                    <a:p>
                      <a:r>
                        <a:rPr sz="1200" b="0">
                          <a:solidFill>
                            <a:srgbClr val="3C3C3C"/>
                          </a:solidFill>
                          <a:latin typeface="Segoe UI"/>
                        </a:rPr>
                        <a:t>Case summary panel</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Assignment form</a:t>
                      </a:r>
                    </a:p>
                  </a:txBody>
                  <a:tcPr anchor="ctr" marL="91440" marT="18288" marB="18288">
                    <a:solidFill>
                      <a:srgbClr val="FFFFFF"/>
                    </a:solidFill>
                  </a:tcPr>
                </a:tc>
                <a:tc>
                  <a:txBody>
                    <a:bodyPr wrap="square"/>
                    <a:lstStyle/>
                    <a:p>
                      <a:r>
                        <a:rPr sz="1200" b="0">
                          <a:solidFill>
                            <a:srgbClr val="3C3C3C"/>
                          </a:solidFill>
                          <a:latin typeface="Segoe UI"/>
                        </a:rPr>
                        <a:t>Pega view rendering</a:t>
                      </a:r>
                    </a:p>
                  </a:txBody>
                  <a:tcPr anchor="ctr" marL="91440" marT="18288" marB="18288">
                    <a:solidFill>
                      <a:srgbClr val="FFFFFF"/>
                    </a:solidFill>
                  </a:tcPr>
                </a:tc>
                <a:tc>
                  <a:txBody>
                    <a:bodyPr wrap="square"/>
                    <a:lstStyle/>
                    <a:p>
                      <a:r>
                        <a:rPr sz="1200" b="0">
                          <a:solidFill>
                            <a:srgbClr val="3C3C3C"/>
                          </a:solidFill>
                          <a:latin typeface="Segoe UI"/>
                        </a:rPr>
                        <a:t>Rendered from view metadata</a:t>
                      </a:r>
                    </a:p>
                  </a:txBody>
                  <a:tcPr anchor="ctr" marL="91440" marT="18288" marB="18288">
                    <a:solidFill>
                      <a:srgbClr val="FFFFFF"/>
                    </a:solidFill>
                  </a:tcPr>
                </a:tc>
              </a:tr>
              <a:tr h="274320">
                <a:tc>
                  <a:txBody>
                    <a:bodyPr wrap="square"/>
                    <a:lstStyle/>
                    <a:p>
                      <a:r>
                        <a:rPr sz="1200" b="1">
                          <a:solidFill>
                            <a:srgbClr val="1A1A1A"/>
                          </a:solidFill>
                          <a:latin typeface="Segoe UI"/>
                        </a:rPr>
                        <a:t>Case contents</a:t>
                      </a:r>
                    </a:p>
                  </a:txBody>
                  <a:tcPr anchor="ctr" marL="91440" marT="18288" marB="18288">
                    <a:solidFill>
                      <a:srgbClr val="F4F5F7"/>
                    </a:solidFill>
                  </a:tcPr>
                </a:tc>
                <a:tc>
                  <a:txBody>
                    <a:bodyPr wrap="square"/>
                    <a:lstStyle/>
                    <a:p>
                      <a:r>
                        <a:rPr sz="1200" b="0">
                          <a:solidFill>
                            <a:srgbClr val="3C3C3C"/>
                          </a:solidFill>
                          <a:latin typeface="Segoe UI"/>
                        </a:rPr>
                        <a:t>Section navigation</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Worklist</a:t>
                      </a:r>
                    </a:p>
                  </a:txBody>
                  <a:tcPr anchor="ctr" marL="91440" marT="18288" marB="18288">
                    <a:solidFill>
                      <a:srgbClr val="FFFFFF"/>
                    </a:solidFill>
                  </a:tcPr>
                </a:tc>
                <a:tc>
                  <a:txBody>
                    <a:bodyPr wrap="square"/>
                    <a:lstStyle/>
                    <a:p>
                      <a:r>
                        <a:rPr sz="1200" b="0">
                          <a:solidFill>
                            <a:srgbClr val="3C3C3C"/>
                          </a:solidFill>
                          <a:latin typeface="Segoe UI"/>
                        </a:rPr>
                        <a:t>Per-case-type worklists</a:t>
                      </a:r>
                    </a:p>
                  </a:txBody>
                  <a:tcPr anchor="ctr" marL="91440" marT="18288" marB="18288">
                    <a:solidFill>
                      <a:srgbClr val="FFFFFF"/>
                    </a:solidFill>
                  </a:tcPr>
                </a:tc>
                <a:tc>
                  <a:txBody>
                    <a:bodyPr wrap="square"/>
                    <a:lstStyle/>
                    <a:p>
                      <a:r>
                        <a:rPr sz="1200" b="1">
                          <a:solidFill>
                            <a:srgbClr val="1A1A1A"/>
                          </a:solidFill>
                          <a:latin typeface="Segoe UI"/>
                        </a:rPr>
                        <a:t>Unified across all case types</a:t>
                      </a:r>
                    </a:p>
                  </a:txBody>
                  <a:tcPr anchor="ctr" marL="91440" marT="18288" marB="18288">
                    <a:solidFill>
                      <a:srgbClr val="FFFFFF"/>
                    </a:solidFill>
                  </a:tcPr>
                </a:tc>
              </a:tr>
              <a:tr h="274320">
                <a:tc>
                  <a:txBody>
                    <a:bodyPr wrap="square"/>
                    <a:lstStyle/>
                    <a:p>
                      <a:r>
                        <a:rPr sz="1200" b="1">
                          <a:solidFill>
                            <a:srgbClr val="1A1A1A"/>
                          </a:solidFill>
                          <a:latin typeface="Segoe UI"/>
                        </a:rPr>
                        <a:t>Audit trail</a:t>
                      </a:r>
                    </a:p>
                  </a:txBody>
                  <a:tcPr anchor="ctr" marL="91440" marT="18288" marB="18288">
                    <a:solidFill>
                      <a:srgbClr val="F4F5F7"/>
                    </a:solidFill>
                  </a:tcPr>
                </a:tc>
                <a:tc>
                  <a:txBody>
                    <a:bodyPr wrap="square"/>
                    <a:lstStyle/>
                    <a:p>
                      <a:r>
                        <a:rPr sz="1200" b="0">
                          <a:solidFill>
                            <a:srgbClr val="3C3C3C"/>
                          </a:solidFill>
                          <a:latin typeface="Segoe UI"/>
                        </a:rPr>
                        <a:t>Pega history</a:t>
                      </a:r>
                    </a:p>
                  </a:txBody>
                  <a:tcPr anchor="ctr" marL="91440" marT="18288" marB="18288">
                    <a:solidFill>
                      <a:srgbClr val="F4F5F7"/>
                    </a:solidFill>
                  </a:tcPr>
                </a:tc>
                <a:tc>
                  <a:txBody>
                    <a:bodyPr wrap="square"/>
                    <a:lstStyle/>
                    <a:p>
                      <a:r>
                        <a:rPr sz="1200" b="0">
                          <a:solidFill>
                            <a:srgbClr val="3C3C3C"/>
                          </a:solidFill>
                          <a:latin typeface="Segoe UI"/>
                        </a:rPr>
                        <a:t>Dataverse table, fully queryable</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forms are not hand-built copies. They are generated at runtime from the imported view metadata, so a Pega view change flows through as a data update.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07</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Findings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What worked, what did not, and why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What migrated well</a:t>
            </a:r>
          </a:p>
        </p:txBody>
      </p:sp>
      <p:graphicFrame>
        <p:nvGraphicFramePr>
          <p:cNvPr id="5" name="Table 4"/>
          <p:cNvGraphicFramePr>
            <a:graphicFrameLocks noGrp="1"/>
          </p:cNvGraphicFramePr>
          <p:nvPr/>
        </p:nvGraphicFramePr>
        <p:xfrm>
          <a:off x="566928" y="1554480"/>
          <a:ext cx="8412480" cy="2542032"/>
        </p:xfrm>
        <a:graphic>
          <a:graphicData uri="http://schemas.openxmlformats.org/drawingml/2006/table">
            <a:tbl>
              <a:tblPr firstRow="1" bandRow="1">
                <a:tableStyleId>{5C22544A-7EE6-4342-B048-85BDC9FD1C3A}</a:tableStyleId>
              </a:tblPr>
              <a:tblGrid>
                <a:gridCol w="3108960"/>
                <a:gridCol w="3291840"/>
                <a:gridCol w="2011680"/>
              </a:tblGrid>
              <a:tr h="347472">
                <a:tc>
                  <a:txBody>
                    <a:bodyPr wrap="square"/>
                    <a:lstStyle/>
                    <a:p>
                      <a:r>
                        <a:rPr sz="1200" b="1">
                          <a:solidFill>
                            <a:srgbClr val="FFFFFF"/>
                          </a:solidFill>
                          <a:latin typeface="Segoe UI"/>
                        </a:rPr>
                        <a:t>Artefact</a:t>
                      </a:r>
                    </a:p>
                  </a:txBody>
                  <a:tcPr anchor="ctr" marL="91440">
                    <a:solidFill>
                      <a:srgbClr val="007BA4"/>
                    </a:solidFill>
                  </a:tcPr>
                </a:tc>
                <a:tc>
                  <a:txBody>
                    <a:bodyPr wrap="square"/>
                    <a:lstStyle/>
                    <a:p>
                      <a:r>
                        <a:rPr sz="1200" b="1">
                          <a:solidFill>
                            <a:srgbClr val="FFFFFF"/>
                          </a:solidFill>
                          <a:latin typeface="Segoe UI"/>
                        </a:rPr>
                        <a:t>Migrated</a:t>
                      </a:r>
                    </a:p>
                  </a:txBody>
                  <a:tcPr anchor="ctr" marL="91440">
                    <a:solidFill>
                      <a:srgbClr val="007BA4"/>
                    </a:solidFill>
                  </a:tcPr>
                </a:tc>
                <a:tc>
                  <a:txBody>
                    <a:bodyPr wrap="square"/>
                    <a:lstStyle/>
                    <a:p>
                      <a:r>
                        <a:rPr sz="1200" b="1">
                          <a:solidFill>
                            <a:srgbClr val="FFFFFF"/>
                          </a:solidFill>
                          <a:latin typeface="Segoe UI"/>
                        </a:rPr>
                        <a:t>Coverage</a:t>
                      </a:r>
                    </a:p>
                  </a:txBody>
                  <a:tcPr anchor="ctr" marL="91440">
                    <a:solidFill>
                      <a:srgbClr val="007BA4"/>
                    </a:solidFill>
                  </a:tcPr>
                </a:tc>
              </a:tr>
              <a:tr h="274320">
                <a:tc>
                  <a:txBody>
                    <a:bodyPr wrap="square"/>
                    <a:lstStyle/>
                    <a:p>
                      <a:r>
                        <a:rPr sz="1200" b="1">
                          <a:solidFill>
                            <a:srgbClr val="1A1A1A"/>
                          </a:solidFill>
                          <a:latin typeface="Segoe UI"/>
                        </a:rPr>
                        <a:t>Case types</a:t>
                      </a:r>
                    </a:p>
                  </a:txBody>
                  <a:tcPr anchor="ctr" marL="91440" marT="18288" marB="18288">
                    <a:solidFill>
                      <a:srgbClr val="FFFFFF"/>
                    </a:solidFill>
                  </a:tcPr>
                </a:tc>
                <a:tc>
                  <a:txBody>
                    <a:bodyPr wrap="square"/>
                    <a:lstStyle/>
                    <a:p>
                      <a:r>
                        <a:rPr sz="1200" b="0">
                          <a:solidFill>
                            <a:srgbClr val="3C3C3C"/>
                          </a:solidFill>
                          <a:latin typeface="Segoe UI"/>
                        </a:rPr>
                        <a:t>5 of 5</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Stages</a:t>
                      </a:r>
                    </a:p>
                  </a:txBody>
                  <a:tcPr anchor="ctr" marL="91440" marT="18288" marB="18288">
                    <a:solidFill>
                      <a:srgbClr val="F4F5F7"/>
                    </a:solidFill>
                  </a:tcPr>
                </a:tc>
                <a:tc>
                  <a:txBody>
                    <a:bodyPr wrap="square"/>
                    <a:lstStyle/>
                    <a:p>
                      <a:r>
                        <a:rPr sz="1200" b="0">
                          <a:solidFill>
                            <a:srgbClr val="3C3C3C"/>
                          </a:solidFill>
                          <a:latin typeface="Segoe UI"/>
                        </a:rPr>
                        <a:t>39 of 39</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Steps (structure)</a:t>
                      </a:r>
                    </a:p>
                  </a:txBody>
                  <a:tcPr anchor="ctr" marL="91440" marT="18288" marB="18288">
                    <a:solidFill>
                      <a:srgbClr val="FFFFFF"/>
                    </a:solidFill>
                  </a:tcPr>
                </a:tc>
                <a:tc>
                  <a:txBody>
                    <a:bodyPr wrap="square"/>
                    <a:lstStyle/>
                    <a:p>
                      <a:r>
                        <a:rPr sz="1200" b="0">
                          <a:solidFill>
                            <a:srgbClr val="3C3C3C"/>
                          </a:solidFill>
                          <a:latin typeface="Segoe UI"/>
                        </a:rPr>
                        <a:t>80 of 80</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Decision tables</a:t>
                      </a:r>
                    </a:p>
                  </a:txBody>
                  <a:tcPr anchor="ctr" marL="91440" marT="18288" marB="18288">
                    <a:solidFill>
                      <a:srgbClr val="F4F5F7"/>
                    </a:solidFill>
                  </a:tcPr>
                </a:tc>
                <a:tc>
                  <a:txBody>
                    <a:bodyPr wrap="square"/>
                    <a:lstStyle/>
                    <a:p>
                      <a:r>
                        <a:rPr sz="1200" b="0">
                          <a:solidFill>
                            <a:srgbClr val="3C3C3C"/>
                          </a:solidFill>
                          <a:latin typeface="Segoe UI"/>
                        </a:rPr>
                        <a:t>10 of 10 (28 rows)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Step-bound views</a:t>
                      </a:r>
                    </a:p>
                  </a:txBody>
                  <a:tcPr anchor="ctr" marL="91440" marT="18288" marB="18288">
                    <a:solidFill>
                      <a:srgbClr val="FFFFFF"/>
                    </a:solidFill>
                  </a:tcPr>
                </a:tc>
                <a:tc>
                  <a:txBody>
                    <a:bodyPr wrap="square"/>
                    <a:lstStyle/>
                    <a:p>
                      <a:r>
                        <a:rPr sz="1200" b="0">
                          <a:solidFill>
                            <a:srgbClr val="3C3C3C"/>
                          </a:solidFill>
                          <a:latin typeface="Segoe UI"/>
                        </a:rPr>
                        <a:t>24 (59 fields)</a:t>
                      </a:r>
                    </a:p>
                  </a:txBody>
                  <a:tcPr anchor="ctr" marL="91440" marT="18288" marB="18288">
                    <a:solidFill>
                      <a:srgbClr val="FFFFFF"/>
                    </a:solidFill>
                  </a:tcPr>
                </a:tc>
                <a:tc>
                  <a:txBody>
                    <a:bodyPr wrap="square"/>
                    <a:lstStyle/>
                    <a:p>
                      <a:r>
                        <a:rPr sz="1200" b="1">
                          <a:solidFill>
                            <a:srgbClr val="1A1A1A"/>
                          </a:solidFill>
                          <a:latin typeface="Segoe UI"/>
                        </a:rPr>
                        <a:t>100% of captured</a:t>
                      </a:r>
                    </a:p>
                  </a:txBody>
                  <a:tcPr anchor="ctr" marL="91440" marT="18288" marB="18288">
                    <a:solidFill>
                      <a:srgbClr val="FFFFFF"/>
                    </a:solidFill>
                  </a:tcPr>
                </a:tc>
              </a:tr>
              <a:tr h="274320">
                <a:tc>
                  <a:txBody>
                    <a:bodyPr wrap="square"/>
                    <a:lstStyle/>
                    <a:p>
                      <a:r>
                        <a:rPr sz="1200" b="1">
                          <a:solidFill>
                            <a:srgbClr val="1A1A1A"/>
                          </a:solidFill>
                          <a:latin typeface="Segoe UI"/>
                        </a:rPr>
                        <a:t>Choice sets</a:t>
                      </a:r>
                    </a:p>
                  </a:txBody>
                  <a:tcPr anchor="ctr" marL="91440" marT="18288" marB="18288">
                    <a:solidFill>
                      <a:srgbClr val="F4F5F7"/>
                    </a:solidFill>
                  </a:tcPr>
                </a:tc>
                <a:tc>
                  <a:txBody>
                    <a:bodyPr wrap="square"/>
                    <a:lstStyle/>
                    <a:p>
                      <a:r>
                        <a:rPr sz="1200" b="0">
                          <a:solidFill>
                            <a:srgbClr val="3C3C3C"/>
                          </a:solidFill>
                          <a:latin typeface="Segoe UI"/>
                        </a:rPr>
                        <a:t>26 (107 values)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Access groups</a:t>
                      </a:r>
                    </a:p>
                  </a:txBody>
                  <a:tcPr anchor="ctr" marL="91440" marT="18288" marB="18288">
                    <a:solidFill>
                      <a:srgbClr val="FFFFFF"/>
                    </a:solidFill>
                  </a:tcPr>
                </a:tc>
                <a:tc>
                  <a:txBody>
                    <a:bodyPr wrap="square"/>
                    <a:lstStyle/>
                    <a:p>
                      <a:r>
                        <a:rPr sz="1200" b="0">
                          <a:solidFill>
                            <a:srgbClr val="3C3C3C"/>
                          </a:solidFill>
                          <a:latin typeface="Segoe UI"/>
                        </a:rPr>
                        <a:t>19 of 19 (as data)</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Data objects</a:t>
                      </a:r>
                    </a:p>
                  </a:txBody>
                  <a:tcPr anchor="ctr" marL="91440" marT="18288" marB="18288">
                    <a:solidFill>
                      <a:srgbClr val="F4F5F7"/>
                    </a:solidFill>
                  </a:tcPr>
                </a:tc>
                <a:tc>
                  <a:txBody>
                    <a:bodyPr wrap="square"/>
                    <a:lstStyle/>
                    <a:p>
                      <a:r>
                        <a:rPr sz="1200" b="0">
                          <a:solidFill>
                            <a:srgbClr val="3C3C3C"/>
                          </a:solidFill>
                          <a:latin typeface="Segoe UI"/>
                        </a:rPr>
                        <a:t>10 of 10</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bl>
          </a:graphicData>
        </a:graphic>
      </p:graphicFrame>
      <p:sp>
        <p:nvSpPr>
          <p:cNvPr id="6" name="TextBox 5"/>
          <p:cNvSpPr txBox="1"/>
          <p:nvPr/>
        </p:nvSpPr>
        <p:spPr>
          <a:xfrm>
            <a:off x="9235440" y="1554480"/>
            <a:ext cx="2377440" cy="3121660"/>
          </a:xfrm>
          <a:prstGeom prst="rect">
            <a:avLst/>
          </a:prstGeom>
          <a:noFill/>
        </p:spPr>
        <p:txBody>
          <a:bodyPr wrap="square">
            <a:spAutoFit/>
          </a:bodyPr>
          <a:lstStyle/>
          <a:p>
            <a:pPr algn="l">
              <a:spcBef>
                <a:spcPts val="0"/>
              </a:spcBef>
              <a:spcAft>
                <a:spcPts val="500"/>
              </a:spcAft>
            </a:pPr>
            <a:r>
              <a:rPr sz="1100" b="1" i="0">
                <a:solidFill>
                  <a:srgbClr val="1A1A1A"/>
                </a:solidFill>
                <a:latin typeface="Segoe UI"/>
              </a:rPr>
              <a:t>Why structure migrates cleanly</a:t>
            </a:r>
          </a:p>
          <a:p>
            <a:pPr algn="l">
              <a:spcBef>
                <a:spcPts val="0"/>
              </a:spcBef>
              <a:spcAft>
                <a:spcPts val="500"/>
              </a:spcAft>
            </a:pPr>
            <a:r>
              <a:rPr sz="1100" b="0" i="0">
                <a:solidFill>
                  <a:srgbClr val="1A1A1A"/>
                </a:solidFill>
                <a:latin typeface="Segoe UI"/>
              </a:rPr>
              <a:t>•  Pega's case model is declarative and fully represented in the export and DX API. Once decoded, it maps directly onto Dataverse rows with no interpretation required.</a:t>
            </a:r>
          </a:p>
          <a:p>
            <a:pPr algn="l">
              <a:spcBef>
                <a:spcPts val="800"/>
              </a:spcBef>
              <a:spcAft>
                <a:spcPts val="500"/>
              </a:spcAft>
            </a:pPr>
            <a:r>
              <a:rPr sz="1100" b="1" i="0">
                <a:solidFill>
                  <a:srgbClr val="1A1A1A"/>
                </a:solidFill>
                <a:latin typeface="Segoe UI"/>
              </a:rPr>
              <a:t>The re-usable asset</a:t>
            </a:r>
          </a:p>
          <a:p>
            <a:pPr algn="l">
              <a:spcBef>
                <a:spcPts val="0"/>
              </a:spcBef>
              <a:spcAft>
                <a:spcPts val="500"/>
              </a:spcAft>
            </a:pPr>
            <a:r>
              <a:rPr sz="1100" b="0" i="0">
                <a:solidFill>
                  <a:srgbClr val="1A1A1A"/>
                </a:solidFill>
                <a:latin typeface="Segoe UI"/>
              </a:rPr>
              <a:t>•  The extract and seed scripts are application-agnostic. They discover class prefixes, case types and choice sets rather than hardcoding them, so they apply to the next Pega application without modification.</a:t>
            </a:r>
          </a:p>
        </p:txBody>
      </p:sp>
      <p:sp>
        <p:nvSpPr>
          <p:cNvPr id="7" name="Rectangle 6"/>
          <p:cNvSpPr/>
          <p:nvPr/>
        </p:nvSpPr>
        <p:spPr>
          <a:xfrm>
            <a:off x="566928" y="495046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95046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04190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entire case lifecycle skeleton - every stage and every step, in order - migrated through automation with no manual authoring.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Manual conversion requirements</a:t>
            </a:r>
          </a:p>
        </p:txBody>
      </p:sp>
      <p:sp>
        <p:nvSpPr>
          <p:cNvPr id="5" name="Rectangle 4"/>
          <p:cNvSpPr/>
          <p:nvPr/>
        </p:nvSpPr>
        <p:spPr>
          <a:xfrm>
            <a:off x="566928"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41</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of 80 steps still
need implementation</a:t>
            </a:r>
          </a:p>
        </p:txBody>
      </p:sp>
      <p:sp>
        <p:nvSpPr>
          <p:cNvPr id="9" name="Rectangle 8"/>
          <p:cNvSpPr/>
          <p:nvPr/>
        </p:nvSpPr>
        <p:spPr>
          <a:xfrm>
            <a:off x="2812694"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27</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Notification messages
fully recovered</a:t>
            </a:r>
          </a:p>
        </p:txBody>
      </p:sp>
      <p:sp>
        <p:nvSpPr>
          <p:cNvPr id="13" name="Rectangle 12"/>
          <p:cNvSpPr/>
          <p:nvPr/>
        </p:nvSpPr>
        <p:spPr>
          <a:xfrm>
            <a:off x="5058460"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20</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Transforms with no
authored logic</a:t>
            </a:r>
          </a:p>
        </p:txBody>
      </p:sp>
      <p:sp>
        <p:nvSpPr>
          <p:cNvPr id="17" name="Rectangle 16"/>
          <p:cNvSpPr/>
          <p:nvPr/>
        </p:nvSpPr>
        <p:spPr>
          <a:xfrm>
            <a:off x="7304227"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Document templates
not exposed</a:t>
            </a:r>
          </a:p>
        </p:txBody>
      </p:sp>
      <p:sp>
        <p:nvSpPr>
          <p:cNvPr id="21" name="Rectangle 20"/>
          <p:cNvSpPr/>
          <p:nvPr/>
        </p:nvSpPr>
        <p:spPr>
          <a:xfrm>
            <a:off x="9549993"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39</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fully working
today</a:t>
            </a:r>
          </a:p>
        </p:txBody>
      </p:sp>
      <p:graphicFrame>
        <p:nvGraphicFramePr>
          <p:cNvPr id="25" name="Table 24"/>
          <p:cNvGraphicFramePr>
            <a:graphicFrameLocks noGrp="1"/>
          </p:cNvGraphicFramePr>
          <p:nvPr/>
        </p:nvGraphicFramePr>
        <p:xfrm>
          <a:off x="566928" y="2880360"/>
          <a:ext cx="11064239" cy="1719072"/>
        </p:xfrm>
        <a:graphic>
          <a:graphicData uri="http://schemas.openxmlformats.org/drawingml/2006/table">
            <a:tbl>
              <a:tblPr firstRow="1" bandRow="1">
                <a:tableStyleId>{5C22544A-7EE6-4342-B048-85BDC9FD1C3A}</a:tableStyleId>
              </a:tblPr>
              <a:tblGrid>
                <a:gridCol w="2651760"/>
                <a:gridCol w="2103119"/>
                <a:gridCol w="6309360"/>
              </a:tblGrid>
              <a:tr h="347472">
                <a:tc>
                  <a:txBody>
                    <a:bodyPr wrap="square"/>
                    <a:lstStyle/>
                    <a:p>
                      <a:r>
                        <a:rPr sz="1150" b="1">
                          <a:solidFill>
                            <a:srgbClr val="FFFFFF"/>
                          </a:solidFill>
                          <a:latin typeface="Segoe UI"/>
                        </a:rPr>
                        <a:t>Requirement</a:t>
                      </a:r>
                    </a:p>
                  </a:txBody>
                  <a:tcPr anchor="ctr" marL="91440">
                    <a:solidFill>
                      <a:srgbClr val="007BA4"/>
                    </a:solidFill>
                  </a:tcPr>
                </a:tc>
                <a:tc>
                  <a:txBody>
                    <a:bodyPr wrap="square"/>
                    <a:lstStyle/>
                    <a:p>
                      <a:r>
                        <a:rPr sz="1150" b="1">
                          <a:solidFill>
                            <a:srgbClr val="FFFFFF"/>
                          </a:solidFill>
                          <a:latin typeface="Segoe UI"/>
                        </a:rPr>
                        <a:t>Volume</a:t>
                      </a:r>
                    </a:p>
                  </a:txBody>
                  <a:tcPr anchor="ctr" marL="91440">
                    <a:solidFill>
                      <a:srgbClr val="007BA4"/>
                    </a:solidFill>
                  </a:tcPr>
                </a:tc>
                <a:tc>
                  <a:txBody>
                    <a:bodyPr wrap="square"/>
                    <a:lstStyle/>
                    <a:p>
                      <a:r>
                        <a:rPr sz="1150" b="1">
                          <a:solidFill>
                            <a:srgbClr val="FFFFFF"/>
                          </a:solidFill>
                          <a:latin typeface="Segoe UI"/>
                        </a:rPr>
                        <a:t>What the artefacts already give us</a:t>
                      </a:r>
                    </a:p>
                  </a:txBody>
                  <a:tcPr anchor="ctr" marL="91440">
                    <a:solidFill>
                      <a:srgbClr val="007BA4"/>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17 steps</a:t>
                      </a:r>
                    </a:p>
                  </a:txBody>
                  <a:tcPr anchor="ctr" marL="91440" marT="18288" marB="18288">
                    <a:solidFill>
                      <a:srgbClr val="FFFFFF"/>
                    </a:solidFill>
                  </a:tcPr>
                </a:tc>
                <a:tc>
                  <a:txBody>
                    <a:bodyPr wrap="square"/>
                    <a:lstStyle/>
                    <a:p>
                      <a:r>
                        <a:rPr sz="1150" b="1">
                          <a:solidFill>
                            <a:srgbClr val="1A1A1A"/>
                          </a:solidFill>
                          <a:latin typeface="Segoe UI"/>
                        </a:rPr>
                        <a:t>Content recovered 27/27 and outbox built - only recipients need deciding</a:t>
                      </a:r>
                    </a:p>
                  </a:txBody>
                  <a:tcPr anchor="ctr" marL="91440" marT="18288" marB="18288">
                    <a:solidFill>
                      <a:srgbClr val="FFFFFF"/>
                    </a:solidFill>
                  </a:tcPr>
                </a:tc>
              </a:tr>
              <a:tr h="274320">
                <a:tc>
                  <a:txBody>
                    <a:bodyPr wrap="square"/>
                    <a:lstStyle/>
                    <a:p>
                      <a:r>
                        <a:rPr sz="1150" b="1">
                          <a:solidFill>
                            <a:srgbClr val="1A1A1A"/>
                          </a:solidFill>
                          <a:latin typeface="Segoe UI"/>
                        </a:rPr>
                        <a:t>Data transform behaviour</a:t>
                      </a:r>
                    </a:p>
                  </a:txBody>
                  <a:tcPr anchor="ctr" marL="91440" marT="18288" marB="18288">
                    <a:solidFill>
                      <a:srgbClr val="F4F5F7"/>
                    </a:solidFill>
                  </a:tcPr>
                </a:tc>
                <a:tc>
                  <a:txBody>
                    <a:bodyPr wrap="square"/>
                    <a:lstStyle/>
                    <a:p>
                      <a:r>
                        <a:rPr sz="1150" b="0">
                          <a:solidFill>
                            <a:srgbClr val="3C3C3C"/>
                          </a:solidFill>
                          <a:latin typeface="Segoe UI"/>
                        </a:rPr>
                        <a:t>20 steps</a:t>
                      </a:r>
                    </a:p>
                  </a:txBody>
                  <a:tcPr anchor="ctr" marL="91440" marT="18288" marB="18288">
                    <a:solidFill>
                      <a:srgbClr val="F4F5F7"/>
                    </a:solidFill>
                  </a:tcPr>
                </a:tc>
                <a:tc>
                  <a:txBody>
                    <a:bodyPr wrap="square"/>
                    <a:lstStyle/>
                    <a:p>
                      <a:r>
                        <a:rPr sz="1150" b="1">
                          <a:solidFill>
                            <a:srgbClr val="1A1A1A"/>
                          </a:solidFill>
                          <a:latin typeface="Segoe UI"/>
                        </a:rPr>
                        <a:t>No transform rules authored in the source - nothing to port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4 steps</a:t>
                      </a:r>
                    </a:p>
                  </a:txBody>
                  <a:tcPr anchor="ctr" marL="91440" marT="18288" marB="18288">
                    <a:solidFill>
                      <a:srgbClr val="FFFFFF"/>
                    </a:solidFill>
                  </a:tcPr>
                </a:tc>
                <a:tc>
                  <a:txBody>
                    <a:bodyPr wrap="square"/>
                    <a:lstStyle/>
                    <a:p>
                      <a:r>
                        <a:rPr sz="1150" b="0">
                          <a:solidFill>
                            <a:srgbClr val="3C3C3C"/>
                          </a:solidFill>
                          <a:latin typeface="Segoe UI"/>
                        </a:rPr>
                        <a:t>Step name and position; templates are not exposed</a:t>
                      </a:r>
                    </a:p>
                  </a:txBody>
                  <a:tcPr anchor="ctr" marL="91440" marT="18288" marB="18288">
                    <a:solidFill>
                      <a:srgbClr val="FFFFFF"/>
                    </a:solidFill>
                  </a:tcPr>
                </a:tc>
              </a:tr>
              <a:tr h="274320">
                <a:tc>
                  <a:txBody>
                    <a:bodyPr wrap="square"/>
                    <a:lstStyle/>
                    <a:p>
                      <a:r>
                        <a:rPr sz="1150" b="1">
                          <a:solidFill>
                            <a:srgbClr val="1A1A1A"/>
                          </a:solidFill>
                          <a:latin typeface="Segoe UI"/>
                        </a:rPr>
                        <a:t>Stage transition guards</a:t>
                      </a:r>
                    </a:p>
                  </a:txBody>
                  <a:tcPr anchor="ctr" marL="91440" marT="18288" marB="18288">
                    <a:solidFill>
                      <a:srgbClr val="F4F5F7"/>
                    </a:solidFill>
                  </a:tcPr>
                </a:tc>
                <a:tc>
                  <a:txBody>
                    <a:bodyPr wrap="square"/>
                    <a:lstStyle/>
                    <a:p>
                      <a:r>
                        <a:rPr sz="1150" b="0">
                          <a:solidFill>
                            <a:srgbClr val="3C3C3C"/>
                          </a:solidFill>
                          <a:latin typeface="Segoe UI"/>
                        </a:rPr>
                        <a:t>4 inferred</a:t>
                      </a:r>
                    </a:p>
                  </a:txBody>
                  <a:tcPr anchor="ctr" marL="91440" marT="18288" marB="18288">
                    <a:solidFill>
                      <a:srgbClr val="F4F5F7"/>
                    </a:solidFill>
                  </a:tcPr>
                </a:tc>
                <a:tc>
                  <a:txBody>
                    <a:bodyPr wrap="square"/>
                    <a:lstStyle/>
                    <a:p>
                      <a:r>
                        <a:rPr sz="1150" b="0">
                          <a:solidFill>
                            <a:srgbClr val="3C3C3C"/>
                          </a:solidFill>
                          <a:latin typeface="Segoe UI"/>
                        </a:rPr>
                        <a:t>Decision branch routing extracted; the rework condition is a business call</a:t>
                      </a:r>
                    </a:p>
                  </a:txBody>
                  <a:tcPr anchor="ctr" marL="91440" marT="18288" marB="18288">
                    <a:solidFill>
                      <a:srgbClr val="F4F5F7"/>
                    </a:solidFill>
                  </a:tcPr>
                </a:tc>
              </a:tr>
              <a:tr h="274320">
                <a:tc>
                  <a:txBody>
                    <a:bodyPr wrap="square"/>
                    <a:lstStyle/>
                    <a:p>
                      <a:r>
                        <a:rPr sz="1150" b="1">
                          <a:solidFill>
                            <a:srgbClr val="1A1A1A"/>
                          </a:solidFill>
                          <a:latin typeface="Segoe UI"/>
                        </a:rPr>
                        <a:t>Security enforcement</a:t>
                      </a:r>
                    </a:p>
                  </a:txBody>
                  <a:tcPr anchor="ctr" marL="91440" marT="18288" marB="18288">
                    <a:solidFill>
                      <a:srgbClr val="FFFFFF"/>
                    </a:solidFill>
                  </a:tcPr>
                </a:tc>
                <a:tc>
                  <a:txBody>
                    <a:bodyPr wrap="square"/>
                    <a:lstStyle/>
                    <a:p>
                      <a:r>
                        <a:rPr sz="1150" b="0">
                          <a:solidFill>
                            <a:srgbClr val="3C3C3C"/>
                          </a:solidFill>
                          <a:latin typeface="Segoe UI"/>
                        </a:rPr>
                        <a:t>19 roles / 30 grants / 18 workbaskets</a:t>
                      </a:r>
                    </a:p>
                  </a:txBody>
                  <a:tcPr anchor="ctr" marL="91440" marT="18288" marB="18288">
                    <a:solidFill>
                      <a:srgbClr val="FFFFFF"/>
                    </a:solidFill>
                  </a:tcPr>
                </a:tc>
                <a:tc>
                  <a:txBody>
                    <a:bodyPr wrap="square"/>
                    <a:lstStyle/>
                    <a:p>
                      <a:r>
                        <a:rPr sz="1150" b="0">
                          <a:solidFill>
                            <a:srgbClr val="3C3C3C"/>
                          </a:solidFill>
                          <a:latin typeface="Segoe UI"/>
                        </a:rPr>
                        <a:t>Roles and workbaskets imported; the Dataverse mapping is design work</a:t>
                      </a:r>
                    </a:p>
                  </a:txBody>
                  <a:tcPr anchor="ctr" marL="91440" marT="18288" marB="18288">
                    <a:solidFill>
                      <a:srgbClr val="FFFFFF"/>
                    </a:solidFill>
                  </a:tcPr>
                </a:tc>
              </a:tr>
            </a:tbl>
          </a:graphicData>
        </a:graphic>
      </p:graphicFrame>
      <p:sp>
        <p:nvSpPr>
          <p:cNvPr id="26" name="Rectangle 25"/>
          <p:cNvSpPr/>
          <p:nvPr/>
        </p:nvSpPr>
        <p:spPr>
          <a:xfrm>
            <a:off x="566928" y="505815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058156"/>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14959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41 steps still need building - but none of them needs discovering. Every one is named, located, and in the notification case fully written.</a:t>
            </a:r>
          </a:p>
        </p:txBody>
      </p:sp>
      <p:sp>
        <p:nvSpPr>
          <p:cNvPr id="29" name="TextBox 2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challenges encountered</a:t>
            </a:r>
          </a:p>
        </p:txBody>
      </p:sp>
      <p:sp>
        <p:nvSpPr>
          <p:cNvPr id="5" name="TextBox 4"/>
          <p:cNvSpPr txBox="1"/>
          <p:nvPr/>
        </p:nvSpPr>
        <p:spPr>
          <a:xfrm>
            <a:off x="566928" y="1417320"/>
            <a:ext cx="11064240" cy="32194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1.  Infinite rework loops - resolved</a:t>
            </a:r>
          </a:p>
          <a:p>
            <a:pPr algn="l">
              <a:spcBef>
                <a:spcPts val="0"/>
              </a:spcBef>
              <a:spcAft>
                <a:spcPts val="600"/>
              </a:spcAft>
            </a:pPr>
            <a:r>
              <a:rPr sz="1250" b="0" i="0">
                <a:solidFill>
                  <a:srgbClr val="1A1A1A"/>
                </a:solidFill>
                <a:latin typeface="Segoe UI"/>
              </a:rPr>
              <a:t>•  Two case types looped indefinitely. Backward stage-change steps in resolution stages fired unconditionally because their guarding when conditions are not in the export. Resolved with two layers: guards inferred from the preceding decision table's non-terminal results, plus a hard stage re-visit cap that guarantees termination regardless.</a:t>
            </a:r>
          </a:p>
          <a:p>
            <a:pPr algn="l">
              <a:spcBef>
                <a:spcPts val="800"/>
              </a:spcBef>
              <a:spcAft>
                <a:spcPts val="600"/>
              </a:spcAft>
            </a:pPr>
            <a:r>
              <a:rPr sz="1250" b="1" i="0">
                <a:solidFill>
                  <a:srgbClr val="1A1A1A"/>
                </a:solidFill>
                <a:latin typeface="Segoe UI"/>
              </a:rPr>
              <a:t>2.  Extraction fidelity is silent - resolved</a:t>
            </a:r>
          </a:p>
          <a:p>
            <a:pPr algn="l">
              <a:spcBef>
                <a:spcPts val="0"/>
              </a:spcBef>
              <a:spcAft>
                <a:spcPts val="600"/>
              </a:spcAft>
            </a:pPr>
            <a:r>
              <a:rPr sz="1250" b="0" i="0">
                <a:solidFill>
                  <a:srgbClr val="1A1A1A"/>
                </a:solidFill>
                <a:latin typeface="Segoe UI"/>
              </a:rPr>
              <a:t>•  A low-fidelity extraction produces a structurally valid model with zero views and choice sets. Seeding it would have wiped the metadata the forms render from, presenting as a UI bug. The loader now refuses such a config.</a:t>
            </a:r>
          </a:p>
          <a:p>
            <a:pPr algn="l">
              <a:spcBef>
                <a:spcPts val="800"/>
              </a:spcBef>
              <a:spcAft>
                <a:spcPts val="600"/>
              </a:spcAft>
            </a:pPr>
            <a:r>
              <a:rPr sz="1250" b="1" i="0">
                <a:solidFill>
                  <a:srgbClr val="1A1A1A"/>
                </a:solidFill>
                <a:latin typeface="Segoe UI"/>
              </a:rPr>
              <a:t>3.  Lookup controls initially missed - resolved</a:t>
            </a:r>
          </a:p>
          <a:p>
            <a:pPr algn="l">
              <a:spcBef>
                <a:spcPts val="0"/>
              </a:spcBef>
              <a:spcAft>
                <a:spcPts val="600"/>
              </a:spcAft>
            </a:pPr>
            <a:r>
              <a:rPr sz="1250" b="0" i="0">
                <a:solidFill>
                  <a:srgbClr val="1A1A1A"/>
                </a:solidFill>
                <a:latin typeface="Segoe UI"/>
              </a:rPr>
              <a:t>•  Pega encodes lookups as ObjectReference with a nested component type. Missing this initially lost 5 of 24 views.</a:t>
            </a:r>
          </a:p>
          <a:p>
            <a:pPr algn="l">
              <a:spcBef>
                <a:spcPts val="800"/>
              </a:spcBef>
              <a:spcAft>
                <a:spcPts val="600"/>
              </a:spcAft>
            </a:pPr>
            <a:r>
              <a:rPr sz="1250" b="1" i="0">
                <a:solidFill>
                  <a:srgbClr val="1A1A1A"/>
                </a:solidFill>
                <a:latin typeface="Segoe UI"/>
              </a:rPr>
              <a:t>4.  Date handling - resolved</a:t>
            </a:r>
          </a:p>
          <a:p>
            <a:pPr algn="l">
              <a:spcBef>
                <a:spcPts val="0"/>
              </a:spcBef>
              <a:spcAft>
                <a:spcPts val="600"/>
              </a:spcAft>
            </a:pPr>
            <a:r>
              <a:rPr sz="1250" b="0" i="0">
                <a:solidFill>
                  <a:srgbClr val="1A1A1A"/>
                </a:solidFill>
                <a:latin typeface="Segoe UI"/>
              </a:rPr>
              <a:t>•  Dataverse DateOnly columns shifted by a day under timezone conversion.</a:t>
            </a:r>
          </a:p>
        </p:txBody>
      </p:sp>
      <p:sp>
        <p:nvSpPr>
          <p:cNvPr id="6" name="Rectangle 5"/>
          <p:cNvSpPr/>
          <p:nvPr/>
        </p:nvSpPr>
        <p:spPr>
          <a:xfrm>
            <a:off x="566928" y="491109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109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0253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were found by automated verification rather than by manual testing - which is the argument for building the harness first.</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Requirements recovered without a workshop</a:t>
            </a:r>
          </a:p>
        </p:txBody>
      </p:sp>
      <p:sp>
        <p:nvSpPr>
          <p:cNvPr id="5" name="Rectangle 4"/>
          <p:cNvSpPr/>
          <p:nvPr/>
        </p:nvSpPr>
        <p:spPr>
          <a:xfrm>
            <a:off x="566928"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0</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held
during the PoC</a:t>
            </a:r>
          </a:p>
        </p:txBody>
      </p:sp>
      <p:sp>
        <p:nvSpPr>
          <p:cNvPr id="9" name="Rectangle 8"/>
          <p:cNvSpPr/>
          <p:nvPr/>
        </p:nvSpPr>
        <p:spPr>
          <a:xfrm>
            <a:off x="3374136"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100%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Process model recovered
from artefacts</a:t>
            </a:r>
          </a:p>
        </p:txBody>
      </p:sp>
      <p:sp>
        <p:nvSpPr>
          <p:cNvPr id="13" name="Rectangle 12"/>
          <p:cNvSpPr/>
          <p:nvPr/>
        </p:nvSpPr>
        <p:spPr>
          <a:xfrm>
            <a:off x="6181344"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41</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business
input - all pre-located</a:t>
            </a:r>
          </a:p>
        </p:txBody>
      </p:sp>
      <p:sp>
        <p:nvSpPr>
          <p:cNvPr id="17" name="Rectangle 16"/>
          <p:cNvSpPr/>
          <p:nvPr/>
        </p:nvSpPr>
        <p:spPr>
          <a:xfrm>
            <a:off x="8988551"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39</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no
business input at all</a:t>
            </a:r>
          </a:p>
        </p:txBody>
      </p:sp>
      <p:graphicFrame>
        <p:nvGraphicFramePr>
          <p:cNvPr id="21" name="Table 20"/>
          <p:cNvGraphicFramePr>
            <a:graphicFrameLocks noGrp="1"/>
          </p:cNvGraphicFramePr>
          <p:nvPr/>
        </p:nvGraphicFramePr>
        <p:xfrm>
          <a:off x="566928" y="2834640"/>
          <a:ext cx="11064240" cy="3090672"/>
        </p:xfrm>
        <a:graphic>
          <a:graphicData uri="http://schemas.openxmlformats.org/drawingml/2006/table">
            <a:tbl>
              <a:tblPr firstRow="1" bandRow="1">
                <a:tableStyleId>{5C22544A-7EE6-4342-B048-85BDC9FD1C3A}</a:tableStyleId>
              </a:tblPr>
              <a:tblGrid>
                <a:gridCol w="2468880"/>
                <a:gridCol w="5029200"/>
                <a:gridCol w="3566160"/>
              </a:tblGrid>
              <a:tr h="347472">
                <a:tc>
                  <a:txBody>
                    <a:bodyPr wrap="square"/>
                    <a:lstStyle/>
                    <a:p>
                      <a:r>
                        <a:rPr sz="1150" b="1">
                          <a:solidFill>
                            <a:srgbClr val="FFFFFF"/>
                          </a:solidFill>
                          <a:latin typeface="Segoe UI"/>
                        </a:rPr>
                        <a:t>Requirement domain</a:t>
                      </a:r>
                    </a:p>
                  </a:txBody>
                  <a:tcPr anchor="ctr" marL="91440">
                    <a:solidFill>
                      <a:srgbClr val="007BA4"/>
                    </a:solidFill>
                  </a:tcPr>
                </a:tc>
                <a:tc>
                  <a:txBody>
                    <a:bodyPr wrap="square"/>
                    <a:lstStyle/>
                    <a:p>
                      <a:r>
                        <a:rPr sz="1150" b="1">
                          <a:solidFill>
                            <a:srgbClr val="FFFFFF"/>
                          </a:solidFill>
                          <a:latin typeface="Segoe UI"/>
                        </a:rPr>
                        <a:t>Recovered from artefacts</a:t>
                      </a:r>
                    </a:p>
                  </a:txBody>
                  <a:tcPr anchor="ctr" marL="91440">
                    <a:solidFill>
                      <a:srgbClr val="007BA4"/>
                    </a:solidFill>
                  </a:tcPr>
                </a:tc>
                <a:tc>
                  <a:txBody>
                    <a:bodyPr wrap="square"/>
                    <a:lstStyle/>
                    <a:p>
                      <a:r>
                        <a:rPr sz="1150" b="1">
                          <a:solidFill>
                            <a:srgbClr val="FFFFFF"/>
                          </a:solidFill>
                          <a:latin typeface="Segoe UI"/>
                        </a:rPr>
                        <a:t>Workshops needed</a:t>
                      </a:r>
                    </a:p>
                  </a:txBody>
                  <a:tcPr anchor="ctr" marL="91440">
                    <a:solidFill>
                      <a:srgbClr val="007BA4"/>
                    </a:solidFill>
                  </a:tcPr>
                </a:tc>
              </a:tr>
              <a:tr h="274320">
                <a:tc>
                  <a:txBody>
                    <a:bodyPr wrap="square"/>
                    <a:lstStyle/>
                    <a:p>
                      <a:r>
                        <a:rPr sz="1150" b="1">
                          <a:solidFill>
                            <a:srgbClr val="1A1A1A"/>
                          </a:solidFill>
                          <a:latin typeface="Segoe UI"/>
                        </a:rPr>
                        <a:t>Process model</a:t>
                      </a:r>
                    </a:p>
                  </a:txBody>
                  <a:tcPr anchor="ctr" marL="91440" marT="18288" marB="18288">
                    <a:solidFill>
                      <a:srgbClr val="FFFFFF"/>
                    </a:solidFill>
                  </a:tcPr>
                </a:tc>
                <a:tc>
                  <a:txBody>
                    <a:bodyPr wrap="square"/>
                    <a:lstStyle/>
                    <a:p>
                      <a:r>
                        <a:rPr sz="1150" b="0">
                          <a:solidFill>
                            <a:srgbClr val="3C3C3C"/>
                          </a:solidFill>
                          <a:latin typeface="Segoe UI"/>
                        </a:rPr>
                        <a:t>5 case types, 39 stages, 80 steps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Business rules</a:t>
                      </a:r>
                    </a:p>
                  </a:txBody>
                  <a:tcPr anchor="ctr" marL="91440" marT="18288" marB="18288">
                    <a:solidFill>
                      <a:srgbClr val="F4F5F7"/>
                    </a:solidFill>
                  </a:tcPr>
                </a:tc>
                <a:tc>
                  <a:txBody>
                    <a:bodyPr wrap="square"/>
                    <a:lstStyle/>
                    <a:p>
                      <a:r>
                        <a:rPr sz="1150" b="0">
                          <a:solidFill>
                            <a:srgbClr val="3C3C3C"/>
                          </a:solidFill>
                          <a:latin typeface="Segoe UI"/>
                        </a:rPr>
                        <a:t>10 decision tables, 28 rules of logic</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Routing logic</a:t>
                      </a:r>
                    </a:p>
                  </a:txBody>
                  <a:tcPr anchor="ctr" marL="91440" marT="18288" marB="18288">
                    <a:solidFill>
                      <a:srgbClr val="FFFFFF"/>
                    </a:solidFill>
                  </a:tcPr>
                </a:tc>
                <a:tc>
                  <a:txBody>
                    <a:bodyPr wrap="square"/>
                    <a:lstStyle/>
                    <a:p>
                      <a:r>
                        <a:rPr sz="1150" b="0">
                          <a:solidFill>
                            <a:srgbClr val="3C3C3C"/>
                          </a:solidFill>
                          <a:latin typeface="Segoe UI"/>
                        </a:rPr>
                        <a:t>264 transitions, 26 validated decision branches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User interface</a:t>
                      </a:r>
                    </a:p>
                  </a:txBody>
                  <a:tcPr anchor="ctr" marL="91440" marT="18288" marB="18288">
                    <a:solidFill>
                      <a:srgbClr val="F4F5F7"/>
                    </a:solidFill>
                  </a:tcPr>
                </a:tc>
                <a:tc>
                  <a:txBody>
                    <a:bodyPr wrap="square"/>
                    <a:lstStyle/>
                    <a:p>
                      <a:r>
                        <a:rPr sz="1150" b="0">
                          <a:solidFill>
                            <a:srgbClr val="3C3C3C"/>
                          </a:solidFill>
                          <a:latin typeface="Segoe UI"/>
                        </a:rPr>
                        <a:t>24 screens, 59 fields, plus screenshots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Data model</a:t>
                      </a:r>
                    </a:p>
                  </a:txBody>
                  <a:tcPr anchor="ctr" marL="91440" marT="18288" marB="18288">
                    <a:solidFill>
                      <a:srgbClr val="FFFFFF"/>
                    </a:solidFill>
                  </a:tcPr>
                </a:tc>
                <a:tc>
                  <a:txBody>
                    <a:bodyPr wrap="square"/>
                    <a:lstStyle/>
                    <a:p>
                      <a:r>
                        <a:rPr sz="1150" b="0">
                          <a:solidFill>
                            <a:srgbClr val="3C3C3C"/>
                          </a:solidFill>
                          <a:latin typeface="Segoe UI"/>
                        </a:rPr>
                        <a:t>10 data objects, 334 properties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Reference data</a:t>
                      </a:r>
                    </a:p>
                  </a:txBody>
                  <a:tcPr anchor="ctr" marL="91440" marT="18288" marB="18288">
                    <a:solidFill>
                      <a:srgbClr val="F4F5F7"/>
                    </a:solidFill>
                  </a:tcPr>
                </a:tc>
                <a:tc>
                  <a:txBody>
                    <a:bodyPr wrap="square"/>
                    <a:lstStyle/>
                    <a:p>
                      <a:r>
                        <a:rPr sz="1150" b="0">
                          <a:solidFill>
                            <a:srgbClr val="3C3C3C"/>
                          </a:solidFill>
                          <a:latin typeface="Segoe UI"/>
                        </a:rPr>
                        <a:t>26 choice sets, 107 values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Notification wording</a:t>
                      </a:r>
                    </a:p>
                  </a:txBody>
                  <a:tcPr anchor="ctr" marL="91440" marT="18288" marB="18288">
                    <a:solidFill>
                      <a:srgbClr val="F4F5F7"/>
                    </a:solidFill>
                  </a:tcPr>
                </a:tc>
                <a:tc>
                  <a:txBody>
                    <a:bodyPr wrap="square"/>
                    <a:lstStyle/>
                    <a:p>
                      <a:r>
                        <a:rPr sz="1150" b="0">
                          <a:solidFill>
                            <a:srgbClr val="3C3C3C"/>
                          </a:solidFill>
                          <a:latin typeface="Segoe UI"/>
                        </a:rPr>
                        <a:t>27 subjects and 27 email bodies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Reporting</a:t>
                      </a:r>
                    </a:p>
                  </a:txBody>
                  <a:tcPr anchor="ctr" marL="91440" marT="18288" marB="18288">
                    <a:solidFill>
                      <a:srgbClr val="FFFFFF"/>
                    </a:solidFill>
                  </a:tcPr>
                </a:tc>
                <a:tc>
                  <a:txBody>
                    <a:bodyPr wrap="square"/>
                    <a:lstStyle/>
                    <a:p>
                      <a:r>
                        <a:rPr sz="1150" b="0">
                          <a:solidFill>
                            <a:srgbClr val="3C3C3C"/>
                          </a:solidFill>
                          <a:latin typeface="Segoe UI"/>
                        </a:rPr>
                        <a:t>30 definitions - all auto-generated scaffolding</a:t>
                      </a:r>
                    </a:p>
                  </a:txBody>
                  <a:tcPr anchor="ctr" marL="91440" marT="18288" marB="18288">
                    <a:solidFill>
                      <a:srgbClr val="FFFFFF"/>
                    </a:solidFill>
                  </a:tcPr>
                </a:tc>
                <a:tc>
                  <a:txBody>
                    <a:bodyPr wrap="square"/>
                    <a:lstStyle/>
                    <a:p>
                      <a:r>
                        <a:rPr sz="1150" b="1">
                          <a:solidFill>
                            <a:srgbClr val="1A1A1A"/>
                          </a:solidFill>
                          <a:latin typeface="Segoe UI"/>
                        </a:rPr>
                        <a:t>None - capability rebuilt natively</a:t>
                      </a:r>
                    </a:p>
                  </a:txBody>
                  <a:tcPr anchor="ctr" marL="91440" marT="18288" marB="18288">
                    <a:solidFill>
                      <a:srgbClr val="FFFFFF"/>
                    </a:solidFill>
                  </a:tcPr>
                </a:tc>
              </a:tr>
              <a:tr h="274320">
                <a:tc>
                  <a:txBody>
                    <a:bodyPr wrap="square"/>
                    <a:lstStyle/>
                    <a:p>
                      <a:r>
                        <a:rPr sz="1150" b="1">
                          <a:solidFill>
                            <a:srgbClr val="1A1A1A"/>
                          </a:solidFill>
                          <a:latin typeface="Segoe UI"/>
                        </a:rPr>
                        <a:t>Step behaviour</a:t>
                      </a:r>
                    </a:p>
                  </a:txBody>
                  <a:tcPr anchor="ctr" marL="91440" marT="18288" marB="18288">
                    <a:solidFill>
                      <a:srgbClr val="F4F5F7"/>
                    </a:solidFill>
                  </a:tcPr>
                </a:tc>
                <a:tc>
                  <a:txBody>
                    <a:bodyPr wrap="square"/>
                    <a:lstStyle/>
                    <a:p>
                      <a:r>
                        <a:rPr sz="1150" b="0">
                          <a:solidFill>
                            <a:srgbClr val="3C3C3C"/>
                          </a:solidFill>
                          <a:latin typeface="Segoe UI"/>
                        </a:rPr>
                        <a:t>20 transforms and 4 documents, named and located</a:t>
                      </a:r>
                    </a:p>
                  </a:txBody>
                  <a:tcPr anchor="ctr" marL="91440" marT="18288" marB="18288">
                    <a:solidFill>
                      <a:srgbClr val="F4F5F7"/>
                    </a:solidFill>
                  </a:tcPr>
                </a:tc>
                <a:tc>
                  <a:txBody>
                    <a:bodyPr wrap="square"/>
                    <a:lstStyle/>
                    <a:p>
                      <a:r>
                        <a:rPr sz="1150" b="0">
                          <a:solidFill>
                            <a:srgbClr val="3C3C3C"/>
                          </a:solidFill>
                          <a:latin typeface="Segoe UI"/>
                        </a:rPr>
                        <a:t>Confirmation only</a:t>
                      </a:r>
                    </a:p>
                  </a:txBody>
                  <a:tcPr anchor="ctr" marL="91440" marT="18288" marB="18288">
                    <a:solidFill>
                      <a:srgbClr val="F4F5F7"/>
                    </a:solidFill>
                  </a:tcPr>
                </a:tc>
              </a:tr>
            </a:tbl>
          </a:graphicData>
        </a:graphic>
      </p:graphicFrame>
      <p:sp>
        <p:nvSpPr>
          <p:cNvPr id="22" name="Rectangle 21"/>
          <p:cNvSpPr/>
          <p:nvPr/>
        </p:nvSpPr>
        <p:spPr>
          <a:xfrm>
            <a:off x="566928" y="60167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6016752"/>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61081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residue is confirmation, not discovery - see the next slide.</a:t>
            </a:r>
          </a:p>
        </p:txBody>
      </p:sp>
      <p:sp>
        <p:nvSpPr>
          <p:cNvPr id="25" name="TextBox 24"/>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How the residual elicitation changes shape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What is left is small, named and located</a:t>
            </a:r>
          </a:p>
          <a:p>
            <a:pPr algn="l">
              <a:spcBef>
                <a:spcPts val="0"/>
              </a:spcBef>
              <a:spcAft>
                <a:spcPts val="900"/>
              </a:spcAft>
            </a:pPr>
            <a:r>
              <a:rPr sz="1350" b="0" i="0">
                <a:solidFill>
                  <a:srgbClr val="1A1A1A"/>
                </a:solidFill>
                <a:latin typeface="Segoe UI"/>
              </a:rPr>
              <a:t>•  Notification wording is fully recovered, reports need no migration and the transform steps have no authored logic to reconstruct. What remains is a short list of specific decisions, each anchored to a step the business already recognises.</a:t>
            </a:r>
          </a:p>
        </p:txBody>
      </p:sp>
      <p:graphicFrame>
        <p:nvGraphicFramePr>
          <p:cNvPr id="6" name="Table 5"/>
          <p:cNvGraphicFramePr>
            <a:graphicFrameLocks noGrp="1"/>
          </p:cNvGraphicFramePr>
          <p:nvPr/>
        </p:nvGraphicFramePr>
        <p:xfrm>
          <a:off x="566928" y="2788920"/>
          <a:ext cx="11064240" cy="1719072"/>
        </p:xfrm>
        <a:graphic>
          <a:graphicData uri="http://schemas.openxmlformats.org/drawingml/2006/table">
            <a:tbl>
              <a:tblPr firstRow="1" bandRow="1">
                <a:tableStyleId>{5C22544A-7EE6-4342-B048-85BDC9FD1C3A}</a:tableStyleId>
              </a:tblPr>
              <a:tblGrid>
                <a:gridCol w="4572000"/>
                <a:gridCol w="6492240"/>
              </a:tblGrid>
              <a:tr h="347472">
                <a:tc>
                  <a:txBody>
                    <a:bodyPr wrap="square"/>
                    <a:lstStyle/>
                    <a:p>
                      <a:r>
                        <a:rPr sz="1150" b="1">
                          <a:solidFill>
                            <a:srgbClr val="FFFFFF"/>
                          </a:solidFill>
                          <a:latin typeface="Segoe UI"/>
                        </a:rPr>
                        <a:t>Instead of asking</a:t>
                      </a:r>
                    </a:p>
                  </a:txBody>
                  <a:tcPr anchor="ctr" marL="91440">
                    <a:solidFill>
                      <a:srgbClr val="007BA4"/>
                    </a:solidFill>
                  </a:tcPr>
                </a:tc>
                <a:tc>
                  <a:txBody>
                    <a:bodyPr wrap="square"/>
                    <a:lstStyle/>
                    <a:p>
                      <a:r>
                        <a:rPr sz="1150" b="1">
                          <a:solidFill>
                            <a:srgbClr val="FFFFFF"/>
                          </a:solidFill>
                          <a:latin typeface="Segoe UI"/>
                        </a:rPr>
                        <a:t>The question becomes</a:t>
                      </a:r>
                    </a:p>
                  </a:txBody>
                  <a:tcPr anchor="ctr" marL="91440">
                    <a:solidFill>
                      <a:srgbClr val="007BA4"/>
                    </a:solidFill>
                  </a:tcPr>
                </a:tc>
              </a:tr>
              <a:tr h="274320">
                <a:tc>
                  <a:txBody>
                    <a:bodyPr wrap="square"/>
                    <a:lstStyle/>
                    <a:p>
                      <a:r>
                        <a:rPr sz="1150" b="0">
                          <a:solidFill>
                            <a:srgbClr val="3C3C3C"/>
                          </a:solidFill>
                          <a:latin typeface="Segoe UI"/>
                        </a:rPr>
                        <a:t>What notifications does this process send, and what do they say?</a:t>
                      </a:r>
                    </a:p>
                  </a:txBody>
                  <a:tcPr anchor="ctr" marL="91440" marT="18288" marB="18288">
                    <a:solidFill>
                      <a:srgbClr val="FFFFFF"/>
                    </a:solidFill>
                  </a:tcPr>
                </a:tc>
                <a:tc>
                  <a:txBody>
                    <a:bodyPr wrap="square"/>
                    <a:lstStyle/>
                    <a:p>
                      <a:r>
                        <a:rPr sz="1150" b="1">
                          <a:solidFill>
                            <a:srgbClr val="1A1A1A"/>
                          </a:solidFill>
                          <a:latin typeface="Segoe UI"/>
                        </a:rPr>
                        <a:t>Nothing to ask - 27 subjects and bodies recovered. Only: who receives them?</a:t>
                      </a:r>
                    </a:p>
                  </a:txBody>
                  <a:tcPr anchor="ctr" marL="91440" marT="18288" marB="18288">
                    <a:solidFill>
                      <a:srgbClr val="FFFFFF"/>
                    </a:solidFill>
                  </a:tcPr>
                </a:tc>
              </a:tr>
              <a:tr h="274320">
                <a:tc>
                  <a:txBody>
                    <a:bodyPr wrap="square"/>
                    <a:lstStyle/>
                    <a:p>
                      <a:r>
                        <a:rPr sz="1150" b="0">
                          <a:solidFill>
                            <a:srgbClr val="3C3C3C"/>
                          </a:solidFill>
                          <a:latin typeface="Segoe UI"/>
                        </a:rPr>
                        <a:t>What calculations happen between these two steps?</a:t>
                      </a:r>
                    </a:p>
                  </a:txBody>
                  <a:tcPr anchor="ctr" marL="91440" marT="18288" marB="18288">
                    <a:solidFill>
                      <a:srgbClr val="F4F5F7"/>
                    </a:solidFill>
                  </a:tcPr>
                </a:tc>
                <a:tc>
                  <a:txBody>
                    <a:bodyPr wrap="square"/>
                    <a:lstStyle/>
                    <a:p>
                      <a:r>
                        <a:rPr sz="1150" b="1">
                          <a:solidFill>
                            <a:srgbClr val="1A1A1A"/>
                          </a:solidFill>
                          <a:latin typeface="Segoe UI"/>
                        </a:rPr>
                        <a:t>Escalation Management / Case Routing / 'Assign Case Owner' - no logic exists in Pega; what should it do?</a:t>
                      </a:r>
                    </a:p>
                  </a:txBody>
                  <a:tcPr anchor="ctr" marL="91440" marT="18288" marB="18288">
                    <a:solidFill>
                      <a:srgbClr val="F4F5F7"/>
                    </a:solidFill>
                  </a:tcPr>
                </a:tc>
              </a:tr>
              <a:tr h="274320">
                <a:tc>
                  <a:txBody>
                    <a:bodyPr wrap="square"/>
                    <a:lstStyle/>
                    <a:p>
                      <a:r>
                        <a:rPr sz="1150" b="0">
                          <a:solidFill>
                            <a:srgbClr val="3C3C3C"/>
                          </a:solidFill>
                          <a:latin typeface="Segoe UI"/>
                        </a:rPr>
                        <a:t>What documents does this process produce?</a:t>
                      </a:r>
                    </a:p>
                  </a:txBody>
                  <a:tcPr anchor="ctr" marL="91440" marT="18288" marB="18288">
                    <a:solidFill>
                      <a:srgbClr val="FFFFFF"/>
                    </a:solidFill>
                  </a:tcPr>
                </a:tc>
                <a:tc>
                  <a:txBody>
                    <a:bodyPr wrap="square"/>
                    <a:lstStyle/>
                    <a:p>
                      <a:r>
                        <a:rPr sz="1150" b="1">
                          <a:solidFill>
                            <a:srgbClr val="1A1A1A"/>
                          </a:solidFill>
                          <a:latin typeface="Segoe UI"/>
                        </a:rPr>
                        <a:t>Risk Assessment / Resolution Tracking / 'Generate Final Report' - confirm the template</a:t>
                      </a:r>
                    </a:p>
                  </a:txBody>
                  <a:tcPr anchor="ctr" marL="91440" marT="18288" marB="18288">
                    <a:solidFill>
                      <a:srgbClr val="FFFFFF"/>
                    </a:solidFill>
                  </a:tcPr>
                </a:tc>
              </a:tr>
              <a:tr h="274320">
                <a:tc>
                  <a:txBody>
                    <a:bodyPr wrap="square"/>
                    <a:lstStyle/>
                    <a:p>
                      <a:r>
                        <a:rPr sz="1150" b="0">
                          <a:solidFill>
                            <a:srgbClr val="3C3C3C"/>
                          </a:solidFill>
                          <a:latin typeface="Segoe UI"/>
                        </a:rPr>
                        <a:t>When should a case go back for rework?</a:t>
                      </a:r>
                    </a:p>
                  </a:txBody>
                  <a:tcPr anchor="ctr" marL="91440" marT="18288" marB="18288">
                    <a:solidFill>
                      <a:srgbClr val="F4F5F7"/>
                    </a:solidFill>
                  </a:tcPr>
                </a:tc>
                <a:tc>
                  <a:txBody>
                    <a:bodyPr wrap="square"/>
                    <a:lstStyle/>
                    <a:p>
                      <a:r>
                        <a:rPr sz="1150" b="1">
                          <a:solidFill>
                            <a:srgbClr val="1A1A1A"/>
                          </a:solidFill>
                          <a:latin typeface="Segoe UI"/>
                        </a:rPr>
                        <a:t>Four specific transitions, each with a proposed condition - confirm or correct</a:t>
                      </a:r>
                    </a:p>
                  </a:txBody>
                  <a:tcPr anchor="ctr" marL="91440" marT="18288" marB="18288">
                    <a:solidFill>
                      <a:srgbClr val="F4F5F7"/>
                    </a:solidFill>
                  </a:tcPr>
                </a:tc>
              </a:tr>
              <a:tr h="274320">
                <a:tc>
                  <a:txBody>
                    <a:bodyPr wrap="square"/>
                    <a:lstStyle/>
                    <a:p>
                      <a:r>
                        <a:rPr sz="1150" b="0">
                          <a:solidFill>
                            <a:srgbClr val="3C3C3C"/>
                          </a:solidFill>
                          <a:latin typeface="Segoe UI"/>
                        </a:rPr>
                        <a:t>What reports does the business need?</a:t>
                      </a:r>
                    </a:p>
                  </a:txBody>
                  <a:tcPr anchor="ctr" marL="91440" marT="18288" marB="18288">
                    <a:solidFill>
                      <a:srgbClr val="FFFFFF"/>
                    </a:solidFill>
                  </a:tcPr>
                </a:tc>
                <a:tc>
                  <a:txBody>
                    <a:bodyPr wrap="square"/>
                    <a:lstStyle/>
                    <a:p>
                      <a:r>
                        <a:rPr sz="1150" b="1">
                          <a:solidFill>
                            <a:srgbClr val="1A1A1A"/>
                          </a:solidFill>
                          <a:latin typeface="Segoe UI"/>
                        </a:rPr>
                        <a:t>Nothing to ask - all 30 are platform scaffolding; the equivalent views are built</a:t>
                      </a:r>
                    </a:p>
                  </a:txBody>
                  <a:tcPr anchor="ctr" marL="91440" marT="18288" marB="18288">
                    <a:solidFill>
                      <a:srgbClr val="FFFFFF"/>
                    </a:solidFill>
                  </a:tcPr>
                </a:tc>
              </a:tr>
            </a:tbl>
          </a:graphicData>
        </a:graphic>
      </p:graphicFrame>
      <p:sp>
        <p:nvSpPr>
          <p:cNvPr id="7" name="Rectangle 6"/>
          <p:cNvSpPr/>
          <p:nvPr/>
        </p:nvSpPr>
        <p:spPr>
          <a:xfrm>
            <a:off x="566928" y="51511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5112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425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Open-ended discovery becomes closed confirmation against a working system the business can see running. That is a materially shorter and easier conversation.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Could a developer just read these in Dev Studio?</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A fair challenge, and the answer is no - because the rules do not exist</a:t>
            </a:r>
          </a:p>
          <a:p>
            <a:pPr algn="l">
              <a:spcBef>
                <a:spcPts val="0"/>
              </a:spcBef>
              <a:spcAft>
                <a:spcPts val="900"/>
              </a:spcAft>
            </a:pPr>
            <a:r>
              <a:rPr sz="1350" b="0" i="0">
                <a:solidFill>
                  <a:srgbClr val="1A1A1A"/>
                </a:solidFill>
                <a:latin typeface="Segoe UI"/>
              </a:rPr>
              <a:t>•  Dev Studio shows you rules. For these 24 steps there is no rule to open: the shape carries a display name and nothing behind it. A developer would see exactly what the export shows.</a:t>
            </a:r>
          </a:p>
        </p:txBody>
      </p:sp>
      <p:graphicFrame>
        <p:nvGraphicFramePr>
          <p:cNvPr id="6" name="Table 5"/>
          <p:cNvGraphicFramePr>
            <a:graphicFrameLocks noGrp="1"/>
          </p:cNvGraphicFramePr>
          <p:nvPr/>
        </p:nvGraphicFramePr>
        <p:xfrm>
          <a:off x="566928" y="2487168"/>
          <a:ext cx="11064239" cy="1444752"/>
        </p:xfrm>
        <a:graphic>
          <a:graphicData uri="http://schemas.openxmlformats.org/drawingml/2006/table">
            <a:tbl>
              <a:tblPr firstRow="1" bandRow="1">
                <a:tableStyleId>{5C22544A-7EE6-4342-B048-85BDC9FD1C3A}</a:tableStyleId>
              </a:tblPr>
              <a:tblGrid>
                <a:gridCol w="4023360"/>
                <a:gridCol w="7040879"/>
              </a:tblGrid>
              <a:tr h="347472">
                <a:tc>
                  <a:txBody>
                    <a:bodyPr wrap="square"/>
                    <a:lstStyle/>
                    <a:p>
                      <a:r>
                        <a:rPr sz="1150" b="1">
                          <a:solidFill>
                            <a:srgbClr val="FFFFFF"/>
                          </a:solidFill>
                          <a:latin typeface="Segoe UI"/>
                        </a:rPr>
                        <a:t>Evidence</a:t>
                      </a:r>
                    </a:p>
                  </a:txBody>
                  <a:tcPr anchor="ctr" marL="91440">
                    <a:solidFill>
                      <a:srgbClr val="007BA4"/>
                    </a:solidFill>
                  </a:tcPr>
                </a:tc>
                <a:tc>
                  <a:txBody>
                    <a:bodyPr wrap="square"/>
                    <a:lstStyle/>
                    <a:p>
                      <a:r>
                        <a:rPr sz="1150" b="1">
                          <a:solidFill>
                            <a:srgbClr val="FFFFFF"/>
                          </a:solidFill>
                          <a:latin typeface="Segoe UI"/>
                        </a:rPr>
                        <a:t>Result</a:t>
                      </a:r>
                    </a:p>
                  </a:txBody>
                  <a:tcPr anchor="ctr" marL="91440">
                    <a:solidFill>
                      <a:srgbClr val="007BA4"/>
                    </a:solidFill>
                  </a:tcPr>
                </a:tc>
              </a:tr>
              <a:tr h="274320">
                <a:tc>
                  <a:txBody>
                    <a:bodyPr wrap="square"/>
                    <a:lstStyle/>
                    <a:p>
                      <a:r>
                        <a:rPr sz="1150" b="1">
                          <a:solidFill>
                            <a:srgbClr val="1A1A1A"/>
                          </a:solidFill>
                          <a:latin typeface="Segoe UI"/>
                        </a:rPr>
                        <a:t>Is the export complete, or a partial slice?</a:t>
                      </a:r>
                    </a:p>
                  </a:txBody>
                  <a:tcPr anchor="ctr" marL="91440" marT="18288" marB="18288">
                    <a:solidFill>
                      <a:srgbClr val="FFFFFF"/>
                    </a:solidFill>
                  </a:tcPr>
                </a:tc>
                <a:tc>
                  <a:txBody>
                    <a:bodyPr wrap="square"/>
                    <a:lstStyle/>
                    <a:p>
                      <a:r>
                        <a:rPr sz="1150" b="1">
                          <a:solidFill>
                            <a:srgbClr val="1A1A1A"/>
                          </a:solidFill>
                          <a:latin typeface="Segoe UI"/>
                        </a:rPr>
                        <a:t>Complete - 6,872 instances, matching the manifest count, across all application rulesets</a:t>
                      </a:r>
                    </a:p>
                  </a:txBody>
                  <a:tcPr anchor="ctr" marL="91440" marT="18288" marB="18288">
                    <a:solidFill>
                      <a:srgbClr val="FFFFFF"/>
                    </a:solidFill>
                  </a:tcPr>
                </a:tc>
              </a:tr>
              <a:tr h="274320">
                <a:tc>
                  <a:txBody>
                    <a:bodyPr wrap="square"/>
                    <a:lstStyle/>
                    <a:p>
                      <a:r>
                        <a:rPr sz="1150" b="1">
                          <a:solidFill>
                            <a:srgbClr val="1A1A1A"/>
                          </a:solidFill>
                          <a:latin typeface="Segoe UI"/>
                        </a:rPr>
                        <a:t>Does the export carry rule bodies at all, or only headers?</a:t>
                      </a:r>
                    </a:p>
                  </a:txBody>
                  <a:tcPr anchor="ctr" marL="91440" marT="18288" marB="18288">
                    <a:solidFill>
                      <a:srgbClr val="F4F5F7"/>
                    </a:solidFill>
                  </a:tcPr>
                </a:tc>
                <a:tc>
                  <a:txBody>
                    <a:bodyPr wrap="square"/>
                    <a:lstStyle/>
                    <a:p>
                      <a:r>
                        <a:rPr sz="1150" b="1">
                          <a:solidFill>
                            <a:srgbClr val="1A1A1A"/>
                          </a:solidFill>
                          <a:latin typeface="Segoe UI"/>
                        </a:rPr>
                        <a:t>Bodies - notification email text, decision table results, 264 flow connectors and case type descriptions all recovered</a:t>
                      </a:r>
                    </a:p>
                  </a:txBody>
                  <a:tcPr anchor="ctr" marL="91440" marT="18288" marB="18288">
                    <a:solidFill>
                      <a:srgbClr val="F4F5F7"/>
                    </a:solidFill>
                  </a:tcPr>
                </a:tc>
              </a:tr>
              <a:tr h="274320">
                <a:tc>
                  <a:txBody>
                    <a:bodyPr wrap="square"/>
                    <a:lstStyle/>
                    <a:p>
                      <a:r>
                        <a:rPr sz="1150" b="1">
                          <a:solidFill>
                            <a:srgbClr val="1A1A1A"/>
                          </a:solidFill>
                          <a:latin typeface="Segoe UI"/>
                        </a:rPr>
                        <a:t>Do the 20 transform steps resolve to a transform rule?</a:t>
                      </a:r>
                    </a:p>
                  </a:txBody>
                  <a:tcPr anchor="ctr" marL="91440" marT="18288" marB="18288">
                    <a:solidFill>
                      <a:srgbClr val="FFFFFF"/>
                    </a:solidFill>
                  </a:tcPr>
                </a:tc>
                <a:tc>
                  <a:txBody>
                    <a:bodyPr wrap="square"/>
                    <a:lstStyle/>
                    <a:p>
                      <a:r>
                        <a:rPr sz="1150" b="1">
                          <a:solidFill>
                            <a:srgbClr val="1A1A1A"/>
                          </a:solidFill>
                          <a:latin typeface="Segoe UI"/>
                        </a:rPr>
                        <a:t>0 of 20. Two names appeared to match, but one is a decision table and one a property - name collisions, not transforms</a:t>
                      </a:r>
                    </a:p>
                  </a:txBody>
                  <a:tcPr anchor="ctr" marL="91440" marT="18288" marB="18288">
                    <a:solidFill>
                      <a:srgbClr val="FFFFFF"/>
                    </a:solidFill>
                  </a:tcPr>
                </a:tc>
              </a:tr>
              <a:tr h="274320">
                <a:tc>
                  <a:txBody>
                    <a:bodyPr wrap="square"/>
                    <a:lstStyle/>
                    <a:p>
                      <a:r>
                        <a:rPr sz="1150" b="1">
                          <a:solidFill>
                            <a:srgbClr val="1A1A1A"/>
                          </a:solidFill>
                          <a:latin typeface="Segoe UI"/>
                        </a:rPr>
                        <a:t>Are the 4 document steps configured?</a:t>
                      </a:r>
                    </a:p>
                  </a:txBody>
                  <a:tcPr anchor="ctr" marL="91440" marT="18288" marB="18288">
                    <a:solidFill>
                      <a:srgbClr val="F4F5F7"/>
                    </a:solidFill>
                  </a:tcPr>
                </a:tc>
                <a:tc>
                  <a:txBody>
                    <a:bodyPr wrap="square"/>
                    <a:lstStyle/>
                    <a:p>
                      <a:r>
                        <a:rPr sz="1150" b="1">
                          <a:solidFill>
                            <a:srgbClr val="1A1A1A"/>
                          </a:solidFill>
                          <a:latin typeface="Segoe UI"/>
                        </a:rPr>
                        <a:t>No. Pega's own design-time warning on every one reads "This field cannot be blank" against the document name</a:t>
                      </a:r>
                    </a:p>
                  </a:txBody>
                  <a:tcPr anchor="ctr" marL="91440" marT="18288" marB="18288">
                    <a:solidFill>
                      <a:srgbClr val="F4F5F7"/>
                    </a:solidFill>
                  </a:tcPr>
                </a:tc>
              </a:tr>
            </a:tbl>
          </a:graphicData>
        </a:graphic>
      </p:graphicFrame>
      <p:sp>
        <p:nvSpPr>
          <p:cNvPr id="7" name="Rectangle 6"/>
          <p:cNvSpPr/>
          <p:nvPr/>
        </p:nvSpPr>
        <p:spPr>
          <a:xfrm>
            <a:off x="566928" y="47594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759452"/>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8508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Pega is telling us these steps were never finished. There is nothing to migrate, so the behaviour has to be defined - and that is a business question by definition, not a developer task.</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Automation opportunities</a:t>
            </a:r>
          </a:p>
        </p:txBody>
      </p:sp>
      <p:graphicFrame>
        <p:nvGraphicFramePr>
          <p:cNvPr id="5" name="Table 4"/>
          <p:cNvGraphicFramePr>
            <a:graphicFrameLocks noGrp="1"/>
          </p:cNvGraphicFramePr>
          <p:nvPr/>
        </p:nvGraphicFramePr>
        <p:xfrm>
          <a:off x="566928" y="1554480"/>
          <a:ext cx="11064239" cy="2542032"/>
        </p:xfrm>
        <a:graphic>
          <a:graphicData uri="http://schemas.openxmlformats.org/drawingml/2006/table">
            <a:tbl>
              <a:tblPr firstRow="1" bandRow="1">
                <a:tableStyleId>{5C22544A-7EE6-4342-B048-85BDC9FD1C3A}</a:tableStyleId>
              </a:tblPr>
              <a:tblGrid>
                <a:gridCol w="2926080"/>
                <a:gridCol w="4206239"/>
                <a:gridCol w="3931920"/>
              </a:tblGrid>
              <a:tr h="347472">
                <a:tc>
                  <a:txBody>
                    <a:bodyPr wrap="square"/>
                    <a:lstStyle/>
                    <a:p>
                      <a:r>
                        <a:rPr sz="1150" b="1">
                          <a:solidFill>
                            <a:srgbClr val="FFFFFF"/>
                          </a:solidFill>
                          <a:latin typeface="Segoe UI"/>
                        </a:rPr>
                        <a:t>Opportunity</a:t>
                      </a:r>
                    </a:p>
                  </a:txBody>
                  <a:tcPr anchor="ctr" marL="91440">
                    <a:solidFill>
                      <a:srgbClr val="007BA4"/>
                    </a:solidFill>
                  </a:tcPr>
                </a:tc>
                <a:tc>
                  <a:txBody>
                    <a:bodyPr wrap="square"/>
                    <a:lstStyle/>
                    <a:p>
                      <a:r>
                        <a:rPr sz="1150" b="1">
                          <a:solidFill>
                            <a:srgbClr val="FFFFFF"/>
                          </a:solidFill>
                          <a:latin typeface="Segoe UI"/>
                        </a:rPr>
                        <a:t>Current state</a:t>
                      </a:r>
                    </a:p>
                  </a:txBody>
                  <a:tcPr anchor="ctr" marL="91440">
                    <a:solidFill>
                      <a:srgbClr val="007BA4"/>
                    </a:solidFill>
                  </a:tcPr>
                </a:tc>
                <a:tc>
                  <a:txBody>
                    <a:bodyPr wrap="square"/>
                    <a:lstStyle/>
                    <a:p>
                      <a:r>
                        <a:rPr sz="1150" b="1">
                          <a:solidFill>
                            <a:srgbClr val="FFFFFF"/>
                          </a:solidFill>
                          <a:latin typeface="Segoe UI"/>
                        </a:rPr>
                        <a:t>Potential</a:t>
                      </a:r>
                    </a:p>
                  </a:txBody>
                  <a:tcPr anchor="ctr" marL="91440">
                    <a:solidFill>
                      <a:srgbClr val="007BA4"/>
                    </a:solidFill>
                  </a:tcPr>
                </a:tc>
              </a:tr>
              <a:tr h="274320">
                <a:tc>
                  <a:txBody>
                    <a:bodyPr wrap="square"/>
                    <a:lstStyle/>
                    <a:p>
                      <a:r>
                        <a:rPr sz="1150" b="1">
                          <a:solidFill>
                            <a:srgbClr val="1A1A1A"/>
                          </a:solidFill>
                          <a:latin typeface="Segoe UI"/>
                        </a:rPr>
                        <a:t>Extract and seed pipeline</a:t>
                      </a:r>
                    </a:p>
                  </a:txBody>
                  <a:tcPr anchor="ctr" marL="91440" marT="18288" marB="18288">
                    <a:solidFill>
                      <a:srgbClr val="FFFFFF"/>
                    </a:solidFill>
                  </a:tcPr>
                </a:tc>
                <a:tc>
                  <a:txBody>
                    <a:bodyPr wrap="square"/>
                    <a:lstStyle/>
                    <a:p>
                      <a:r>
                        <a:rPr sz="1150" b="0">
                          <a:solidFill>
                            <a:srgbClr val="3C3C3C"/>
                          </a:solidFill>
                          <a:latin typeface="Segoe UI"/>
                        </a:rPr>
                        <a:t>Built and application-agnostic</a:t>
                      </a:r>
                    </a:p>
                  </a:txBody>
                  <a:tcPr anchor="ctr" marL="91440" marT="18288" marB="18288">
                    <a:solidFill>
                      <a:srgbClr val="FFFFFF"/>
                    </a:solidFill>
                  </a:tcPr>
                </a:tc>
                <a:tc>
                  <a:txBody>
                    <a:bodyPr wrap="square"/>
                    <a:lstStyle/>
                    <a:p>
                      <a:r>
                        <a:rPr sz="1150" b="1">
                          <a:solidFill>
                            <a:srgbClr val="1A1A1A"/>
                          </a:solidFill>
                          <a:latin typeface="Segoe UI"/>
                        </a:rPr>
                        <a:t>Reusable as-is on the next application</a:t>
                      </a:r>
                    </a:p>
                  </a:txBody>
                  <a:tcPr anchor="ctr" marL="91440" marT="18288" marB="18288">
                    <a:solidFill>
                      <a:srgbClr val="FFFFFF"/>
                    </a:solidFill>
                  </a:tcPr>
                </a:tc>
              </a:tr>
              <a:tr h="274320">
                <a:tc>
                  <a:txBody>
                    <a:bodyPr wrap="square"/>
                    <a:lstStyle/>
                    <a:p>
                      <a:r>
                        <a:rPr sz="1150" b="1">
                          <a:solidFill>
                            <a:srgbClr val="1A1A1A"/>
                          </a:solidFill>
                          <a:latin typeface="Segoe UI"/>
                        </a:rPr>
                        <a:t>Dynamic form rendering</a:t>
                      </a:r>
                    </a:p>
                  </a:txBody>
                  <a:tcPr anchor="ctr" marL="91440" marT="18288" marB="18288">
                    <a:solidFill>
                      <a:srgbClr val="F4F5F7"/>
                    </a:solidFill>
                  </a:tcPr>
                </a:tc>
                <a:tc>
                  <a:txBody>
                    <a:bodyPr wrap="square"/>
                    <a:lstStyle/>
                    <a:p>
                      <a:r>
                        <a:rPr sz="1150" b="0">
                          <a:solidFill>
                            <a:srgbClr val="3C3C3C"/>
                          </a:solidFill>
                          <a:latin typeface="Segoe UI"/>
                        </a:rPr>
                        <a:t>Built - forms render from metadata</a:t>
                      </a:r>
                    </a:p>
                  </a:txBody>
                  <a:tcPr anchor="ctr" marL="91440" marT="18288" marB="18288">
                    <a:solidFill>
                      <a:srgbClr val="F4F5F7"/>
                    </a:solidFill>
                  </a:tcPr>
                </a:tc>
                <a:tc>
                  <a:txBody>
                    <a:bodyPr wrap="square"/>
                    <a:lstStyle/>
                    <a:p>
                      <a:r>
                        <a:rPr sz="1150" b="1">
                          <a:solidFill>
                            <a:srgbClr val="1A1A1A"/>
                          </a:solidFill>
                          <a:latin typeface="Segoe UI"/>
                        </a:rPr>
                        <a:t>Reusable as-is</a:t>
                      </a:r>
                    </a:p>
                  </a:txBody>
                  <a:tcPr anchor="ctr" marL="91440" marT="18288" marB="18288">
                    <a:solidFill>
                      <a:srgbClr val="F4F5F7"/>
                    </a:solidFill>
                  </a:tcPr>
                </a:tc>
              </a:tr>
              <a:tr h="274320">
                <a:tc>
                  <a:txBody>
                    <a:bodyPr wrap="square"/>
                    <a:lstStyle/>
                    <a:p>
                      <a:r>
                        <a:rPr sz="1150" b="1">
                          <a:solidFill>
                            <a:srgbClr val="1A1A1A"/>
                          </a:solidFill>
                          <a:latin typeface="Segoe UI"/>
                        </a:rPr>
                        <a:t>Case engine</a:t>
                      </a:r>
                    </a:p>
                  </a:txBody>
                  <a:tcPr anchor="ctr" marL="91440" marT="18288" marB="18288">
                    <a:solidFill>
                      <a:srgbClr val="FFFFFF"/>
                    </a:solidFill>
                  </a:tcPr>
                </a:tc>
                <a:tc>
                  <a:txBody>
                    <a:bodyPr wrap="square"/>
                    <a:lstStyle/>
                    <a:p>
                      <a:r>
                        <a:rPr sz="1150" b="0">
                          <a:solidFill>
                            <a:srgbClr val="3C3C3C"/>
                          </a:solidFill>
                          <a:latin typeface="Segoe UI"/>
                        </a:rPr>
                        <a:t>Built - pure and configuration-driven</a:t>
                      </a:r>
                    </a:p>
                  </a:txBody>
                  <a:tcPr anchor="ctr" marL="91440" marT="18288" marB="18288">
                    <a:solidFill>
                      <a:srgbClr val="FFFFFF"/>
                    </a:solidFill>
                  </a:tcPr>
                </a:tc>
                <a:tc>
                  <a:txBody>
                    <a:bodyPr wrap="square"/>
                    <a:lstStyle/>
                    <a:p>
                      <a:r>
                        <a:rPr sz="1150" b="1">
                          <a:solidFill>
                            <a:srgbClr val="1A1A1A"/>
                          </a:solidFill>
                          <a:latin typeface="Segoe UI"/>
                        </a:rPr>
                        <a:t>Reusable as-is</a:t>
                      </a:r>
                    </a:p>
                  </a:txBody>
                  <a:tcPr anchor="ctr" marL="91440" marT="18288" marB="18288">
                    <a:solidFill>
                      <a:srgbClr val="FFFFFF"/>
                    </a:solidFill>
                  </a:tcPr>
                </a:tc>
              </a:tr>
              <a:tr h="274320">
                <a:tc>
                  <a:txBody>
                    <a:bodyPr wrap="square"/>
                    <a:lstStyle/>
                    <a:p>
                      <a:r>
                        <a:rPr sz="1150" b="1">
                          <a:solidFill>
                            <a:srgbClr val="1A1A1A"/>
                          </a:solidFill>
                          <a:latin typeface="Segoe UI"/>
                        </a:rPr>
                        <a:t>Verification harness</a:t>
                      </a:r>
                    </a:p>
                  </a:txBody>
                  <a:tcPr anchor="ctr" marL="91440" marT="18288" marB="18288">
                    <a:solidFill>
                      <a:srgbClr val="F4F5F7"/>
                    </a:solidFill>
                  </a:tcPr>
                </a:tc>
                <a:tc>
                  <a:txBody>
                    <a:bodyPr wrap="square"/>
                    <a:lstStyle/>
                    <a:p>
                      <a:r>
                        <a:rPr sz="1150" b="0">
                          <a:solidFill>
                            <a:srgbClr val="3C3C3C"/>
                          </a:solidFill>
                          <a:latin typeface="Segoe UI"/>
                        </a:rPr>
                        <a:t>Built - 58 checks</a:t>
                      </a:r>
                    </a:p>
                  </a:txBody>
                  <a:tcPr anchor="ctr" marL="91440" marT="18288" marB="18288">
                    <a:solidFill>
                      <a:srgbClr val="F4F5F7"/>
                    </a:solidFill>
                  </a:tcPr>
                </a:tc>
                <a:tc>
                  <a:txBody>
                    <a:bodyPr wrap="square"/>
                    <a:lstStyle/>
                    <a:p>
                      <a:r>
                        <a:rPr sz="1150" b="1">
                          <a:solidFill>
                            <a:srgbClr val="1A1A1A"/>
                          </a:solidFill>
                          <a:latin typeface="Segoe UI"/>
                        </a:rPr>
                        <a:t>Extend per application</a:t>
                      </a:r>
                    </a:p>
                  </a:txBody>
                  <a:tcPr anchor="ctr" marL="91440" marT="18288" marB="18288">
                    <a:solidFill>
                      <a:srgbClr val="F4F5F7"/>
                    </a:solidFill>
                  </a:tcPr>
                </a:tc>
              </a:tr>
              <a:tr h="274320">
                <a:tc>
                  <a:txBody>
                    <a:bodyPr wrap="square"/>
                    <a:lstStyle/>
                    <a:p>
                      <a:r>
                        <a:rPr sz="1150" b="1">
                          <a:solidFill>
                            <a:srgbClr val="1A1A1A"/>
                          </a:solidFill>
                          <a:latin typeface="Segoe UI"/>
                        </a:rPr>
                        <a:t>Guard inference</a:t>
                      </a:r>
                    </a:p>
                  </a:txBody>
                  <a:tcPr anchor="ctr" marL="91440" marT="18288" marB="18288">
                    <a:solidFill>
                      <a:srgbClr val="FFFFFF"/>
                    </a:solidFill>
                  </a:tcPr>
                </a:tc>
                <a:tc>
                  <a:txBody>
                    <a:bodyPr wrap="square"/>
                    <a:lstStyle/>
                    <a:p>
                      <a:r>
                        <a:rPr sz="1150" b="0">
                          <a:solidFill>
                            <a:srgbClr val="3C3C3C"/>
                          </a:solidFill>
                          <a:latin typeface="Segoe UI"/>
                        </a:rPr>
                        <a:t>Heuristic from decision results</a:t>
                      </a:r>
                    </a:p>
                  </a:txBody>
                  <a:tcPr anchor="ctr" marL="91440" marT="18288" marB="18288">
                    <a:solidFill>
                      <a:srgbClr val="FFFFFF"/>
                    </a:solidFill>
                  </a:tcPr>
                </a:tc>
                <a:tc>
                  <a:txBody>
                    <a:bodyPr wrap="square"/>
                    <a:lstStyle/>
                    <a:p>
                      <a:r>
                        <a:rPr sz="1150" b="1">
                          <a:solidFill>
                            <a:srgbClr val="1A1A1A"/>
                          </a:solidFill>
                          <a:latin typeface="Segoe UI"/>
                        </a:rPr>
                        <a:t>Flow-rule extractor built and reusable</a:t>
                      </a:r>
                    </a:p>
                  </a:txBody>
                  <a:tcPr anchor="ctr" marL="91440" marT="18288" marB="18288">
                    <a:solidFill>
                      <a:srgbClr val="FFFFFF"/>
                    </a:solidFill>
                  </a:tcPr>
                </a:tc>
              </a:tr>
              <a:tr h="274320">
                <a:tc>
                  <a:txBody>
                    <a:bodyPr wrap="square"/>
                    <a:lstStyle/>
                    <a:p>
                      <a:r>
                        <a:rPr sz="1150" b="1">
                          <a:solidFill>
                            <a:srgbClr val="1A1A1A"/>
                          </a:solidFill>
                          <a:latin typeface="Segoe UI"/>
                        </a:rPr>
                        <a:t>Notification scaffolding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flow skeletons from step metadata</a:t>
                      </a:r>
                    </a:p>
                  </a:txBody>
                  <a:tcPr anchor="ctr" marL="91440" marT="18288" marB="18288">
                    <a:solidFill>
                      <a:srgbClr val="F4F5F7"/>
                    </a:solidFill>
                  </a:tcPr>
                </a:tc>
              </a:tr>
              <a:tr h="274320">
                <a:tc>
                  <a:txBody>
                    <a:bodyPr wrap="square"/>
                    <a:lstStyle/>
                    <a:p>
                      <a:r>
                        <a:rPr sz="1150" b="1">
                          <a:solidFill>
                            <a:srgbClr val="1A1A1A"/>
                          </a:solidFill>
                          <a:latin typeface="Segoe UI"/>
                        </a:rPr>
                        <a:t>Data transform scaffolding</a:t>
                      </a:r>
                    </a:p>
                  </a:txBody>
                  <a:tcPr anchor="ctr" marL="91440" marT="18288" marB="18288">
                    <a:solidFill>
                      <a:srgbClr val="FFFFFF"/>
                    </a:solidFill>
                  </a:tcPr>
                </a:tc>
                <a:tc>
                  <a:txBody>
                    <a:bodyPr wrap="square"/>
                    <a:lstStyle/>
                    <a:p>
                      <a:r>
                        <a:rPr sz="1150" b="0">
                          <a:solidFill>
                            <a:srgbClr val="3C3C3C"/>
                          </a:solidFill>
                          <a:latin typeface="Segoe UI"/>
                        </a:rPr>
                        <a:t>Manual today</a:t>
                      </a:r>
                    </a:p>
                  </a:txBody>
                  <a:tcPr anchor="ctr" marL="91440" marT="18288" marB="18288">
                    <a:solidFill>
                      <a:srgbClr val="FFFFFF"/>
                    </a:solidFill>
                  </a:tcPr>
                </a:tc>
                <a:tc>
                  <a:txBody>
                    <a:bodyPr wrap="square"/>
                    <a:lstStyle/>
                    <a:p>
                      <a:r>
                        <a:rPr sz="1150" b="0">
                          <a:solidFill>
                            <a:srgbClr val="3C3C3C"/>
                          </a:solidFill>
                          <a:latin typeface="Segoe UI"/>
                        </a:rPr>
                        <a:t>Generate typed stubs from property metadata</a:t>
                      </a:r>
                    </a:p>
                  </a:txBody>
                  <a:tcPr anchor="ctr" marL="91440" marT="18288" marB="18288">
                    <a:solidFill>
                      <a:srgbClr val="FFFFFF"/>
                    </a:solidFill>
                  </a:tcPr>
                </a:tc>
              </a:tr>
              <a:tr h="274320">
                <a:tc>
                  <a:txBody>
                    <a:bodyPr wrap="square"/>
                    <a:lstStyle/>
                    <a:p>
                      <a:r>
                        <a:rPr sz="1150" b="1">
                          <a:solidFill>
                            <a:srgbClr val="1A1A1A"/>
                          </a:solidFill>
                          <a:latin typeface="Segoe UI"/>
                        </a:rPr>
                        <a:t>Security mapping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role definitions from access groups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Four components are already reusable. The remaining four are scaffolding opportunities that would reduce the manual 51% materially on subsequent migrations.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08</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Validation Results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Functional outcomes, observations and gaps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Functional validation</a:t>
            </a:r>
          </a:p>
        </p:txBody>
      </p:sp>
      <p:sp>
        <p:nvSpPr>
          <p:cNvPr id="5" name="Rectangle 4"/>
          <p:cNvSpPr/>
          <p:nvPr/>
        </p:nvSpPr>
        <p:spPr>
          <a:xfrm>
            <a:off x="566928"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58</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passing</a:t>
            </a:r>
          </a:p>
        </p:txBody>
      </p:sp>
      <p:sp>
        <p:nvSpPr>
          <p:cNvPr id="9" name="Rectangle 8"/>
          <p:cNvSpPr/>
          <p:nvPr/>
        </p:nvSpPr>
        <p:spPr>
          <a:xfrm>
            <a:off x="3374136"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failing</a:t>
            </a:r>
          </a:p>
        </p:txBody>
      </p:sp>
      <p:sp>
        <p:nvSpPr>
          <p:cNvPr id="13" name="Rectangle 12"/>
          <p:cNvSpPr/>
          <p:nvPr/>
        </p:nvSpPr>
        <p:spPr>
          <a:xfrm>
            <a:off x="6181344"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5 of 5</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resolving</a:t>
            </a:r>
          </a:p>
        </p:txBody>
      </p:sp>
      <p:sp>
        <p:nvSpPr>
          <p:cNvPr id="17" name="Rectangle 16"/>
          <p:cNvSpPr/>
          <p:nvPr/>
        </p:nvSpPr>
        <p:spPr>
          <a:xfrm>
            <a:off x="8988551"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100%</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Lifecycle coverage</a:t>
            </a:r>
          </a:p>
        </p:txBody>
      </p:sp>
      <p:graphicFrame>
        <p:nvGraphicFramePr>
          <p:cNvPr id="21" name="Table 20"/>
          <p:cNvGraphicFramePr>
            <a:graphicFrameLocks noGrp="1"/>
          </p:cNvGraphicFramePr>
          <p:nvPr/>
        </p:nvGraphicFramePr>
        <p:xfrm>
          <a:off x="566928" y="2788920"/>
          <a:ext cx="11064234" cy="1719072"/>
        </p:xfrm>
        <a:graphic>
          <a:graphicData uri="http://schemas.openxmlformats.org/drawingml/2006/table">
            <a:tbl>
              <a:tblPr firstRow="1" bandRow="1">
                <a:tableStyleId>{5C22544A-7EE6-4342-B048-85BDC9FD1C3A}</a:tableStyleId>
              </a:tblPr>
              <a:tblGrid>
                <a:gridCol w="2651759"/>
                <a:gridCol w="1005840"/>
                <a:gridCol w="1280159"/>
                <a:gridCol w="1097279"/>
                <a:gridCol w="1097279"/>
                <a:gridCol w="914399"/>
                <a:gridCol w="3017519"/>
              </a:tblGrid>
              <a:tr h="347472">
                <a:tc>
                  <a:txBody>
                    <a:bodyPr wrap="square"/>
                    <a:lstStyle/>
                    <a:p>
                      <a:r>
                        <a:rPr sz="1100" b="1">
                          <a:solidFill>
                            <a:srgbClr val="FFFFFF"/>
                          </a:solidFill>
                          <a:latin typeface="Segoe UI"/>
                        </a:rPr>
                        <a:t>Case type</a:t>
                      </a:r>
                    </a:p>
                  </a:txBody>
                  <a:tcPr anchor="ctr" marL="91440">
                    <a:solidFill>
                      <a:srgbClr val="007BA4"/>
                    </a:solidFill>
                  </a:tcPr>
                </a:tc>
                <a:tc>
                  <a:txBody>
                    <a:bodyPr wrap="square"/>
                    <a:lstStyle/>
                    <a:p>
                      <a:r>
                        <a:rPr sz="1100" b="1">
                          <a:solidFill>
                            <a:srgbClr val="FFFFFF"/>
                          </a:solidFill>
                          <a:latin typeface="Segoe UI"/>
                        </a:rPr>
                        <a:t>Iterations</a:t>
                      </a:r>
                    </a:p>
                  </a:txBody>
                  <a:tcPr anchor="ctr" marL="91440">
                    <a:solidFill>
                      <a:srgbClr val="007BA4"/>
                    </a:solidFill>
                  </a:tcPr>
                </a:tc>
                <a:tc>
                  <a:txBody>
                    <a:bodyPr wrap="square"/>
                    <a:lstStyle/>
                    <a:p>
                      <a:r>
                        <a:rPr sz="1100" b="1">
                          <a:solidFill>
                            <a:srgbClr val="FFFFFF"/>
                          </a:solidFill>
                          <a:latin typeface="Segoe UI"/>
                        </a:rPr>
                        <a:t>Assignments</a:t>
                      </a:r>
                    </a:p>
                  </a:txBody>
                  <a:tcPr anchor="ctr" marL="91440">
                    <a:solidFill>
                      <a:srgbClr val="007BA4"/>
                    </a:solidFill>
                  </a:tcPr>
                </a:tc>
                <a:tc>
                  <a:txBody>
                    <a:bodyPr wrap="square"/>
                    <a:lstStyle/>
                    <a:p>
                      <a:r>
                        <a:rPr sz="1100" b="1">
                          <a:solidFill>
                            <a:srgbClr val="FFFFFF"/>
                          </a:solidFill>
                          <a:latin typeface="Segoe UI"/>
                        </a:rPr>
                        <a:t>Approvals</a:t>
                      </a:r>
                    </a:p>
                  </a:txBody>
                  <a:tcPr anchor="ctr" marL="91440">
                    <a:solidFill>
                      <a:srgbClr val="007BA4"/>
                    </a:solidFill>
                  </a:tcPr>
                </a:tc>
                <a:tc>
                  <a:txBody>
                    <a:bodyPr wrap="square"/>
                    <a:lstStyle/>
                    <a:p>
                      <a:r>
                        <a:rPr sz="1100" b="1">
                          <a:solidFill>
                            <a:srgbClr val="FFFFFF"/>
                          </a:solidFill>
                          <a:latin typeface="Segoe UI"/>
                        </a:rPr>
                        <a:t>Decisions</a:t>
                      </a:r>
                    </a:p>
                  </a:txBody>
                  <a:tcPr anchor="ctr" marL="91440">
                    <a:solidFill>
                      <a:srgbClr val="007BA4"/>
                    </a:solidFill>
                  </a:tcPr>
                </a:tc>
                <a:tc>
                  <a:txBody>
                    <a:bodyPr wrap="square"/>
                    <a:lstStyle/>
                    <a:p>
                      <a:r>
                        <a:rPr sz="1100" b="1">
                          <a:solidFill>
                            <a:srgbClr val="FFFFFF"/>
                          </a:solidFill>
                          <a:latin typeface="Segoe UI"/>
                        </a:rPr>
                        <a:t>Skipped</a:t>
                      </a:r>
                    </a:p>
                  </a:txBody>
                  <a:tcPr anchor="ctr" marL="91440">
                    <a:solidFill>
                      <a:srgbClr val="007BA4"/>
                    </a:solidFill>
                  </a:tcPr>
                </a:tc>
                <a:tc>
                  <a:txBody>
                    <a:bodyPr wrap="square"/>
                    <a:lstStyle/>
                    <a:p>
                      <a:r>
                        <a:rPr sz="1100" b="1">
                          <a:solidFill>
                            <a:srgbClr val="FFFFFF"/>
                          </a:solidFill>
                          <a:latin typeface="Segoe UI"/>
                        </a:rPr>
                        <a:t>Final status</a:t>
                      </a:r>
                    </a:p>
                  </a:txBody>
                  <a:tcPr anchor="ctr" marL="91440">
                    <a:solidFill>
                      <a:srgbClr val="007BA4"/>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Resolved-Resolution Closure</a:t>
                      </a:r>
                    </a:p>
                  </a:txBody>
                  <a:tcPr anchor="ctr" marL="91440" marT="18288" marB="18288">
                    <a:solidFill>
                      <a:srgbClr val="FFFFFF"/>
                    </a:solidFill>
                  </a:tcPr>
                </a:tc>
              </a:tr>
              <a:tr h="274320">
                <a:tc>
                  <a:txBody>
                    <a:bodyPr wrap="square"/>
                    <a:lstStyle/>
                    <a:p>
                      <a:r>
                        <a:rPr sz="1100" b="1">
                          <a:solidFill>
                            <a:srgbClr val="1A1A1A"/>
                          </a:solidFill>
                          <a:latin typeface="Segoe UI"/>
                        </a:rPr>
                        <a:t>Escalation Management</a:t>
                      </a:r>
                    </a:p>
                  </a:txBody>
                  <a:tcPr anchor="ctr" marL="91440" marT="18288" marB="18288">
                    <a:solidFill>
                      <a:srgbClr val="F4F5F7"/>
                    </a:solidFill>
                  </a:tcPr>
                </a:tc>
                <a:tc>
                  <a:txBody>
                    <a:bodyPr wrap="square"/>
                    <a:lstStyle/>
                    <a:p>
                      <a:r>
                        <a:rPr sz="1100" b="0">
                          <a:solidFill>
                            <a:srgbClr val="3C3C3C"/>
                          </a:solidFill>
                          <a:latin typeface="Segoe UI"/>
                        </a:rPr>
                        <a:t>8</a:t>
                      </a:r>
                    </a:p>
                  </a:txBody>
                  <a:tcPr anchor="ctr" marL="91440" marT="18288" marB="18288">
                    <a:solidFill>
                      <a:srgbClr val="F4F5F7"/>
                    </a:solidFill>
                  </a:tcPr>
                </a:tc>
                <a:tc>
                  <a:txBody>
                    <a:bodyPr wrap="square"/>
                    <a:lstStyle/>
                    <a:p>
                      <a:r>
                        <a:rPr sz="1100" b="0">
                          <a:solidFill>
                            <a:srgbClr val="3C3C3C"/>
                          </a:solidFill>
                          <a:latin typeface="Segoe UI"/>
                        </a:rPr>
                        <a:t>5</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Resolved-Case Closure</a:t>
                      </a:r>
                    </a:p>
                  </a:txBody>
                  <a:tcPr anchor="ctr" marL="91440" marT="18288" marB="18288">
                    <a:solidFill>
                      <a:srgbClr val="F4F5F7"/>
                    </a:solidFill>
                  </a:tcPr>
                </a:tc>
              </a:tr>
              <a:tr h="274320">
                <a:tc>
                  <a:txBody>
                    <a:bodyPr wrap="square"/>
                    <a:lstStyle/>
                    <a:p>
                      <a:r>
                        <a:rPr sz="1100" b="1">
                          <a:solidFill>
                            <a:srgbClr val="1A1A1A"/>
                          </a:solidFill>
                          <a:latin typeface="Segoe UI"/>
                        </a:rPr>
                        <a:t>Lending Review</a:t>
                      </a:r>
                    </a:p>
                  </a:txBody>
                  <a:tcPr anchor="ctr" marL="91440" marT="18288" marB="18288">
                    <a:solidFill>
                      <a:srgbClr val="FFFFFF"/>
                    </a:solidFill>
                  </a:tcPr>
                </a:tc>
                <a:tc>
                  <a:txBody>
                    <a:bodyPr wrap="square"/>
                    <a:lstStyle/>
                    <a:p>
                      <a:r>
                        <a:rPr sz="1100" b="0">
                          <a:solidFill>
                            <a:srgbClr val="3C3C3C"/>
                          </a:solidFill>
                          <a:latin typeface="Segoe UI"/>
                        </a:rPr>
                        <a:t>7</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Resolved-Case Closure</a:t>
                      </a:r>
                    </a:p>
                  </a:txBody>
                  <a:tcPr anchor="ctr" marL="91440" marT="18288" marB="18288">
                    <a:solidFill>
                      <a:srgbClr val="FFFFFF"/>
                    </a:solidFill>
                  </a:tcPr>
                </a:tc>
              </a:tr>
              <a:tr h="274320">
                <a:tc>
                  <a:txBody>
                    <a:bodyPr wrap="square"/>
                    <a:lstStyle/>
                    <a:p>
                      <a:r>
                        <a:rPr sz="1100" b="1">
                          <a:solidFill>
                            <a:srgbClr val="1A1A1A"/>
                          </a:solidFill>
                          <a:latin typeface="Segoe UI"/>
                        </a:rPr>
                        <a:t>Quality Recommendation</a:t>
                      </a:r>
                    </a:p>
                  </a:txBody>
                  <a:tcPr anchor="ctr" marL="91440" marT="18288" marB="18288">
                    <a:solidFill>
                      <a:srgbClr val="F4F5F7"/>
                    </a:solidFill>
                  </a:tcPr>
                </a:tc>
                <a:tc>
                  <a:txBody>
                    <a:bodyPr wrap="square"/>
                    <a:lstStyle/>
                    <a:p>
                      <a:r>
                        <a:rPr sz="1100" b="0">
                          <a:solidFill>
                            <a:srgbClr val="3C3C3C"/>
                          </a:solidFill>
                          <a:latin typeface="Segoe UI"/>
                        </a:rPr>
                        <a:t>3</a:t>
                      </a:r>
                    </a:p>
                  </a:txBody>
                  <a:tcPr anchor="ctr" marL="91440" marT="18288" marB="18288">
                    <a:solidFill>
                      <a:srgbClr val="F4F5F7"/>
                    </a:solidFill>
                  </a:tcPr>
                </a:tc>
                <a:tc>
                  <a:txBody>
                    <a:bodyPr wrap="square"/>
                    <a:lstStyle/>
                    <a:p>
                      <a:r>
                        <a:rPr sz="1100" b="0">
                          <a:solidFill>
                            <a:srgbClr val="3C3C3C"/>
                          </a:solidFill>
                          <a:latin typeface="Segoe UI"/>
                        </a:rPr>
                        <a:t>2</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Resolved-Closure Validation</a:t>
                      </a:r>
                    </a:p>
                  </a:txBody>
                  <a:tcPr anchor="ctr" marL="91440" marT="18288" marB="18288">
                    <a:solidFill>
                      <a:srgbClr val="F4F5F7"/>
                    </a:solidFill>
                  </a:tcPr>
                </a:tc>
              </a:tr>
              <a:tr h="274320">
                <a:tc>
                  <a:txBody>
                    <a:bodyPr wrap="square"/>
                    <a:lstStyle/>
                    <a:p>
                      <a:r>
                        <a:rPr sz="1100" b="1">
                          <a:solidFill>
                            <a:srgbClr val="1A1A1A"/>
                          </a:solidFill>
                          <a:latin typeface="Segoe UI"/>
                        </a:rPr>
                        <a:t>Risk Assessment</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Resolved-Resolution Tracking</a:t>
                      </a:r>
                    </a:p>
                  </a:txBody>
                  <a:tcPr anchor="ctr" marL="91440" marT="18288" marB="18288">
                    <a:solidFill>
                      <a:srgbClr val="FFFFFF"/>
                    </a:solidFill>
                  </a:tcPr>
                </a:tc>
              </a:tr>
            </a:tbl>
          </a:graphicData>
        </a:graphic>
      </p:graphicFrame>
      <p:sp>
        <p:nvSpPr>
          <p:cNvPr id="22" name="TextBox 21"/>
          <p:cNvSpPr txBox="1"/>
          <p:nvPr/>
        </p:nvSpPr>
        <p:spPr>
          <a:xfrm>
            <a:off x="566928" y="4846320"/>
            <a:ext cx="11064240" cy="533399"/>
          </a:xfrm>
          <a:prstGeom prst="rect">
            <a:avLst/>
          </a:prstGeom>
          <a:noFill/>
        </p:spPr>
        <p:txBody>
          <a:bodyPr wrap="square">
            <a:spAutoFit/>
          </a:bodyPr>
          <a:lstStyle/>
          <a:p>
            <a:pPr algn="l">
              <a:spcBef>
                <a:spcPts val="0"/>
              </a:spcBef>
              <a:spcAft>
                <a:spcPts val="900"/>
              </a:spcAft>
            </a:pPr>
            <a:r>
              <a:rPr sz="1250" b="0" i="0">
                <a:solidFill>
                  <a:srgbClr val="1A1A1A"/>
                </a:solidFill>
                <a:latin typeface="Segoe UI"/>
              </a:rPr>
              <a:t>•  The harness imports the real shipped engine and drives full lifecycles against live Dataverse, then removes its own records. It is not a mock.</a:t>
            </a:r>
          </a:p>
        </p:txBody>
      </p:sp>
      <p:sp>
        <p:nvSpPr>
          <p:cNvPr id="23" name="Rectangle 22"/>
          <p:cNvSpPr/>
          <p:nvPr/>
        </p:nvSpPr>
        <p:spPr>
          <a:xfrm>
            <a:off x="566928" y="5654039"/>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654039"/>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74547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Verification covers configuration integrity, decision evaluation, utility classification, dry-run planning and live end-to-end execution per case type.</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Performance observations</a:t>
            </a:r>
          </a:p>
        </p:txBody>
      </p:sp>
      <p:graphicFrame>
        <p:nvGraphicFramePr>
          <p:cNvPr id="5" name="Table 4"/>
          <p:cNvGraphicFramePr>
            <a:graphicFrameLocks noGrp="1"/>
          </p:cNvGraphicFramePr>
          <p:nvPr/>
        </p:nvGraphicFramePr>
        <p:xfrm>
          <a:off x="566928" y="1554480"/>
          <a:ext cx="11064240" cy="2267712"/>
        </p:xfrm>
        <a:graphic>
          <a:graphicData uri="http://schemas.openxmlformats.org/drawingml/2006/table">
            <a:tbl>
              <a:tblPr firstRow="1" bandRow="1">
                <a:tableStyleId>{5C22544A-7EE6-4342-B048-85BDC9FD1C3A}</a:tableStyleId>
              </a:tblPr>
              <a:tblGrid>
                <a:gridCol w="2377440"/>
                <a:gridCol w="5120640"/>
                <a:gridCol w="3566160"/>
              </a:tblGrid>
              <a:tr h="347472">
                <a:tc>
                  <a:txBody>
                    <a:bodyPr wrap="square"/>
                    <a:lstStyle/>
                    <a:p>
                      <a:r>
                        <a:rPr sz="1200" b="1">
                          <a:solidFill>
                            <a:srgbClr val="FFFFFF"/>
                          </a:solidFill>
                          <a:latin typeface="Segoe UI"/>
                        </a:rPr>
                        <a:t>Measure</a:t>
                      </a:r>
                    </a:p>
                  </a:txBody>
                  <a:tcPr anchor="ctr" marL="91440">
                    <a:solidFill>
                      <a:srgbClr val="007BA4"/>
                    </a:solidFill>
                  </a:tcPr>
                </a:tc>
                <a:tc>
                  <a:txBody>
                    <a:bodyPr wrap="square"/>
                    <a:lstStyle/>
                    <a:p>
                      <a:r>
                        <a:rPr sz="1200" b="1">
                          <a:solidFill>
                            <a:srgbClr val="FFFFFF"/>
                          </a:solidFill>
                          <a:latin typeface="Segoe UI"/>
                        </a:rPr>
                        <a:t>Observation</a:t>
                      </a:r>
                    </a:p>
                  </a:txBody>
                  <a:tcPr anchor="ctr" marL="91440">
                    <a:solidFill>
                      <a:srgbClr val="007BA4"/>
                    </a:solidFill>
                  </a:tcPr>
                </a:tc>
                <a:tc>
                  <a:txBody>
                    <a:bodyPr wrap="square"/>
                    <a:lstStyle/>
                    <a:p>
                      <a:r>
                        <a:rPr sz="1200" b="1">
                          <a:solidFill>
                            <a:srgbClr val="FFFFFF"/>
                          </a:solidFill>
                          <a:latin typeface="Segoe UI"/>
                        </a:rPr>
                        <a:t>Confidence</a:t>
                      </a:r>
                    </a:p>
                  </a:txBody>
                  <a:tcPr anchor="ctr" marL="91440">
                    <a:solidFill>
                      <a:srgbClr val="007BA4"/>
                    </a:solidFill>
                  </a:tcPr>
                </a:tc>
              </a:tr>
              <a:tr h="274320">
                <a:tc>
                  <a:txBody>
                    <a:bodyPr wrap="square"/>
                    <a:lstStyle/>
                    <a:p>
                      <a:r>
                        <a:rPr sz="1200" b="1">
                          <a:solidFill>
                            <a:srgbClr val="1A1A1A"/>
                          </a:solidFill>
                          <a:latin typeface="Segoe UI"/>
                        </a:rPr>
                        <a:t>Build time</a:t>
                      </a:r>
                    </a:p>
                  </a:txBody>
                  <a:tcPr anchor="ctr" marL="91440" marT="18288" marB="18288">
                    <a:solidFill>
                      <a:srgbClr val="FFFFFF"/>
                    </a:solidFill>
                  </a:tcPr>
                </a:tc>
                <a:tc>
                  <a:txBody>
                    <a:bodyPr wrap="square"/>
                    <a:lstStyle/>
                    <a:p>
                      <a:r>
                        <a:rPr sz="1200" b="0">
                          <a:solidFill>
                            <a:srgbClr val="3C3C3C"/>
                          </a:solidFill>
                          <a:latin typeface="Segoe UI"/>
                        </a:rPr>
                        <a:t>Approximately 2 to 3 seconds</a:t>
                      </a:r>
                    </a:p>
                  </a:txBody>
                  <a:tcPr anchor="ctr" marL="91440" marT="18288" marB="18288">
                    <a:solidFill>
                      <a:srgbClr val="FFFFFF"/>
                    </a:solidFill>
                  </a:tcPr>
                </a:tc>
                <a:tc>
                  <a:txBody>
                    <a:bodyPr wrap="square"/>
                    <a:lstStyle/>
                    <a:p>
                      <a:r>
                        <a:rPr sz="1200" b="1">
                          <a:solidFill>
                            <a:srgbClr val="1A1A1A"/>
                          </a:solidFill>
                          <a:latin typeface="Segoe UI"/>
                        </a:rPr>
                        <a:t>High - repeated</a:t>
                      </a:r>
                    </a:p>
                  </a:txBody>
                  <a:tcPr anchor="ctr" marL="91440" marT="18288" marB="18288">
                    <a:solidFill>
                      <a:srgbClr val="FFFFFF"/>
                    </a:solidFill>
                  </a:tcPr>
                </a:tc>
              </a:tr>
              <a:tr h="274320">
                <a:tc>
                  <a:txBody>
                    <a:bodyPr wrap="square"/>
                    <a:lstStyle/>
                    <a:p>
                      <a:r>
                        <a:rPr sz="1200" b="1">
                          <a:solidFill>
                            <a:srgbClr val="1A1A1A"/>
                          </a:solidFill>
                          <a:latin typeface="Segoe UI"/>
                        </a:rPr>
                        <a:t>Bundle size</a:t>
                      </a:r>
                    </a:p>
                  </a:txBody>
                  <a:tcPr anchor="ctr" marL="91440" marT="18288" marB="18288">
                    <a:solidFill>
                      <a:srgbClr val="F4F5F7"/>
                    </a:solidFill>
                  </a:tcPr>
                </a:tc>
                <a:tc>
                  <a:txBody>
                    <a:bodyPr wrap="square"/>
                    <a:lstStyle/>
                    <a:p>
                      <a:r>
                        <a:rPr sz="1200" b="0">
                          <a:solidFill>
                            <a:srgbClr val="3C3C3C"/>
                          </a:solidFill>
                          <a:latin typeface="Segoe UI"/>
                        </a:rPr>
                        <a:t>327 KB raw, 91 KB gzipped</a:t>
                      </a:r>
                    </a:p>
                  </a:txBody>
                  <a:tcPr anchor="ctr" marL="91440" marT="18288" marB="18288">
                    <a:solidFill>
                      <a:srgbClr val="F4F5F7"/>
                    </a:solidFill>
                  </a:tcPr>
                </a:tc>
                <a:tc>
                  <a:txBody>
                    <a:bodyPr wrap="square"/>
                    <a:lstStyle/>
                    <a:p>
                      <a:r>
                        <a:rPr sz="1200" b="1">
                          <a:solidFill>
                            <a:srgbClr val="1A1A1A"/>
                          </a:solidFill>
                          <a:latin typeface="Segoe UI"/>
                        </a:rPr>
                        <a:t>High - measured</a:t>
                      </a:r>
                    </a:p>
                  </a:txBody>
                  <a:tcPr anchor="ctr" marL="91440" marT="18288" marB="18288">
                    <a:solidFill>
                      <a:srgbClr val="F4F5F7"/>
                    </a:solidFill>
                  </a:tcPr>
                </a:tc>
              </a:tr>
              <a:tr h="274320">
                <a:tc>
                  <a:txBody>
                    <a:bodyPr wrap="square"/>
                    <a:lstStyle/>
                    <a:p>
                      <a:r>
                        <a:rPr sz="1200" b="1">
                          <a:solidFill>
                            <a:srgbClr val="1A1A1A"/>
                          </a:solidFill>
                          <a:latin typeface="Segoe UI"/>
                        </a:rPr>
                        <a:t>Full lifecycle</a:t>
                      </a:r>
                    </a:p>
                  </a:txBody>
                  <a:tcPr anchor="ctr" marL="91440" marT="18288" marB="18288">
                    <a:solidFill>
                      <a:srgbClr val="FFFFFF"/>
                    </a:solidFill>
                  </a:tcPr>
                </a:tc>
                <a:tc>
                  <a:txBody>
                    <a:bodyPr wrap="square"/>
                    <a:lstStyle/>
                    <a:p>
                      <a:r>
                        <a:rPr sz="1200" b="0">
                          <a:solidFill>
                            <a:srgbClr val="3C3C3C"/>
                          </a:solidFill>
                          <a:latin typeface="Segoe UI"/>
                        </a:rPr>
                        <a:t>3 to 8 engine iterations per case type</a:t>
                      </a:r>
                    </a:p>
                  </a:txBody>
                  <a:tcPr anchor="ctr" marL="91440" marT="18288" marB="18288">
                    <a:solidFill>
                      <a:srgbClr val="FFFFFF"/>
                    </a:solidFill>
                  </a:tcPr>
                </a:tc>
                <a:tc>
                  <a:txBody>
                    <a:bodyPr wrap="square"/>
                    <a:lstStyle/>
                    <a:p>
                      <a:r>
                        <a:rPr sz="1200" b="1">
                          <a:solidFill>
                            <a:srgbClr val="1A1A1A"/>
                          </a:solidFill>
                          <a:latin typeface="Segoe UI"/>
                        </a:rPr>
                        <a:t>High - measured</a:t>
                      </a:r>
                    </a:p>
                  </a:txBody>
                  <a:tcPr anchor="ctr" marL="91440" marT="18288" marB="18288">
                    <a:solidFill>
                      <a:srgbClr val="FFFFFF"/>
                    </a:solidFill>
                  </a:tcPr>
                </a:tc>
              </a:tr>
              <a:tr h="274320">
                <a:tc>
                  <a:txBody>
                    <a:bodyPr wrap="square"/>
                    <a:lstStyle/>
                    <a:p>
                      <a:r>
                        <a:rPr sz="1200" b="1">
                          <a:solidFill>
                            <a:srgbClr val="1A1A1A"/>
                          </a:solidFill>
                          <a:latin typeface="Segoe UI"/>
                        </a:rPr>
                        <a:t>Config load</a:t>
                      </a:r>
                    </a:p>
                  </a:txBody>
                  <a:tcPr anchor="ctr" marL="91440" marT="18288" marB="18288">
                    <a:solidFill>
                      <a:srgbClr val="F4F5F7"/>
                    </a:solidFill>
                  </a:tcPr>
                </a:tc>
                <a:tc>
                  <a:txBody>
                    <a:bodyPr wrap="square"/>
                    <a:lstStyle/>
                    <a:p>
                      <a:r>
                        <a:rPr sz="1200" b="0">
                          <a:solidFill>
                            <a:srgbClr val="3C3C3C"/>
                          </a:solidFill>
                          <a:latin typeface="Segoe UI"/>
                        </a:rPr>
                        <a:t>Single load, shared across screens</a:t>
                      </a:r>
                    </a:p>
                  </a:txBody>
                  <a:tcPr anchor="ctr" marL="91440" marT="18288" marB="18288">
                    <a:solidFill>
                      <a:srgbClr val="F4F5F7"/>
                    </a:solidFill>
                  </a:tcPr>
                </a:tc>
                <a:tc>
                  <a:txBody>
                    <a:bodyPr wrap="square"/>
                    <a:lstStyle/>
                    <a:p>
                      <a:r>
                        <a:rPr sz="1200" b="0">
                          <a:solidFill>
                            <a:srgbClr val="3C3C3C"/>
                          </a:solidFill>
                          <a:latin typeface="Segoe UI"/>
                        </a:rPr>
                        <a:t>Medium</a:t>
                      </a:r>
                    </a:p>
                  </a:txBody>
                  <a:tcPr anchor="ctr" marL="91440" marT="18288" marB="18288">
                    <a:solidFill>
                      <a:srgbClr val="F4F5F7"/>
                    </a:solidFill>
                  </a:tcPr>
                </a:tc>
              </a:tr>
              <a:tr h="274320">
                <a:tc>
                  <a:txBody>
                    <a:bodyPr wrap="square"/>
                    <a:lstStyle/>
                    <a:p>
                      <a:r>
                        <a:rPr sz="1200" b="1">
                          <a:solidFill>
                            <a:srgbClr val="1A1A1A"/>
                          </a:solidFill>
                          <a:latin typeface="Segoe UI"/>
                        </a:rPr>
                        <a:t>Concurrent users</a:t>
                      </a:r>
                    </a:p>
                  </a:txBody>
                  <a:tcPr anchor="ctr" marL="91440" marT="18288" marB="18288">
                    <a:solidFill>
                      <a:srgbClr val="FFFFFF"/>
                    </a:solidFill>
                  </a:tcPr>
                </a:tc>
                <a:tc>
                  <a:txBody>
                    <a:bodyPr wrap="square"/>
                    <a:lstStyle/>
                    <a:p>
                      <a:r>
                        <a:rPr sz="1200" b="0">
                          <a:solidFill>
                            <a:srgbClr val="3C3C3C"/>
                          </a:solidFill>
                          <a:latin typeface="Segoe UI"/>
                        </a:rPr>
                        <a:t>Not tested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r h="274320">
                <a:tc>
                  <a:txBody>
                    <a:bodyPr wrap="square"/>
                    <a:lstStyle/>
                    <a:p>
                      <a:r>
                        <a:rPr sz="1200" b="1">
                          <a:solidFill>
                            <a:srgbClr val="1A1A1A"/>
                          </a:solidFill>
                          <a:latin typeface="Segoe UI"/>
                        </a:rPr>
                        <a:t>Production volume</a:t>
                      </a:r>
                    </a:p>
                  </a:txBody>
                  <a:tcPr anchor="ctr" marL="91440" marT="18288" marB="18288">
                    <a:solidFill>
                      <a:srgbClr val="F4F5F7"/>
                    </a:solidFill>
                  </a:tcPr>
                </a:tc>
                <a:tc>
                  <a:txBody>
                    <a:bodyPr wrap="square"/>
                    <a:lstStyle/>
                    <a:p>
                      <a:r>
                        <a:rPr sz="1200" b="0">
                          <a:solidFill>
                            <a:srgbClr val="3C3C3C"/>
                          </a:solidFill>
                          <a:latin typeface="Segoe UI"/>
                        </a:rPr>
                        <a:t>Not tested</a:t>
                      </a:r>
                    </a:p>
                  </a:txBody>
                  <a:tcPr anchor="ctr" marL="91440" marT="18288" marB="18288">
                    <a:solidFill>
                      <a:srgbClr val="F4F5F7"/>
                    </a:solidFill>
                  </a:tcPr>
                </a:tc>
                <a:tc>
                  <a:txBody>
                    <a:bodyPr wrap="square"/>
                    <a:lstStyle/>
                    <a:p>
                      <a:r>
                        <a:rPr sz="1200" b="1">
                          <a:solidFill>
                            <a:srgbClr val="1A1A1A"/>
                          </a:solidFill>
                          <a:latin typeface="Segoe UI"/>
                        </a:rPr>
                        <a:t>None - out of scope</a:t>
                      </a:r>
                    </a:p>
                  </a:txBody>
                  <a:tcPr anchor="ctr" marL="91440" marT="18288" marB="18288">
                    <a:solidFill>
                      <a:srgbClr val="F4F5F7"/>
                    </a:solidFill>
                  </a:tcPr>
                </a:tc>
              </a:tr>
              <a:tr h="274320">
                <a:tc>
                  <a:txBody>
                    <a:bodyPr wrap="square"/>
                    <a:lstStyle/>
                    <a:p>
                      <a:r>
                        <a:rPr sz="1200" b="1">
                          <a:solidFill>
                            <a:srgbClr val="1A1A1A"/>
                          </a:solidFill>
                          <a:latin typeface="Segoe UI"/>
                        </a:rPr>
                        <a:t>Dataverse throughput</a:t>
                      </a:r>
                    </a:p>
                  </a:txBody>
                  <a:tcPr anchor="ctr" marL="91440" marT="18288" marB="18288">
                    <a:solidFill>
                      <a:srgbClr val="FFFFFF"/>
                    </a:solidFill>
                  </a:tcPr>
                </a:tc>
                <a:tc>
                  <a:txBody>
                    <a:bodyPr wrap="square"/>
                    <a:lstStyle/>
                    <a:p>
                      <a:r>
                        <a:rPr sz="1200" b="0">
                          <a:solidFill>
                            <a:srgbClr val="3C3C3C"/>
                          </a:solidFill>
                          <a:latin typeface="Segoe UI"/>
                        </a:rPr>
                        <a:t>Not profiled under load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bl>
          </a:graphicData>
        </a:graphic>
      </p:graphicFrame>
      <p:sp>
        <p:nvSpPr>
          <p:cNvPr id="6" name="Rectangle 5"/>
          <p:cNvSpPr/>
          <p:nvPr/>
        </p:nvSpPr>
        <p:spPr>
          <a:xfrm>
            <a:off x="566928" y="409651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09651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879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Performance at production scale is explicitly unproven. This is a functional PoC; load testing is a Phase 1 entry criterion, not a PoC outcome.</a:t>
            </a:r>
          </a:p>
        </p:txBody>
      </p:sp>
      <p:sp>
        <p:nvSpPr>
          <p:cNvPr id="9" name="TextBox 8"/>
          <p:cNvSpPr txBox="1"/>
          <p:nvPr/>
        </p:nvSpPr>
        <p:spPr>
          <a:xfrm>
            <a:off x="566928" y="4983480"/>
            <a:ext cx="11064240" cy="8823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Reasonable expectation</a:t>
            </a:r>
          </a:p>
          <a:p>
            <a:pPr algn="l">
              <a:spcBef>
                <a:spcPts val="0"/>
              </a:spcBef>
              <a:spcAft>
                <a:spcPts val="900"/>
              </a:spcAft>
            </a:pPr>
            <a:r>
              <a:rPr sz="1300" b="0" i="0">
                <a:solidFill>
                  <a:srgbClr val="1A1A1A"/>
                </a:solidFill>
                <a:latin typeface="Segoe UI"/>
              </a:rPr>
              <a:t>•  The architecture is a standard SPA over Dataverse. Performance characteristics should follow normal Dataverse patterns - the risk is in query design and row counts, not in the engine, which is pure in-memory computation over a small configuration set.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Gaps identified and areas needing further analysis</a:t>
            </a:r>
          </a:p>
        </p:txBody>
      </p:sp>
      <p:graphicFrame>
        <p:nvGraphicFramePr>
          <p:cNvPr id="5" name="Table 4"/>
          <p:cNvGraphicFramePr>
            <a:graphicFrameLocks noGrp="1"/>
          </p:cNvGraphicFramePr>
          <p:nvPr/>
        </p:nvGraphicFramePr>
        <p:xfrm>
          <a:off x="566928" y="1554480"/>
          <a:ext cx="11064237" cy="2542032"/>
        </p:xfrm>
        <a:graphic>
          <a:graphicData uri="http://schemas.openxmlformats.org/drawingml/2006/table">
            <a:tbl>
              <a:tblPr firstRow="1" bandRow="1">
                <a:tableStyleId>{5C22544A-7EE6-4342-B048-85BDC9FD1C3A}</a:tableStyleId>
              </a:tblPr>
              <a:tblGrid>
                <a:gridCol w="3383279"/>
                <a:gridCol w="1371599"/>
                <a:gridCol w="6309359"/>
              </a:tblGrid>
              <a:tr h="347472">
                <a:tc>
                  <a:txBody>
                    <a:bodyPr wrap="square"/>
                    <a:lstStyle/>
                    <a:p>
                      <a:r>
                        <a:rPr sz="1150" b="1">
                          <a:solidFill>
                            <a:srgbClr val="FFFFFF"/>
                          </a:solidFill>
                          <a:latin typeface="Segoe UI"/>
                        </a:rPr>
                        <a:t>Gap</a:t>
                      </a:r>
                    </a:p>
                  </a:txBody>
                  <a:tcPr anchor="ctr" marL="91440">
                    <a:solidFill>
                      <a:srgbClr val="007BA4"/>
                    </a:solidFill>
                  </a:tcPr>
                </a:tc>
                <a:tc>
                  <a:txBody>
                    <a:bodyPr wrap="square"/>
                    <a:lstStyle/>
                    <a:p>
                      <a:r>
                        <a:rPr sz="1150" b="1">
                          <a:solidFill>
                            <a:srgbClr val="FFFFFF"/>
                          </a:solidFill>
                          <a:latin typeface="Segoe UI"/>
                        </a:rPr>
                        <a:t>Severity</a:t>
                      </a:r>
                    </a:p>
                  </a:txBody>
                  <a:tcPr anchor="ctr" marL="91440">
                    <a:solidFill>
                      <a:srgbClr val="007BA4"/>
                    </a:solidFill>
                  </a:tcPr>
                </a:tc>
                <a:tc>
                  <a:txBody>
                    <a:bodyPr wrap="square"/>
                    <a:lstStyle/>
                    <a:p>
                      <a:r>
                        <a:rPr sz="1150" b="1">
                          <a:solidFill>
                            <a:srgbClr val="FFFFFF"/>
                          </a:solidFill>
                          <a:latin typeface="Segoe UI"/>
                        </a:rPr>
                        <a:t>Required analysis</a:t>
                      </a:r>
                    </a:p>
                  </a:txBody>
                  <a:tcPr anchor="ctr" marL="91440">
                    <a:solidFill>
                      <a:srgbClr val="007BA4"/>
                    </a:solidFill>
                  </a:tcPr>
                </a:tc>
              </a:tr>
              <a:tr h="274320">
                <a:tc>
                  <a:txBody>
                    <a:bodyPr wrap="square"/>
                    <a:lstStyle/>
                    <a:p>
                      <a:r>
                        <a:rPr sz="1150" b="1">
                          <a:solidFill>
                            <a:srgbClr val="1A1A1A"/>
                          </a:solidFill>
                          <a:latin typeface="Segoe UI"/>
                        </a:rPr>
                        <a:t>Stage transition guards are inferred</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Extraction done - now a business decision on rework conditions</a:t>
                      </a:r>
                    </a:p>
                  </a:txBody>
                  <a:tcPr anchor="ctr" marL="91440" marT="18288" marB="18288">
                    <a:solidFill>
                      <a:srgbClr val="FFFFFF"/>
                    </a:solidFill>
                  </a:tcPr>
                </a:tc>
              </a:tr>
              <a:tr h="274320">
                <a:tc>
                  <a:txBody>
                    <a:bodyPr wrap="square"/>
                    <a:lstStyle/>
                    <a:p>
                      <a:r>
                        <a:rPr sz="1150" b="1">
                          <a:solidFill>
                            <a:srgbClr val="1A1A1A"/>
                          </a:solidFill>
                          <a:latin typeface="Segoe UI"/>
                        </a:rPr>
                        <a:t>Notification recipients undefined</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Wording fully recovered - only the recipient list needs deciding</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unauthored in source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0 transform rules exist behind the 20 steps - business decides what they should do</a:t>
                      </a:r>
                    </a:p>
                  </a:txBody>
                  <a:tcPr anchor="ctr" marL="91440" marT="18288" marB="18288">
                    <a:solidFill>
                      <a:srgbClr val="FFFFFF"/>
                    </a:solidFill>
                  </a:tcPr>
                </a:tc>
              </a:tr>
              <a:tr h="274320">
                <a:tc>
                  <a:txBody>
                    <a:bodyPr wrap="square"/>
                    <a:lstStyle/>
                    <a:p>
                      <a:r>
                        <a:rPr sz="1150" b="1">
                          <a:solidFill>
                            <a:srgbClr val="1A1A1A"/>
                          </a:solidFill>
                          <a:latin typeface="Segoe UI"/>
                        </a:rPr>
                        <a:t>Security model not enforced</a:t>
                      </a:r>
                    </a:p>
                  </a:txBody>
                  <a:tcPr anchor="ctr" marL="91440" marT="18288" marB="18288">
                    <a:solidFill>
                      <a:srgbClr val="F4F5F7"/>
                    </a:solidFill>
                  </a:tcPr>
                </a:tc>
                <a:tc>
                  <a:txBody>
                    <a:bodyPr wrap="square"/>
                    <a:lstStyle/>
                    <a:p>
                      <a:r>
                        <a:rPr sz="1150" b="1">
                          <a:solidFill>
                            <a:srgbClr val="1A1A1A"/>
                          </a:solidFill>
                          <a:latin typeface="Segoe UI"/>
                        </a:rPr>
                        <a:t>High</a:t>
                      </a:r>
                    </a:p>
                  </a:txBody>
                  <a:tcPr anchor="ctr" marL="91440" marT="18288" marB="18288">
                    <a:solidFill>
                      <a:srgbClr val="F4F5F7"/>
                    </a:solidFill>
                  </a:tcPr>
                </a:tc>
                <a:tc>
                  <a:txBody>
                    <a:bodyPr wrap="square"/>
                    <a:lstStyle/>
                    <a:p>
                      <a:r>
                        <a:rPr sz="1150" b="0">
                          <a:solidFill>
                            <a:srgbClr val="3C3C3C"/>
                          </a:solidFill>
                          <a:latin typeface="Segoe UI"/>
                        </a:rPr>
                        <a:t>Map 19 access groups and 18 workbaskets to Dataverse roles and teams</a:t>
                      </a:r>
                    </a:p>
                  </a:txBody>
                  <a:tcPr anchor="ctr" marL="91440" marT="18288" marB="18288">
                    <a:solidFill>
                      <a:srgbClr val="F4F5F7"/>
                    </a:solidFill>
                  </a:tcPr>
                </a:tc>
              </a:tr>
              <a:tr h="274320">
                <a:tc>
                  <a:txBody>
                    <a:bodyPr wrap="square"/>
                    <a:lstStyle/>
                    <a:p>
                      <a:r>
                        <a:rPr sz="1150" b="1">
                          <a:solidFill>
                            <a:srgbClr val="1A1A1A"/>
                          </a:solidFill>
                          <a:latin typeface="Segoe UI"/>
                        </a:rPr>
                        <a:t>No performance baseline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Load test at projected production volume</a:t>
                      </a:r>
                    </a:p>
                  </a:txBody>
                  <a:tcPr anchor="ctr" marL="91440" marT="18288" marB="18288">
                    <a:solidFill>
                      <a:srgbClr val="FFFFFF"/>
                    </a:solidFill>
                  </a:tcPr>
                </a:tc>
              </a:tr>
              <a:tr h="274320">
                <a:tc>
                  <a:txBody>
                    <a:bodyPr wrap="square"/>
                    <a:lstStyle/>
                    <a:p>
                      <a:r>
                        <a:rPr sz="1150" b="1">
                          <a:solidFill>
                            <a:srgbClr val="1A1A1A"/>
                          </a:solidFill>
                          <a:latin typeface="Segoe UI"/>
                        </a:rPr>
                        <a:t>In-flight case migration</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Define cutover: drain, dual-run or migrate mid-flight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Low</a:t>
                      </a:r>
                    </a:p>
                  </a:txBody>
                  <a:tcPr anchor="ctr" marL="91440" marT="18288" marB="18288">
                    <a:solidFill>
                      <a:srgbClr val="FFFFFF"/>
                    </a:solidFill>
                  </a:tcPr>
                </a:tc>
                <a:tc>
                  <a:txBody>
                    <a:bodyPr wrap="square"/>
                    <a:lstStyle/>
                    <a:p>
                      <a:r>
                        <a:rPr sz="1150" b="0">
                          <a:solidFill>
                            <a:srgbClr val="3C3C3C"/>
                          </a:solidFill>
                          <a:latin typeface="Segoe UI"/>
                        </a:rPr>
                        <a:t>Identify 4 templates and target generation mechanism</a:t>
                      </a:r>
                    </a:p>
                  </a:txBody>
                  <a:tcPr anchor="ctr" marL="91440" marT="18288" marB="18288">
                    <a:solidFill>
                      <a:srgbClr val="FFFFFF"/>
                    </a:solidFill>
                  </a:tcPr>
                </a:tc>
              </a:tr>
              <a:tr h="274320">
                <a:tc>
                  <a:txBody>
                    <a:bodyPr wrap="square"/>
                    <a:lstStyle/>
                    <a:p>
                      <a:r>
                        <a:rPr sz="1150" b="1">
                          <a:solidFill>
                            <a:srgbClr val="1A1A1A"/>
                          </a:solidFill>
                          <a:latin typeface="Segoe UI"/>
                        </a:rPr>
                        <a:t>Reporting</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No report logic to port; the in-app summary and data browser are built</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Three high-severity gaps all share a root cause: business logic that Pega executes but does not expose. Each needs business input, not just engineering.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09</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Effort &amp; Risk Assessment</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Estimates, risks and mitigations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Estimated migration effort</a:t>
            </a:r>
          </a:p>
        </p:txBody>
      </p:sp>
      <p:graphicFrame>
        <p:nvGraphicFramePr>
          <p:cNvPr id="5" name="Table 4"/>
          <p:cNvGraphicFramePr>
            <a:graphicFrameLocks noGrp="1"/>
          </p:cNvGraphicFramePr>
          <p:nvPr/>
        </p:nvGraphicFramePr>
        <p:xfrm>
          <a:off x="566928" y="1508760"/>
          <a:ext cx="9189718" cy="3364992"/>
        </p:xfrm>
        <a:graphic>
          <a:graphicData uri="http://schemas.openxmlformats.org/drawingml/2006/table">
            <a:tbl>
              <a:tblPr firstRow="1" bandRow="1">
                <a:tableStyleId>{5C22544A-7EE6-4342-B048-85BDC9FD1C3A}</a:tableStyleId>
              </a:tblPr>
              <a:tblGrid>
                <a:gridCol w="3263638"/>
                <a:gridCol w="4551917"/>
                <a:gridCol w="1374163"/>
              </a:tblGrid>
              <a:tr h="347472">
                <a:tc>
                  <a:txBody>
                    <a:bodyPr wrap="square"/>
                    <a:lstStyle/>
                    <a:p>
                      <a:r>
                        <a:rPr sz="1150" b="1">
                          <a:solidFill>
                            <a:srgbClr val="FFFFFF"/>
                          </a:solidFill>
                          <a:latin typeface="Segoe UI"/>
                        </a:rPr>
                        <a:t>Workstream</a:t>
                      </a:r>
                    </a:p>
                  </a:txBody>
                  <a:tcPr anchor="ctr" marL="91440">
                    <a:solidFill>
                      <a:srgbClr val="007BA4"/>
                    </a:solidFill>
                  </a:tcPr>
                </a:tc>
                <a:tc>
                  <a:txBody>
                    <a:bodyPr wrap="square"/>
                    <a:lstStyle/>
                    <a:p>
                      <a:r>
                        <a:rPr sz="1150" b="1">
                          <a:solidFill>
                            <a:srgbClr val="FFFFFF"/>
                          </a:solidFill>
                          <a:latin typeface="Segoe UI"/>
                        </a:rPr>
                        <a:t>Basis</a:t>
                      </a:r>
                    </a:p>
                  </a:txBody>
                  <a:tcPr anchor="ctr" marL="91440">
                    <a:solidFill>
                      <a:srgbClr val="007BA4"/>
                    </a:solidFill>
                  </a:tcPr>
                </a:tc>
                <a:tc>
                  <a:txBody>
                    <a:bodyPr wrap="square"/>
                    <a:lstStyle/>
                    <a:p>
                      <a:r>
                        <a:rPr sz="1150" b="1">
                          <a:solidFill>
                            <a:srgbClr val="FFFFFF"/>
                          </a:solidFill>
                          <a:latin typeface="Segoe UI"/>
                        </a:rPr>
                        <a:t>Days</a:t>
                      </a:r>
                    </a:p>
                  </a:txBody>
                  <a:tcPr anchor="ctr" marL="91440">
                    <a:solidFill>
                      <a:srgbClr val="007BA4"/>
                    </a:solidFill>
                  </a:tcPr>
                </a:tc>
              </a:tr>
              <a:tr h="274320">
                <a:tc>
                  <a:txBody>
                    <a:bodyPr wrap="square"/>
                    <a:lstStyle/>
                    <a:p>
                      <a:r>
                        <a:rPr sz="1150" b="1">
                          <a:solidFill>
                            <a:srgbClr val="1A1A1A"/>
                          </a:solidFill>
                          <a:latin typeface="Segoe UI"/>
                        </a:rPr>
                        <a:t>Rework-condition workshops</a:t>
                      </a:r>
                    </a:p>
                  </a:txBody>
                  <a:tcPr anchor="ctr" marL="91440" marT="18288" marB="18288">
                    <a:solidFill>
                      <a:srgbClr val="FFFFFF"/>
                    </a:solidFill>
                  </a:tcPr>
                </a:tc>
                <a:tc>
                  <a:txBody>
                    <a:bodyPr wrap="square"/>
                    <a:lstStyle/>
                    <a:p>
                      <a:r>
                        <a:rPr sz="1150" b="0">
                          <a:solidFill>
                            <a:srgbClr val="3C3C3C"/>
                          </a:solidFill>
                          <a:latin typeface="Segoe UI"/>
                        </a:rPr>
                        <a:t>Business decision, not extraction</a:t>
                      </a:r>
                    </a:p>
                  </a:txBody>
                  <a:tcPr anchor="ctr" marL="91440" marT="18288" marB="18288">
                    <a:solidFill>
                      <a:srgbClr val="FFFFFF"/>
                    </a:solidFill>
                  </a:tcPr>
                </a:tc>
                <a:tc>
                  <a:txBody>
                    <a:bodyPr wrap="square"/>
                    <a:lstStyle/>
                    <a:p>
                      <a:r>
                        <a:rPr sz="1150" b="0">
                          <a:solidFill>
                            <a:srgbClr val="3C3C3C"/>
                          </a:solidFill>
                          <a:latin typeface="Segoe UI"/>
                        </a:rPr>
                        <a:t>4 - 6</a:t>
                      </a:r>
                    </a:p>
                  </a:txBody>
                  <a:tcPr anchor="ctr" marL="91440" marT="18288" marB="18288">
                    <a:solidFill>
                      <a:srgbClr val="FFFFFF"/>
                    </a:solidFill>
                  </a:tcPr>
                </a:tc>
              </a:tr>
              <a:tr h="274320">
                <a:tc>
                  <a:txBody>
                    <a:bodyPr wrap="square"/>
                    <a:lstStyle/>
                    <a:p>
                      <a:r>
                        <a:rPr sz="1150" b="1">
                          <a:solidFill>
                            <a:srgbClr val="1A1A1A"/>
                          </a:solidFill>
                          <a:latin typeface="Segoe UI"/>
                        </a:rPr>
                        <a:t>Data transform implementation</a:t>
                      </a:r>
                    </a:p>
                  </a:txBody>
                  <a:tcPr anchor="ctr" marL="91440" marT="18288" marB="18288">
                    <a:solidFill>
                      <a:srgbClr val="F4F5F7"/>
                    </a:solidFill>
                  </a:tcPr>
                </a:tc>
                <a:tc>
                  <a:txBody>
                    <a:bodyPr wrap="square"/>
                    <a:lstStyle/>
                    <a:p>
                      <a:r>
                        <a:rPr sz="1150" b="0">
                          <a:solidFill>
                            <a:srgbClr val="3C3C3C"/>
                          </a:solidFill>
                          <a:latin typeface="Segoe UI"/>
                        </a:rPr>
                        <a:t>20 steps, no source logic to port</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Outbox built; one flow + recipient mapping</a:t>
                      </a:r>
                    </a:p>
                  </a:txBody>
                  <a:tcPr anchor="ctr" marL="91440" marT="18288" marB="18288">
                    <a:solidFill>
                      <a:srgbClr val="FFFFFF"/>
                    </a:solidFill>
                  </a:tcPr>
                </a:tc>
                <a:tc>
                  <a:txBody>
                    <a:bodyPr wrap="square"/>
                    <a:lstStyle/>
                    <a:p>
                      <a:r>
                        <a:rPr sz="1150" b="0">
                          <a:solidFill>
                            <a:srgbClr val="3C3C3C"/>
                          </a:solidFill>
                          <a:latin typeface="Segoe UI"/>
                        </a:rPr>
                        <a:t>3 - 5</a:t>
                      </a:r>
                    </a:p>
                  </a:txBody>
                  <a:tcPr anchor="ctr" marL="91440" marT="18288" marB="18288">
                    <a:solidFill>
                      <a:srgbClr val="FFFFFF"/>
                    </a:solidFill>
                  </a:tcPr>
                </a:tc>
              </a:tr>
              <a:tr h="274320">
                <a:tc>
                  <a:txBody>
                    <a:bodyPr wrap="square"/>
                    <a:lstStyle/>
                    <a:p>
                      <a:r>
                        <a:rPr sz="1150" b="1">
                          <a:solidFill>
                            <a:srgbClr val="1A1A1A"/>
                          </a:solidFill>
                          <a:latin typeface="Segoe UI"/>
                        </a:rPr>
                        <a:t>Document generation</a:t>
                      </a:r>
                    </a:p>
                  </a:txBody>
                  <a:tcPr anchor="ctr" marL="91440" marT="18288" marB="18288">
                    <a:solidFill>
                      <a:srgbClr val="F4F5F7"/>
                    </a:solidFill>
                  </a:tcPr>
                </a:tc>
                <a:tc>
                  <a:txBody>
                    <a:bodyPr wrap="square"/>
                    <a:lstStyle/>
                    <a:p>
                      <a:r>
                        <a:rPr sz="1150" b="0">
                          <a:solidFill>
                            <a:srgbClr val="3C3C3C"/>
                          </a:solidFill>
                          <a:latin typeface="Segoe UI"/>
                        </a:rPr>
                        <a:t>4 steps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0">
                          <a:solidFill>
                            <a:srgbClr val="3C3C3C"/>
                          </a:solidFill>
                          <a:latin typeface="Segoe UI"/>
                        </a:rPr>
                        <a:t>12 - 18</a:t>
                      </a:r>
                    </a:p>
                  </a:txBody>
                  <a:tcPr anchor="ctr" marL="91440" marT="18288" marB="18288">
                    <a:solidFill>
                      <a:srgbClr val="FFFFFF"/>
                    </a:solidFill>
                  </a:tcPr>
                </a:tc>
              </a:tr>
              <a:tr h="274320">
                <a:tc>
                  <a:txBody>
                    <a:bodyPr wrap="square"/>
                    <a:lstStyle/>
                    <a:p>
                      <a:r>
                        <a:rPr sz="1150" b="1">
                          <a:solidFill>
                            <a:srgbClr val="1A1A1A"/>
                          </a:solidFill>
                          <a:latin typeface="Segoe UI"/>
                        </a:rPr>
                        <a:t>Attachments and storage</a:t>
                      </a:r>
                    </a:p>
                  </a:txBody>
                  <a:tcPr anchor="ctr" marL="91440" marT="18288" marB="18288">
                    <a:solidFill>
                      <a:srgbClr val="F4F5F7"/>
                    </a:solidFill>
                  </a:tcPr>
                </a:tc>
                <a:tc>
                  <a:txBody>
                    <a:bodyPr wrap="square"/>
                    <a:lstStyle/>
                    <a:p>
                      <a:r>
                        <a:rPr sz="1150" b="0">
                          <a:solidFill>
                            <a:srgbClr val="3C3C3C"/>
                          </a:solidFill>
                          <a:latin typeface="Segoe UI"/>
                        </a:rPr>
                        <a:t>12 attachment categories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SLA escalation timers</a:t>
                      </a:r>
                    </a:p>
                  </a:txBody>
                  <a:tcPr anchor="ctr" marL="91440" marT="18288" marB="18288">
                    <a:solidFill>
                      <a:srgbClr val="FFFFFF"/>
                    </a:solidFill>
                  </a:tcPr>
                </a:tc>
                <a:tc>
                  <a:txBody>
                    <a:bodyPr wrap="square"/>
                    <a:lstStyle/>
                    <a:p>
                      <a:r>
                        <a:rPr sz="1150" b="0">
                          <a:solidFill>
                            <a:srgbClr val="3C3C3C"/>
                          </a:solidFill>
                          <a:latin typeface="Segoe UI"/>
                        </a:rPr>
                        <a:t>Scheduled flows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Unit tests and hardening</a:t>
                      </a:r>
                    </a:p>
                  </a:txBody>
                  <a:tcPr anchor="ctr" marL="91440" marT="18288" marB="18288">
                    <a:solidFill>
                      <a:srgbClr val="F4F5F7"/>
                    </a:solidFill>
                  </a:tcPr>
                </a:tc>
                <a:tc>
                  <a:txBody>
                    <a:bodyPr wrap="square"/>
                    <a:lstStyle/>
                    <a:p>
                      <a:r>
                        <a:rPr sz="1150" b="0">
                          <a:solidFill>
                            <a:srgbClr val="3C3C3C"/>
                          </a:solidFill>
                          <a:latin typeface="Segoe UI"/>
                        </a:rPr>
                        <a:t>Engine is pure - straightforward</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ALM pipeline and environments</a:t>
                      </a:r>
                    </a:p>
                  </a:txBody>
                  <a:tcPr anchor="ctr" marL="91440" marT="18288" marB="18288">
                    <a:solidFill>
                      <a:srgbClr val="FFFFFF"/>
                    </a:solidFill>
                  </a:tcPr>
                </a:tc>
                <a:tc>
                  <a:txBody>
                    <a:bodyPr wrap="square"/>
                    <a:lstStyle/>
                    <a:p>
                      <a:r>
                        <a:rPr sz="1150" b="0">
                          <a:solidFill>
                            <a:srgbClr val="3C3C3C"/>
                          </a:solidFill>
                          <a:latin typeface="Segoe UI"/>
                        </a:rPr>
                        <a:t>Managed solution, 3 environments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UAT, data migration and cutover</a:t>
                      </a:r>
                    </a:p>
                  </a:txBody>
                  <a:tcPr anchor="ctr" marL="91440" marT="18288" marB="18288">
                    <a:solidFill>
                      <a:srgbClr val="F4F5F7"/>
                    </a:solidFill>
                  </a:tcPr>
                </a:tc>
                <a:tc>
                  <a:txBody>
                    <a:bodyPr wrap="square"/>
                    <a:lstStyle/>
                    <a:p>
                      <a:r>
                        <a:rPr sz="1150" b="0">
                          <a:solidFill>
                            <a:srgbClr val="3C3C3C"/>
                          </a:solidFill>
                          <a:latin typeface="Segoe UI"/>
                        </a:rPr>
                        <a:t>Including in-flight strategy</a:t>
                      </a:r>
                    </a:p>
                  </a:txBody>
                  <a:tcPr anchor="ctr" marL="91440" marT="18288" marB="18288">
                    <a:solidFill>
                      <a:srgbClr val="F4F5F7"/>
                    </a:solidFill>
                  </a:tcPr>
                </a:tc>
                <a:tc>
                  <a:txBody>
                    <a:bodyPr wrap="square"/>
                    <a:lstStyle/>
                    <a:p>
                      <a:r>
                        <a:rPr sz="1150" b="0">
                          <a:solidFill>
                            <a:srgbClr val="3C3C3C"/>
                          </a:solidFill>
                          <a:latin typeface="Segoe UI"/>
                        </a:rPr>
                        <a:t>15 - 25</a:t>
                      </a:r>
                    </a:p>
                  </a:txBody>
                  <a:tcPr anchor="ctr" marL="91440" marT="18288" marB="18288">
                    <a:solidFill>
                      <a:srgbClr val="F4F5F7"/>
                    </a:solidFill>
                  </a:tcPr>
                </a:tc>
              </a:tr>
              <a:tr h="274320">
                <a:tc>
                  <a:txBody>
                    <a:bodyPr wrap="square"/>
                    <a:lstStyle/>
                    <a:p>
                      <a:r>
                        <a:rPr sz="1150" b="1">
                          <a:solidFill>
                            <a:srgbClr val="1A1A1A"/>
                          </a:solidFill>
                          <a:latin typeface="Segoe UI"/>
                        </a:rPr>
                        <a:t>TOTAL</a:t>
                      </a:r>
                    </a:p>
                  </a:txBody>
                  <a:tcPr anchor="ctr" marL="91440" marT="18288" marB="18288">
                    <a:solidFill>
                      <a:srgbClr val="FFFFFF"/>
                    </a:solidFill>
                  </a:tcPr>
                </a:tc>
                <a:tc>
                  <a:txBody>
                    <a:bodyPr wrap="square"/>
                    <a:lstStyle/>
                    <a:p>
                      <a:r>
                        <a:rPr sz="1150" b="1">
                          <a:solidFill>
                            <a:srgbClr val="1A1A1A"/>
                          </a:solidFill>
                          <a:latin typeface="Segoe UI"/>
                        </a:rPr>
                        <a:t>One application of this complexity</a:t>
                      </a:r>
                    </a:p>
                  </a:txBody>
                  <a:tcPr anchor="ctr" marL="91440" marT="18288" marB="18288">
                    <a:solidFill>
                      <a:srgbClr val="FFFFFF"/>
                    </a:solidFill>
                  </a:tcPr>
                </a:tc>
                <a:tc>
                  <a:txBody>
                    <a:bodyPr wrap="square"/>
                    <a:lstStyle/>
                    <a:p>
                      <a:r>
                        <a:rPr sz="1150" b="1">
                          <a:solidFill>
                            <a:srgbClr val="1A1A1A"/>
                          </a:solidFill>
                          <a:latin typeface="Segoe UI"/>
                        </a:rPr>
                        <a:t>77 - 120</a:t>
                      </a:r>
                    </a:p>
                  </a:txBody>
                  <a:tcPr anchor="ctr" marL="91440" marT="18288" marB="18288">
                    <a:solidFill>
                      <a:srgbClr val="FFFFFF"/>
                    </a:solidFill>
                  </a:tcPr>
                </a:tc>
              </a:tr>
            </a:tbl>
          </a:graphicData>
        </a:graphic>
      </p:graphicFrame>
      <p:sp>
        <p:nvSpPr>
          <p:cNvPr id="6" name="TextBox 5"/>
          <p:cNvSpPr txBox="1"/>
          <p:nvPr/>
        </p:nvSpPr>
        <p:spPr>
          <a:xfrm>
            <a:off x="10012680" y="1536192"/>
            <a:ext cx="1783080" cy="3225800"/>
          </a:xfrm>
          <a:prstGeom prst="rect">
            <a:avLst/>
          </a:prstGeom>
          <a:noFill/>
        </p:spPr>
        <p:txBody>
          <a:bodyPr wrap="square">
            <a:spAutoFit/>
          </a:bodyPr>
          <a:lstStyle/>
          <a:p>
            <a:pPr algn="l">
              <a:spcBef>
                <a:spcPts val="0"/>
              </a:spcBef>
              <a:spcAft>
                <a:spcPts val="400"/>
              </a:spcAft>
            </a:pPr>
            <a:r>
              <a:rPr sz="1000" b="1" i="0">
                <a:solidFill>
                  <a:srgbClr val="1A1A1A"/>
                </a:solidFill>
                <a:latin typeface="Segoe UI"/>
              </a:rPr>
              <a:t>Calibration</a:t>
            </a:r>
          </a:p>
          <a:p>
            <a:pPr algn="l">
              <a:spcBef>
                <a:spcPts val="0"/>
              </a:spcBef>
              <a:spcAft>
                <a:spcPts val="400"/>
              </a:spcAft>
            </a:pPr>
            <a:r>
              <a:rPr sz="1000" b="0" i="0">
                <a:solidFill>
                  <a:srgbClr val="1A1A1A"/>
                </a:solidFill>
                <a:latin typeface="Segoe UI"/>
              </a:rPr>
              <a:t>•  Derived from PoC actuals: 27 tables, 80 steps, ~6,400 hand-written lines.</a:t>
            </a:r>
          </a:p>
          <a:p>
            <a:pPr algn="l">
              <a:spcBef>
                <a:spcPts val="800"/>
              </a:spcBef>
              <a:spcAft>
                <a:spcPts val="400"/>
              </a:spcAft>
            </a:pPr>
            <a:r>
              <a:rPr sz="1000" b="1" i="0">
                <a:solidFill>
                  <a:srgbClr val="1A1A1A"/>
                </a:solidFill>
                <a:latin typeface="Segoe UI"/>
              </a:rPr>
              <a:t>Team shape</a:t>
            </a:r>
          </a:p>
          <a:p>
            <a:pPr algn="l">
              <a:spcBef>
                <a:spcPts val="0"/>
              </a:spcBef>
              <a:spcAft>
                <a:spcPts val="400"/>
              </a:spcAft>
            </a:pPr>
            <a:r>
              <a:rPr sz="1000" b="0" i="0">
                <a:solidFill>
                  <a:srgbClr val="1A1A1A"/>
                </a:solidFill>
                <a:latin typeface="Segoe UI"/>
              </a:rPr>
              <a:t>•  3 people: approximately 7 to 10 weeks elapsed.</a:t>
            </a:r>
          </a:p>
          <a:p>
            <a:pPr algn="l">
              <a:spcBef>
                <a:spcPts val="800"/>
              </a:spcBef>
              <a:spcAft>
                <a:spcPts val="400"/>
              </a:spcAft>
            </a:pPr>
            <a:r>
              <a:rPr sz="1000" b="1" i="0">
                <a:solidFill>
                  <a:srgbClr val="1A1A1A"/>
                </a:solidFill>
                <a:latin typeface="Segoe UI"/>
              </a:rPr>
              <a:t>Excludes</a:t>
            </a:r>
          </a:p>
          <a:p>
            <a:pPr algn="l">
              <a:spcBef>
                <a:spcPts val="0"/>
              </a:spcBef>
              <a:spcAft>
                <a:spcPts val="400"/>
              </a:spcAft>
            </a:pPr>
            <a:r>
              <a:rPr sz="1000" b="0" i="0">
                <a:solidFill>
                  <a:srgbClr val="1A1A1A"/>
                </a:solidFill>
                <a:latin typeface="Segoe UI"/>
              </a:rPr>
              <a:t>•  Reporting, org change and training.</a:t>
            </a:r>
          </a:p>
          <a:p>
            <a:pPr algn="l">
              <a:spcBef>
                <a:spcPts val="800"/>
              </a:spcBef>
              <a:spcAft>
                <a:spcPts val="400"/>
              </a:spcAft>
            </a:pPr>
            <a:r>
              <a:rPr sz="1000" b="1" i="0">
                <a:solidFill>
                  <a:srgbClr val="1A1A1A"/>
                </a:solidFill>
                <a:latin typeface="Segoe UI"/>
              </a:rPr>
              <a:t>Second application</a:t>
            </a:r>
          </a:p>
          <a:p>
            <a:pPr algn="l">
              <a:spcBef>
                <a:spcPts val="0"/>
              </a:spcBef>
              <a:spcAft>
                <a:spcPts val="400"/>
              </a:spcAft>
            </a:pPr>
            <a:r>
              <a:rPr sz="1000" b="0" i="0">
                <a:solidFill>
                  <a:srgbClr val="1A1A1A"/>
                </a:solidFill>
                <a:latin typeface="Segoe UI"/>
              </a:rPr>
              <a:t>•  Expect 40 to 50% less - the engine, forms and pipeline are reusable.</a:t>
            </a:r>
          </a:p>
        </p:txBody>
      </p:sp>
      <p:sp>
        <p:nvSpPr>
          <p:cNvPr id="7" name="Rectangle 6"/>
          <p:cNvSpPr/>
          <p:nvPr/>
        </p:nvSpPr>
        <p:spPr>
          <a:xfrm>
            <a:off x="566928" y="51480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48071"/>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395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automated portion of a migration is days of work. The estimate above is almost entirely the manual 51% - which is why quantifying it early matters more than tooling.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risks and mitigations</a:t>
            </a:r>
          </a:p>
        </p:txBody>
      </p:sp>
      <p:graphicFrame>
        <p:nvGraphicFramePr>
          <p:cNvPr id="5" name="Table 4"/>
          <p:cNvGraphicFramePr>
            <a:graphicFrameLocks noGrp="1"/>
          </p:cNvGraphicFramePr>
          <p:nvPr/>
        </p:nvGraphicFramePr>
        <p:xfrm>
          <a:off x="566928" y="1554480"/>
          <a:ext cx="11064236" cy="2267712"/>
        </p:xfrm>
        <a:graphic>
          <a:graphicData uri="http://schemas.openxmlformats.org/drawingml/2006/table">
            <a:tbl>
              <a:tblPr firstRow="1" bandRow="1">
                <a:tableStyleId>{5C22544A-7EE6-4342-B048-85BDC9FD1C3A}</a:tableStyleId>
              </a:tblPr>
              <a:tblGrid>
                <a:gridCol w="3108959"/>
                <a:gridCol w="457199"/>
                <a:gridCol w="457199"/>
                <a:gridCol w="7040879"/>
              </a:tblGrid>
              <a:tr h="347472">
                <a:tc>
                  <a:txBody>
                    <a:bodyPr wrap="square"/>
                    <a:lstStyle/>
                    <a:p>
                      <a:r>
                        <a:rPr sz="1100" b="1">
                          <a:solidFill>
                            <a:srgbClr val="FFFFFF"/>
                          </a:solidFill>
                          <a:latin typeface="Segoe UI"/>
                        </a:rPr>
                        <a:t>Risk</a:t>
                      </a:r>
                    </a:p>
                  </a:txBody>
                  <a:tcPr anchor="ctr" marL="91440">
                    <a:solidFill>
                      <a:srgbClr val="007BA4"/>
                    </a:solidFill>
                  </a:tcPr>
                </a:tc>
                <a:tc>
                  <a:txBody>
                    <a:bodyPr wrap="square"/>
                    <a:lstStyle/>
                    <a:p>
                      <a:r>
                        <a:rPr sz="1100" b="1">
                          <a:solidFill>
                            <a:srgbClr val="FFFFFF"/>
                          </a:solidFill>
                          <a:latin typeface="Segoe UI"/>
                        </a:rPr>
                        <a:t>L</a:t>
                      </a:r>
                    </a:p>
                  </a:txBody>
                  <a:tcPr anchor="ctr" marL="91440">
                    <a:solidFill>
                      <a:srgbClr val="007BA4"/>
                    </a:solidFill>
                  </a:tcPr>
                </a:tc>
                <a:tc>
                  <a:txBody>
                    <a:bodyPr wrap="square"/>
                    <a:lstStyle/>
                    <a:p>
                      <a:r>
                        <a:rPr sz="1100" b="1">
                          <a:solidFill>
                            <a:srgbClr val="FFFFFF"/>
                          </a:solidFill>
                          <a:latin typeface="Segoe UI"/>
                        </a:rPr>
                        <a:t>I</a:t>
                      </a:r>
                    </a:p>
                  </a:txBody>
                  <a:tcPr anchor="ctr" marL="91440">
                    <a:solidFill>
                      <a:srgbClr val="007BA4"/>
                    </a:solidFill>
                  </a:tcPr>
                </a:tc>
                <a:tc>
                  <a:txBody>
                    <a:bodyPr wrap="square"/>
                    <a:lstStyle/>
                    <a:p>
                      <a:r>
                        <a:rPr sz="1100" b="1">
                          <a:solidFill>
                            <a:srgbClr val="FFFFFF"/>
                          </a:solidFill>
                          <a:latin typeface="Segoe UI"/>
                        </a:rPr>
                        <a:t>Mitigation</a:t>
                      </a:r>
                    </a:p>
                  </a:txBody>
                  <a:tcPr anchor="ctr" marL="91440">
                    <a:solidFill>
                      <a:srgbClr val="007BA4"/>
                    </a:solidFill>
                  </a:tcPr>
                </a:tc>
              </a:tr>
              <a:tr h="274320">
                <a:tc>
                  <a:txBody>
                    <a:bodyPr wrap="square"/>
                    <a:lstStyle/>
                    <a:p>
                      <a:r>
                        <a:rPr sz="1100" b="1">
                          <a:solidFill>
                            <a:srgbClr val="1A1A1A"/>
                          </a:solidFill>
                          <a:latin typeface="Segoe UI"/>
                        </a:rPr>
                        <a:t>Inferred guards do not match real business rules</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Two-layer defence already in place: inferred guard plus a hard re-visit cap. Replace with real conditions in Phase 1 - a data edit, no redeploy</a:t>
                      </a:r>
                    </a:p>
                  </a:txBody>
                  <a:tcPr anchor="ctr" marL="91440" marT="18288" marB="18288">
                    <a:solidFill>
                      <a:srgbClr val="FFFFFF"/>
                    </a:solidFill>
                  </a:tcPr>
                </a:tc>
              </a:tr>
              <a:tr h="274320">
                <a:tc>
                  <a:txBody>
                    <a:bodyPr wrap="square"/>
                    <a:lstStyle/>
                    <a:p>
                      <a:r>
                        <a:rPr sz="1100" b="1">
                          <a:solidFill>
                            <a:srgbClr val="1A1A1A"/>
                          </a:solidFill>
                          <a:latin typeface="Segoe UI"/>
                        </a:rPr>
                        <a:t>Data transform logic cannot be reconstructed</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1">
                          <a:solidFill>
                            <a:srgbClr val="1A1A1A"/>
                          </a:solidFill>
                          <a:latin typeface="Segoe UI"/>
                        </a:rPr>
                        <a:t>H</a:t>
                      </a:r>
                    </a:p>
                  </a:txBody>
                  <a:tcPr anchor="ctr" marL="91440" marT="18288" marB="18288">
                    <a:solidFill>
                      <a:srgbClr val="F4F5F7"/>
                    </a:solidFill>
                  </a:tcPr>
                </a:tc>
                <a:tc>
                  <a:txBody>
                    <a:bodyPr wrap="square"/>
                    <a:lstStyle/>
                    <a:p>
                      <a:r>
                        <a:rPr sz="1100" b="0">
                          <a:solidFill>
                            <a:srgbClr val="3C3C3C"/>
                          </a:solidFill>
                          <a:latin typeface="Segoe UI"/>
                        </a:rPr>
                        <a:t>Business workshops per transform; 20 are in scope and individually identified</a:t>
                      </a:r>
                    </a:p>
                  </a:txBody>
                  <a:tcPr anchor="ctr" marL="91440" marT="18288" marB="18288">
                    <a:solidFill>
                      <a:srgbClr val="F4F5F7"/>
                    </a:solidFill>
                  </a:tcPr>
                </a:tc>
              </a:tr>
              <a:tr h="274320">
                <a:tc>
                  <a:txBody>
                    <a:bodyPr wrap="square"/>
                    <a:lstStyle/>
                    <a:p>
                      <a:r>
                        <a:rPr sz="1100" b="1">
                          <a:solidFill>
                            <a:srgbClr val="1A1A1A"/>
                          </a:solidFill>
                          <a:latin typeface="Segoe UI"/>
                        </a:rPr>
                        <a:t>Security model mismatch</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Design Dataverse roles and teams early; validate with a security workshop before build</a:t>
                      </a:r>
                    </a:p>
                  </a:txBody>
                  <a:tcPr anchor="ctr" marL="91440" marT="18288" marB="18288">
                    <a:solidFill>
                      <a:srgbClr val="FFFFFF"/>
                    </a:solidFill>
                  </a:tcPr>
                </a:tc>
              </a:tr>
              <a:tr h="274320">
                <a:tc>
                  <a:txBody>
                    <a:bodyPr wrap="square"/>
                    <a:lstStyle/>
                    <a:p>
                      <a:r>
                        <a:rPr sz="1100" b="1">
                          <a:solidFill>
                            <a:srgbClr val="1A1A1A"/>
                          </a:solidFill>
                          <a:latin typeface="Segoe UI"/>
                        </a:rPr>
                        <a:t>Performance at production volume</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Load test as a Phase 1 entry criterion; Dataverse elastic tables if needed</a:t>
                      </a:r>
                    </a:p>
                  </a:txBody>
                  <a:tcPr anchor="ctr" marL="91440" marT="18288" marB="18288">
                    <a:solidFill>
                      <a:srgbClr val="F4F5F7"/>
                    </a:solidFill>
                  </a:tcPr>
                </a:tc>
              </a:tr>
              <a:tr h="274320">
                <a:tc>
                  <a:txBody>
                    <a:bodyPr wrap="square"/>
                    <a:lstStyle/>
                    <a:p>
                      <a:r>
                        <a:rPr sz="1100" b="1">
                          <a:solidFill>
                            <a:srgbClr val="1A1A1A"/>
                          </a:solidFill>
                          <a:latin typeface="Segoe UI"/>
                        </a:rPr>
                        <a:t>Low-fidelity re-extraction corrupts config</a:t>
                      </a:r>
                    </a:p>
                  </a:txBody>
                  <a:tcPr anchor="ctr" marL="91440" marT="18288" marB="18288">
                    <a:solidFill>
                      <a:srgbClr val="FFFFFF"/>
                    </a:solidFill>
                  </a:tcPr>
                </a:tc>
                <a:tc>
                  <a:txBody>
                    <a:bodyPr wrap="square"/>
                    <a:lstStyle/>
                    <a:p>
                      <a:r>
                        <a:rPr sz="1100" b="1">
                          <a:solidFill>
                            <a:srgbClr val="1A1A1A"/>
                          </a:solidFill>
                          <a:latin typeface="Segoe UI"/>
                        </a:rPr>
                        <a:t>L</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Already mitigated - the loader refuses degraded extractions</a:t>
                      </a:r>
                    </a:p>
                  </a:txBody>
                  <a:tcPr anchor="ctr" marL="91440" marT="18288" marB="18288">
                    <a:solidFill>
                      <a:srgbClr val="FFFFFF"/>
                    </a:solidFill>
                  </a:tcPr>
                </a:tc>
              </a:tr>
              <a:tr h="274320">
                <a:tc>
                  <a:txBody>
                    <a:bodyPr wrap="square"/>
                    <a:lstStyle/>
                    <a:p>
                      <a:r>
                        <a:rPr sz="1100" b="1">
                          <a:solidFill>
                            <a:srgbClr val="1A1A1A"/>
                          </a:solidFill>
                          <a:latin typeface="Segoe UI"/>
                        </a:rPr>
                        <a:t>Pega SME availability</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Book SME time before Phase 1 starts</a:t>
                      </a:r>
                    </a:p>
                  </a:txBody>
                  <a:tcPr anchor="ctr" marL="91440" marT="18288" marB="18288">
                    <a:solidFill>
                      <a:srgbClr val="F4F5F7"/>
                    </a:solidFill>
                  </a:tcPr>
                </a:tc>
              </a:tr>
              <a:tr h="274320">
                <a:tc>
                  <a:txBody>
                    <a:bodyPr wrap="square"/>
                    <a:lstStyle/>
                    <a:p>
                      <a:r>
                        <a:rPr sz="1100" b="1">
                          <a:solidFill>
                            <a:srgbClr val="1A1A1A"/>
                          </a:solidFill>
                          <a:latin typeface="Segoe UI"/>
                        </a:rPr>
                        <a:t>Scope creep from unmigrated reporting</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0">
                          <a:solidFill>
                            <a:srgbClr val="3C3C3C"/>
                          </a:solidFill>
                          <a:latin typeface="Segoe UI"/>
                        </a:rPr>
                        <a:t>L</a:t>
                      </a:r>
                    </a:p>
                  </a:txBody>
                  <a:tcPr anchor="ctr" marL="91440" marT="18288" marB="18288">
                    <a:solidFill>
                      <a:srgbClr val="FFFFFF"/>
                    </a:solidFill>
                  </a:tcPr>
                </a:tc>
                <a:tc>
                  <a:txBody>
                    <a:bodyPr wrap="square"/>
                    <a:lstStyle/>
                    <a:p>
                      <a:r>
                        <a:rPr sz="1100" b="0">
                          <a:solidFill>
                            <a:srgbClr val="3C3C3C"/>
                          </a:solidFill>
                          <a:latin typeface="Segoe UI"/>
                        </a:rPr>
                        <a:t>Explicitly phase reporting into a separate Power BI workstream</a:t>
                      </a:r>
                    </a:p>
                  </a:txBody>
                  <a:tcPr anchor="ctr" marL="91440" marT="18288" marB="18288">
                    <a:solidFill>
                      <a:srgbClr val="FFFFFF"/>
                    </a:solidFill>
                  </a:tcPr>
                </a:tc>
              </a:tr>
            </a:tbl>
          </a:graphicData>
        </a:graphic>
      </p:graphicFrame>
      <p:sp>
        <p:nvSpPr>
          <p:cNvPr id="6" name="Rectangle 5"/>
          <p:cNvSpPr/>
          <p:nvPr/>
        </p:nvSpPr>
        <p:spPr>
          <a:xfrm>
            <a:off x="566928" y="45994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99431"/>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908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 = likelihood, I = impact. The top risk is already partially mitigated by design - the re-visit cap means a wrong guard degrades gracefully rather than hanging the case.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Dependencies</a:t>
            </a:r>
          </a:p>
        </p:txBody>
      </p:sp>
      <p:graphicFrame>
        <p:nvGraphicFramePr>
          <p:cNvPr id="5" name="Table 4"/>
          <p:cNvGraphicFramePr>
            <a:graphicFrameLocks noGrp="1"/>
          </p:cNvGraphicFramePr>
          <p:nvPr/>
        </p:nvGraphicFramePr>
        <p:xfrm>
          <a:off x="566928" y="1554480"/>
          <a:ext cx="11064239" cy="2267712"/>
        </p:xfrm>
        <a:graphic>
          <a:graphicData uri="http://schemas.openxmlformats.org/drawingml/2006/table">
            <a:tbl>
              <a:tblPr firstRow="1" bandRow="1">
                <a:tableStyleId>{5C22544A-7EE6-4342-B048-85BDC9FD1C3A}</a:tableStyleId>
              </a:tblPr>
              <a:tblGrid>
                <a:gridCol w="2593181"/>
                <a:gridCol w="3976211"/>
                <a:gridCol w="2160984"/>
                <a:gridCol w="2333863"/>
              </a:tblGrid>
              <a:tr h="347472">
                <a:tc>
                  <a:txBody>
                    <a:bodyPr wrap="square"/>
                    <a:lstStyle/>
                    <a:p>
                      <a:r>
                        <a:rPr sz="1150" b="1">
                          <a:solidFill>
                            <a:srgbClr val="FFFFFF"/>
                          </a:solidFill>
                          <a:latin typeface="Segoe UI"/>
                        </a:rPr>
                        <a:t>Dependency</a:t>
                      </a:r>
                    </a:p>
                  </a:txBody>
                  <a:tcPr anchor="ctr" marL="91440">
                    <a:solidFill>
                      <a:srgbClr val="007BA4"/>
                    </a:solidFill>
                  </a:tcPr>
                </a:tc>
                <a:tc>
                  <a:txBody>
                    <a:bodyPr wrap="square"/>
                    <a:lstStyle/>
                    <a:p>
                      <a:r>
                        <a:rPr sz="1150" b="1">
                          <a:solidFill>
                            <a:srgbClr val="FFFFFF"/>
                          </a:solidFill>
                          <a:latin typeface="Segoe UI"/>
                        </a:rPr>
                        <a:t>Needed for</a:t>
                      </a:r>
                    </a:p>
                  </a:txBody>
                  <a:tcPr anchor="ctr" marL="91440">
                    <a:solidFill>
                      <a:srgbClr val="007BA4"/>
                    </a:solidFill>
                  </a:tcPr>
                </a:tc>
                <a:tc>
                  <a:txBody>
                    <a:bodyPr wrap="square"/>
                    <a:lstStyle/>
                    <a:p>
                      <a:r>
                        <a:rPr sz="1150" b="1">
                          <a:solidFill>
                            <a:srgbClr val="FFFFFF"/>
                          </a:solidFill>
                          <a:latin typeface="Segoe UI"/>
                        </a:rPr>
                        <a:t>Timing</a:t>
                      </a:r>
                    </a:p>
                  </a:txBody>
                  <a:tcPr anchor="ctr" marL="91440">
                    <a:solidFill>
                      <a:srgbClr val="007BA4"/>
                    </a:solidFill>
                  </a:tcPr>
                </a:tc>
                <a:tc>
                  <a:txBody>
                    <a:bodyPr wrap="square"/>
                    <a:lstStyle/>
                    <a:p>
                      <a:r>
                        <a:rPr sz="1150" b="1">
                          <a:solidFill>
                            <a:srgbClr val="FFFFFF"/>
                          </a:solidFill>
                          <a:latin typeface="Segoe UI"/>
                        </a:rPr>
                        <a:t>Owner</a:t>
                      </a:r>
                    </a:p>
                  </a:txBody>
                  <a:tcPr anchor="ctr" marL="91440">
                    <a:solidFill>
                      <a:srgbClr val="007BA4"/>
                    </a:solidFill>
                  </a:tcPr>
                </a:tc>
              </a:tr>
              <a:tr h="274320">
                <a:tc>
                  <a:txBody>
                    <a:bodyPr wrap="square"/>
                    <a:lstStyle/>
                    <a:p>
                      <a:r>
                        <a:rPr sz="1150" b="1">
                          <a:solidFill>
                            <a:srgbClr val="1A1A1A"/>
                          </a:solidFill>
                          <a:latin typeface="Segoe UI"/>
                        </a:rPr>
                        <a:t>Business SME sessions</a:t>
                      </a:r>
                    </a:p>
                  </a:txBody>
                  <a:tcPr anchor="ctr" marL="91440" marT="18288" marB="18288">
                    <a:solidFill>
                      <a:srgbClr val="FFFFFF"/>
                    </a:solidFill>
                  </a:tcPr>
                </a:tc>
                <a:tc>
                  <a:txBody>
                    <a:bodyPr wrap="square"/>
                    <a:lstStyle/>
                    <a:p>
                      <a:r>
                        <a:rPr sz="1150" b="0">
                          <a:solidFill>
                            <a:srgbClr val="3C3C3C"/>
                          </a:solidFill>
                          <a:latin typeface="Segoe UI"/>
                        </a:rPr>
                        <a:t>4 rework conditions, 20 transform behaviours, notification recipients</a:t>
                      </a:r>
                    </a:p>
                  </a:txBody>
                  <a:tcPr anchor="ctr" marL="91440" marT="18288" marB="18288">
                    <a:solidFill>
                      <a:srgbClr val="FFFFFF"/>
                    </a:solidFill>
                  </a:tcPr>
                </a:tc>
                <a:tc>
                  <a:txBody>
                    <a:bodyPr wrap="square"/>
                    <a:lstStyle/>
                    <a:p>
                      <a:r>
                        <a:rPr sz="1150" b="1">
                          <a:solidFill>
                            <a:srgbClr val="1A1A1A"/>
                          </a:solidFill>
                          <a:latin typeface="Segoe UI"/>
                        </a:rPr>
                        <a:t>Phase 1 weeks 1 to 2</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Pega sandbox with DX API</a:t>
                      </a:r>
                    </a:p>
                  </a:txBody>
                  <a:tcPr anchor="ctr" marL="91440" marT="18288" marB="18288">
                    <a:solidFill>
                      <a:srgbClr val="F4F5F7"/>
                    </a:solidFill>
                  </a:tcPr>
                </a:tc>
                <a:tc>
                  <a:txBody>
                    <a:bodyPr wrap="square"/>
                    <a:lstStyle/>
                    <a:p>
                      <a:r>
                        <a:rPr sz="1150" b="0">
                          <a:solidFill>
                            <a:srgbClr val="3C3C3C"/>
                          </a:solidFill>
                          <a:latin typeface="Segoe UI"/>
                        </a:rPr>
                        <a:t>High-fidelity extraction of each app</a:t>
                      </a:r>
                    </a:p>
                  </a:txBody>
                  <a:tcPr anchor="ctr" marL="91440" marT="18288" marB="18288">
                    <a:solidFill>
                      <a:srgbClr val="F4F5F7"/>
                    </a:solidFill>
                  </a:tcPr>
                </a:tc>
                <a:tc>
                  <a:txBody>
                    <a:bodyPr wrap="square"/>
                    <a:lstStyle/>
                    <a:p>
                      <a:r>
                        <a:rPr sz="1150" b="1">
                          <a:solidFill>
                            <a:srgbClr val="1A1A1A"/>
                          </a:solidFill>
                          <a:latin typeface="Segoe UI"/>
                        </a:rPr>
                        <a:t>Before assessment</a:t>
                      </a:r>
                    </a:p>
                  </a:txBody>
                  <a:tcPr anchor="ctr" marL="91440" marT="18288" marB="18288">
                    <a:solidFill>
                      <a:srgbClr val="F4F5F7"/>
                    </a:solidFill>
                  </a:tcPr>
                </a:tc>
                <a:tc>
                  <a:txBody>
                    <a:bodyPr wrap="square"/>
                    <a:lstStyle/>
                    <a:p>
                      <a:r>
                        <a:rPr sz="1150" b="0">
                          <a:solidFill>
                            <a:srgbClr val="3C3C3C"/>
                          </a:solidFill>
                          <a:latin typeface="Segoe UI"/>
                        </a:rPr>
                        <a:t>Pega platform team</a:t>
                      </a:r>
                    </a:p>
                  </a:txBody>
                  <a:tcPr anchor="ctr" marL="91440" marT="18288" marB="18288">
                    <a:solidFill>
                      <a:srgbClr val="F4F5F7"/>
                    </a:solidFill>
                  </a:tcPr>
                </a:tc>
              </a:tr>
              <a:tr h="274320">
                <a:tc>
                  <a:txBody>
                    <a:bodyPr wrap="square"/>
                    <a:lstStyle/>
                    <a:p>
                      <a:r>
                        <a:rPr sz="1150" b="1">
                          <a:solidFill>
                            <a:srgbClr val="1A1A1A"/>
                          </a:solidFill>
                          <a:latin typeface="Segoe UI"/>
                        </a:rPr>
                        <a:t>Business SMEs (time-boxed)</a:t>
                      </a:r>
                    </a:p>
                  </a:txBody>
                  <a:tcPr anchor="ctr" marL="91440" marT="18288" marB="18288">
                    <a:solidFill>
                      <a:srgbClr val="FFFFFF"/>
                    </a:solidFill>
                  </a:tcPr>
                </a:tc>
                <a:tc>
                  <a:txBody>
                    <a:bodyPr wrap="square"/>
                    <a:lstStyle/>
                    <a:p>
                      <a:r>
                        <a:rPr sz="1150" b="0">
                          <a:solidFill>
                            <a:srgbClr val="3C3C3C"/>
                          </a:solidFill>
                          <a:latin typeface="Segoe UI"/>
                        </a:rPr>
                        <a:t>A short list of named decisions - notification wording and reports need no input at all</a:t>
                      </a:r>
                    </a:p>
                  </a:txBody>
                  <a:tcPr anchor="ctr" marL="91440" marT="18288" marB="18288">
                    <a:solidFill>
                      <a:srgbClr val="FFFFFF"/>
                    </a:solidFill>
                  </a:tcPr>
                </a:tc>
                <a:tc>
                  <a:txBody>
                    <a:bodyPr wrap="square"/>
                    <a:lstStyle/>
                    <a:p>
                      <a:r>
                        <a:rPr sz="1150" b="1">
                          <a:solidFill>
                            <a:srgbClr val="1A1A1A"/>
                          </a:solidFill>
                          <a:latin typeface="Segoe UI"/>
                        </a:rPr>
                        <a:t>Short sessions, Phase 1 weeks 1 to 4</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Power Platform environments</a:t>
                      </a:r>
                    </a:p>
                  </a:txBody>
                  <a:tcPr anchor="ctr" marL="91440" marT="18288" marB="18288">
                    <a:solidFill>
                      <a:srgbClr val="F4F5F7"/>
                    </a:solidFill>
                  </a:tcPr>
                </a:tc>
                <a:tc>
                  <a:txBody>
                    <a:bodyPr wrap="square"/>
                    <a:lstStyle/>
                    <a:p>
                      <a:r>
                        <a:rPr sz="1150" b="0">
                          <a:solidFill>
                            <a:srgbClr val="3C3C3C"/>
                          </a:solidFill>
                          <a:latin typeface="Segoe UI"/>
                        </a:rPr>
                        <a:t>Dev, test and production with ALM</a:t>
                      </a:r>
                    </a:p>
                  </a:txBody>
                  <a:tcPr anchor="ctr" marL="91440" marT="18288" marB="18288">
                    <a:solidFill>
                      <a:srgbClr val="F4F5F7"/>
                    </a:solidFill>
                  </a:tcPr>
                </a:tc>
                <a:tc>
                  <a:txBody>
                    <a:bodyPr wrap="square"/>
                    <a:lstStyle/>
                    <a:p>
                      <a:r>
                        <a:rPr sz="1150" b="0">
                          <a:solidFill>
                            <a:srgbClr val="3C3C3C"/>
                          </a:solidFill>
                          <a:latin typeface="Segoe UI"/>
                        </a:rPr>
                        <a:t>Phase 1 start</a:t>
                      </a:r>
                    </a:p>
                  </a:txBody>
                  <a:tcPr anchor="ctr" marL="91440" marT="18288" marB="18288">
                    <a:solidFill>
                      <a:srgbClr val="F4F5F7"/>
                    </a:solidFill>
                  </a:tcPr>
                </a:tc>
                <a:tc>
                  <a:txBody>
                    <a:bodyPr wrap="square"/>
                    <a:lstStyle/>
                    <a:p>
                      <a:r>
                        <a:rPr sz="1150" b="0">
                          <a:solidFill>
                            <a:srgbClr val="3C3C3C"/>
                          </a:solidFill>
                          <a:latin typeface="Segoe UI"/>
                        </a:rPr>
                        <a:t>Platform team</a:t>
                      </a:r>
                    </a:p>
                  </a:txBody>
                  <a:tcPr anchor="ctr" marL="91440" marT="18288" marB="18288">
                    <a:solidFill>
                      <a:srgbClr val="F4F5F7"/>
                    </a:solidFill>
                  </a:tcPr>
                </a:tc>
              </a:tr>
              <a:tr h="274320">
                <a:tc>
                  <a:txBody>
                    <a:bodyPr wrap="square"/>
                    <a:lstStyle/>
                    <a:p>
                      <a:r>
                        <a:rPr sz="1150" b="1">
                          <a:solidFill>
                            <a:srgbClr val="1A1A1A"/>
                          </a:solidFill>
                          <a:latin typeface="Segoe UI"/>
                        </a:rPr>
                        <a:t>Dataverse capacity</a:t>
                      </a:r>
                    </a:p>
                  </a:txBody>
                  <a:tcPr anchor="ctr" marL="91440" marT="18288" marB="18288">
                    <a:solidFill>
                      <a:srgbClr val="FFFFFF"/>
                    </a:solidFill>
                  </a:tcPr>
                </a:tc>
                <a:tc>
                  <a:txBody>
                    <a:bodyPr wrap="square"/>
                    <a:lstStyle/>
                    <a:p>
                      <a:r>
                        <a:rPr sz="1150" b="0">
                          <a:solidFill>
                            <a:srgbClr val="3C3C3C"/>
                          </a:solidFill>
                          <a:latin typeface="Segoe UI"/>
                        </a:rPr>
                        <a:t>Row and storage volumes</a:t>
                      </a:r>
                    </a:p>
                  </a:txBody>
                  <a:tcPr anchor="ctr" marL="91440" marT="18288" marB="18288">
                    <a:solidFill>
                      <a:srgbClr val="FFFFFF"/>
                    </a:solidFill>
                  </a:tcPr>
                </a:tc>
                <a:tc>
                  <a:txBody>
                    <a:bodyPr wrap="square"/>
                    <a:lstStyle/>
                    <a:p>
                      <a:r>
                        <a:rPr sz="1150" b="0">
                          <a:solidFill>
                            <a:srgbClr val="3C3C3C"/>
                          </a:solidFill>
                          <a:latin typeface="Segoe UI"/>
                        </a:rPr>
                        <a:t>Phase 1 planning</a:t>
                      </a:r>
                    </a:p>
                  </a:txBody>
                  <a:tcPr anchor="ctr" marL="91440" marT="18288" marB="18288">
                    <a:solidFill>
                      <a:srgbClr val="FFFFFF"/>
                    </a:solidFill>
                  </a:tcPr>
                </a:tc>
                <a:tc>
                  <a:txBody>
                    <a:bodyPr wrap="square"/>
                    <a:lstStyle/>
                    <a:p>
                      <a:r>
                        <a:rPr sz="1150" b="0">
                          <a:solidFill>
                            <a:srgbClr val="3C3C3C"/>
                          </a:solidFill>
                          <a:latin typeface="Segoe UI"/>
                        </a:rPr>
                        <a:t>Platform team</a:t>
                      </a:r>
                    </a:p>
                  </a:txBody>
                  <a:tcPr anchor="ctr" marL="91440" marT="18288" marB="18288">
                    <a:solidFill>
                      <a:srgbClr val="FFFFFF"/>
                    </a:solidFill>
                  </a:tcPr>
                </a:tc>
              </a:tr>
              <a:tr h="274320">
                <a:tc>
                  <a:txBody>
                    <a:bodyPr wrap="square"/>
                    <a:lstStyle/>
                    <a:p>
                      <a:r>
                        <a:rPr sz="1150" b="1">
                          <a:solidFill>
                            <a:srgbClr val="1A1A1A"/>
                          </a:solidFill>
                          <a:latin typeface="Segoe UI"/>
                        </a:rPr>
                        <a:t>Security design authority</a:t>
                      </a:r>
                    </a:p>
                  </a:txBody>
                  <a:tcPr anchor="ctr" marL="91440" marT="18288" marB="18288">
                    <a:solidFill>
                      <a:srgbClr val="F4F5F7"/>
                    </a:solidFill>
                  </a:tcPr>
                </a:tc>
                <a:tc>
                  <a:txBody>
                    <a:bodyPr wrap="square"/>
                    <a:lstStyle/>
                    <a:p>
                      <a:r>
                        <a:rPr sz="1150" b="0">
                          <a:solidFill>
                            <a:srgbClr val="3C3C3C"/>
                          </a:solidFill>
                          <a:latin typeface="Segoe UI"/>
                        </a:rPr>
                        <a:t>Approving the role and team model</a:t>
                      </a:r>
                    </a:p>
                  </a:txBody>
                  <a:tcPr anchor="ctr" marL="91440" marT="18288" marB="18288">
                    <a:solidFill>
                      <a:srgbClr val="F4F5F7"/>
                    </a:solidFill>
                  </a:tcPr>
                </a:tc>
                <a:tc>
                  <a:txBody>
                    <a:bodyPr wrap="square"/>
                    <a:lstStyle/>
                    <a:p>
                      <a:r>
                        <a:rPr sz="1150" b="0">
                          <a:solidFill>
                            <a:srgbClr val="3C3C3C"/>
                          </a:solidFill>
                          <a:latin typeface="Segoe UI"/>
                        </a:rPr>
                        <a:t>Phase 1 weeks 1 to 3</a:t>
                      </a:r>
                    </a:p>
                  </a:txBody>
                  <a:tcPr anchor="ctr" marL="91440" marT="18288" marB="18288">
                    <a:solidFill>
                      <a:srgbClr val="F4F5F7"/>
                    </a:solidFill>
                  </a:tcPr>
                </a:tc>
                <a:tc>
                  <a:txBody>
                    <a:bodyPr wrap="square"/>
                    <a:lstStyle/>
                    <a:p>
                      <a:r>
                        <a:rPr sz="1150" b="0">
                          <a:solidFill>
                            <a:srgbClr val="3C3C3C"/>
                          </a:solidFill>
                          <a:latin typeface="Segoe UI"/>
                        </a:rPr>
                        <a:t>Security</a:t>
                      </a:r>
                    </a:p>
                  </a:txBody>
                  <a:tcPr anchor="ctr" marL="91440" marT="18288" marB="18288">
                    <a:solidFill>
                      <a:srgbClr val="F4F5F7"/>
                    </a:solidFill>
                  </a:tcPr>
                </a:tc>
              </a:tr>
              <a:tr h="274320">
                <a:tc>
                  <a:txBody>
                    <a:bodyPr wrap="square"/>
                    <a:lstStyle/>
                    <a:p>
                      <a:r>
                        <a:rPr sz="1150" b="1">
                          <a:solidFill>
                            <a:srgbClr val="1A1A1A"/>
                          </a:solidFill>
                          <a:latin typeface="Segoe UI"/>
                        </a:rPr>
                        <a:t>Production volume data</a:t>
                      </a:r>
                    </a:p>
                  </a:txBody>
                  <a:tcPr anchor="ctr" marL="91440" marT="18288" marB="18288">
                    <a:solidFill>
                      <a:srgbClr val="FFFFFF"/>
                    </a:solidFill>
                  </a:tcPr>
                </a:tc>
                <a:tc>
                  <a:txBody>
                    <a:bodyPr wrap="square"/>
                    <a:lstStyle/>
                    <a:p>
                      <a:r>
                        <a:rPr sz="1150" b="0">
                          <a:solidFill>
                            <a:srgbClr val="3C3C3C"/>
                          </a:solidFill>
                          <a:latin typeface="Segoe UI"/>
                        </a:rPr>
                        <a:t>Load test baseline</a:t>
                      </a:r>
                    </a:p>
                  </a:txBody>
                  <a:tcPr anchor="ctr" marL="91440" marT="18288" marB="18288">
                    <a:solidFill>
                      <a:srgbClr val="FFFFFF"/>
                    </a:solidFill>
                  </a:tcPr>
                </a:tc>
                <a:tc>
                  <a:txBody>
                    <a:bodyPr wrap="square"/>
                    <a:lstStyle/>
                    <a:p>
                      <a:r>
                        <a:rPr sz="1150" b="0">
                          <a:solidFill>
                            <a:srgbClr val="3C3C3C"/>
                          </a:solidFill>
                          <a:latin typeface="Segoe UI"/>
                        </a:rPr>
                        <a:t>Before go-live</a:t>
                      </a:r>
                    </a:p>
                  </a:txBody>
                  <a:tcPr anchor="ctr" marL="91440" marT="18288" marB="18288">
                    <a:solidFill>
                      <a:srgbClr val="FFFFFF"/>
                    </a:solidFill>
                  </a:tcPr>
                </a:tc>
                <a:tc>
                  <a:txBody>
                    <a:bodyPr wrap="square"/>
                    <a:lstStyle/>
                    <a:p>
                      <a:r>
                        <a:rPr sz="1150" b="0">
                          <a:solidFill>
                            <a:srgbClr val="3C3C3C"/>
                          </a:solidFill>
                          <a:latin typeface="Segoe UI"/>
                        </a:rPr>
                        <a:t>Business / platform</a:t>
                      </a:r>
                    </a:p>
                  </a:txBody>
                  <a:tcPr anchor="ctr" marL="91440" marT="18288" marB="18288">
                    <a:solidFill>
                      <a:srgbClr val="FFFFFF"/>
                    </a:solidFill>
                  </a:tcPr>
                </a:tc>
              </a:tr>
            </a:tbl>
          </a:graphicData>
        </a:graphic>
      </p:graphicFrame>
      <p:sp>
        <p:nvSpPr>
          <p:cNvPr id="6" name="Rectangle 5"/>
          <p:cNvSpPr/>
          <p:nvPr/>
        </p:nvSpPr>
        <p:spPr>
          <a:xfrm>
            <a:off x="566928" y="44653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465320"/>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5567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two are hard blockers. Without DX API access, assessment quality drops sharply - as demonstrated during this PoC.</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10</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Recommendations &amp; Next Steps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Roadmap, candidates, governance and production approach</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Recommendation</a:t>
            </a:r>
          </a:p>
        </p:txBody>
      </p:sp>
      <p:sp>
        <p:nvSpPr>
          <p:cNvPr id="5" name="TextBox 4"/>
          <p:cNvSpPr txBox="1"/>
          <p:nvPr/>
        </p:nvSpPr>
        <p:spPr>
          <a:xfrm>
            <a:off x="566928" y="1463040"/>
            <a:ext cx="11064240" cy="3058160"/>
          </a:xfrm>
          <a:prstGeom prst="rect">
            <a:avLst/>
          </a:prstGeom>
          <a:noFill/>
        </p:spPr>
        <p:txBody>
          <a:bodyPr wrap="square">
            <a:spAutoFit/>
          </a:bodyPr>
          <a:lstStyle/>
          <a:p>
            <a:pPr algn="l">
              <a:spcBef>
                <a:spcPts val="0"/>
              </a:spcBef>
              <a:spcAft>
                <a:spcPts val="800"/>
              </a:spcAft>
            </a:pPr>
            <a:r>
              <a:rPr sz="1400" b="1" i="0">
                <a:solidFill>
                  <a:srgbClr val="1A1A1A"/>
                </a:solidFill>
                <a:latin typeface="Segoe UI"/>
              </a:rPr>
              <a:t>Proceed to a Phase 1 production migration of the Lending Due Diligence application.</a:t>
            </a:r>
          </a:p>
          <a:p>
            <a:pPr algn="l">
              <a:spcBef>
                <a:spcPts val="0"/>
              </a:spcBef>
              <a:spcAft>
                <a:spcPts val="800"/>
              </a:spcAft>
            </a:pPr>
            <a:r>
              <a:rPr sz="1400" b="0" i="0">
                <a:solidFill>
                  <a:srgbClr val="1A1A1A"/>
                </a:solidFill>
                <a:latin typeface="Segoe UI"/>
              </a:rPr>
              <a:t>•  The PoC has proven the approach on a real application of genuine complexity: 5 case types, 80 steps and 10 decision tables, running end to end with automated verification.</a:t>
            </a:r>
          </a:p>
          <a:p>
            <a:pPr algn="l">
              <a:spcBef>
                <a:spcPts val="0"/>
              </a:spcBef>
              <a:spcAft>
                <a:spcPts val="800"/>
              </a:spcAft>
            </a:pPr>
            <a:r>
              <a:rPr sz="1400" b="0" i="0">
                <a:solidFill>
                  <a:srgbClr val="1A1A1A"/>
                </a:solidFill>
                <a:latin typeface="Segoe UI"/>
              </a:rPr>
              <a:t>•  The unknowns are now quantified rather than speculative. 41 steps need manual implementation and every one is individually identified.</a:t>
            </a:r>
          </a:p>
          <a:p>
            <a:pPr algn="l">
              <a:spcBef>
                <a:spcPts val="0"/>
              </a:spcBef>
              <a:spcAft>
                <a:spcPts val="800"/>
              </a:spcAft>
            </a:pPr>
            <a:r>
              <a:rPr sz="1400" b="0" i="0">
                <a:solidFill>
                  <a:srgbClr val="1A1A1A"/>
                </a:solidFill>
                <a:latin typeface="Segoe UI"/>
              </a:rPr>
              <a:t>•  The migration assets - extract pipeline, engine, dynamic forms, verification harness - are application-agnostic and reusable.</a:t>
            </a:r>
          </a:p>
          <a:p>
            <a:pPr algn="l">
              <a:spcBef>
                <a:spcPts val="800"/>
              </a:spcBef>
              <a:spcAft>
                <a:spcPts val="800"/>
              </a:spcAft>
            </a:pPr>
            <a:r>
              <a:rPr sz="1400" b="1" i="0">
                <a:solidFill>
                  <a:srgbClr val="1A1A1A"/>
                </a:solidFill>
                <a:latin typeface="Segoe UI"/>
              </a:rPr>
              <a:t>Condition</a:t>
            </a:r>
          </a:p>
          <a:p>
            <a:pPr algn="l">
              <a:spcBef>
                <a:spcPts val="0"/>
              </a:spcBef>
              <a:spcAft>
                <a:spcPts val="800"/>
              </a:spcAft>
            </a:pPr>
            <a:r>
              <a:rPr sz="1400" b="0" i="0">
                <a:solidFill>
                  <a:srgbClr val="1A1A1A"/>
                </a:solidFill>
                <a:latin typeface="Segoe UI"/>
              </a:rPr>
              <a:t>•  Book time-boxed SME confirmation sessions. The artefacts carry the specification; the business is asked only to confirm 41 named, located step bodies against a system they can watch running.</a:t>
            </a:r>
          </a:p>
        </p:txBody>
      </p:sp>
      <p:sp>
        <p:nvSpPr>
          <p:cNvPr id="6" name="Rectangle 5"/>
          <p:cNvSpPr/>
          <p:nvPr/>
        </p:nvSpPr>
        <p:spPr>
          <a:xfrm>
            <a:off x="566928" y="47955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95520"/>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8696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Recommended next action: a one-week inception to settle the security model and the short list of open business decisions. Flow rules, decision routing and notification wording are already recovered.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Phase 1 roadmap</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1642348"/>
                <a:gridCol w="864393"/>
                <a:gridCol w="4840604"/>
                <a:gridCol w="3716893"/>
              </a:tblGrid>
              <a:tr h="347472">
                <a:tc>
                  <a:txBody>
                    <a:bodyPr wrap="square"/>
                    <a:lstStyle/>
                    <a:p>
                      <a:r>
                        <a:rPr sz="1100" b="1">
                          <a:solidFill>
                            <a:srgbClr val="FFFFFF"/>
                          </a:solidFill>
                          <a:latin typeface="Segoe UI"/>
                        </a:rPr>
                        <a:t>Stage</a:t>
                      </a:r>
                    </a:p>
                  </a:txBody>
                  <a:tcPr anchor="ctr" marL="91440">
                    <a:solidFill>
                      <a:srgbClr val="007BA4"/>
                    </a:solidFill>
                  </a:tcPr>
                </a:tc>
                <a:tc>
                  <a:txBody>
                    <a:bodyPr wrap="square"/>
                    <a:lstStyle/>
                    <a:p>
                      <a:r>
                        <a:rPr sz="1100" b="1">
                          <a:solidFill>
                            <a:srgbClr val="FFFFFF"/>
                          </a:solidFill>
                          <a:latin typeface="Segoe UI"/>
                        </a:rPr>
                        <a:t>Weeks</a:t>
                      </a:r>
                    </a:p>
                  </a:txBody>
                  <a:tcPr anchor="ctr" marL="91440">
                    <a:solidFill>
                      <a:srgbClr val="007BA4"/>
                    </a:solidFill>
                  </a:tcPr>
                </a:tc>
                <a:tc>
                  <a:txBody>
                    <a:bodyPr wrap="square"/>
                    <a:lstStyle/>
                    <a:p>
                      <a:r>
                        <a:rPr sz="1100" b="1">
                          <a:solidFill>
                            <a:srgbClr val="FFFFFF"/>
                          </a:solidFill>
                          <a:latin typeface="Segoe UI"/>
                        </a:rPr>
                        <a:t>Activities</a:t>
                      </a:r>
                    </a:p>
                  </a:txBody>
                  <a:tcPr anchor="ctr" marL="91440">
                    <a:solidFill>
                      <a:srgbClr val="007BA4"/>
                    </a:solidFill>
                  </a:tcPr>
                </a:tc>
                <a:tc>
                  <a:txBody>
                    <a:bodyPr wrap="square"/>
                    <a:lstStyle/>
                    <a:p>
                      <a:r>
                        <a:rPr sz="1100" b="1">
                          <a:solidFill>
                            <a:srgbClr val="FFFFFF"/>
                          </a:solidFill>
                          <a:latin typeface="Segoe UI"/>
                        </a:rPr>
                        <a:t>Exit criteria</a:t>
                      </a:r>
                    </a:p>
                  </a:txBody>
                  <a:tcPr anchor="ctr" marL="91440">
                    <a:solidFill>
                      <a:srgbClr val="007BA4"/>
                    </a:solidFill>
                  </a:tcPr>
                </a:tc>
              </a:tr>
              <a:tr h="274320">
                <a:tc>
                  <a:txBody>
                    <a:bodyPr wrap="square"/>
                    <a:lstStyle/>
                    <a:p>
                      <a:r>
                        <a:rPr sz="1100" b="1">
                          <a:solidFill>
                            <a:srgbClr val="1A1A1A"/>
                          </a:solidFill>
                          <a:latin typeface="Segoe UI"/>
                        </a:rPr>
                        <a:t>Inception</a:t>
                      </a:r>
                    </a:p>
                  </a:txBody>
                  <a:tcPr anchor="ctr" marL="91440" marT="18288" marB="18288">
                    <a:solidFill>
                      <a:srgbClr val="FFFFFF"/>
                    </a:solidFill>
                  </a:tcPr>
                </a:tc>
                <a:tc>
                  <a:txBody>
                    <a:bodyPr wrap="square"/>
                    <a:lstStyle/>
                    <a:p>
                      <a:r>
                        <a:rPr sz="1100" b="0">
                          <a:solidFill>
                            <a:srgbClr val="3C3C3C"/>
                          </a:solidFill>
                          <a:latin typeface="Segoe UI"/>
                        </a:rPr>
                        <a:t>1 - 2</a:t>
                      </a:r>
                    </a:p>
                  </a:txBody>
                  <a:tcPr anchor="ctr" marL="91440" marT="18288" marB="18288">
                    <a:solidFill>
                      <a:srgbClr val="FFFFFF"/>
                    </a:solidFill>
                  </a:tcPr>
                </a:tc>
                <a:tc>
                  <a:txBody>
                    <a:bodyPr wrap="square"/>
                    <a:lstStyle/>
                    <a:p>
                      <a:r>
                        <a:rPr sz="1100" b="0">
                          <a:solidFill>
                            <a:srgbClr val="3C3C3C"/>
                          </a:solidFill>
                          <a:latin typeface="Segoe UI"/>
                        </a:rPr>
                        <a:t>Artefact extraction (done); short SME confirmation; provision environments</a:t>
                      </a:r>
                    </a:p>
                  </a:txBody>
                  <a:tcPr anchor="ctr" marL="91440" marT="18288" marB="18288">
                    <a:solidFill>
                      <a:srgbClr val="FFFFFF"/>
                    </a:solidFill>
                  </a:tcPr>
                </a:tc>
                <a:tc>
                  <a:txBody>
                    <a:bodyPr wrap="square"/>
                    <a:lstStyle/>
                    <a:p>
                      <a:r>
                        <a:rPr sz="1100" b="0">
                          <a:solidFill>
                            <a:srgbClr val="3C3C3C"/>
                          </a:solidFill>
                          <a:latin typeface="Segoe UI"/>
                        </a:rPr>
                        <a:t>Open decisions confirmed; roles designed</a:t>
                      </a:r>
                    </a:p>
                  </a:txBody>
                  <a:tcPr anchor="ctr" marL="91440" marT="18288" marB="18288">
                    <a:solidFill>
                      <a:srgbClr val="FFFFFF"/>
                    </a:solidFill>
                  </a:tcPr>
                </a:tc>
              </a:tr>
              <a:tr h="274320">
                <a:tc>
                  <a:txBody>
                    <a:bodyPr wrap="square"/>
                    <a:lstStyle/>
                    <a:p>
                      <a:r>
                        <a:rPr sz="1100" b="1">
                          <a:solidFill>
                            <a:srgbClr val="1A1A1A"/>
                          </a:solidFill>
                          <a:latin typeface="Segoe UI"/>
                        </a:rPr>
                        <a:t>Build - logic</a:t>
                      </a:r>
                    </a:p>
                  </a:txBody>
                  <a:tcPr anchor="ctr" marL="91440" marT="18288" marB="18288">
                    <a:solidFill>
                      <a:srgbClr val="F4F5F7"/>
                    </a:solidFill>
                  </a:tcPr>
                </a:tc>
                <a:tc>
                  <a:txBody>
                    <a:bodyPr wrap="square"/>
                    <a:lstStyle/>
                    <a:p>
                      <a:r>
                        <a:rPr sz="1100" b="0">
                          <a:solidFill>
                            <a:srgbClr val="3C3C3C"/>
                          </a:solidFill>
                          <a:latin typeface="Segoe UI"/>
                        </a:rPr>
                        <a:t>3 - 6</a:t>
                      </a:r>
                    </a:p>
                  </a:txBody>
                  <a:tcPr anchor="ctr" marL="91440" marT="18288" marB="18288">
                    <a:solidFill>
                      <a:srgbClr val="F4F5F7"/>
                    </a:solidFill>
                  </a:tcPr>
                </a:tc>
                <a:tc>
                  <a:txBody>
                    <a:bodyPr wrap="square"/>
                    <a:lstStyle/>
                    <a:p>
                      <a:r>
                        <a:rPr sz="1100" b="0">
                          <a:solidFill>
                            <a:srgbClr val="3C3C3C"/>
                          </a:solidFill>
                          <a:latin typeface="Segoe UI"/>
                        </a:rPr>
                        <a:t>Implement 20 data transforms and 4 document generators; replace inferred guards</a:t>
                      </a:r>
                    </a:p>
                  </a:txBody>
                  <a:tcPr anchor="ctr" marL="91440" marT="18288" marB="18288">
                    <a:solidFill>
                      <a:srgbClr val="F4F5F7"/>
                    </a:solidFill>
                  </a:tcPr>
                </a:tc>
                <a:tc>
                  <a:txBody>
                    <a:bodyPr wrap="square"/>
                    <a:lstStyle/>
                    <a:p>
                      <a:r>
                        <a:rPr sz="1100" b="0">
                          <a:solidFill>
                            <a:srgbClr val="3C3C3C"/>
                          </a:solidFill>
                          <a:latin typeface="Segoe UI"/>
                        </a:rPr>
                        <a:t>All step bodies executing</a:t>
                      </a:r>
                    </a:p>
                  </a:txBody>
                  <a:tcPr anchor="ctr" marL="91440" marT="18288" marB="18288">
                    <a:solidFill>
                      <a:srgbClr val="F4F5F7"/>
                    </a:solidFill>
                  </a:tcPr>
                </a:tc>
              </a:tr>
              <a:tr h="274320">
                <a:tc>
                  <a:txBody>
                    <a:bodyPr wrap="square"/>
                    <a:lstStyle/>
                    <a:p>
                      <a:r>
                        <a:rPr sz="1100" b="1">
                          <a:solidFill>
                            <a:srgbClr val="1A1A1A"/>
                          </a:solidFill>
                          <a:latin typeface="Segoe UI"/>
                        </a:rPr>
                        <a:t>Build - integration</a:t>
                      </a:r>
                    </a:p>
                  </a:txBody>
                  <a:tcPr anchor="ctr" marL="91440" marT="18288" marB="18288">
                    <a:solidFill>
                      <a:srgbClr val="FFFFFF"/>
                    </a:solidFill>
                  </a:tcPr>
                </a:tc>
                <a:tc>
                  <a:txBody>
                    <a:bodyPr wrap="square"/>
                    <a:lstStyle/>
                    <a:p>
                      <a:r>
                        <a:rPr sz="1100" b="0">
                          <a:solidFill>
                            <a:srgbClr val="3C3C3C"/>
                          </a:solidFill>
                          <a:latin typeface="Segoe UI"/>
                        </a:rPr>
                        <a:t>5 - 8</a:t>
                      </a:r>
                    </a:p>
                  </a:txBody>
                  <a:tcPr anchor="ctr" marL="91440" marT="18288" marB="18288">
                    <a:solidFill>
                      <a:srgbClr val="FFFFFF"/>
                    </a:solidFill>
                  </a:tcPr>
                </a:tc>
                <a:tc>
                  <a:txBody>
                    <a:bodyPr wrap="square"/>
                    <a:lstStyle/>
                    <a:p>
                      <a:r>
                        <a:rPr sz="1100" b="0">
                          <a:solidFill>
                            <a:srgbClr val="3C3C3C"/>
                          </a:solidFill>
                          <a:latin typeface="Segoe UI"/>
                        </a:rPr>
                        <a:t>17 notifications via Power Automate; attachments; SLA timers</a:t>
                      </a:r>
                    </a:p>
                  </a:txBody>
                  <a:tcPr anchor="ctr" marL="91440" marT="18288" marB="18288">
                    <a:solidFill>
                      <a:srgbClr val="FFFFFF"/>
                    </a:solidFill>
                  </a:tcPr>
                </a:tc>
                <a:tc>
                  <a:txBody>
                    <a:bodyPr wrap="square"/>
                    <a:lstStyle/>
                    <a:p>
                      <a:r>
                        <a:rPr sz="1100" b="0">
                          <a:solidFill>
                            <a:srgbClr val="3C3C3C"/>
                          </a:solidFill>
                          <a:latin typeface="Segoe UI"/>
                        </a:rPr>
                        <a:t>No simulated effects remain</a:t>
                      </a:r>
                    </a:p>
                  </a:txBody>
                  <a:tcPr anchor="ctr" marL="91440" marT="18288" marB="18288">
                    <a:solidFill>
                      <a:srgbClr val="FFFFFF"/>
                    </a:solidFill>
                  </a:tcPr>
                </a:tc>
              </a:tr>
              <a:tr h="274320">
                <a:tc>
                  <a:txBody>
                    <a:bodyPr wrap="square"/>
                    <a:lstStyle/>
                    <a:p>
                      <a:r>
                        <a:rPr sz="1100" b="1">
                          <a:solidFill>
                            <a:srgbClr val="1A1A1A"/>
                          </a:solidFill>
                          <a:latin typeface="Segoe UI"/>
                        </a:rPr>
                        <a:t>Security</a:t>
                      </a:r>
                    </a:p>
                  </a:txBody>
                  <a:tcPr anchor="ctr" marL="91440" marT="18288" marB="18288">
                    <a:solidFill>
                      <a:srgbClr val="F4F5F7"/>
                    </a:solidFill>
                  </a:tcPr>
                </a:tc>
                <a:tc>
                  <a:txBody>
                    <a:bodyPr wrap="square"/>
                    <a:lstStyle/>
                    <a:p>
                      <a:r>
                        <a:rPr sz="1100" b="0">
                          <a:solidFill>
                            <a:srgbClr val="3C3C3C"/>
                          </a:solidFill>
                          <a:latin typeface="Segoe UI"/>
                        </a:rPr>
                        <a:t>6 - 9</a:t>
                      </a:r>
                    </a:p>
                  </a:txBody>
                  <a:tcPr anchor="ctr" marL="91440" marT="18288" marB="18288">
                    <a:solidFill>
                      <a:srgbClr val="F4F5F7"/>
                    </a:solidFill>
                  </a:tcPr>
                </a:tc>
                <a:tc>
                  <a:txBody>
                    <a:bodyPr wrap="square"/>
                    <a:lstStyle/>
                    <a:p>
                      <a:r>
                        <a:rPr sz="1100" b="0">
                          <a:solidFill>
                            <a:srgbClr val="3C3C3C"/>
                          </a:solidFill>
                          <a:latin typeface="Segoe UI"/>
                        </a:rPr>
                        <a:t>Dataverse roles, teams, workbasket routing, row-level security</a:t>
                      </a:r>
                    </a:p>
                  </a:txBody>
                  <a:tcPr anchor="ctr" marL="91440" marT="18288" marB="18288">
                    <a:solidFill>
                      <a:srgbClr val="F4F5F7"/>
                    </a:solidFill>
                  </a:tcPr>
                </a:tc>
                <a:tc>
                  <a:txBody>
                    <a:bodyPr wrap="square"/>
                    <a:lstStyle/>
                    <a:p>
                      <a:r>
                        <a:rPr sz="1100" b="0">
                          <a:solidFill>
                            <a:srgbClr val="3C3C3C"/>
                          </a:solidFill>
                          <a:latin typeface="Segoe UI"/>
                        </a:rPr>
                        <a:t>Users see only their cases</a:t>
                      </a:r>
                    </a:p>
                  </a:txBody>
                  <a:tcPr anchor="ctr" marL="91440" marT="18288" marB="18288">
                    <a:solidFill>
                      <a:srgbClr val="F4F5F7"/>
                    </a:solidFill>
                  </a:tcPr>
                </a:tc>
              </a:tr>
              <a:tr h="274320">
                <a:tc>
                  <a:txBody>
                    <a:bodyPr wrap="square"/>
                    <a:lstStyle/>
                    <a:p>
                      <a:r>
                        <a:rPr sz="1100" b="1">
                          <a:solidFill>
                            <a:srgbClr val="1A1A1A"/>
                          </a:solidFill>
                          <a:latin typeface="Segoe UI"/>
                        </a:rPr>
                        <a:t>Hardening</a:t>
                      </a:r>
                    </a:p>
                  </a:txBody>
                  <a:tcPr anchor="ctr" marL="91440" marT="18288" marB="18288">
                    <a:solidFill>
                      <a:srgbClr val="FFFFFF"/>
                    </a:solidFill>
                  </a:tcPr>
                </a:tc>
                <a:tc>
                  <a:txBody>
                    <a:bodyPr wrap="square"/>
                    <a:lstStyle/>
                    <a:p>
                      <a:r>
                        <a:rPr sz="1100" b="0">
                          <a:solidFill>
                            <a:srgbClr val="3C3C3C"/>
                          </a:solidFill>
                          <a:latin typeface="Segoe UI"/>
                        </a:rPr>
                        <a:t>8 - 10</a:t>
                      </a:r>
                    </a:p>
                  </a:txBody>
                  <a:tcPr anchor="ctr" marL="91440" marT="18288" marB="18288">
                    <a:solidFill>
                      <a:srgbClr val="FFFFFF"/>
                    </a:solidFill>
                  </a:tcPr>
                </a:tc>
                <a:tc>
                  <a:txBody>
                    <a:bodyPr wrap="square"/>
                    <a:lstStyle/>
                    <a:p>
                      <a:r>
                        <a:rPr sz="1100" b="0">
                          <a:solidFill>
                            <a:srgbClr val="3C3C3C"/>
                          </a:solidFill>
                          <a:latin typeface="Segoe UI"/>
                        </a:rPr>
                        <a:t>Unit tests, load testing, ALM pipeline</a:t>
                      </a:r>
                    </a:p>
                  </a:txBody>
                  <a:tcPr anchor="ctr" marL="91440" marT="18288" marB="18288">
                    <a:solidFill>
                      <a:srgbClr val="FFFFFF"/>
                    </a:solidFill>
                  </a:tcPr>
                </a:tc>
                <a:tc>
                  <a:txBody>
                    <a:bodyPr wrap="square"/>
                    <a:lstStyle/>
                    <a:p>
                      <a:r>
                        <a:rPr sz="1100" b="0">
                          <a:solidFill>
                            <a:srgbClr val="3C3C3C"/>
                          </a:solidFill>
                          <a:latin typeface="Segoe UI"/>
                        </a:rPr>
                        <a:t>Performance baseline established</a:t>
                      </a:r>
                    </a:p>
                  </a:txBody>
                  <a:tcPr anchor="ctr" marL="91440" marT="18288" marB="18288">
                    <a:solidFill>
                      <a:srgbClr val="FFFFFF"/>
                    </a:solidFill>
                  </a:tcPr>
                </a:tc>
              </a:tr>
              <a:tr h="274320">
                <a:tc>
                  <a:txBody>
                    <a:bodyPr wrap="square"/>
                    <a:lstStyle/>
                    <a:p>
                      <a:r>
                        <a:rPr sz="1100" b="1">
                          <a:solidFill>
                            <a:srgbClr val="1A1A1A"/>
                          </a:solidFill>
                          <a:latin typeface="Segoe UI"/>
                        </a:rPr>
                        <a:t>UAT and cutover</a:t>
                      </a:r>
                    </a:p>
                  </a:txBody>
                  <a:tcPr anchor="ctr" marL="91440" marT="18288" marB="18288">
                    <a:solidFill>
                      <a:srgbClr val="F4F5F7"/>
                    </a:solidFill>
                  </a:tcPr>
                </a:tc>
                <a:tc>
                  <a:txBody>
                    <a:bodyPr wrap="square"/>
                    <a:lstStyle/>
                    <a:p>
                      <a:r>
                        <a:rPr sz="1100" b="0">
                          <a:solidFill>
                            <a:srgbClr val="3C3C3C"/>
                          </a:solidFill>
                          <a:latin typeface="Segoe UI"/>
                        </a:rPr>
                        <a:t>10 - 12</a:t>
                      </a:r>
                    </a:p>
                  </a:txBody>
                  <a:tcPr anchor="ctr" marL="91440" marT="18288" marB="18288">
                    <a:solidFill>
                      <a:srgbClr val="F4F5F7"/>
                    </a:solidFill>
                  </a:tcPr>
                </a:tc>
                <a:tc>
                  <a:txBody>
                    <a:bodyPr wrap="square"/>
                    <a:lstStyle/>
                    <a:p>
                      <a:r>
                        <a:rPr sz="1100" b="0">
                          <a:solidFill>
                            <a:srgbClr val="3C3C3C"/>
                          </a:solidFill>
                          <a:latin typeface="Segoe UI"/>
                        </a:rPr>
                        <a:t>Business validation, data migration, go-live</a:t>
                      </a:r>
                    </a:p>
                  </a:txBody>
                  <a:tcPr anchor="ctr" marL="91440" marT="18288" marB="18288">
                    <a:solidFill>
                      <a:srgbClr val="F4F5F7"/>
                    </a:solidFill>
                  </a:tcPr>
                </a:tc>
                <a:tc>
                  <a:txBody>
                    <a:bodyPr wrap="square"/>
                    <a:lstStyle/>
                    <a:p>
                      <a:r>
                        <a:rPr sz="1100" b="0">
                          <a:solidFill>
                            <a:srgbClr val="3C3C3C"/>
                          </a:solidFill>
                          <a:latin typeface="Segoe UI"/>
                        </a:rPr>
                        <a:t>Signed off in production</a:t>
                      </a:r>
                    </a:p>
                  </a:txBody>
                  <a:tcPr anchor="ctr" marL="91440" marT="18288" marB="18288">
                    <a:solidFill>
                      <a:srgbClr val="F4F5F7"/>
                    </a:solidFill>
                  </a:tcPr>
                </a:tc>
              </a:tr>
            </a:tbl>
          </a:graphicData>
        </a:graphic>
      </p:graphicFrame>
      <p:sp>
        <p:nvSpPr>
          <p:cNvPr id="6" name="Rectangle 5"/>
          <p:cNvSpPr/>
          <p:nvPr/>
        </p:nvSpPr>
        <p:spPr>
          <a:xfrm>
            <a:off x="566928" y="4157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157471"/>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248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Approximately 12 weeks with a team of 3, consistent with the 93 to 141 day estimate. Build streams overlap deliberately.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Candidate applications for migration</a:t>
            </a:r>
          </a:p>
        </p:txBody>
      </p:sp>
      <p:graphicFrame>
        <p:nvGraphicFramePr>
          <p:cNvPr id="5" name="Table 4"/>
          <p:cNvGraphicFramePr>
            <a:graphicFrameLocks noGrp="1"/>
          </p:cNvGraphicFramePr>
          <p:nvPr/>
        </p:nvGraphicFramePr>
        <p:xfrm>
          <a:off x="566928" y="1554480"/>
          <a:ext cx="11064240" cy="1993392"/>
        </p:xfrm>
        <a:graphic>
          <a:graphicData uri="http://schemas.openxmlformats.org/drawingml/2006/table">
            <a:tbl>
              <a:tblPr firstRow="1" bandRow="1">
                <a:tableStyleId>{5C22544A-7EE6-4342-B048-85BDC9FD1C3A}</a:tableStyleId>
              </a:tblPr>
              <a:tblGrid>
                <a:gridCol w="3017520"/>
                <a:gridCol w="4114800"/>
                <a:gridCol w="3931920"/>
              </a:tblGrid>
              <a:tr h="347472">
                <a:tc>
                  <a:txBody>
                    <a:bodyPr wrap="square"/>
                    <a:lstStyle/>
                    <a:p>
                      <a:r>
                        <a:rPr sz="1150" b="1">
                          <a:solidFill>
                            <a:srgbClr val="FFFFFF"/>
                          </a:solidFill>
                          <a:latin typeface="Segoe UI"/>
                        </a:rPr>
                        <a:t>Selection criterion</a:t>
                      </a:r>
                    </a:p>
                  </a:txBody>
                  <a:tcPr anchor="ctr" marL="91440">
                    <a:solidFill>
                      <a:srgbClr val="007BA4"/>
                    </a:solidFill>
                  </a:tcPr>
                </a:tc>
                <a:tc>
                  <a:txBody>
                    <a:bodyPr wrap="square"/>
                    <a:lstStyle/>
                    <a:p>
                      <a:r>
                        <a:rPr sz="1150" b="1">
                          <a:solidFill>
                            <a:srgbClr val="FFFFFF"/>
                          </a:solidFill>
                          <a:latin typeface="Segoe UI"/>
                        </a:rPr>
                        <a:t>Why it matters</a:t>
                      </a:r>
                    </a:p>
                  </a:txBody>
                  <a:tcPr anchor="ctr" marL="91440">
                    <a:solidFill>
                      <a:srgbClr val="007BA4"/>
                    </a:solidFill>
                  </a:tcPr>
                </a:tc>
                <a:tc>
                  <a:txBody>
                    <a:bodyPr wrap="square"/>
                    <a:lstStyle/>
                    <a:p>
                      <a:r>
                        <a:rPr sz="1150" b="1">
                          <a:solidFill>
                            <a:srgbClr val="FFFFFF"/>
                          </a:solidFill>
                          <a:latin typeface="Segoe UI"/>
                        </a:rPr>
                        <a:t>Ideal profile</a:t>
                      </a:r>
                    </a:p>
                  </a:txBody>
                  <a:tcPr anchor="ctr" marL="91440">
                    <a:solidFill>
                      <a:srgbClr val="007BA4"/>
                    </a:solidFill>
                  </a:tcPr>
                </a:tc>
              </a:tr>
              <a:tr h="274320">
                <a:tc>
                  <a:txBody>
                    <a:bodyPr wrap="square"/>
                    <a:lstStyle/>
                    <a:p>
                      <a:r>
                        <a:rPr sz="1150" b="1">
                          <a:solidFill>
                            <a:srgbClr val="1A1A1A"/>
                          </a:solidFill>
                          <a:latin typeface="Segoe UI"/>
                        </a:rPr>
                        <a:t>Ratio of structure to custom logic</a:t>
                      </a:r>
                    </a:p>
                  </a:txBody>
                  <a:tcPr anchor="ctr" marL="91440" marT="18288" marB="18288">
                    <a:solidFill>
                      <a:srgbClr val="FFFFFF"/>
                    </a:solidFill>
                  </a:tcPr>
                </a:tc>
                <a:tc>
                  <a:txBody>
                    <a:bodyPr wrap="square"/>
                    <a:lstStyle/>
                    <a:p>
                      <a:r>
                        <a:rPr sz="1150" b="0">
                          <a:solidFill>
                            <a:srgbClr val="3C3C3C"/>
                          </a:solidFill>
                          <a:latin typeface="Segoe UI"/>
                        </a:rPr>
                        <a:t>Structure automates; logic does not</a:t>
                      </a:r>
                    </a:p>
                  </a:txBody>
                  <a:tcPr anchor="ctr" marL="91440" marT="18288" marB="18288">
                    <a:solidFill>
                      <a:srgbClr val="FFFFFF"/>
                    </a:solidFill>
                  </a:tcPr>
                </a:tc>
                <a:tc>
                  <a:txBody>
                    <a:bodyPr wrap="square"/>
                    <a:lstStyle/>
                    <a:p>
                      <a:r>
                        <a:rPr sz="1150" b="0">
                          <a:solidFill>
                            <a:srgbClr val="3C3C3C"/>
                          </a:solidFill>
                          <a:latin typeface="Segoe UI"/>
                        </a:rPr>
                        <a:t>High stage and step count, few data transforms</a:t>
                      </a:r>
                    </a:p>
                  </a:txBody>
                  <a:tcPr anchor="ctr" marL="91440" marT="18288" marB="18288">
                    <a:solidFill>
                      <a:srgbClr val="FFFFFF"/>
                    </a:solidFill>
                  </a:tcPr>
                </a:tc>
              </a:tr>
              <a:tr h="274320">
                <a:tc>
                  <a:txBody>
                    <a:bodyPr wrap="square"/>
                    <a:lstStyle/>
                    <a:p>
                      <a:r>
                        <a:rPr sz="1150" b="1">
                          <a:solidFill>
                            <a:srgbClr val="1A1A1A"/>
                          </a:solidFill>
                          <a:latin typeface="Segoe UI"/>
                        </a:rPr>
                        <a:t>Decision table density</a:t>
                      </a:r>
                    </a:p>
                  </a:txBody>
                  <a:tcPr anchor="ctr" marL="91440" marT="18288" marB="18288">
                    <a:solidFill>
                      <a:srgbClr val="F4F5F7"/>
                    </a:solidFill>
                  </a:tcPr>
                </a:tc>
                <a:tc>
                  <a:txBody>
                    <a:bodyPr wrap="square"/>
                    <a:lstStyle/>
                    <a:p>
                      <a:r>
                        <a:rPr sz="1150" b="0">
                          <a:solidFill>
                            <a:srgbClr val="3C3C3C"/>
                          </a:solidFill>
                          <a:latin typeface="Segoe UI"/>
                        </a:rPr>
                        <a:t>Decision tables migrate at 100%</a:t>
                      </a:r>
                    </a:p>
                  </a:txBody>
                  <a:tcPr anchor="ctr" marL="91440" marT="18288" marB="18288">
                    <a:solidFill>
                      <a:srgbClr val="F4F5F7"/>
                    </a:solidFill>
                  </a:tcPr>
                </a:tc>
                <a:tc>
                  <a:txBody>
                    <a:bodyPr wrap="square"/>
                    <a:lstStyle/>
                    <a:p>
                      <a:r>
                        <a:rPr sz="1150" b="0">
                          <a:solidFill>
                            <a:srgbClr val="3C3C3C"/>
                          </a:solidFill>
                          <a:latin typeface="Segoe UI"/>
                        </a:rPr>
                        <a:t>Logic expressed as tables, not activities</a:t>
                      </a:r>
                    </a:p>
                  </a:txBody>
                  <a:tcPr anchor="ctr" marL="91440" marT="18288" marB="18288">
                    <a:solidFill>
                      <a:srgbClr val="F4F5F7"/>
                    </a:solidFill>
                  </a:tcPr>
                </a:tc>
              </a:tr>
              <a:tr h="274320">
                <a:tc>
                  <a:txBody>
                    <a:bodyPr wrap="square"/>
                    <a:lstStyle/>
                    <a:p>
                      <a:r>
                        <a:rPr sz="1150" b="1">
                          <a:solidFill>
                            <a:srgbClr val="1A1A1A"/>
                          </a:solidFill>
                          <a:latin typeface="Segoe UI"/>
                        </a:rPr>
                        <a:t>Integration surface</a:t>
                      </a:r>
                    </a:p>
                  </a:txBody>
                  <a:tcPr anchor="ctr" marL="91440" marT="18288" marB="18288">
                    <a:solidFill>
                      <a:srgbClr val="FFFFFF"/>
                    </a:solidFill>
                  </a:tcPr>
                </a:tc>
                <a:tc>
                  <a:txBody>
                    <a:bodyPr wrap="square"/>
                    <a:lstStyle/>
                    <a:p>
                      <a:r>
                        <a:rPr sz="1150" b="0">
                          <a:solidFill>
                            <a:srgbClr val="3C3C3C"/>
                          </a:solidFill>
                          <a:latin typeface="Segoe UI"/>
                        </a:rPr>
                        <a:t>Each integration is bespoke work</a:t>
                      </a:r>
                    </a:p>
                  </a:txBody>
                  <a:tcPr anchor="ctr" marL="91440" marT="18288" marB="18288">
                    <a:solidFill>
                      <a:srgbClr val="FFFFFF"/>
                    </a:solidFill>
                  </a:tcPr>
                </a:tc>
                <a:tc>
                  <a:txBody>
                    <a:bodyPr wrap="square"/>
                    <a:lstStyle/>
                    <a:p>
                      <a:r>
                        <a:rPr sz="1150" b="0">
                          <a:solidFill>
                            <a:srgbClr val="3C3C3C"/>
                          </a:solidFill>
                          <a:latin typeface="Segoe UI"/>
                        </a:rPr>
                        <a:t>Few external system dependencies</a:t>
                      </a:r>
                    </a:p>
                  </a:txBody>
                  <a:tcPr anchor="ctr" marL="91440" marT="18288" marB="18288">
                    <a:solidFill>
                      <a:srgbClr val="FFFFFF"/>
                    </a:solidFill>
                  </a:tcPr>
                </a:tc>
              </a:tr>
              <a:tr h="274320">
                <a:tc>
                  <a:txBody>
                    <a:bodyPr wrap="square"/>
                    <a:lstStyle/>
                    <a:p>
                      <a:r>
                        <a:rPr sz="1150" b="1">
                          <a:solidFill>
                            <a:srgbClr val="1A1A1A"/>
                          </a:solidFill>
                          <a:latin typeface="Segoe UI"/>
                        </a:rPr>
                        <a:t>Security complexity</a:t>
                      </a:r>
                    </a:p>
                  </a:txBody>
                  <a:tcPr anchor="ctr" marL="91440" marT="18288" marB="18288">
                    <a:solidFill>
                      <a:srgbClr val="F4F5F7"/>
                    </a:solidFill>
                  </a:tcPr>
                </a:tc>
                <a:tc>
                  <a:txBody>
                    <a:bodyPr wrap="square"/>
                    <a:lstStyle/>
                    <a:p>
                      <a:r>
                        <a:rPr sz="1150" b="0">
                          <a:solidFill>
                            <a:srgbClr val="3C3C3C"/>
                          </a:solidFill>
                          <a:latin typeface="Segoe UI"/>
                        </a:rPr>
                        <a:t>Pega and Dataverse models differ structurally</a:t>
                      </a:r>
                    </a:p>
                  </a:txBody>
                  <a:tcPr anchor="ctr" marL="91440" marT="18288" marB="18288">
                    <a:solidFill>
                      <a:srgbClr val="F4F5F7"/>
                    </a:solidFill>
                  </a:tcPr>
                </a:tc>
                <a:tc>
                  <a:txBody>
                    <a:bodyPr wrap="square"/>
                    <a:lstStyle/>
                    <a:p>
                      <a:r>
                        <a:rPr sz="1150" b="0">
                          <a:solidFill>
                            <a:srgbClr val="3C3C3C"/>
                          </a:solidFill>
                          <a:latin typeface="Segoe UI"/>
                        </a:rPr>
                        <a:t>Small number of access groups</a:t>
                      </a:r>
                    </a:p>
                  </a:txBody>
                  <a:tcPr anchor="ctr" marL="91440" marT="18288" marB="18288">
                    <a:solidFill>
                      <a:srgbClr val="F4F5F7"/>
                    </a:solidFill>
                  </a:tcPr>
                </a:tc>
              </a:tr>
              <a:tr h="274320">
                <a:tc>
                  <a:txBody>
                    <a:bodyPr wrap="square"/>
                    <a:lstStyle/>
                    <a:p>
                      <a:r>
                        <a:rPr sz="1150" b="1">
                          <a:solidFill>
                            <a:srgbClr val="1A1A1A"/>
                          </a:solidFill>
                          <a:latin typeface="Segoe UI"/>
                        </a:rPr>
                        <a:t>Artefact availability</a:t>
                      </a:r>
                    </a:p>
                  </a:txBody>
                  <a:tcPr anchor="ctr" marL="91440" marT="18288" marB="18288">
                    <a:solidFill>
                      <a:srgbClr val="FFFFFF"/>
                    </a:solidFill>
                  </a:tcPr>
                </a:tc>
                <a:tc>
                  <a:txBody>
                    <a:bodyPr wrap="square"/>
                    <a:lstStyle/>
                    <a:p>
                      <a:r>
                        <a:rPr sz="1150" b="0">
                          <a:solidFill>
                            <a:srgbClr val="3C3C3C"/>
                          </a:solidFill>
                          <a:latin typeface="Segoe UI"/>
                        </a:rPr>
                        <a:t>Determines how little business time is needed</a:t>
                      </a:r>
                    </a:p>
                  </a:txBody>
                  <a:tcPr anchor="ctr" marL="91440" marT="18288" marB="18288">
                    <a:solidFill>
                      <a:srgbClr val="FFFFFF"/>
                    </a:solidFill>
                  </a:tcPr>
                </a:tc>
                <a:tc>
                  <a:txBody>
                    <a:bodyPr wrap="square"/>
                    <a:lstStyle/>
                    <a:p>
                      <a:r>
                        <a:rPr sz="1150" b="1">
                          <a:solidFill>
                            <a:srgbClr val="1A1A1A"/>
                          </a:solidFill>
                          <a:latin typeface="Segoe UI"/>
                        </a:rPr>
                        <a:t>Export, docs and DX API sandbox all obtainable</a:t>
                      </a:r>
                    </a:p>
                  </a:txBody>
                  <a:tcPr anchor="ctr" marL="91440" marT="18288" marB="18288">
                    <a:solidFill>
                      <a:srgbClr val="FFFFFF"/>
                    </a:solidFill>
                  </a:tcPr>
                </a:tc>
              </a:tr>
              <a:tr h="274320">
                <a:tc>
                  <a:txBody>
                    <a:bodyPr wrap="square"/>
                    <a:lstStyle/>
                    <a:p>
                      <a:r>
                        <a:rPr sz="1150" b="1">
                          <a:solidFill>
                            <a:srgbClr val="1A1A1A"/>
                          </a:solidFill>
                          <a:latin typeface="Segoe UI"/>
                        </a:rPr>
                        <a:t>In-flight case volume</a:t>
                      </a:r>
                    </a:p>
                  </a:txBody>
                  <a:tcPr anchor="ctr" marL="91440" marT="18288" marB="18288">
                    <a:solidFill>
                      <a:srgbClr val="F4F5F7"/>
                    </a:solidFill>
                  </a:tcPr>
                </a:tc>
                <a:tc>
                  <a:txBody>
                    <a:bodyPr wrap="square"/>
                    <a:lstStyle/>
                    <a:p>
                      <a:r>
                        <a:rPr sz="1150" b="0">
                          <a:solidFill>
                            <a:srgbClr val="3C3C3C"/>
                          </a:solidFill>
                          <a:latin typeface="Segoe UI"/>
                        </a:rPr>
                        <a:t>Cutover complexity scales with it</a:t>
                      </a:r>
                    </a:p>
                  </a:txBody>
                  <a:tcPr anchor="ctr" marL="91440" marT="18288" marB="18288">
                    <a:solidFill>
                      <a:srgbClr val="F4F5F7"/>
                    </a:solidFill>
                  </a:tcPr>
                </a:tc>
                <a:tc>
                  <a:txBody>
                    <a:bodyPr wrap="square"/>
                    <a:lstStyle/>
                    <a:p>
                      <a:r>
                        <a:rPr sz="1150" b="0">
                          <a:solidFill>
                            <a:srgbClr val="3C3C3C"/>
                          </a:solidFill>
                          <a:latin typeface="Segoe UI"/>
                        </a:rPr>
                        <a:t>Short-lived cases that can be drained</a:t>
                      </a:r>
                    </a:p>
                  </a:txBody>
                  <a:tcPr anchor="ctr" marL="91440" marT="18288" marB="18288">
                    <a:solidFill>
                      <a:srgbClr val="F4F5F7"/>
                    </a:solidFill>
                  </a:tcPr>
                </a:tc>
              </a:tr>
            </a:tbl>
          </a:graphicData>
        </a:graphic>
      </p:graphicFrame>
      <p:sp>
        <p:nvSpPr>
          <p:cNvPr id="6" name="TextBox 5"/>
          <p:cNvSpPr txBox="1"/>
          <p:nvPr/>
        </p:nvSpPr>
        <p:spPr>
          <a:xfrm>
            <a:off x="566928" y="4709160"/>
            <a:ext cx="11064240" cy="1176528"/>
          </a:xfrm>
          <a:prstGeom prst="rect">
            <a:avLst/>
          </a:prstGeom>
          <a:noFill/>
        </p:spPr>
        <p:txBody>
          <a:bodyPr wrap="square">
            <a:spAutoFit/>
          </a:bodyPr>
          <a:lstStyle/>
          <a:p>
            <a:pPr algn="l">
              <a:spcBef>
                <a:spcPts val="0"/>
              </a:spcBef>
              <a:spcAft>
                <a:spcPts val="600"/>
              </a:spcAft>
            </a:pPr>
            <a:r>
              <a:rPr sz="1300" b="1" i="0">
                <a:solidFill>
                  <a:srgbClr val="1A1A1A"/>
                </a:solidFill>
                <a:latin typeface="Segoe UI"/>
              </a:rPr>
              <a:t>Suggested sequence</a:t>
            </a:r>
          </a:p>
          <a:p>
            <a:pPr algn="l">
              <a:spcBef>
                <a:spcPts val="0"/>
              </a:spcBef>
              <a:spcAft>
                <a:spcPts val="600"/>
              </a:spcAft>
            </a:pPr>
            <a:r>
              <a:rPr sz="1300" b="0" i="0">
                <a:solidFill>
                  <a:srgbClr val="1A1A1A"/>
                </a:solidFill>
                <a:latin typeface="Segoe UI"/>
              </a:rPr>
              <a:t>•  1.  Lending Due Diligence - already proven, assets in place</a:t>
            </a:r>
          </a:p>
          <a:p>
            <a:pPr algn="l">
              <a:spcBef>
                <a:spcPts val="0"/>
              </a:spcBef>
              <a:spcAft>
                <a:spcPts val="600"/>
              </a:spcAft>
            </a:pPr>
            <a:r>
              <a:rPr sz="1300" b="0" i="0">
                <a:solidFill>
                  <a:srgbClr val="1A1A1A"/>
                </a:solidFill>
                <a:latin typeface="Segoe UI"/>
              </a:rPr>
              <a:t>•  2.  A second application sharing its data objects - maximises reuse</a:t>
            </a:r>
          </a:p>
          <a:p>
            <a:pPr algn="l">
              <a:spcBef>
                <a:spcPts val="0"/>
              </a:spcBef>
              <a:spcAft>
                <a:spcPts val="600"/>
              </a:spcAft>
            </a:pPr>
            <a:r>
              <a:rPr sz="1300" b="0" i="0">
                <a:solidFill>
                  <a:srgbClr val="1A1A1A"/>
                </a:solidFill>
                <a:latin typeface="Segoe UI"/>
              </a:rPr>
              <a:t>•  3.  Progressively higher-criticality applications as capability matures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Governance model</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926079"/>
                <a:gridCol w="8138159"/>
              </a:tblGrid>
              <a:tr h="347472">
                <a:tc>
                  <a:txBody>
                    <a:bodyPr wrap="square"/>
                    <a:lstStyle/>
                    <a:p>
                      <a:r>
                        <a:rPr sz="1150" b="1">
                          <a:solidFill>
                            <a:srgbClr val="FFFFFF"/>
                          </a:solidFill>
                          <a:latin typeface="Segoe UI"/>
                        </a:rPr>
                        <a:t>Area</a:t>
                      </a:r>
                    </a:p>
                  </a:txBody>
                  <a:tcPr anchor="ctr" marL="91440">
                    <a:solidFill>
                      <a:srgbClr val="007BA4"/>
                    </a:solidFill>
                  </a:tcPr>
                </a:tc>
                <a:tc>
                  <a:txBody>
                    <a:bodyPr wrap="square"/>
                    <a:lstStyle/>
                    <a:p>
                      <a:r>
                        <a:rPr sz="1150" b="1">
                          <a:solidFill>
                            <a:srgbClr val="FFFFFF"/>
                          </a:solidFill>
                          <a:latin typeface="Segoe UI"/>
                        </a:rPr>
                        <a:t>Recommendation</a:t>
                      </a:r>
                    </a:p>
                  </a:txBody>
                  <a:tcPr anchor="ctr" marL="91440">
                    <a:solidFill>
                      <a:srgbClr val="007BA4"/>
                    </a:solidFill>
                  </a:tcPr>
                </a:tc>
              </a:tr>
              <a:tr h="274320">
                <a:tc>
                  <a:txBody>
                    <a:bodyPr wrap="square"/>
                    <a:lstStyle/>
                    <a:p>
                      <a:r>
                        <a:rPr sz="1150" b="1">
                          <a:solidFill>
                            <a:srgbClr val="1A1A1A"/>
                          </a:solidFill>
                          <a:latin typeface="Segoe UI"/>
                        </a:rPr>
                        <a:t>Environment strategy</a:t>
                      </a:r>
                    </a:p>
                  </a:txBody>
                  <a:tcPr anchor="ctr" marL="91440" marT="18288" marB="18288">
                    <a:solidFill>
                      <a:srgbClr val="FFFFFF"/>
                    </a:solidFill>
                  </a:tcPr>
                </a:tc>
                <a:tc>
                  <a:txBody>
                    <a:bodyPr wrap="square"/>
                    <a:lstStyle/>
                    <a:p>
                      <a:r>
                        <a:rPr sz="1150" b="0">
                          <a:solidFill>
                            <a:srgbClr val="3C3C3C"/>
                          </a:solidFill>
                          <a:latin typeface="Segoe UI"/>
                        </a:rPr>
                        <a:t>Dev, test and production with managed solutions; unmanaged only in dev</a:t>
                      </a:r>
                    </a:p>
                  </a:txBody>
                  <a:tcPr anchor="ctr" marL="91440" marT="18288" marB="18288">
                    <a:solidFill>
                      <a:srgbClr val="FFFFFF"/>
                    </a:solidFill>
                  </a:tcPr>
                </a:tc>
              </a:tr>
              <a:tr h="274320">
                <a:tc>
                  <a:txBody>
                    <a:bodyPr wrap="square"/>
                    <a:lstStyle/>
                    <a:p>
                      <a:r>
                        <a:rPr sz="1150" b="1">
                          <a:solidFill>
                            <a:srgbClr val="1A1A1A"/>
                          </a:solidFill>
                          <a:latin typeface="Segoe UI"/>
                        </a:rPr>
                        <a:t>Solution management</a:t>
                      </a:r>
                    </a:p>
                  </a:txBody>
                  <a:tcPr anchor="ctr" marL="91440" marT="18288" marB="18288">
                    <a:solidFill>
                      <a:srgbClr val="F4F5F7"/>
                    </a:solidFill>
                  </a:tcPr>
                </a:tc>
                <a:tc>
                  <a:txBody>
                    <a:bodyPr wrap="square"/>
                    <a:lstStyle/>
                    <a:p>
                      <a:r>
                        <a:rPr sz="1150" b="0">
                          <a:solidFill>
                            <a:srgbClr val="3C3C3C"/>
                          </a:solidFill>
                          <a:latin typeface="Segoe UI"/>
                        </a:rPr>
                        <a:t>Single solution per application; environment variables for org URLs</a:t>
                      </a:r>
                    </a:p>
                  </a:txBody>
                  <a:tcPr anchor="ctr" marL="91440" marT="18288" marB="18288">
                    <a:solidFill>
                      <a:srgbClr val="F4F5F7"/>
                    </a:solidFill>
                  </a:tcPr>
                </a:tc>
              </a:tr>
              <a:tr h="274320">
                <a:tc>
                  <a:txBody>
                    <a:bodyPr wrap="square"/>
                    <a:lstStyle/>
                    <a:p>
                      <a:r>
                        <a:rPr sz="1150" b="1">
                          <a:solidFill>
                            <a:srgbClr val="1A1A1A"/>
                          </a:solidFill>
                          <a:latin typeface="Segoe UI"/>
                        </a:rPr>
                        <a:t>Process configuration changes</a:t>
                      </a:r>
                    </a:p>
                  </a:txBody>
                  <a:tcPr anchor="ctr" marL="91440" marT="18288" marB="18288">
                    <a:solidFill>
                      <a:srgbClr val="FFFFFF"/>
                    </a:solidFill>
                  </a:tcPr>
                </a:tc>
                <a:tc>
                  <a:txBody>
                    <a:bodyPr wrap="square"/>
                    <a:lstStyle/>
                    <a:p>
                      <a:r>
                        <a:rPr sz="1150" b="0">
                          <a:solidFill>
                            <a:srgbClr val="3C3C3C"/>
                          </a:solidFill>
                          <a:latin typeface="Segoe UI"/>
                        </a:rPr>
                        <a:t>Treat configuration rows as controlled artefacts - re-seeded from source control, never hand-edited in production</a:t>
                      </a:r>
                    </a:p>
                  </a:txBody>
                  <a:tcPr anchor="ctr" marL="91440" marT="18288" marB="18288">
                    <a:solidFill>
                      <a:srgbClr val="FFFFFF"/>
                    </a:solidFill>
                  </a:tcPr>
                </a:tc>
              </a:tr>
              <a:tr h="274320">
                <a:tc>
                  <a:txBody>
                    <a:bodyPr wrap="square"/>
                    <a:lstStyle/>
                    <a:p>
                      <a:r>
                        <a:rPr sz="1150" b="1">
                          <a:solidFill>
                            <a:srgbClr val="1A1A1A"/>
                          </a:solidFill>
                          <a:latin typeface="Segoe UI"/>
                        </a:rPr>
                        <a:t>Extraction standard</a:t>
                      </a:r>
                    </a:p>
                  </a:txBody>
                  <a:tcPr anchor="ctr" marL="91440" marT="18288" marB="18288">
                    <a:solidFill>
                      <a:srgbClr val="F4F5F7"/>
                    </a:solidFill>
                  </a:tcPr>
                </a:tc>
                <a:tc>
                  <a:txBody>
                    <a:bodyPr wrap="square"/>
                    <a:lstStyle/>
                    <a:p>
                      <a:r>
                        <a:rPr sz="1150" b="0">
                          <a:solidFill>
                            <a:srgbClr val="3C3C3C"/>
                          </a:solidFill>
                          <a:latin typeface="Segoe UI"/>
                        </a:rPr>
                        <a:t>Mandate three-source extraction; the loader enforces this automatically</a:t>
                      </a:r>
                    </a:p>
                  </a:txBody>
                  <a:tcPr anchor="ctr" marL="91440" marT="18288" marB="18288">
                    <a:solidFill>
                      <a:srgbClr val="F4F5F7"/>
                    </a:solidFill>
                  </a:tcPr>
                </a:tc>
              </a:tr>
              <a:tr h="274320">
                <a:tc>
                  <a:txBody>
                    <a:bodyPr wrap="square"/>
                    <a:lstStyle/>
                    <a:p>
                      <a:r>
                        <a:rPr sz="1150" b="1">
                          <a:solidFill>
                            <a:srgbClr val="1A1A1A"/>
                          </a:solidFill>
                          <a:latin typeface="Segoe UI"/>
                        </a:rPr>
                        <a:t>Verification gate</a:t>
                      </a:r>
                    </a:p>
                  </a:txBody>
                  <a:tcPr anchor="ctr" marL="91440" marT="18288" marB="18288">
                    <a:solidFill>
                      <a:srgbClr val="FFFFFF"/>
                    </a:solidFill>
                  </a:tcPr>
                </a:tc>
                <a:tc>
                  <a:txBody>
                    <a:bodyPr wrap="square"/>
                    <a:lstStyle/>
                    <a:p>
                      <a:r>
                        <a:rPr sz="1150" b="0">
                          <a:solidFill>
                            <a:srgbClr val="3C3C3C"/>
                          </a:solidFill>
                          <a:latin typeface="Segoe UI"/>
                        </a:rPr>
                        <a:t>Every application ships with a lifecycle harness; green is a release condition</a:t>
                      </a:r>
                    </a:p>
                  </a:txBody>
                  <a:tcPr anchor="ctr" marL="91440" marT="18288" marB="18288">
                    <a:solidFill>
                      <a:srgbClr val="FFFFFF"/>
                    </a:solidFill>
                  </a:tcPr>
                </a:tc>
              </a:tr>
              <a:tr h="274320">
                <a:tc>
                  <a:txBody>
                    <a:bodyPr wrap="square"/>
                    <a:lstStyle/>
                    <a:p>
                      <a:r>
                        <a:rPr sz="1150" b="1">
                          <a:solidFill>
                            <a:srgbClr val="1A1A1A"/>
                          </a:solidFill>
                          <a:latin typeface="Segoe UI"/>
                        </a:rPr>
                        <a:t>Code standards</a:t>
                      </a:r>
                    </a:p>
                  </a:txBody>
                  <a:tcPr anchor="ctr" marL="91440" marT="18288" marB="18288">
                    <a:solidFill>
                      <a:srgbClr val="F4F5F7"/>
                    </a:solidFill>
                  </a:tcPr>
                </a:tc>
                <a:tc>
                  <a:txBody>
                    <a:bodyPr wrap="square"/>
                    <a:lstStyle/>
                    <a:p>
                      <a:r>
                        <a:rPr sz="1150" b="0">
                          <a:solidFill>
                            <a:srgbClr val="3C3C3C"/>
                          </a:solidFill>
                          <a:latin typeface="Segoe UI"/>
                        </a:rPr>
                        <a:t>Keep the engine pure and side-effect free - it is what makes verification possible</a:t>
                      </a:r>
                    </a:p>
                  </a:txBody>
                  <a:tcPr anchor="ctr" marL="91440" marT="18288" marB="18288">
                    <a:solidFill>
                      <a:srgbClr val="F4F5F7"/>
                    </a:solidFill>
                  </a:tcPr>
                </a:tc>
              </a:tr>
              <a:tr h="274320">
                <a:tc>
                  <a:txBody>
                    <a:bodyPr wrap="square"/>
                    <a:lstStyle/>
                    <a:p>
                      <a:r>
                        <a:rPr sz="1150" b="1">
                          <a:solidFill>
                            <a:srgbClr val="1A1A1A"/>
                          </a:solidFill>
                          <a:latin typeface="Segoe UI"/>
                        </a:rPr>
                        <a:t>Security review</a:t>
                      </a:r>
                    </a:p>
                  </a:txBody>
                  <a:tcPr anchor="ctr" marL="91440" marT="18288" marB="18288">
                    <a:solidFill>
                      <a:srgbClr val="FFFFFF"/>
                    </a:solidFill>
                  </a:tcPr>
                </a:tc>
                <a:tc>
                  <a:txBody>
                    <a:bodyPr wrap="square"/>
                    <a:lstStyle/>
                    <a:p>
                      <a:r>
                        <a:rPr sz="1150" b="0">
                          <a:solidFill>
                            <a:srgbClr val="3C3C3C"/>
                          </a:solidFill>
                          <a:latin typeface="Segoe UI"/>
                        </a:rPr>
                        <a:t>Role and team model signed off by security before build</a:t>
                      </a:r>
                    </a:p>
                  </a:txBody>
                  <a:tcPr anchor="ctr" marL="91440" marT="18288" marB="18288">
                    <a:solidFill>
                      <a:srgbClr val="FFFFFF"/>
                    </a:solidFill>
                  </a:tcPr>
                </a:tc>
              </a:tr>
              <a:tr h="274320">
                <a:tc>
                  <a:txBody>
                    <a:bodyPr wrap="square"/>
                    <a:lstStyle/>
                    <a:p>
                      <a:r>
                        <a:rPr sz="1150" b="1">
                          <a:solidFill>
                            <a:srgbClr val="1A1A1A"/>
                          </a:solidFill>
                          <a:latin typeface="Segoe UI"/>
                        </a:rPr>
                        <a:t>Reusable asset ownership</a:t>
                      </a:r>
                    </a:p>
                  </a:txBody>
                  <a:tcPr anchor="ctr" marL="91440" marT="18288" marB="18288">
                    <a:solidFill>
                      <a:srgbClr val="F4F5F7"/>
                    </a:solidFill>
                  </a:tcPr>
                </a:tc>
                <a:tc>
                  <a:txBody>
                    <a:bodyPr wrap="square"/>
                    <a:lstStyle/>
                    <a:p>
                      <a:r>
                        <a:rPr sz="1150" b="0">
                          <a:solidFill>
                            <a:srgbClr val="3C3C3C"/>
                          </a:solidFill>
                          <a:latin typeface="Segoe UI"/>
                        </a:rPr>
                        <a:t>Nominate an owner for the shared engine, forms and pipeline</a:t>
                      </a:r>
                    </a:p>
                  </a:txBody>
                  <a:tcPr anchor="ctr" marL="91440" marT="18288" marB="18288">
                    <a:solidFill>
                      <a:srgbClr val="F4F5F7"/>
                    </a:solidFill>
                  </a:tcPr>
                </a:tc>
              </a:tr>
            </a:tbl>
          </a:graphicData>
        </a:graphic>
      </p:graphicFrame>
      <p:sp>
        <p:nvSpPr>
          <p:cNvPr id="6" name="Rectangle 5"/>
          <p:cNvSpPr/>
          <p:nvPr/>
        </p:nvSpPr>
        <p:spPr>
          <a:xfrm>
            <a:off x="566928" y="455523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55235"/>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4667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single highest-value governance rule: process configuration is code. Version it, review it and re-seed it - never edit it directly in production.</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Proposed production approach</a:t>
            </a:r>
          </a:p>
        </p:txBody>
      </p:sp>
      <p:sp>
        <p:nvSpPr>
          <p:cNvPr id="5" name="TextBox 4"/>
          <p:cNvSpPr txBox="1"/>
          <p:nvPr/>
        </p:nvSpPr>
        <p:spPr>
          <a:xfrm>
            <a:off x="566928" y="1444752"/>
            <a:ext cx="11064240" cy="3537204"/>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Delivery model</a:t>
            </a:r>
          </a:p>
          <a:p>
            <a:pPr algn="l">
              <a:spcBef>
                <a:spcPts val="0"/>
              </a:spcBef>
              <a:spcAft>
                <a:spcPts val="650"/>
              </a:spcAft>
            </a:pPr>
            <a:r>
              <a:rPr sz="1350" b="0" i="0">
                <a:solidFill>
                  <a:srgbClr val="1A1A1A"/>
                </a:solidFill>
                <a:latin typeface="Segoe UI"/>
              </a:rPr>
              <a:t>•  Application-by-application, with each migration strengthening the shared asset library rather than being a one-off.</a:t>
            </a:r>
          </a:p>
          <a:p>
            <a:pPr algn="l">
              <a:spcBef>
                <a:spcPts val="800"/>
              </a:spcBef>
              <a:spcAft>
                <a:spcPts val="650"/>
              </a:spcAft>
            </a:pPr>
            <a:r>
              <a:rPr sz="1350" b="1" i="0">
                <a:solidFill>
                  <a:srgbClr val="1A1A1A"/>
                </a:solidFill>
                <a:latin typeface="Segoe UI"/>
              </a:rPr>
              <a:t>Cutover strategy - recommended</a:t>
            </a:r>
          </a:p>
          <a:p>
            <a:pPr algn="l">
              <a:spcBef>
                <a:spcPts val="0"/>
              </a:spcBef>
              <a:spcAft>
                <a:spcPts val="650"/>
              </a:spcAft>
            </a:pPr>
            <a:r>
              <a:rPr sz="1350" b="0" i="0">
                <a:solidFill>
                  <a:srgbClr val="1A1A1A"/>
                </a:solidFill>
                <a:latin typeface="Segoe UI"/>
              </a:rPr>
              <a:t>•  Drain and switch. Stop creating new Pega cases, allow in-flight cases to complete on Pega, and run new cases on the Power Platform. This avoids in-flight data migration entirely and is why it is assumption 6.</a:t>
            </a:r>
          </a:p>
          <a:p>
            <a:pPr algn="l">
              <a:spcBef>
                <a:spcPts val="800"/>
              </a:spcBef>
              <a:spcAft>
                <a:spcPts val="650"/>
              </a:spcAft>
            </a:pPr>
            <a:r>
              <a:rPr sz="1350" b="1" i="0">
                <a:solidFill>
                  <a:srgbClr val="1A1A1A"/>
                </a:solidFill>
                <a:latin typeface="Segoe UI"/>
              </a:rPr>
              <a:t>Alternatives if draining is not viable</a:t>
            </a:r>
          </a:p>
          <a:p>
            <a:pPr algn="l">
              <a:spcBef>
                <a:spcPts val="0"/>
              </a:spcBef>
              <a:spcAft>
                <a:spcPts val="650"/>
              </a:spcAft>
            </a:pPr>
            <a:r>
              <a:rPr sz="1350" b="0" i="0">
                <a:solidFill>
                  <a:srgbClr val="1A1A1A"/>
                </a:solidFill>
                <a:latin typeface="Segoe UI"/>
              </a:rPr>
              <a:t>•  Dual-run with reconciliation - higher assurance, materially higher cost</a:t>
            </a:r>
          </a:p>
          <a:p>
            <a:pPr algn="l">
              <a:spcBef>
                <a:spcPts val="0"/>
              </a:spcBef>
              <a:spcAft>
                <a:spcPts val="650"/>
              </a:spcAft>
            </a:pPr>
            <a:r>
              <a:rPr sz="1350" b="0" i="0">
                <a:solidFill>
                  <a:srgbClr val="1A1A1A"/>
                </a:solidFill>
                <a:latin typeface="Segoe UI"/>
              </a:rPr>
              <a:t>•  Migrate in-flight cases - needs stage and step mapping per case and carries the highest risk</a:t>
            </a:r>
          </a:p>
          <a:p>
            <a:pPr algn="l">
              <a:spcBef>
                <a:spcPts val="800"/>
              </a:spcBef>
              <a:spcAft>
                <a:spcPts val="650"/>
              </a:spcAft>
            </a:pPr>
            <a:r>
              <a:rPr sz="1350" b="1" i="0">
                <a:solidFill>
                  <a:srgbClr val="1A1A1A"/>
                </a:solidFill>
                <a:latin typeface="Segoe UI"/>
              </a:rPr>
              <a:t>Operating model</a:t>
            </a:r>
          </a:p>
          <a:p>
            <a:pPr algn="l">
              <a:spcBef>
                <a:spcPts val="0"/>
              </a:spcBef>
              <a:spcAft>
                <a:spcPts val="650"/>
              </a:spcAft>
            </a:pPr>
            <a:r>
              <a:rPr sz="1350" b="0" i="0">
                <a:solidFill>
                  <a:srgbClr val="1A1A1A"/>
                </a:solidFill>
                <a:latin typeface="Segoe UI"/>
              </a:rPr>
              <a:t>•  Business analysts own process configuration; engineers own the engine and integrations. This split is what the metadata-driven architecture enables.</a:t>
            </a:r>
          </a:p>
        </p:txBody>
      </p:sp>
      <p:sp>
        <p:nvSpPr>
          <p:cNvPr id="6" name="Rectangle 5"/>
          <p:cNvSpPr/>
          <p:nvPr/>
        </p:nvSpPr>
        <p:spPr>
          <a:xfrm>
            <a:off x="566928" y="525627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256276"/>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34771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Drain and switch is strongly preferred. In-flight migration was the single largest risk identified and is avoidable by sequencing.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11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Appendix</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Mapping detail, artefacts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step kinds</a:t>
            </a:r>
          </a:p>
        </p:txBody>
      </p:sp>
      <p:graphicFrame>
        <p:nvGraphicFramePr>
          <p:cNvPr id="5" name="Table 4"/>
          <p:cNvGraphicFramePr>
            <a:graphicFrameLocks noGrp="1"/>
          </p:cNvGraphicFramePr>
          <p:nvPr/>
        </p:nvGraphicFramePr>
        <p:xfrm>
          <a:off x="566928" y="1554480"/>
          <a:ext cx="11064239" cy="3090672"/>
        </p:xfrm>
        <a:graphic>
          <a:graphicData uri="http://schemas.openxmlformats.org/drawingml/2006/table">
            <a:tbl>
              <a:tblPr firstRow="1" bandRow="1">
                <a:tableStyleId>{5C22544A-7EE6-4342-B048-85BDC9FD1C3A}</a:tableStyleId>
              </a:tblPr>
              <a:tblGrid>
                <a:gridCol w="1924215"/>
                <a:gridCol w="3463588"/>
                <a:gridCol w="865897"/>
                <a:gridCol w="3078745"/>
                <a:gridCol w="1731794"/>
              </a:tblGrid>
              <a:tr h="347472">
                <a:tc>
                  <a:txBody>
                    <a:bodyPr wrap="square"/>
                    <a:lstStyle/>
                    <a:p>
                      <a:r>
                        <a:rPr sz="1150" b="1">
                          <a:solidFill>
                            <a:srgbClr val="FFFFFF"/>
                          </a:solidFill>
                          <a:latin typeface="Segoe UI"/>
                        </a:rPr>
                        <a:t>Pega step kind</a:t>
                      </a:r>
                    </a:p>
                  </a:txBody>
                  <a:tcPr anchor="ctr" marL="91440">
                    <a:solidFill>
                      <a:srgbClr val="007BA4"/>
                    </a:solidFill>
                  </a:tcPr>
                </a:tc>
                <a:tc>
                  <a:txBody>
                    <a:bodyPr wrap="square"/>
                    <a:lstStyle/>
                    <a:p>
                      <a:r>
                        <a:rPr sz="1150" b="1">
                          <a:solidFill>
                            <a:srgbClr val="FFFFFF"/>
                          </a:solidFill>
                          <a:latin typeface="Segoe UI"/>
                        </a:rPr>
                        <a:t>impl</a:t>
                      </a:r>
                    </a:p>
                  </a:txBody>
                  <a:tcPr anchor="ctr" marL="91440">
                    <a:solidFill>
                      <a:srgbClr val="007BA4"/>
                    </a:solidFill>
                  </a:tcPr>
                </a:tc>
                <a:tc>
                  <a:txBody>
                    <a:bodyPr wrap="square"/>
                    <a:lstStyle/>
                    <a:p>
                      <a:r>
                        <a:rPr sz="1150" b="1">
                          <a:solidFill>
                            <a:srgbClr val="FFFFFF"/>
                          </a:solidFill>
                          <a:latin typeface="Segoe UI"/>
                        </a:rPr>
                        <a:t>Count</a:t>
                      </a:r>
                    </a:p>
                  </a:txBody>
                  <a:tcPr anchor="ctr" marL="91440">
                    <a:solidFill>
                      <a:srgbClr val="007BA4"/>
                    </a:solidFill>
                  </a:tcPr>
                </a:tc>
                <a:tc>
                  <a:txBody>
                    <a:bodyPr wrap="square"/>
                    <a:lstStyle/>
                    <a:p>
                      <a:r>
                        <a:rPr sz="1150" b="1">
                          <a:solidFill>
                            <a:srgbClr val="FFFFFF"/>
                          </a:solidFill>
                          <a:latin typeface="Segoe UI"/>
                        </a:rPr>
                        <a:t>Engine action</a:t>
                      </a:r>
                    </a:p>
                  </a:txBody>
                  <a:tcPr anchor="ctr" marL="91440">
                    <a:solidFill>
                      <a:srgbClr val="007BA4"/>
                    </a:solidFill>
                  </a:tcPr>
                </a:tc>
                <a:tc>
                  <a:txBody>
                    <a:bodyPr wrap="square"/>
                    <a:lstStyle/>
                    <a:p>
                      <a:r>
                        <a:rPr sz="1150" b="1">
                          <a:solidFill>
                            <a:srgbClr val="FFFFFF"/>
                          </a:solidFill>
                          <a:latin typeface="Segoe UI"/>
                        </a:rPr>
                        <a:t>Status</a:t>
                      </a:r>
                    </a:p>
                  </a:txBody>
                  <a:tcPr anchor="ctr" marL="91440">
                    <a:solidFill>
                      <a:srgbClr val="007BA4"/>
                    </a:solidFill>
                  </a:tcPr>
                </a:tc>
              </a:tr>
              <a:tr h="274320">
                <a:tc>
                  <a:txBody>
                    <a:bodyPr wrap="square"/>
                    <a:lstStyle/>
                    <a:p>
                      <a:r>
                        <a:rPr sz="1150" b="1">
                          <a:solidFill>
                            <a:srgbClr val="1A1A1A"/>
                          </a:solidFill>
                          <a:latin typeface="Segoe UI"/>
                        </a:rPr>
                        <a:t>Assignment</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9</a:t>
                      </a:r>
                    </a:p>
                  </a:txBody>
                  <a:tcPr anchor="ctr" marL="91440" marT="18288" marB="18288">
                    <a:solidFill>
                      <a:srgbClr val="FFFFFF"/>
                    </a:solidFill>
                  </a:tcPr>
                </a:tc>
                <a:tc>
                  <a:txBody>
                    <a:bodyPr wrap="square"/>
                    <a:lstStyle/>
                    <a:p>
                      <a:r>
                        <a:rPr sz="1150" b="0">
                          <a:solidFill>
                            <a:srgbClr val="3C3C3C"/>
                          </a:solidFill>
                          <a:latin typeface="Segoe UI"/>
                        </a:rPr>
                        <a:t>createAssignment</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Assignment</a:t>
                      </a:r>
                    </a:p>
                  </a:txBody>
                  <a:tcPr anchor="ctr" marL="91440" marT="18288" marB="18288">
                    <a:solidFill>
                      <a:srgbClr val="F4F5F7"/>
                    </a:solidFill>
                  </a:tcPr>
                </a:tc>
                <a:tc>
                  <a:txBody>
                    <a:bodyPr wrap="square"/>
                    <a:lstStyle/>
                    <a:p>
                      <a:r>
                        <a:rPr sz="1150" b="0">
                          <a:solidFill>
                            <a:srgbClr val="3C3C3C"/>
                          </a:solidFill>
                          <a:latin typeface="Segoe UI"/>
                        </a:rPr>
                        <a:t>WorkBasket</a:t>
                      </a:r>
                    </a:p>
                  </a:txBody>
                  <a:tcPr anchor="ctr" marL="91440" marT="18288" marB="18288">
                    <a:solidFill>
                      <a:srgbClr val="F4F5F7"/>
                    </a:solidFill>
                  </a:tcPr>
                </a:tc>
                <a:tc>
                  <a:txBody>
                    <a:bodyPr wrap="square"/>
                    <a:lstStyle/>
                    <a:p>
                      <a:r>
                        <a:rPr sz="1150" b="0">
                          <a:solidFill>
                            <a:srgbClr val="3C3C3C"/>
                          </a:solidFill>
                          <a:latin typeface="Segoe UI"/>
                        </a:rPr>
                        <a:t>12</a:t>
                      </a:r>
                    </a:p>
                  </a:txBody>
                  <a:tcPr anchor="ctr" marL="91440" marT="18288" marB="18288">
                    <a:solidFill>
                      <a:srgbClr val="F4F5F7"/>
                    </a:solidFill>
                  </a:tcPr>
                </a:tc>
                <a:tc>
                  <a:txBody>
                    <a:bodyPr wrap="square"/>
                    <a:lstStyle/>
                    <a:p>
                      <a:r>
                        <a:rPr sz="1150" b="0">
                          <a:solidFill>
                            <a:srgbClr val="3C3C3C"/>
                          </a:solidFill>
                          <a:latin typeface="Segoe UI"/>
                        </a:rPr>
                        <a:t>createAssignment</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Sub-Process</a:t>
                      </a:r>
                    </a:p>
                  </a:txBody>
                  <a:tcPr anchor="ctr" marL="91440" marT="18288" marB="18288">
                    <a:solidFill>
                      <a:srgbClr val="FFFFFF"/>
                    </a:solidFill>
                  </a:tcPr>
                </a:tc>
                <a:tc>
                  <a:txBody>
                    <a:bodyPr wrap="square"/>
                    <a:lstStyle/>
                    <a:p>
                      <a:r>
                        <a:rPr sz="1150" b="0">
                          <a:solidFill>
                            <a:srgbClr val="3C3C3C"/>
                          </a:solidFill>
                          <a:latin typeface="Segoe UI"/>
                        </a:rPr>
                        <a:t>pxApproval</a:t>
                      </a:r>
                    </a:p>
                  </a:txBody>
                  <a:tcPr anchor="ctr" marL="91440" marT="18288" marB="18288">
                    <a:solidFill>
                      <a:srgbClr val="FFFFFF"/>
                    </a:solidFill>
                  </a:tcPr>
                </a:tc>
                <a:tc>
                  <a:txBody>
                    <a:bodyPr wrap="square"/>
                    <a:lstStyle/>
                    <a:p>
                      <a:r>
                        <a:rPr sz="1150" b="0">
                          <a:solidFill>
                            <a:srgbClr val="3C3C3C"/>
                          </a:solidFill>
                          <a:latin typeface="Segoe UI"/>
                        </a:rPr>
                        <a:t>4</a:t>
                      </a:r>
                    </a:p>
                  </a:txBody>
                  <a:tcPr anchor="ctr" marL="91440" marT="18288" marB="18288">
                    <a:solidFill>
                      <a:srgbClr val="FFFFFF"/>
                    </a:solidFill>
                  </a:tcPr>
                </a:tc>
                <a:tc>
                  <a:txBody>
                    <a:bodyPr wrap="square"/>
                    <a:lstStyle/>
                    <a:p>
                      <a:r>
                        <a:rPr sz="1150" b="0">
                          <a:solidFill>
                            <a:srgbClr val="3C3C3C"/>
                          </a:solidFill>
                          <a:latin typeface="Segoe UI"/>
                        </a:rPr>
                        <a:t>createApproval</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Decision</a:t>
                      </a:r>
                    </a:p>
                  </a:txBody>
                  <a:tcPr anchor="ctr" marL="91440" marT="18288" marB="18288">
                    <a:solidFill>
                      <a:srgbClr val="F4F5F7"/>
                    </a:solidFill>
                  </a:tcPr>
                </a:tc>
                <a:tc>
                  <a:txBody>
                    <a:bodyPr wrap="square"/>
                    <a:lstStyle/>
                    <a:p>
                      <a:r>
                        <a:rPr sz="1150" b="0">
                          <a:solidFill>
                            <a:srgbClr val="3C3C3C"/>
                          </a:solidFill>
                          <a:latin typeface="Segoe UI"/>
                        </a:rPr>
                        <a:t>Decision table name</a:t>
                      </a:r>
                    </a:p>
                  </a:txBody>
                  <a:tcPr anchor="ctr" marL="91440" marT="18288" marB="18288">
                    <a:solidFill>
                      <a:srgbClr val="F4F5F7"/>
                    </a:solidFill>
                  </a:tcPr>
                </a:tc>
                <a:tc>
                  <a:txBody>
                    <a:bodyPr wrap="square"/>
                    <a:lstStyle/>
                    <a:p>
                      <a:r>
                        <a:rPr sz="1150" b="0">
                          <a:solidFill>
                            <a:srgbClr val="3C3C3C"/>
                          </a:solidFill>
                          <a:latin typeface="Segoe UI"/>
                        </a:rPr>
                        <a:t>7</a:t>
                      </a:r>
                    </a:p>
                  </a:txBody>
                  <a:tcPr anchor="ctr" marL="91440" marT="18288" marB="18288">
                    <a:solidFill>
                      <a:srgbClr val="F4F5F7"/>
                    </a:solidFill>
                  </a:tcPr>
                </a:tc>
                <a:tc>
                  <a:txBody>
                    <a:bodyPr wrap="square"/>
                    <a:lstStyle/>
                    <a:p>
                      <a:r>
                        <a:rPr sz="1150" b="0">
                          <a:solidFill>
                            <a:srgbClr val="3C3C3C"/>
                          </a:solidFill>
                          <a:latin typeface="Segoe UI"/>
                        </a:rPr>
                        <a:t>evaluateDecision</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pxChangeToNextStage</a:t>
                      </a:r>
                    </a:p>
                  </a:txBody>
                  <a:tcPr anchor="ctr" marL="91440" marT="18288" marB="18288">
                    <a:solidFill>
                      <a:srgbClr val="FFFFFF"/>
                    </a:solidFill>
                  </a:tcPr>
                </a:tc>
                <a:tc>
                  <a:txBody>
                    <a:bodyPr wrap="square"/>
                    <a:lstStyle/>
                    <a:p>
                      <a:r>
                        <a:rPr sz="1150" b="0">
                          <a:solidFill>
                            <a:srgbClr val="3C3C3C"/>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changeStage</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pxChangeToPreviousStage</a:t>
                      </a:r>
                    </a:p>
                  </a:txBody>
                  <a:tcPr anchor="ctr" marL="91440" marT="18288" marB="18288">
                    <a:solidFill>
                      <a:srgbClr val="F4F5F7"/>
                    </a:solidFill>
                  </a:tcPr>
                </a:tc>
                <a:tc>
                  <a:txBody>
                    <a:bodyPr wrap="square"/>
                    <a:lstStyle/>
                    <a:p>
                      <a:r>
                        <a:rPr sz="1150" b="0">
                          <a:solidFill>
                            <a:srgbClr val="3C3C3C"/>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changeStage (guarded)</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pxChangeToSpecifiedStage</a:t>
                      </a:r>
                    </a:p>
                  </a:txBody>
                  <a:tcPr anchor="ctr" marL="91440" marT="18288" marB="18288">
                    <a:solidFill>
                      <a:srgbClr val="FFFFFF"/>
                    </a:solidFill>
                  </a:tcPr>
                </a:tc>
                <a:tc>
                  <a:txBody>
                    <a:bodyPr wrap="square"/>
                    <a:lstStyle/>
                    <a:p>
                      <a:r>
                        <a:rPr sz="1150" b="0">
                          <a:solidFill>
                            <a:srgbClr val="3C3C3C"/>
                          </a:solidFill>
                          <a:latin typeface="Segoe UI"/>
                        </a:rPr>
                        <a:t>2</a:t>
                      </a:r>
                    </a:p>
                  </a:txBody>
                  <a:tcPr anchor="ctr" marL="91440" marT="18288" marB="18288">
                    <a:solidFill>
                      <a:srgbClr val="FFFFFF"/>
                    </a:solidFill>
                  </a:tcPr>
                </a:tc>
                <a:tc>
                  <a:txBody>
                    <a:bodyPr wrap="square"/>
                    <a:lstStyle/>
                    <a:p>
                      <a:r>
                        <a:rPr sz="1150" b="0">
                          <a:solidFill>
                            <a:srgbClr val="3C3C3C"/>
                          </a:solidFill>
                          <a:latin typeface="Segoe UI"/>
                        </a:rPr>
                        <a:t>changeStage (guarded)</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pzRunDataTransform</a:t>
                      </a:r>
                    </a:p>
                  </a:txBody>
                  <a:tcPr anchor="ctr" marL="91440" marT="18288" marB="18288">
                    <a:solidFill>
                      <a:srgbClr val="F4F5F7"/>
                    </a:solidFill>
                  </a:tcPr>
                </a:tc>
                <a:tc>
                  <a:txBody>
                    <a:bodyPr wrap="square"/>
                    <a:lstStyle/>
                    <a:p>
                      <a:r>
                        <a:rPr sz="1150" b="0">
                          <a:solidFill>
                            <a:srgbClr val="3C3C3C"/>
                          </a:solidFill>
                          <a:latin typeface="Segoe UI"/>
                        </a:rPr>
                        <a:t>20</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pzNotifyWrapper</a:t>
                      </a:r>
                    </a:p>
                  </a:txBody>
                  <a:tcPr anchor="ctr" marL="91440" marT="18288" marB="18288">
                    <a:solidFill>
                      <a:srgbClr val="FFFFFF"/>
                    </a:solidFill>
                  </a:tcPr>
                </a:tc>
                <a:tc>
                  <a:txBody>
                    <a:bodyPr wrap="square"/>
                    <a:lstStyle/>
                    <a:p>
                      <a:r>
                        <a:rPr sz="1150" b="0">
                          <a:solidFill>
                            <a:srgbClr val="3C3C3C"/>
                          </a:solidFill>
                          <a:latin typeface="Segoe UI"/>
                        </a:rPr>
                        <a:t>17</a:t>
                      </a:r>
                    </a:p>
                  </a:txBody>
                  <a:tcPr anchor="ctr" marL="91440" marT="18288" marB="18288">
                    <a:solidFill>
                      <a:srgbClr val="FFFFFF"/>
                    </a:solidFill>
                  </a:tcPr>
                </a:tc>
                <a:tc>
                  <a:txBody>
                    <a:bodyPr wrap="square"/>
                    <a:lstStyle/>
                    <a:p>
                      <a:r>
                        <a:rPr sz="1150" b="0">
                          <a:solidFill>
                            <a:srgbClr val="3C3C3C"/>
                          </a:solidFill>
                          <a:latin typeface="Segoe UI"/>
                        </a:rPr>
                        <a:t>runUtility</a:t>
                      </a:r>
                    </a:p>
                  </a:txBody>
                  <a:tcPr anchor="ctr" marL="91440" marT="18288" marB="18288">
                    <a:solidFill>
                      <a:srgbClr val="FFFFFF"/>
                    </a:solidFill>
                  </a:tcPr>
                </a:tc>
                <a:tc>
                  <a:txBody>
                    <a:bodyPr wrap="square"/>
                    <a:lstStyle/>
                    <a:p>
                      <a:r>
                        <a:rPr sz="1150" b="0">
                          <a:solidFill>
                            <a:srgbClr val="3C3C3C"/>
                          </a:solidFill>
                          <a:latin typeface="Segoe UI"/>
                        </a:rPr>
                        <a:t>Simulated</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pxGenerateAndAttachDocument</a:t>
                      </a:r>
                    </a:p>
                  </a:txBody>
                  <a:tcPr anchor="ctr" marL="91440" marT="18288" marB="18288">
                    <a:solidFill>
                      <a:srgbClr val="F4F5F7"/>
                    </a:solidFill>
                  </a:tcPr>
                </a:tc>
                <a:tc>
                  <a:txBody>
                    <a:bodyPr wrap="square"/>
                    <a:lstStyle/>
                    <a:p>
                      <a:r>
                        <a:rPr sz="1150" b="0">
                          <a:solidFill>
                            <a:srgbClr val="3C3C3C"/>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bl>
          </a:graphicData>
        </a:graphic>
      </p:graphicFrame>
      <p:sp>
        <p:nvSpPr>
          <p:cNvPr id="6" name="Rectangle 5"/>
          <p:cNvSpPr/>
          <p:nvPr/>
        </p:nvSpPr>
        <p:spPr>
          <a:xfrm>
            <a:off x="566928" y="4919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9471"/>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10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39 steps fully working, 41 simulated. Simulated steps are written to the audit trail so the lifecycle completes and the gap stays visible.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inferred stage guards</a:t>
            </a:r>
          </a:p>
        </p:txBody>
      </p:sp>
      <p:graphicFrame>
        <p:nvGraphicFramePr>
          <p:cNvPr id="5" name="Table 4"/>
          <p:cNvGraphicFramePr>
            <a:graphicFrameLocks noGrp="1"/>
          </p:cNvGraphicFramePr>
          <p:nvPr/>
        </p:nvGraphicFramePr>
        <p:xfrm>
          <a:off x="566928" y="1554480"/>
          <a:ext cx="11064239" cy="1444752"/>
        </p:xfrm>
        <a:graphic>
          <a:graphicData uri="http://schemas.openxmlformats.org/drawingml/2006/table">
            <a:tbl>
              <a:tblPr firstRow="1" bandRow="1">
                <a:tableStyleId>{5C22544A-7EE6-4342-B048-85BDC9FD1C3A}</a:tableStyleId>
              </a:tblPr>
              <a:tblGrid>
                <a:gridCol w="2194560"/>
                <a:gridCol w="914400"/>
                <a:gridCol w="2651760"/>
                <a:gridCol w="2103119"/>
                <a:gridCol w="3200400"/>
              </a:tblGrid>
              <a:tr h="347472">
                <a:tc>
                  <a:txBody>
                    <a:bodyPr wrap="square"/>
                    <a:lstStyle/>
                    <a:p>
                      <a:r>
                        <a:rPr sz="1100" b="1">
                          <a:solidFill>
                            <a:srgbClr val="FFFFFF"/>
                          </a:solidFill>
                          <a:latin typeface="Segoe UI"/>
                        </a:rPr>
                        <a:t>Case type</a:t>
                      </a:r>
                    </a:p>
                  </a:txBody>
                  <a:tcPr anchor="ctr" marL="91440">
                    <a:solidFill>
                      <a:srgbClr val="007BA4"/>
                    </a:solidFill>
                  </a:tcPr>
                </a:tc>
                <a:tc>
                  <a:txBody>
                    <a:bodyPr wrap="square"/>
                    <a:lstStyle/>
                    <a:p>
                      <a:r>
                        <a:rPr sz="1100" b="1">
                          <a:solidFill>
                            <a:srgbClr val="FFFFFF"/>
                          </a:solidFill>
                          <a:latin typeface="Segoe UI"/>
                        </a:rPr>
                        <a:t>Stage</a:t>
                      </a:r>
                    </a:p>
                  </a:txBody>
                  <a:tcPr anchor="ctr" marL="91440">
                    <a:solidFill>
                      <a:srgbClr val="007BA4"/>
                    </a:solidFill>
                  </a:tcPr>
                </a:tc>
                <a:tc>
                  <a:txBody>
                    <a:bodyPr wrap="square"/>
                    <a:lstStyle/>
                    <a:p>
                      <a:r>
                        <a:rPr sz="1100" b="1">
                          <a:solidFill>
                            <a:srgbClr val="FFFFFF"/>
                          </a:solidFill>
                          <a:latin typeface="Segoe UI"/>
                        </a:rPr>
                        <a:t>Step</a:t>
                      </a:r>
                    </a:p>
                  </a:txBody>
                  <a:tcPr anchor="ctr" marL="91440">
                    <a:solidFill>
                      <a:srgbClr val="007BA4"/>
                    </a:solidFill>
                  </a:tcPr>
                </a:tc>
                <a:tc>
                  <a:txBody>
                    <a:bodyPr wrap="square"/>
                    <a:lstStyle/>
                    <a:p>
                      <a:r>
                        <a:rPr sz="1100" b="1">
                          <a:solidFill>
                            <a:srgbClr val="FFFFFF"/>
                          </a:solidFill>
                          <a:latin typeface="Segoe UI"/>
                        </a:rPr>
                        <a:t>Guarding decision</a:t>
                      </a:r>
                    </a:p>
                  </a:txBody>
                  <a:tcPr anchor="ctr" marL="91440">
                    <a:solidFill>
                      <a:srgbClr val="007BA4"/>
                    </a:solidFill>
                  </a:tcPr>
                </a:tc>
                <a:tc>
                  <a:txBody>
                    <a:bodyPr wrap="square"/>
                    <a:lstStyle/>
                    <a:p>
                      <a:r>
                        <a:rPr sz="1100" b="1">
                          <a:solidFill>
                            <a:srgbClr val="FFFFFF"/>
                          </a:solidFill>
                          <a:latin typeface="Segoe UI"/>
                        </a:rPr>
                        <a:t>Fires on</a:t>
                      </a:r>
                    </a:p>
                  </a:txBody>
                  <a:tcPr anchor="ctr" marL="91440">
                    <a:solidFill>
                      <a:srgbClr val="007BA4"/>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PRIM2</a:t>
                      </a:r>
                    </a:p>
                  </a:txBody>
                  <a:tcPr anchor="ctr" marL="91440" marT="18288" marB="18288">
                    <a:solidFill>
                      <a:srgbClr val="FFFFFF"/>
                    </a:solidFill>
                  </a:tcPr>
                </a:tc>
                <a:tc>
                  <a:txBody>
                    <a:bodyPr wrap="square"/>
                    <a:lstStyle/>
                    <a:p>
                      <a:r>
                        <a:rPr sz="1100" b="0">
                          <a:solidFill>
                            <a:srgbClr val="3C3C3C"/>
                          </a:solidFill>
                          <a:latin typeface="Segoe UI"/>
                        </a:rPr>
                        <a:t>Change to specific stage</a:t>
                      </a:r>
                    </a:p>
                  </a:txBody>
                  <a:tcPr anchor="ctr" marL="91440" marT="18288" marB="18288">
                    <a:solidFill>
                      <a:srgbClr val="FFFFFF"/>
                    </a:solidFill>
                  </a:tcPr>
                </a:tc>
                <a:tc>
                  <a:txBody>
                    <a:bodyPr wrap="square"/>
                    <a:lstStyle/>
                    <a:p>
                      <a:r>
                        <a:rPr sz="1100" b="0">
                          <a:solidFill>
                            <a:srgbClr val="3C3C3C"/>
                          </a:solidFill>
                          <a:latin typeface="Segoe UI"/>
                        </a:rPr>
                        <a:t>DecisionOutcomes</a:t>
                      </a:r>
                    </a:p>
                  </a:txBody>
                  <a:tcPr anchor="ctr" marL="91440" marT="18288" marB="18288">
                    <a:solidFill>
                      <a:srgbClr val="FFFFFF"/>
                    </a:solidFill>
                  </a:tcPr>
                </a:tc>
                <a:tc>
                  <a:txBody>
                    <a:bodyPr wrap="square"/>
                    <a:lstStyle/>
                    <a:p>
                      <a:r>
                        <a:rPr sz="1100" b="0">
                          <a:solidFill>
                            <a:srgbClr val="3C3C3C"/>
                          </a:solidFill>
                          <a:latin typeface="Segoe UI"/>
                        </a:rPr>
                        <a:t>Escalate Immediately; Corrective Action</a:t>
                      </a:r>
                    </a:p>
                  </a:txBody>
                  <a:tcPr anchor="ctr" marL="91440" marT="18288" marB="18288">
                    <a:solidFill>
                      <a:srgbClr val="FFFFFF"/>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specific stage</a:t>
                      </a:r>
                    </a:p>
                  </a:txBody>
                  <a:tcPr anchor="ctr" marL="91440" marT="18288" marB="18288">
                    <a:solidFill>
                      <a:srgbClr val="F4F5F7"/>
                    </a:solidFill>
                  </a:tcPr>
                </a:tc>
                <a:tc>
                  <a:txBody>
                    <a:bodyPr wrap="square"/>
                    <a:lstStyle/>
                    <a:p>
                      <a:r>
                        <a:rPr sz="1100" b="0">
                          <a:solidFill>
                            <a:srgbClr val="3C3C3C"/>
                          </a:solidFill>
                          <a:latin typeface="Segoe UI"/>
                        </a:rPr>
                        <a:t>ValidateResolution</a:t>
                      </a:r>
                    </a:p>
                  </a:txBody>
                  <a:tcPr anchor="ctr" marL="91440" marT="18288" marB="18288">
                    <a:solidFill>
                      <a:srgbClr val="F4F5F7"/>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4F5F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PRIM4</a:t>
                      </a:r>
                    </a:p>
                  </a:txBody>
                  <a:tcPr anchor="ctr" marL="91440" marT="18288" marB="18288">
                    <a:solidFill>
                      <a:srgbClr val="FFFFFF"/>
                    </a:solidFill>
                  </a:tcPr>
                </a:tc>
                <a:tc>
                  <a:txBody>
                    <a:bodyPr wrap="square"/>
                    <a:lstStyle/>
                    <a:p>
                      <a:r>
                        <a:rPr sz="1100" b="0">
                          <a:solidFill>
                            <a:srgbClr val="3C3C3C"/>
                          </a:solidFill>
                          <a:latin typeface="Segoe UI"/>
                        </a:rPr>
                        <a:t>Change to previous stage</a:t>
                      </a:r>
                    </a:p>
                  </a:txBody>
                  <a:tcPr anchor="ctr" marL="91440" marT="18288" marB="18288">
                    <a:solidFill>
                      <a:srgbClr val="FFFFFF"/>
                    </a:solidFill>
                  </a:tcPr>
                </a:tc>
                <a:tc>
                  <a:txBody>
                    <a:bodyPr wrap="square"/>
                    <a:lstStyle/>
                    <a:p>
                      <a:r>
                        <a:rPr sz="1100" b="0">
                          <a:solidFill>
                            <a:srgbClr val="3C3C3C"/>
                          </a:solidFill>
                          <a:latin typeface="Segoe UI"/>
                        </a:rPr>
                        <a:t>ValidateResolution</a:t>
                      </a:r>
                    </a:p>
                  </a:txBody>
                  <a:tcPr anchor="ctr" marL="91440" marT="18288" marB="18288">
                    <a:solidFill>
                      <a:srgbClr val="FFFFFF"/>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FFFFF"/>
                    </a:solidFill>
                  </a:tcPr>
                </a:tc>
              </a:tr>
              <a:tr h="274320">
                <a:tc>
                  <a:txBody>
                    <a:bodyPr wrap="square"/>
                    <a:lstStyle/>
                    <a:p>
                      <a:r>
                        <a:rPr sz="1100" b="1">
                          <a:solidFill>
                            <a:srgbClr val="1A1A1A"/>
                          </a:solidFill>
                          <a:latin typeface="Segoe UI"/>
                        </a:rPr>
                        <a:t>Risk Assessment</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previous stage</a:t>
                      </a:r>
                    </a:p>
                  </a:txBody>
                  <a:tcPr anchor="ctr" marL="91440" marT="18288" marB="18288">
                    <a:solidFill>
                      <a:srgbClr val="F4F5F7"/>
                    </a:solidFill>
                  </a:tcPr>
                </a:tc>
                <a:tc>
                  <a:txBody>
                    <a:bodyPr wrap="square"/>
                    <a:lstStyle/>
                    <a:p>
                      <a:r>
                        <a:rPr sz="1100" b="0">
                          <a:solidFill>
                            <a:srgbClr val="3C3C3C"/>
                          </a:solidFill>
                          <a:latin typeface="Segoe UI"/>
                        </a:rPr>
                        <a:t>OutcomeDecision</a:t>
                      </a:r>
                    </a:p>
                  </a:txBody>
                  <a:tcPr anchor="ctr" marL="91440" marT="18288" marB="18288">
                    <a:solidFill>
                      <a:srgbClr val="F4F5F7"/>
                    </a:solidFill>
                  </a:tcPr>
                </a:tc>
                <a:tc>
                  <a:txBody>
                    <a:bodyPr wrap="square"/>
                    <a:lstStyle/>
                    <a:p>
                      <a:r>
                        <a:rPr sz="1100" b="0">
                          <a:solidFill>
                            <a:srgbClr val="3C3C3C"/>
                          </a:solidFill>
                          <a:latin typeface="Segoe UI"/>
                        </a:rPr>
                        <a:t>Escalated; Under Review; Pending Review</a:t>
                      </a:r>
                    </a:p>
                  </a:txBody>
                  <a:tcPr anchor="ctr" marL="91440" marT="18288" marB="18288">
                    <a:solidFill>
                      <a:srgbClr val="F4F5F7"/>
                    </a:solidFill>
                  </a:tcPr>
                </a:tc>
              </a:tr>
            </a:tbl>
          </a:graphicData>
        </a:graphic>
      </p:graphicFrame>
      <p:sp>
        <p:nvSpPr>
          <p:cNvPr id="6" name="TextBox 5"/>
          <p:cNvSpPr txBox="1"/>
          <p:nvPr/>
        </p:nvSpPr>
        <p:spPr>
          <a:xfrm>
            <a:off x="566928" y="3246120"/>
            <a:ext cx="11064240" cy="25463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How these were derived</a:t>
            </a:r>
          </a:p>
          <a:p>
            <a:pPr algn="l">
              <a:spcBef>
                <a:spcPts val="0"/>
              </a:spcBef>
              <a:spcAft>
                <a:spcPts val="600"/>
              </a:spcAft>
            </a:pPr>
            <a:r>
              <a:rPr sz="1250" b="0" i="0">
                <a:solidFill>
                  <a:srgbClr val="1A1A1A"/>
                </a:solidFill>
                <a:latin typeface="Segoe UI"/>
              </a:rPr>
              <a:t>•  For each backward stage-change step, the extractor walks back to the nearest preceding decision step, reads that table's actual result values, and allows the step to fire only on the non-terminal outcomes.</a:t>
            </a:r>
          </a:p>
          <a:p>
            <a:pPr algn="l">
              <a:spcBef>
                <a:spcPts val="800"/>
              </a:spcBef>
              <a:spcAft>
                <a:spcPts val="600"/>
              </a:spcAft>
            </a:pPr>
            <a:r>
              <a:rPr sz="1250" b="1" i="0">
                <a:solidFill>
                  <a:srgbClr val="1A1A1A"/>
                </a:solidFill>
                <a:latin typeface="Segoe UI"/>
              </a:rPr>
              <a:t>Why they are safe despite being inferred</a:t>
            </a:r>
          </a:p>
          <a:p>
            <a:pPr algn="l">
              <a:spcBef>
                <a:spcPts val="0"/>
              </a:spcBef>
              <a:spcAft>
                <a:spcPts val="600"/>
              </a:spcAft>
            </a:pPr>
            <a:r>
              <a:rPr sz="1250" b="0" i="0">
                <a:solidFill>
                  <a:srgbClr val="1A1A1A"/>
                </a:solidFill>
                <a:latin typeface="Segoe UI"/>
              </a:rPr>
              <a:t>•  A hard stage re-visit cap in the engine means a wrong guard degrades to a skipped step rather than an infinite loop. Both layers are required.</a:t>
            </a:r>
          </a:p>
          <a:p>
            <a:pPr algn="l">
              <a:spcBef>
                <a:spcPts val="800"/>
              </a:spcBef>
              <a:spcAft>
                <a:spcPts val="600"/>
              </a:spcAft>
            </a:pPr>
            <a:r>
              <a:rPr sz="1250" b="1" i="0">
                <a:solidFill>
                  <a:srgbClr val="1A1A1A"/>
                </a:solidFill>
                <a:latin typeface="Segoe UI"/>
              </a:rPr>
              <a:t>Phase 1 action</a:t>
            </a:r>
          </a:p>
          <a:p>
            <a:pPr algn="l">
              <a:spcBef>
                <a:spcPts val="0"/>
              </a:spcBef>
              <a:spcAft>
                <a:spcPts val="600"/>
              </a:spcAft>
            </a:pPr>
            <a:r>
              <a:rPr sz="1250" b="0" i="0">
                <a:solidFill>
                  <a:srgbClr val="1A1A1A"/>
                </a:solidFill>
                <a:latin typeface="Segoe UI"/>
              </a:rPr>
              <a:t>•  Extraction proved Pega has no conditional transitions, so these encode a business decision rather than a recovered rule. Confirm with SMEs; because guards are Dataverse rows it is a data edit, no redeploy.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Conversion artefacts produced</a:t>
            </a:r>
          </a:p>
        </p:txBody>
      </p:sp>
      <p:graphicFrame>
        <p:nvGraphicFramePr>
          <p:cNvPr id="5" name="Table 4"/>
          <p:cNvGraphicFramePr>
            <a:graphicFrameLocks noGrp="1"/>
          </p:cNvGraphicFramePr>
          <p:nvPr/>
        </p:nvGraphicFramePr>
        <p:xfrm>
          <a:off x="566928" y="1554480"/>
          <a:ext cx="11064240" cy="3090672"/>
        </p:xfrm>
        <a:graphic>
          <a:graphicData uri="http://schemas.openxmlformats.org/drawingml/2006/table">
            <a:tbl>
              <a:tblPr firstRow="1" bandRow="1">
                <a:tableStyleId>{5C22544A-7EE6-4342-B048-85BDC9FD1C3A}</a:tableStyleId>
              </a:tblPr>
              <a:tblGrid>
                <a:gridCol w="3017520"/>
                <a:gridCol w="5852160"/>
                <a:gridCol w="2194560"/>
              </a:tblGrid>
              <a:tr h="347472">
                <a:tc>
                  <a:txBody>
                    <a:bodyPr wrap="square"/>
                    <a:lstStyle/>
                    <a:p>
                      <a:r>
                        <a:rPr sz="1150" b="1">
                          <a:solidFill>
                            <a:srgbClr val="FFFFFF"/>
                          </a:solidFill>
                          <a:latin typeface="Segoe UI"/>
                        </a:rPr>
                        <a:t>Artefact</a:t>
                      </a:r>
                    </a:p>
                  </a:txBody>
                  <a:tcPr anchor="ctr" marL="91440">
                    <a:solidFill>
                      <a:srgbClr val="007BA4"/>
                    </a:solidFill>
                  </a:tcPr>
                </a:tc>
                <a:tc>
                  <a:txBody>
                    <a:bodyPr wrap="square"/>
                    <a:lstStyle/>
                    <a:p>
                      <a:r>
                        <a:rPr sz="1150" b="1">
                          <a:solidFill>
                            <a:srgbClr val="FFFFFF"/>
                          </a:solidFill>
                          <a:latin typeface="Segoe UI"/>
                        </a:rPr>
                        <a:t>Purpose</a:t>
                      </a:r>
                    </a:p>
                  </a:txBody>
                  <a:tcPr anchor="ctr" marL="91440">
                    <a:solidFill>
                      <a:srgbClr val="007BA4"/>
                    </a:solidFill>
                  </a:tcPr>
                </a:tc>
                <a:tc>
                  <a:txBody>
                    <a:bodyPr wrap="square"/>
                    <a:lstStyle/>
                    <a:p>
                      <a:r>
                        <a:rPr sz="1150" b="1">
                          <a:solidFill>
                            <a:srgbClr val="FFFFFF"/>
                          </a:solidFill>
                          <a:latin typeface="Segoe UI"/>
                        </a:rPr>
                        <a:t>Reusable</a:t>
                      </a:r>
                    </a:p>
                  </a:txBody>
                  <a:tcPr anchor="ctr" marL="91440">
                    <a:solidFill>
                      <a:srgbClr val="007BA4"/>
                    </a:solidFill>
                  </a:tcPr>
                </a:tc>
              </a:tr>
              <a:tr h="274320">
                <a:tc>
                  <a:txBody>
                    <a:bodyPr wrap="square"/>
                    <a:lstStyle/>
                    <a:p>
                      <a:r>
                        <a:rPr sz="1150" b="1">
                          <a:solidFill>
                            <a:srgbClr val="1A1A1A"/>
                          </a:solidFill>
                          <a:latin typeface="Segoe UI"/>
                        </a:rPr>
                        <a:t>extract-prototype.mjs</a:t>
                      </a:r>
                    </a:p>
                  </a:txBody>
                  <a:tcPr anchor="ctr" marL="91440" marT="18288" marB="18288">
                    <a:solidFill>
                      <a:srgbClr val="FFFFFF"/>
                    </a:solidFill>
                  </a:tcPr>
                </a:tc>
                <a:tc>
                  <a:txBody>
                    <a:bodyPr wrap="square"/>
                    <a:lstStyle/>
                    <a:p>
                      <a:r>
                        <a:rPr sz="1150" b="0">
                          <a:solidFill>
                            <a:srgbClr val="3C3C3C"/>
                          </a:solidFill>
                          <a:latin typeface="Segoe UI"/>
                        </a:rPr>
                        <a:t>Pega export to normalised config JSON</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seed-prototype.mjs</a:t>
                      </a:r>
                    </a:p>
                  </a:txBody>
                  <a:tcPr anchor="ctr" marL="91440" marT="18288" marB="18288">
                    <a:solidFill>
                      <a:srgbClr val="F4F5F7"/>
                    </a:solidFill>
                  </a:tcPr>
                </a:tc>
                <a:tc>
                  <a:txBody>
                    <a:bodyPr wrap="square"/>
                    <a:lstStyle/>
                    <a:p>
                      <a:r>
                        <a:rPr sz="1150" b="0">
                          <a:solidFill>
                            <a:srgbClr val="3C3C3C"/>
                          </a:solidFill>
                          <a:latin typeface="Segoe UI"/>
                        </a:rPr>
                        <a:t>Config JSON to Dataverse, idempotent</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schema-v2.mjs</a:t>
                      </a:r>
                    </a:p>
                  </a:txBody>
                  <a:tcPr anchor="ctr" marL="91440" marT="18288" marB="18288">
                    <a:solidFill>
                      <a:srgbClr val="FFFFFF"/>
                    </a:solidFill>
                  </a:tcPr>
                </a:tc>
                <a:tc>
                  <a:txBody>
                    <a:bodyPr wrap="square"/>
                    <a:lstStyle/>
                    <a:p>
                      <a:r>
                        <a:rPr sz="1150" b="0">
                          <a:solidFill>
                            <a:srgbClr val="3C3C3C"/>
                          </a:solidFill>
                          <a:latin typeface="Segoe UI"/>
                        </a:rPr>
                        <a:t>27-table Dataverse schema definition</a:t>
                      </a:r>
                    </a:p>
                  </a:txBody>
                  <a:tcPr anchor="ctr" marL="91440" marT="18288" marB="18288">
                    <a:solidFill>
                      <a:srgbClr val="FFFFFF"/>
                    </a:solidFill>
                  </a:tcPr>
                </a:tc>
                <a:tc>
                  <a:txBody>
                    <a:bodyPr wrap="square"/>
                    <a:lstStyle/>
                    <a:p>
                      <a:r>
                        <a:rPr sz="1150" b="0">
                          <a:solidFill>
                            <a:srgbClr val="3C3C3C"/>
                          </a:solidFill>
                          <a:latin typeface="Segoe UI"/>
                        </a:rPr>
                        <a:t>Template</a:t>
                      </a:r>
                    </a:p>
                  </a:txBody>
                  <a:tcPr anchor="ctr" marL="91440" marT="18288" marB="18288">
                    <a:solidFill>
                      <a:srgbClr val="FFFFFF"/>
                    </a:solidFill>
                  </a:tcPr>
                </a:tc>
              </a:tr>
              <a:tr h="274320">
                <a:tc>
                  <a:txBody>
                    <a:bodyPr wrap="square"/>
                    <a:lstStyle/>
                    <a:p>
                      <a:r>
                        <a:rPr sz="1150" b="1">
                          <a:solidFill>
                            <a:srgbClr val="1A1A1A"/>
                          </a:solidFill>
                          <a:latin typeface="Segoe UI"/>
                        </a:rPr>
                        <a:t>provision-dataverse.mjs</a:t>
                      </a:r>
                    </a:p>
                  </a:txBody>
                  <a:tcPr anchor="ctr" marL="91440" marT="18288" marB="18288">
                    <a:solidFill>
                      <a:srgbClr val="F4F5F7"/>
                    </a:solidFill>
                  </a:tcPr>
                </a:tc>
                <a:tc>
                  <a:txBody>
                    <a:bodyPr wrap="square"/>
                    <a:lstStyle/>
                    <a:p>
                      <a:r>
                        <a:rPr sz="1150" b="0">
                          <a:solidFill>
                            <a:srgbClr val="3C3C3C"/>
                          </a:solidFill>
                          <a:latin typeface="Segoe UI"/>
                        </a:rPr>
                        <a:t>Creates tables in the solution</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gen-detail-columns.mjs</a:t>
                      </a:r>
                    </a:p>
                  </a:txBody>
                  <a:tcPr anchor="ctr" marL="91440" marT="18288" marB="18288">
                    <a:solidFill>
                      <a:srgbClr val="FFFFFF"/>
                    </a:solidFill>
                  </a:tcPr>
                </a:tc>
                <a:tc>
                  <a:txBody>
                    <a:bodyPr wrap="square"/>
                    <a:lstStyle/>
                    <a:p>
                      <a:r>
                        <a:rPr sz="1150" b="0">
                          <a:solidFill>
                            <a:srgbClr val="3C3C3C"/>
                          </a:solidFill>
                          <a:latin typeface="Segoe UI"/>
                        </a:rPr>
                        <a:t>Generates typed detail column mappings</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verify-engine.mjs</a:t>
                      </a:r>
                    </a:p>
                  </a:txBody>
                  <a:tcPr anchor="ctr" marL="91440" marT="18288" marB="18288">
                    <a:solidFill>
                      <a:srgbClr val="F4F5F7"/>
                    </a:solidFill>
                  </a:tcPr>
                </a:tc>
                <a:tc>
                  <a:txBody>
                    <a:bodyPr wrap="square"/>
                    <a:lstStyle/>
                    <a:p>
                      <a:r>
                        <a:rPr sz="1150" b="0">
                          <a:solidFill>
                            <a:srgbClr val="3C3C3C"/>
                          </a:solidFill>
                          <a:latin typeface="Segoe UI"/>
                        </a:rPr>
                        <a:t>Live end-to-end verification, 58 checks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engine.ts</a:t>
                      </a:r>
                    </a:p>
                  </a:txBody>
                  <a:tcPr anchor="ctr" marL="91440" marT="18288" marB="18288">
                    <a:solidFill>
                      <a:srgbClr val="FFFFFF"/>
                    </a:solidFill>
                  </a:tcPr>
                </a:tc>
                <a:tc>
                  <a:txBody>
                    <a:bodyPr wrap="square"/>
                    <a:lstStyle/>
                    <a:p>
                      <a:r>
                        <a:rPr sz="1150" b="0">
                          <a:solidFill>
                            <a:srgbClr val="3C3C3C"/>
                          </a:solidFill>
                          <a:latin typeface="Segoe UI"/>
                        </a:rPr>
                        <a:t>Pure case planner</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Engine plans to Dataverse writes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DynamicForm.tsx</a:t>
                      </a:r>
                    </a:p>
                  </a:txBody>
                  <a:tcPr anchor="ctr" marL="91440" marT="18288" marB="18288">
                    <a:solidFill>
                      <a:srgbClr val="FFFFFF"/>
                    </a:solidFill>
                  </a:tcPr>
                </a:tc>
                <a:tc>
                  <a:txBody>
                    <a:bodyPr wrap="square"/>
                    <a:lstStyle/>
                    <a:p>
                      <a:r>
                        <a:rPr sz="1150" b="0">
                          <a:solidFill>
                            <a:srgbClr val="3C3C3C"/>
                          </a:solidFill>
                          <a:latin typeface="Segoe UI"/>
                        </a:rPr>
                        <a:t>Renders any view from metadata</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DEVELOPER-HANDOVER.md</a:t>
                      </a:r>
                    </a:p>
                  </a:txBody>
                  <a:tcPr anchor="ctr" marL="91440" marT="18288" marB="18288">
                    <a:solidFill>
                      <a:srgbClr val="F4F5F7"/>
                    </a:solidFill>
                  </a:tcPr>
                </a:tc>
                <a:tc>
                  <a:txBody>
                    <a:bodyPr wrap="square"/>
                    <a:lstStyle/>
                    <a:p>
                      <a:r>
                        <a:rPr sz="1150" b="0">
                          <a:solidFill>
                            <a:srgbClr val="3C3C3C"/>
                          </a:solidFill>
                          <a:latin typeface="Segoe UI"/>
                        </a:rPr>
                        <a:t>Architecture and production backlog</a:t>
                      </a:r>
                    </a:p>
                  </a:txBody>
                  <a:tcPr anchor="ctr" marL="91440" marT="18288" marB="18288">
                    <a:solidFill>
                      <a:srgbClr val="F4F5F7"/>
                    </a:solidFill>
                  </a:tcPr>
                </a:tc>
                <a:tc>
                  <a:txBody>
                    <a:bodyPr wrap="square"/>
                    <a:lstStyle/>
                    <a:p>
                      <a:r>
                        <a:rPr sz="1150" b="0">
                          <a:solidFill>
                            <a:srgbClr val="3C3C3C"/>
                          </a:solidFill>
                          <a:latin typeface="Segoe UI"/>
                        </a:rPr>
                        <a:t>Template</a:t>
                      </a:r>
                    </a:p>
                  </a:txBody>
                  <a:tcPr anchor="ctr" marL="91440" marT="18288" marB="18288">
                    <a:solidFill>
                      <a:srgbClr val="F4F5F7"/>
                    </a:solidFill>
                  </a:tcPr>
                </a:tc>
              </a:tr>
            </a:tbl>
          </a:graphicData>
        </a:graphic>
      </p:graphicFrame>
      <p:sp>
        <p:nvSpPr>
          <p:cNvPr id="6" name="TextBox 5"/>
          <p:cNvSpPr txBox="1"/>
          <p:nvPr/>
        </p:nvSpPr>
        <p:spPr>
          <a:xfrm>
            <a:off x="566928" y="5257800"/>
            <a:ext cx="11064240" cy="647699"/>
          </a:xfrm>
          <a:prstGeom prst="rect">
            <a:avLst/>
          </a:prstGeom>
          <a:noFill/>
        </p:spPr>
        <p:txBody>
          <a:bodyPr wrap="square">
            <a:spAutoFit/>
          </a:bodyPr>
          <a:lstStyle/>
          <a:p>
            <a:pPr algn="l">
              <a:spcBef>
                <a:spcPts val="0"/>
              </a:spcBef>
              <a:spcAft>
                <a:spcPts val="900"/>
              </a:spcAft>
            </a:pPr>
            <a:r>
              <a:rPr sz="1250" b="1" i="0">
                <a:solidFill>
                  <a:srgbClr val="1A1A1A"/>
                </a:solidFill>
                <a:latin typeface="Segoe UI"/>
              </a:rPr>
              <a:t>Codebase</a:t>
            </a:r>
          </a:p>
          <a:p>
            <a:pPr algn="l">
              <a:spcBef>
                <a:spcPts val="0"/>
              </a:spcBef>
              <a:spcAft>
                <a:spcPts val="900"/>
              </a:spcAft>
            </a:pPr>
            <a:r>
              <a:rPr sz="1250" b="0" i="0">
                <a:solidFill>
                  <a:srgbClr val="1A1A1A"/>
                </a:solidFill>
                <a:latin typeface="Segoe UI"/>
              </a:rPr>
              <a:t>•  3,503 lines of application source, 2,892 lines of migration scripts, and 4,987 lines of generated Dataverse services.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assumptions</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457199"/>
                <a:gridCol w="4937760"/>
                <a:gridCol w="5669279"/>
              </a:tblGrid>
              <a:tr h="347472">
                <a:tc>
                  <a:txBody>
                    <a:bodyPr wrap="square"/>
                    <a:lstStyle/>
                    <a:p>
                      <a:r>
                        <a:rPr sz="1150" b="1">
                          <a:solidFill>
                            <a:srgbClr val="FFFFFF"/>
                          </a:solidFill>
                          <a:latin typeface="Segoe UI"/>
                        </a:rPr>
                        <a:t>#</a:t>
                      </a:r>
                    </a:p>
                  </a:txBody>
                  <a:tcPr anchor="ctr" marL="91440">
                    <a:solidFill>
                      <a:srgbClr val="007BA4"/>
                    </a:solidFill>
                  </a:tcPr>
                </a:tc>
                <a:tc>
                  <a:txBody>
                    <a:bodyPr wrap="square"/>
                    <a:lstStyle/>
                    <a:p>
                      <a:r>
                        <a:rPr sz="1150" b="1">
                          <a:solidFill>
                            <a:srgbClr val="FFFFFF"/>
                          </a:solidFill>
                          <a:latin typeface="Segoe UI"/>
                        </a:rPr>
                        <a:t>Assumption</a:t>
                      </a:r>
                    </a:p>
                  </a:txBody>
                  <a:tcPr anchor="ctr" marL="91440">
                    <a:solidFill>
                      <a:srgbClr val="007BA4"/>
                    </a:solidFill>
                  </a:tcPr>
                </a:tc>
                <a:tc>
                  <a:txBody>
                    <a:bodyPr wrap="square"/>
                    <a:lstStyle/>
                    <a:p>
                      <a:r>
                        <a:rPr sz="1150" b="1">
                          <a:solidFill>
                            <a:srgbClr val="FFFFFF"/>
                          </a:solidFill>
                          <a:latin typeface="Segoe UI"/>
                        </a:rPr>
                        <a:t>Basis</a:t>
                      </a:r>
                    </a:p>
                  </a:txBody>
                  <a:tcPr anchor="ctr" marL="91440">
                    <a:solidFill>
                      <a:srgbClr val="007BA4"/>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Dataverse row and storage volumes are within standard limits</a:t>
                      </a:r>
                    </a:p>
                  </a:txBody>
                  <a:tcPr anchor="ctr" marL="91440" marT="18288" marB="18288">
                    <a:solidFill>
                      <a:srgbClr val="FFFFFF"/>
                    </a:solidFill>
                  </a:tcPr>
                </a:tc>
                <a:tc>
                  <a:txBody>
                    <a:bodyPr wrap="square"/>
                    <a:lstStyle/>
                    <a:p>
                      <a:r>
                        <a:rPr sz="1150" b="0">
                          <a:solidFill>
                            <a:srgbClr val="3C3C3C"/>
                          </a:solidFill>
                          <a:latin typeface="Segoe UI"/>
                        </a:rPr>
                        <a:t>PoC volumes are small; production volumes not supplied</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Business days for SLA use a standard calendar</a:t>
                      </a:r>
                    </a:p>
                  </a:txBody>
                  <a:tcPr anchor="ctr" marL="91440" marT="18288" marB="18288">
                    <a:solidFill>
                      <a:srgbClr val="F4F5F7"/>
                    </a:solidFill>
                  </a:tcPr>
                </a:tc>
                <a:tc>
                  <a:txBody>
                    <a:bodyPr wrap="square"/>
                    <a:lstStyle/>
                    <a:p>
                      <a:r>
                        <a:rPr sz="1150" b="0">
                          <a:solidFill>
                            <a:srgbClr val="3C3C3C"/>
                          </a:solidFill>
                          <a:latin typeface="Segoe UI"/>
                        </a:rPr>
                        <a:t>Pega holiday calendars were not in the export</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Case ID prefixes follow the Pega convention</a:t>
                      </a:r>
                    </a:p>
                  </a:txBody>
                  <a:tcPr anchor="ctr" marL="91440" marT="18288" marB="18288">
                    <a:solidFill>
                      <a:srgbClr val="FFFFFF"/>
                    </a:solidFill>
                  </a:tcPr>
                </a:tc>
                <a:tc>
                  <a:txBody>
                    <a:bodyPr wrap="square"/>
                    <a:lstStyle/>
                    <a:p>
                      <a:r>
                        <a:rPr sz="1150" b="0">
                          <a:solidFill>
                            <a:srgbClr val="3C3C3C"/>
                          </a:solidFill>
                          <a:latin typeface="Segoe UI"/>
                        </a:rPr>
                        <a:t>Prefixes read from the case type definitions</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Detail column names map as ava_ plus lowercased field name</a:t>
                      </a:r>
                    </a:p>
                  </a:txBody>
                  <a:tcPr anchor="ctr" marL="91440" marT="18288" marB="18288">
                    <a:solidFill>
                      <a:srgbClr val="F4F5F7"/>
                    </a:solidFill>
                  </a:tcPr>
                </a:tc>
                <a:tc>
                  <a:txBody>
                    <a:bodyPr wrap="square"/>
                    <a:lstStyle/>
                    <a:p>
                      <a:r>
                        <a:rPr sz="1150" b="0">
                          <a:solidFill>
                            <a:srgbClr val="3C3C3C"/>
                          </a:solidFill>
                          <a:latin typeface="Segoe UI"/>
                        </a:rPr>
                        <a:t>Deterministic mapping; unmapped fields reported, not silently dropped</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Choice values are stable strings</a:t>
                      </a:r>
                    </a:p>
                  </a:txBody>
                  <a:tcPr anchor="ctr" marL="91440" marT="18288" marB="18288">
                    <a:solidFill>
                      <a:srgbClr val="FFFFFF"/>
                    </a:solidFill>
                  </a:tcPr>
                </a:tc>
                <a:tc>
                  <a:txBody>
                    <a:bodyPr wrap="square"/>
                    <a:lstStyle/>
                    <a:p>
                      <a:r>
                        <a:rPr sz="1150" b="0">
                          <a:solidFill>
                            <a:srgbClr val="3C3C3C"/>
                          </a:solidFill>
                          <a:latin typeface="Segoe UI"/>
                        </a:rPr>
                        <a:t>Imported as rows; changes require a re-seed</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One Dataverse solution per application</a:t>
                      </a:r>
                    </a:p>
                  </a:txBody>
                  <a:tcPr anchor="ctr" marL="91440" marT="18288" marB="18288">
                    <a:solidFill>
                      <a:srgbClr val="F4F5F7"/>
                    </a:solidFill>
                  </a:tcPr>
                </a:tc>
                <a:tc>
                  <a:txBody>
                    <a:bodyPr wrap="square"/>
                    <a:lstStyle/>
                    <a:p>
                      <a:r>
                        <a:rPr sz="1150" b="0">
                          <a:solidFill>
                            <a:srgbClr val="3C3C3C"/>
                          </a:solidFill>
                          <a:latin typeface="Segoe UI"/>
                        </a:rPr>
                        <a:t>Matches Power Platform ALM guidance</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Users authenticate via Entra ID with Dataverse privileges</a:t>
                      </a:r>
                    </a:p>
                  </a:txBody>
                  <a:tcPr anchor="ctr" marL="91440" marT="18288" marB="18288">
                    <a:solidFill>
                      <a:srgbClr val="FFFFFF"/>
                    </a:solidFill>
                  </a:tcPr>
                </a:tc>
                <a:tc>
                  <a:txBody>
                    <a:bodyPr wrap="square"/>
                    <a:lstStyle/>
                    <a:p>
                      <a:r>
                        <a:rPr sz="1150" b="0">
                          <a:solidFill>
                            <a:srgbClr val="3C3C3C"/>
                          </a:solidFill>
                          <a:latin typeface="Segoe UI"/>
                        </a:rPr>
                        <a:t>Standard Power Platform model</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Decision tables evaluate top-down, first match wins</a:t>
                      </a:r>
                    </a:p>
                  </a:txBody>
                  <a:tcPr anchor="ctr" marL="91440" marT="18288" marB="18288">
                    <a:solidFill>
                      <a:srgbClr val="F4F5F7"/>
                    </a:solidFill>
                  </a:tcPr>
                </a:tc>
                <a:tc>
                  <a:txBody>
                    <a:bodyPr wrap="square"/>
                    <a:lstStyle/>
                    <a:p>
                      <a:r>
                        <a:rPr sz="1150" b="0">
                          <a:solidFill>
                            <a:srgbClr val="3C3C3C"/>
                          </a:solidFill>
                          <a:latin typeface="Segoe UI"/>
                        </a:rPr>
                        <a:t>Matches observed Pega semantics</a:t>
                      </a:r>
                    </a:p>
                  </a:txBody>
                  <a:tcPr anchor="ctr" marL="91440" marT="18288" marB="18288">
                    <a:solidFill>
                      <a:srgbClr val="F4F5F7"/>
                    </a:solidFill>
                  </a:tcPr>
                </a:tc>
              </a:tr>
            </a:tbl>
          </a:graphicData>
        </a:graphic>
      </p:graphicFrame>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514600"/>
            <a:ext cx="9418320" cy="914400"/>
          </a:xfrm>
          <a:prstGeom prst="rect">
            <a:avLst/>
          </a:prstGeom>
          <a:noFill/>
        </p:spPr>
        <p:txBody>
          <a:bodyPr wrap="square">
            <a:spAutoFit/>
          </a:bodyPr>
          <a:lstStyle/>
          <a:p>
            <a:pPr algn="l">
              <a:spcBef>
                <a:spcPts val="0"/>
              </a:spcBef>
              <a:spcAft>
                <a:spcPts val="600"/>
              </a:spcAft>
            </a:pPr>
            <a:r>
              <a:rPr sz="4000" b="1" i="0">
                <a:solidFill>
                  <a:srgbClr val="FFFFFF"/>
                </a:solidFill>
                <a:latin typeface="Segoe UI"/>
              </a:rPr>
              <a:t>Questions</a:t>
            </a:r>
          </a:p>
        </p:txBody>
      </p:sp>
      <p:sp>
        <p:nvSpPr>
          <p:cNvPr id="5" name="TextBox 4"/>
          <p:cNvSpPr txBox="1"/>
          <p:nvPr/>
        </p:nvSpPr>
        <p:spPr>
          <a:xfrm>
            <a:off x="1371600" y="3429000"/>
            <a:ext cx="9418320" cy="1463040"/>
          </a:xfrm>
          <a:prstGeom prst="rect">
            <a:avLst/>
          </a:prstGeom>
          <a:noFill/>
        </p:spPr>
        <p:txBody>
          <a:bodyPr wrap="square">
            <a:spAutoFit/>
          </a:bodyPr>
          <a:lstStyle/>
          <a:p>
            <a:pPr algn="l">
              <a:spcBef>
                <a:spcPts val="0"/>
              </a:spcBef>
              <a:spcAft>
                <a:spcPts val="600"/>
              </a:spcAft>
            </a:pPr>
            <a:r>
              <a:rPr sz="1500" b="0" i="0">
                <a:solidFill>
                  <a:srgbClr val="D3EDEE"/>
                </a:solidFill>
                <a:latin typeface="Segoe UI"/>
              </a:rPr>
              <a:t>Pega to Power Platform  ·  Lending Due Diligence PoC</a:t>
            </a:r>
          </a:p>
          <a:p>
            <a:pPr algn="l">
              <a:spcBef>
                <a:spcPts val="0"/>
              </a:spcBef>
              <a:spcAft>
                <a:spcPts val="0"/>
              </a:spcAft>
            </a:pPr>
            <a:r>
              <a:rPr sz="1300" b="0" i="0">
                <a:solidFill>
                  <a:srgbClr val="A0D3E8"/>
                </a:solidFill>
                <a:latin typeface="Segoe UI"/>
              </a:rPr>
              <a:t>5 case types  ·  39 stages  ·  80 steps  ·  58/58 verification checks  ·  0 business workshops</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