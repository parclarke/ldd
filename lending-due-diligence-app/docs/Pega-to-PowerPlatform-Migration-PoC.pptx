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24 of those have no implementation anywhere in the source. Expect the challenge 'could a developer not just read these in Dev Studio?' - the answer is no, because the rules do not exist: 0 of 20 transform steps resolve to a transform rule, and Pega's own design-time warning on every document step says the template field cannot be blank. See the Migration Findings section.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it is the first challenge a technical reviewer raises, and it is a reasonable one. Be clear that the finding is specific to this application: it was generated rather than hand-built, which is why the shells are empty. For a real hand-built application, expect the opposite - and note that the UTF-16BE extraction reads those bodies straight from the export, so even then Dev Studio is a convenience rather than a necessity.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3F57E4"/>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A100FF"/>
                </a:solidFill>
                <a:latin typeface="Segoe UI"/>
              </a:rPr>
              <a:t>Code App Migration Approach</a:t>
            </a:r>
          </a:p>
        </p:txBody>
      </p:sp>
      <p:sp>
        <p:nvSpPr>
          <p:cNvPr id="7" name="Rectangle 6"/>
          <p:cNvSpPr/>
          <p:nvPr/>
        </p:nvSpPr>
        <p:spPr>
          <a:xfrm>
            <a:off x="932688" y="4133087"/>
            <a:ext cx="2377440" cy="4114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never
implemented in Pega</a:t>
            </a:r>
          </a:p>
        </p:txBody>
      </p:sp>
      <p:sp>
        <p:nvSpPr>
          <p:cNvPr id="25" name="TextBox 24"/>
          <p:cNvSpPr txBox="1"/>
          <p:nvPr/>
        </p:nvSpPr>
        <p:spPr>
          <a:xfrm>
            <a:off x="566928" y="2926080"/>
            <a:ext cx="11064240" cy="32260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and the remaining 24 were never implemented in Pega either, so there is no source logic to port and no Dev Studio session that would reveal any.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3F57E4"/>
                    </a:solidFill>
                  </a:tcPr>
                </a:tc>
                <a:tc>
                  <a:txBody>
                    <a:bodyPr wrap="square"/>
                    <a:lstStyle/>
                    <a:p>
                      <a:r>
                        <a:rPr sz="1200" b="1">
                          <a:solidFill>
                            <a:srgbClr val="FFFFFF"/>
                          </a:solidFill>
                          <a:latin typeface="Segoe UI"/>
                        </a:rPr>
                        <a:t>This methodology</a:t>
                      </a:r>
                    </a:p>
                  </a:txBody>
                  <a:tcPr anchor="ctr" marL="91440">
                    <a:solidFill>
                      <a:srgbClr val="3F57E4"/>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3F57E4"/>
                    </a:solidFill>
                  </a:tcPr>
                </a:tc>
                <a:tc>
                  <a:txBody>
                    <a:bodyPr wrap="square"/>
                    <a:lstStyle/>
                    <a:p>
                      <a:r>
                        <a:rPr sz="1150" b="1">
                          <a:solidFill>
                            <a:srgbClr val="FFFFFF"/>
                          </a:solidFill>
                          <a:latin typeface="Segoe UI"/>
                        </a:rPr>
                        <a:t>Impact today</a:t>
                      </a:r>
                    </a:p>
                  </a:txBody>
                  <a:tcPr anchor="ctr" marL="91440">
                    <a:solidFill>
                      <a:srgbClr val="3F57E4"/>
                    </a:solidFill>
                  </a:tcPr>
                </a:tc>
                <a:tc>
                  <a:txBody>
                    <a:bodyPr wrap="square"/>
                    <a:lstStyle/>
                    <a:p>
                      <a:r>
                        <a:rPr sz="1150" b="1">
                          <a:solidFill>
                            <a:srgbClr val="FFFFFF"/>
                          </a:solidFill>
                          <a:latin typeface="Segoe UI"/>
                        </a:rPr>
                        <a:t>How the target state responds</a:t>
                      </a:r>
                    </a:p>
                  </a:txBody>
                  <a:tcPr anchor="ctr" marL="91440">
                    <a:solidFill>
                      <a:srgbClr val="3F57E4"/>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3F57E4"/>
                    </a:solidFill>
                  </a:tcPr>
                </a:tc>
                <a:tc>
                  <a:txBody>
                    <a:bodyPr wrap="square"/>
                    <a:lstStyle/>
                    <a:p>
                      <a:r>
                        <a:rPr sz="1200" b="1">
                          <a:solidFill>
                            <a:srgbClr val="FFFFFF"/>
                          </a:solidFill>
                          <a:latin typeface="Segoe UI"/>
                        </a:rPr>
                        <a:t>Pega artefacts</a:t>
                      </a:r>
                    </a:p>
                  </a:txBody>
                  <a:tcPr anchor="ctr" marL="91440">
                    <a:solidFill>
                      <a:srgbClr val="3F57E4"/>
                    </a:solidFill>
                  </a:tcPr>
                </a:tc>
                <a:tc>
                  <a:txBody>
                    <a:bodyPr wrap="square"/>
                    <a:lstStyle/>
                    <a:p>
                      <a:r>
                        <a:rPr sz="1200" b="1">
                          <a:solidFill>
                            <a:srgbClr val="FFFFFF"/>
                          </a:solidFill>
                          <a:latin typeface="Segoe UI"/>
                        </a:rPr>
                        <a:t>Volume</a:t>
                      </a:r>
                    </a:p>
                  </a:txBody>
                  <a:tcPr anchor="ctr" marL="91440">
                    <a:solidFill>
                      <a:srgbClr val="3F57E4"/>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3F57E4"/>
                    </a:solidFill>
                  </a:tcPr>
                </a:tc>
                <a:tc>
                  <a:txBody>
                    <a:bodyPr wrap="square"/>
                    <a:lstStyle/>
                    <a:p>
                      <a:r>
                        <a:rPr sz="1250" b="1">
                          <a:solidFill>
                            <a:srgbClr val="FFFFFF"/>
                          </a:solidFill>
                          <a:latin typeface="Segoe UI"/>
                        </a:rPr>
                        <a:t>Stages</a:t>
                      </a:r>
                    </a:p>
                  </a:txBody>
                  <a:tcPr anchor="ctr" marL="91440">
                    <a:solidFill>
                      <a:srgbClr val="3F57E4"/>
                    </a:solidFill>
                  </a:tcPr>
                </a:tc>
                <a:tc>
                  <a:txBody>
                    <a:bodyPr wrap="square"/>
                    <a:lstStyle/>
                    <a:p>
                      <a:r>
                        <a:rPr sz="1250" b="1">
                          <a:solidFill>
                            <a:srgbClr val="FFFFFF"/>
                          </a:solidFill>
                          <a:latin typeface="Segoe UI"/>
                        </a:rPr>
                        <a:t>Steps</a:t>
                      </a:r>
                    </a:p>
                  </a:txBody>
                  <a:tcPr anchor="ctr" marL="91440">
                    <a:solidFill>
                      <a:srgbClr val="3F57E4"/>
                    </a:solidFill>
                  </a:tcPr>
                </a:tc>
                <a:tc>
                  <a:txBody>
                    <a:bodyPr wrap="square"/>
                    <a:lstStyle/>
                    <a:p>
                      <a:r>
                        <a:rPr sz="1250" b="1">
                          <a:solidFill>
                            <a:srgbClr val="FFFFFF"/>
                          </a:solidFill>
                          <a:latin typeface="Segoe UI"/>
                        </a:rPr>
                        <a:t>Purpose</a:t>
                      </a:r>
                    </a:p>
                  </a:txBody>
                  <a:tcPr anchor="ctr" marL="91440">
                    <a:solidFill>
                      <a:srgbClr val="3F57E4"/>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Screen layouts, dashboards and any customised AI prompt text have no exportable representation. Correspondence bodies do - all 27 were recovered in full.</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3F57E4"/>
                    </a:solidFill>
                  </a:tcPr>
                </a:tc>
                <a:tc>
                  <a:txBody>
                    <a:bodyPr wrap="square"/>
                    <a:lstStyle/>
                    <a:p>
                      <a:r>
                        <a:rPr sz="1150" b="1">
                          <a:solidFill>
                            <a:srgbClr val="FFFFFF"/>
                          </a:solidFill>
                          <a:latin typeface="Segoe UI"/>
                        </a:rPr>
                        <a:t>Implementation</a:t>
                      </a:r>
                    </a:p>
                  </a:txBody>
                  <a:tcPr anchor="ctr" marL="91440">
                    <a:solidFill>
                      <a:srgbClr val="3F57E4"/>
                    </a:solidFill>
                  </a:tcPr>
                </a:tc>
                <a:tc>
                  <a:txBody>
                    <a:bodyPr wrap="square"/>
                    <a:lstStyle/>
                    <a:p>
                      <a:r>
                        <a:rPr sz="1150" b="1">
                          <a:solidFill>
                            <a:srgbClr val="FFFFFF"/>
                          </a:solidFill>
                          <a:latin typeface="Segoe UI"/>
                        </a:rPr>
                        <a:t>Responsibility</a:t>
                      </a:r>
                    </a:p>
                  </a:txBody>
                  <a:tcPr anchor="ctr" marL="91440">
                    <a:solidFill>
                      <a:srgbClr val="3F57E4"/>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3F57E4"/>
                    </a:solidFill>
                  </a:tcPr>
                </a:tc>
                <a:tc>
                  <a:txBody>
                    <a:bodyPr wrap="square"/>
                    <a:lstStyle/>
                    <a:p>
                      <a:r>
                        <a:rPr sz="1250" b="1">
                          <a:solidFill>
                            <a:srgbClr val="FFFFFF"/>
                          </a:solidFill>
                          <a:latin typeface="Segoe UI"/>
                        </a:rPr>
                        <a:t>Tables</a:t>
                      </a:r>
                    </a:p>
                  </a:txBody>
                  <a:tcPr anchor="ctr" marL="91440">
                    <a:solidFill>
                      <a:srgbClr val="3F57E4"/>
                    </a:solidFill>
                  </a:tcPr>
                </a:tc>
                <a:tc>
                  <a:txBody>
                    <a:bodyPr wrap="square"/>
                    <a:lstStyle/>
                    <a:p>
                      <a:r>
                        <a:rPr sz="1250" b="1">
                          <a:solidFill>
                            <a:srgbClr val="FFFFFF"/>
                          </a:solidFill>
                          <a:latin typeface="Segoe UI"/>
                        </a:rPr>
                        <a:t>Contents</a:t>
                      </a:r>
                    </a:p>
                  </a:txBody>
                  <a:tcPr anchor="ctr" marL="91440">
                    <a:solidFill>
                      <a:srgbClr val="3F57E4"/>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3F57E4"/>
                    </a:solidFill>
                  </a:tcPr>
                </a:tc>
                <a:tc>
                  <a:txBody>
                    <a:bodyPr wrap="square"/>
                    <a:lstStyle/>
                    <a:p>
                      <a:r>
                        <a:rPr sz="1150" b="1">
                          <a:solidFill>
                            <a:srgbClr val="FFFFFF"/>
                          </a:solidFill>
                          <a:latin typeface="Segoe UI"/>
                        </a:rPr>
                        <a:t>Power Platform target</a:t>
                      </a:r>
                    </a:p>
                  </a:txBody>
                  <a:tcPr anchor="ctr" marL="91440">
                    <a:solidFill>
                      <a:srgbClr val="3F57E4"/>
                    </a:solidFill>
                  </a:tcPr>
                </a:tc>
                <a:tc>
                  <a:txBody>
                    <a:bodyPr wrap="square"/>
                    <a:lstStyle/>
                    <a:p>
                      <a:r>
                        <a:rPr sz="1150" b="1">
                          <a:solidFill>
                            <a:srgbClr val="FFFFFF"/>
                          </a:solidFill>
                          <a:latin typeface="Segoe UI"/>
                        </a:rPr>
                        <a:t>Status in PoC</a:t>
                      </a:r>
                    </a:p>
                  </a:txBody>
                  <a:tcPr anchor="ctr" marL="91440">
                    <a:solidFill>
                      <a:srgbClr val="3F57E4"/>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Outbox table + Power Automate flow</a:t>
                      </a:r>
                    </a:p>
                  </a:txBody>
                  <a:tcPr anchor="ctr" marL="91440" marT="18288" marB="18288">
                    <a:solidFill>
                      <a:srgbClr val="F4F5F7"/>
                    </a:solidFill>
                  </a:tcPr>
                </a:tc>
                <a:tc>
                  <a:txBody>
                    <a:bodyPr wrap="square"/>
                    <a:lstStyle/>
                    <a:p>
                      <a:r>
                        <a:rPr sz="1150" b="1">
                          <a:solidFill>
                            <a:srgbClr val="1A1A1A"/>
                          </a:solidFill>
                          <a:latin typeface="Segoe UI"/>
                        </a:rPr>
                        <a:t>Queued by the app; flow sends</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Insights screen + Power BI</a:t>
                      </a:r>
                    </a:p>
                  </a:txBody>
                  <a:tcPr anchor="ctr" marL="91440" marT="18288" marB="18288">
                    <a:solidFill>
                      <a:srgbClr val="FFFFFF"/>
                    </a:solidFill>
                  </a:tcPr>
                </a:tc>
                <a:tc>
                  <a:txBody>
                    <a:bodyPr wrap="square"/>
                    <a:lstStyle/>
                    <a:p>
                      <a:r>
                        <a:rPr sz="1150" b="1">
                          <a:solidFill>
                            <a:srgbClr val="1A1A1A"/>
                          </a:solidFill>
                          <a:latin typeface="Segoe UI"/>
                        </a:rPr>
                        <a:t>No logic to port; capability built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3F57E4"/>
                    </a:solidFill>
                  </a:tcPr>
                </a:tc>
                <a:tc>
                  <a:txBody>
                    <a:bodyPr wrap="square"/>
                    <a:lstStyle/>
                    <a:p>
                      <a:r>
                        <a:rPr sz="1150" b="1">
                          <a:solidFill>
                            <a:srgbClr val="FFFFFF"/>
                          </a:solidFill>
                          <a:latin typeface="Segoe UI"/>
                        </a:rPr>
                        <a:t>Artefact source</a:t>
                      </a:r>
                    </a:p>
                  </a:txBody>
                  <a:tcPr anchor="ctr" marL="91440">
                    <a:solidFill>
                      <a:srgbClr val="3F57E4"/>
                    </a:solidFill>
                  </a:tcPr>
                </a:tc>
                <a:tc>
                  <a:txBody>
                    <a:bodyPr wrap="square"/>
                    <a:lstStyle/>
                    <a:p>
                      <a:r>
                        <a:rPr sz="1150" b="1">
                          <a:solidFill>
                            <a:srgbClr val="FFFFFF"/>
                          </a:solidFill>
                          <a:latin typeface="Segoe UI"/>
                        </a:rPr>
                        <a:t>How it is obtained</a:t>
                      </a:r>
                    </a:p>
                  </a:txBody>
                  <a:tcPr anchor="ctr" marL="91440">
                    <a:solidFill>
                      <a:srgbClr val="3F57E4"/>
                    </a:solidFill>
                  </a:tcPr>
                </a:tc>
                <a:tc>
                  <a:txBody>
                    <a:bodyPr wrap="square"/>
                    <a:lstStyle/>
                    <a:p>
                      <a:r>
                        <a:rPr sz="1150" b="1">
                          <a:solidFill>
                            <a:srgbClr val="FFFFFF"/>
                          </a:solidFill>
                          <a:latin typeface="Segoe UI"/>
                        </a:rPr>
                        <a:t>What it contributes</a:t>
                      </a:r>
                    </a:p>
                  </a:txBody>
                  <a:tcPr anchor="ctr" marL="91440">
                    <a:solidFill>
                      <a:srgbClr val="3F57E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3F57E4"/>
                    </a:solidFill>
                  </a:tcPr>
                </a:tc>
                <a:tc>
                  <a:txBody>
                    <a:bodyPr wrap="square"/>
                    <a:lstStyle/>
                    <a:p>
                      <a:r>
                        <a:rPr sz="1200" b="1">
                          <a:solidFill>
                            <a:srgbClr val="FFFFFF"/>
                          </a:solidFill>
                          <a:latin typeface="Segoe UI"/>
                        </a:rPr>
                        <a:t>Yields</a:t>
                      </a:r>
                    </a:p>
                  </a:txBody>
                  <a:tcPr anchor="ctr" marL="91440">
                    <a:solidFill>
                      <a:srgbClr val="3F57E4"/>
                    </a:solidFill>
                  </a:tcPr>
                </a:tc>
                <a:tc>
                  <a:txBody>
                    <a:bodyPr wrap="square"/>
                    <a:lstStyle/>
                    <a:p>
                      <a:r>
                        <a:rPr sz="1200" b="1">
                          <a:solidFill>
                            <a:srgbClr val="FFFFFF"/>
                          </a:solidFill>
                          <a:latin typeface="Segoe UI"/>
                        </a:rPr>
                        <a:t>Necessity</a:t>
                      </a:r>
                    </a:p>
                  </a:txBody>
                  <a:tcPr anchor="ctr" marL="91440">
                    <a:solidFill>
                      <a:srgbClr val="3F57E4"/>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3F57E4"/>
                    </a:solidFill>
                  </a:tcPr>
                </a:tc>
                <a:tc>
                  <a:txBody>
                    <a:bodyPr wrap="square"/>
                    <a:lstStyle/>
                    <a:p>
                      <a:r>
                        <a:rPr sz="1150" b="1">
                          <a:solidFill>
                            <a:srgbClr val="FFFFFF"/>
                          </a:solidFill>
                          <a:latin typeface="Segoe UI"/>
                        </a:rPr>
                        <a:t>Count</a:t>
                      </a:r>
                    </a:p>
                  </a:txBody>
                  <a:tcPr anchor="ctr" marL="91440">
                    <a:solidFill>
                      <a:srgbClr val="3F57E4"/>
                    </a:solidFill>
                  </a:tcPr>
                </a:tc>
                <a:tc>
                  <a:txBody>
                    <a:bodyPr wrap="square"/>
                    <a:lstStyle/>
                    <a:p>
                      <a:r>
                        <a:rPr sz="1150" b="1">
                          <a:solidFill>
                            <a:srgbClr val="FFFFFF"/>
                          </a:solidFill>
                          <a:latin typeface="Segoe UI"/>
                        </a:rPr>
                        <a:t>Analysed</a:t>
                      </a:r>
                    </a:p>
                  </a:txBody>
                  <a:tcPr anchor="ctr" marL="91440">
                    <a:solidFill>
                      <a:srgbClr val="3F57E4"/>
                    </a:solidFill>
                  </a:tcPr>
                </a:tc>
                <a:tc>
                  <a:txBody>
                    <a:bodyPr wrap="square"/>
                    <a:lstStyle/>
                    <a:p>
                      <a:r>
                        <a:rPr sz="1150" b="1">
                          <a:solidFill>
                            <a:srgbClr val="FFFFFF"/>
                          </a:solidFill>
                          <a:latin typeface="Segoe UI"/>
                        </a:rPr>
                        <a:t>Outcome</a:t>
                      </a:r>
                    </a:p>
                  </a:txBody>
                  <a:tcPr anchor="ctr" marL="91440">
                    <a:solidFill>
                      <a:srgbClr val="3F57E4"/>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3F57E4"/>
                    </a:solidFill>
                  </a:tcPr>
                </a:tc>
                <a:tc>
                  <a:txBody>
                    <a:bodyPr wrap="square"/>
                    <a:lstStyle/>
                    <a:p>
                      <a:r>
                        <a:rPr sz="1100" b="1">
                          <a:solidFill>
                            <a:srgbClr val="FFFFFF"/>
                          </a:solidFill>
                          <a:latin typeface="Segoe UI"/>
                        </a:rPr>
                        <a:t>Power Platform component</a:t>
                      </a:r>
                    </a:p>
                  </a:txBody>
                  <a:tcPr anchor="ctr" marL="91440">
                    <a:solidFill>
                      <a:srgbClr val="3F57E4"/>
                    </a:solidFill>
                  </a:tcPr>
                </a:tc>
                <a:tc>
                  <a:txBody>
                    <a:bodyPr wrap="square"/>
                    <a:lstStyle/>
                    <a:p>
                      <a:r>
                        <a:rPr sz="1100" b="1">
                          <a:solidFill>
                            <a:srgbClr val="FFFFFF"/>
                          </a:solidFill>
                          <a:latin typeface="Segoe UI"/>
                        </a:rPr>
                        <a:t>Method</a:t>
                      </a:r>
                    </a:p>
                  </a:txBody>
                  <a:tcPr anchor="ctr" marL="91440">
                    <a:solidFill>
                      <a:srgbClr val="3F57E4"/>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3F57E4"/>
                    </a:solidFill>
                  </a:tcPr>
                </a:tc>
                <a:tc>
                  <a:txBody>
                    <a:bodyPr wrap="square"/>
                    <a:lstStyle/>
                    <a:p>
                      <a:r>
                        <a:rPr sz="1150" b="1">
                          <a:solidFill>
                            <a:srgbClr val="FFFFFF"/>
                          </a:solidFill>
                          <a:latin typeface="Segoe UI"/>
                        </a:rPr>
                        <a:t>Assumption or constraint</a:t>
                      </a:r>
                    </a:p>
                  </a:txBody>
                  <a:tcPr anchor="ctr" marL="91440">
                    <a:solidFill>
                      <a:srgbClr val="3F57E4"/>
                    </a:solidFill>
                  </a:tcPr>
                </a:tc>
                <a:tc>
                  <a:txBody>
                    <a:bodyPr wrap="square"/>
                    <a:lstStyle/>
                    <a:p>
                      <a:r>
                        <a:rPr sz="1150" b="1">
                          <a:solidFill>
                            <a:srgbClr val="FFFFFF"/>
                          </a:solidFill>
                          <a:latin typeface="Segoe UI"/>
                        </a:rPr>
                        <a:t>Consequence if it changes</a:t>
                      </a:r>
                    </a:p>
                  </a:txBody>
                  <a:tcPr anchor="ctr" marL="91440">
                    <a:solidFill>
                      <a:srgbClr val="3F57E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1">
                          <a:solidFill>
                            <a:srgbClr val="1A1A1A"/>
                          </a:solidFill>
                          <a:latin typeface="Segoe UI"/>
                        </a:rPr>
                        <a:t>Superseded - all 27 bodies were recovered verbatim</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3F57E4"/>
                    </a:solidFill>
                  </a:tcPr>
                </a:tc>
                <a:tc>
                  <a:txBody>
                    <a:bodyPr wrap="square"/>
                    <a:lstStyle/>
                    <a:p>
                      <a:r>
                        <a:rPr sz="1150" b="1">
                          <a:solidFill>
                            <a:srgbClr val="FFFFFF"/>
                          </a:solidFill>
                          <a:latin typeface="Segoe UI"/>
                        </a:rPr>
                        <a:t>Journey</a:t>
                      </a:r>
                    </a:p>
                  </a:txBody>
                  <a:tcPr anchor="ctr" marL="91440">
                    <a:solidFill>
                      <a:srgbClr val="3F57E4"/>
                    </a:solidFill>
                  </a:tcPr>
                </a:tc>
                <a:tc>
                  <a:txBody>
                    <a:bodyPr wrap="square"/>
                    <a:lstStyle/>
                    <a:p>
                      <a:r>
                        <a:rPr sz="1150" b="1">
                          <a:solidFill>
                            <a:srgbClr val="FFFFFF"/>
                          </a:solidFill>
                          <a:latin typeface="Segoe UI"/>
                        </a:rPr>
                        <a:t>What to observe</a:t>
                      </a:r>
                    </a:p>
                  </a:txBody>
                  <a:tcPr anchor="ctr" marL="91440">
                    <a:solidFill>
                      <a:srgbClr val="3F57E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3F57E4"/>
                    </a:solidFill>
                  </a:tcPr>
                </a:tc>
                <a:tc>
                  <a:txBody>
                    <a:bodyPr wrap="square"/>
                    <a:lstStyle/>
                    <a:p>
                      <a:r>
                        <a:rPr sz="1200" b="1">
                          <a:solidFill>
                            <a:srgbClr val="FFFFFF"/>
                          </a:solidFill>
                          <a:latin typeface="Segoe UI"/>
                        </a:rPr>
                        <a:t>Pega</a:t>
                      </a:r>
                    </a:p>
                  </a:txBody>
                  <a:tcPr anchor="ctr" marL="91440">
                    <a:solidFill>
                      <a:srgbClr val="3F57E4"/>
                    </a:solidFill>
                  </a:tcPr>
                </a:tc>
                <a:tc>
                  <a:txBody>
                    <a:bodyPr wrap="square"/>
                    <a:lstStyle/>
                    <a:p>
                      <a:r>
                        <a:rPr sz="1200" b="1">
                          <a:solidFill>
                            <a:srgbClr val="FFFFFF"/>
                          </a:solidFill>
                          <a:latin typeface="Segoe UI"/>
                        </a:rPr>
                        <a:t>Power Platform implementation</a:t>
                      </a:r>
                    </a:p>
                  </a:txBody>
                  <a:tcPr anchor="ctr" marL="91440">
                    <a:solidFill>
                      <a:srgbClr val="3F57E4"/>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3F57E4"/>
                    </a:solidFill>
                  </a:tcPr>
                </a:tc>
                <a:tc>
                  <a:txBody>
                    <a:bodyPr wrap="square"/>
                    <a:lstStyle/>
                    <a:p>
                      <a:r>
                        <a:rPr sz="1200" b="1">
                          <a:solidFill>
                            <a:srgbClr val="FFFFFF"/>
                          </a:solidFill>
                          <a:latin typeface="Segoe UI"/>
                        </a:rPr>
                        <a:t>Migrated</a:t>
                      </a:r>
                    </a:p>
                  </a:txBody>
                  <a:tcPr anchor="ctr" marL="91440">
                    <a:solidFill>
                      <a:srgbClr val="3F57E4"/>
                    </a:solidFill>
                  </a:tcPr>
                </a:tc>
                <a:tc>
                  <a:txBody>
                    <a:bodyPr wrap="square"/>
                    <a:lstStyle/>
                    <a:p>
                      <a:r>
                        <a:rPr sz="1200" b="1">
                          <a:solidFill>
                            <a:srgbClr val="FFFFFF"/>
                          </a:solidFill>
                          <a:latin typeface="Segoe UI"/>
                        </a:rPr>
                        <a:t>Coverage</a:t>
                      </a:r>
                    </a:p>
                  </a:txBody>
                  <a:tcPr anchor="ctr" marL="91440">
                    <a:solidFill>
                      <a:srgbClr val="3F57E4"/>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3F57E4"/>
                    </a:solidFill>
                  </a:tcPr>
                </a:tc>
                <a:tc>
                  <a:txBody>
                    <a:bodyPr wrap="square"/>
                    <a:lstStyle/>
                    <a:p>
                      <a:r>
                        <a:rPr sz="1150" b="1">
                          <a:solidFill>
                            <a:srgbClr val="FFFFFF"/>
                          </a:solidFill>
                          <a:latin typeface="Segoe UI"/>
                        </a:rPr>
                        <a:t>Volume</a:t>
                      </a:r>
                    </a:p>
                  </a:txBody>
                  <a:tcPr anchor="ctr" marL="91440">
                    <a:solidFill>
                      <a:srgbClr val="3F57E4"/>
                    </a:solidFill>
                  </a:tcPr>
                </a:tc>
                <a:tc>
                  <a:txBody>
                    <a:bodyPr wrap="square"/>
                    <a:lstStyle/>
                    <a:p>
                      <a:r>
                        <a:rPr sz="1150" b="1">
                          <a:solidFill>
                            <a:srgbClr val="FFFFFF"/>
                          </a:solidFill>
                          <a:latin typeface="Segoe UI"/>
                        </a:rPr>
                        <a:t>What the artefacts already give us</a:t>
                      </a:r>
                    </a:p>
                  </a:txBody>
                  <a:tcPr anchor="ctr" marL="91440">
                    <a:solidFill>
                      <a:srgbClr val="3F57E4"/>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Content recovered 27/27 and outbox built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3F57E4"/>
                    </a:solidFill>
                  </a:tcPr>
                </a:tc>
                <a:tc>
                  <a:txBody>
                    <a:bodyPr wrap="square"/>
                    <a:lstStyle/>
                    <a:p>
                      <a:r>
                        <a:rPr sz="1150" b="1">
                          <a:solidFill>
                            <a:srgbClr val="FFFFFF"/>
                          </a:solidFill>
                          <a:latin typeface="Segoe UI"/>
                        </a:rPr>
                        <a:t>Recovered from artefacts</a:t>
                      </a:r>
                    </a:p>
                  </a:txBody>
                  <a:tcPr anchor="ctr" marL="91440">
                    <a:solidFill>
                      <a:srgbClr val="3F57E4"/>
                    </a:solidFill>
                  </a:tcPr>
                </a:tc>
                <a:tc>
                  <a:txBody>
                    <a:bodyPr wrap="square"/>
                    <a:lstStyle/>
                    <a:p>
                      <a:r>
                        <a:rPr sz="1150" b="1">
                          <a:solidFill>
                            <a:srgbClr val="FFFFFF"/>
                          </a:solidFill>
                          <a:latin typeface="Segoe UI"/>
                        </a:rPr>
                        <a:t>Workshops needed</a:t>
                      </a:r>
                    </a:p>
                  </a:txBody>
                  <a:tcPr anchor="ctr" marL="91440">
                    <a:solidFill>
                      <a:srgbClr val="3F57E4"/>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capability rebuilt natively</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3F57E4"/>
                    </a:solidFill>
                  </a:tcPr>
                </a:tc>
                <a:tc>
                  <a:txBody>
                    <a:bodyPr wrap="square"/>
                    <a:lstStyle/>
                    <a:p>
                      <a:r>
                        <a:rPr sz="1150" b="1">
                          <a:solidFill>
                            <a:srgbClr val="FFFFFF"/>
                          </a:solidFill>
                          <a:latin typeface="Segoe UI"/>
                        </a:rPr>
                        <a:t>The question becomes</a:t>
                      </a:r>
                    </a:p>
                  </a:txBody>
                  <a:tcPr anchor="ctr" marL="91440">
                    <a:solidFill>
                      <a:srgbClr val="3F57E4"/>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the equivalent views are built</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Could a developer just read these in Dev Studio?</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A fair challenge, and the answer is no - because the rules do not exist</a:t>
            </a:r>
          </a:p>
          <a:p>
            <a:pPr algn="l">
              <a:spcBef>
                <a:spcPts val="0"/>
              </a:spcBef>
              <a:spcAft>
                <a:spcPts val="900"/>
              </a:spcAft>
            </a:pPr>
            <a:r>
              <a:rPr sz="1350" b="0" i="0">
                <a:solidFill>
                  <a:srgbClr val="1A1A1A"/>
                </a:solidFill>
                <a:latin typeface="Segoe UI"/>
              </a:rPr>
              <a:t>•  Dev Studio shows you rules. For these 24 steps there is no rule to open: the shape carries a display name and nothing behind it. A developer would see exactly what the export shows.</a:t>
            </a:r>
          </a:p>
        </p:txBody>
      </p:sp>
      <p:graphicFrame>
        <p:nvGraphicFramePr>
          <p:cNvPr id="6" name="Table 5"/>
          <p:cNvGraphicFramePr>
            <a:graphicFrameLocks noGrp="1"/>
          </p:cNvGraphicFramePr>
          <p:nvPr/>
        </p:nvGraphicFramePr>
        <p:xfrm>
          <a:off x="566928" y="2487168"/>
          <a:ext cx="11064239" cy="1444752"/>
        </p:xfrm>
        <a:graphic>
          <a:graphicData uri="http://schemas.openxmlformats.org/drawingml/2006/table">
            <a:tbl>
              <a:tblPr firstRow="1" bandRow="1">
                <a:tableStyleId>{5C22544A-7EE6-4342-B048-85BDC9FD1C3A}</a:tableStyleId>
              </a:tblPr>
              <a:tblGrid>
                <a:gridCol w="4023360"/>
                <a:gridCol w="7040879"/>
              </a:tblGrid>
              <a:tr h="347472">
                <a:tc>
                  <a:txBody>
                    <a:bodyPr wrap="square"/>
                    <a:lstStyle/>
                    <a:p>
                      <a:r>
                        <a:rPr sz="1150" b="1">
                          <a:solidFill>
                            <a:srgbClr val="FFFFFF"/>
                          </a:solidFill>
                          <a:latin typeface="Segoe UI"/>
                        </a:rPr>
                        <a:t>Evidence</a:t>
                      </a:r>
                    </a:p>
                  </a:txBody>
                  <a:tcPr anchor="ctr" marL="91440">
                    <a:solidFill>
                      <a:srgbClr val="3F57E4"/>
                    </a:solidFill>
                  </a:tcPr>
                </a:tc>
                <a:tc>
                  <a:txBody>
                    <a:bodyPr wrap="square"/>
                    <a:lstStyle/>
                    <a:p>
                      <a:r>
                        <a:rPr sz="1150" b="1">
                          <a:solidFill>
                            <a:srgbClr val="FFFFFF"/>
                          </a:solidFill>
                          <a:latin typeface="Segoe UI"/>
                        </a:rPr>
                        <a:t>Result</a:t>
                      </a:r>
                    </a:p>
                  </a:txBody>
                  <a:tcPr anchor="ctr" marL="91440">
                    <a:solidFill>
                      <a:srgbClr val="3F57E4"/>
                    </a:solidFill>
                  </a:tcPr>
                </a:tc>
              </a:tr>
              <a:tr h="274320">
                <a:tc>
                  <a:txBody>
                    <a:bodyPr wrap="square"/>
                    <a:lstStyle/>
                    <a:p>
                      <a:r>
                        <a:rPr sz="1150" b="1">
                          <a:solidFill>
                            <a:srgbClr val="1A1A1A"/>
                          </a:solidFill>
                          <a:latin typeface="Segoe UI"/>
                        </a:rPr>
                        <a:t>Is the export complete, or a partial slice?</a:t>
                      </a:r>
                    </a:p>
                  </a:txBody>
                  <a:tcPr anchor="ctr" marL="91440" marT="18288" marB="18288">
                    <a:solidFill>
                      <a:srgbClr val="FFFFFF"/>
                    </a:solidFill>
                  </a:tcPr>
                </a:tc>
                <a:tc>
                  <a:txBody>
                    <a:bodyPr wrap="square"/>
                    <a:lstStyle/>
                    <a:p>
                      <a:r>
                        <a:rPr sz="1150" b="1">
                          <a:solidFill>
                            <a:srgbClr val="1A1A1A"/>
                          </a:solidFill>
                          <a:latin typeface="Segoe UI"/>
                        </a:rPr>
                        <a:t>Complete - 6,872 instances, matching the manifest count, across all application rulesets</a:t>
                      </a:r>
                    </a:p>
                  </a:txBody>
                  <a:tcPr anchor="ctr" marL="91440" marT="18288" marB="18288">
                    <a:solidFill>
                      <a:srgbClr val="FFFFFF"/>
                    </a:solidFill>
                  </a:tcPr>
                </a:tc>
              </a:tr>
              <a:tr h="274320">
                <a:tc>
                  <a:txBody>
                    <a:bodyPr wrap="square"/>
                    <a:lstStyle/>
                    <a:p>
                      <a:r>
                        <a:rPr sz="1150" b="1">
                          <a:solidFill>
                            <a:srgbClr val="1A1A1A"/>
                          </a:solidFill>
                          <a:latin typeface="Segoe UI"/>
                        </a:rPr>
                        <a:t>Does the export carry rule bodies at all, or only headers?</a:t>
                      </a:r>
                    </a:p>
                  </a:txBody>
                  <a:tcPr anchor="ctr" marL="91440" marT="18288" marB="18288">
                    <a:solidFill>
                      <a:srgbClr val="F4F5F7"/>
                    </a:solidFill>
                  </a:tcPr>
                </a:tc>
                <a:tc>
                  <a:txBody>
                    <a:bodyPr wrap="square"/>
                    <a:lstStyle/>
                    <a:p>
                      <a:r>
                        <a:rPr sz="1150" b="1">
                          <a:solidFill>
                            <a:srgbClr val="1A1A1A"/>
                          </a:solidFill>
                          <a:latin typeface="Segoe UI"/>
                        </a:rPr>
                        <a:t>Bodies - notification email text, decision table results, 264 flow connectors and case type descriptions all recovered</a:t>
                      </a:r>
                    </a:p>
                  </a:txBody>
                  <a:tcPr anchor="ctr" marL="91440" marT="18288" marB="18288">
                    <a:solidFill>
                      <a:srgbClr val="F4F5F7"/>
                    </a:solidFill>
                  </a:tcPr>
                </a:tc>
              </a:tr>
              <a:tr h="274320">
                <a:tc>
                  <a:txBody>
                    <a:bodyPr wrap="square"/>
                    <a:lstStyle/>
                    <a:p>
                      <a:r>
                        <a:rPr sz="1150" b="1">
                          <a:solidFill>
                            <a:srgbClr val="1A1A1A"/>
                          </a:solidFill>
                          <a:latin typeface="Segoe UI"/>
                        </a:rPr>
                        <a:t>Do the 20 transform steps resolve to a transform rule?</a:t>
                      </a:r>
                    </a:p>
                  </a:txBody>
                  <a:tcPr anchor="ctr" marL="91440" marT="18288" marB="18288">
                    <a:solidFill>
                      <a:srgbClr val="FFFFFF"/>
                    </a:solidFill>
                  </a:tcPr>
                </a:tc>
                <a:tc>
                  <a:txBody>
                    <a:bodyPr wrap="square"/>
                    <a:lstStyle/>
                    <a:p>
                      <a:r>
                        <a:rPr sz="1150" b="1">
                          <a:solidFill>
                            <a:srgbClr val="1A1A1A"/>
                          </a:solidFill>
                          <a:latin typeface="Segoe UI"/>
                        </a:rPr>
                        <a:t>0 of 20. Two names appeared to match, but one is a decision table and one a property - name collisions, not transforms</a:t>
                      </a:r>
                    </a:p>
                  </a:txBody>
                  <a:tcPr anchor="ctr" marL="91440" marT="18288" marB="18288">
                    <a:solidFill>
                      <a:srgbClr val="FFFFFF"/>
                    </a:solidFill>
                  </a:tcPr>
                </a:tc>
              </a:tr>
              <a:tr h="274320">
                <a:tc>
                  <a:txBody>
                    <a:bodyPr wrap="square"/>
                    <a:lstStyle/>
                    <a:p>
                      <a:r>
                        <a:rPr sz="1150" b="1">
                          <a:solidFill>
                            <a:srgbClr val="1A1A1A"/>
                          </a:solidFill>
                          <a:latin typeface="Segoe UI"/>
                        </a:rPr>
                        <a:t>Are the 4 document steps configured?</a:t>
                      </a:r>
                    </a:p>
                  </a:txBody>
                  <a:tcPr anchor="ctr" marL="91440" marT="18288" marB="18288">
                    <a:solidFill>
                      <a:srgbClr val="F4F5F7"/>
                    </a:solidFill>
                  </a:tcPr>
                </a:tc>
                <a:tc>
                  <a:txBody>
                    <a:bodyPr wrap="square"/>
                    <a:lstStyle/>
                    <a:p>
                      <a:r>
                        <a:rPr sz="1150" b="1">
                          <a:solidFill>
                            <a:srgbClr val="1A1A1A"/>
                          </a:solidFill>
                          <a:latin typeface="Segoe UI"/>
                        </a:rPr>
                        <a:t>No. Pega's own design-time warning on every one reads "This field cannot be blank" against the document name</a:t>
                      </a:r>
                    </a:p>
                  </a:txBody>
                  <a:tcPr anchor="ctr" marL="91440" marT="18288" marB="18288">
                    <a:solidFill>
                      <a:srgbClr val="F4F5F7"/>
                    </a:solidFill>
                  </a:tcPr>
                </a:tc>
              </a:tr>
            </a:tbl>
          </a:graphicData>
        </a:graphic>
      </p:graphicFrame>
      <p:sp>
        <p:nvSpPr>
          <p:cNvPr id="7" name="Rectangle 6"/>
          <p:cNvSpPr/>
          <p:nvPr/>
        </p:nvSpPr>
        <p:spPr>
          <a:xfrm>
            <a:off x="566928" y="47594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759452"/>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8508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Pega is telling us these steps were never finished. There is nothing to migrate, so the behaviour has to be defined - and that is a business question by definition, not a developer task.</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3F57E4"/>
                    </a:solidFill>
                  </a:tcPr>
                </a:tc>
                <a:tc>
                  <a:txBody>
                    <a:bodyPr wrap="square"/>
                    <a:lstStyle/>
                    <a:p>
                      <a:r>
                        <a:rPr sz="1150" b="1">
                          <a:solidFill>
                            <a:srgbClr val="FFFFFF"/>
                          </a:solidFill>
                          <a:latin typeface="Segoe UI"/>
                        </a:rPr>
                        <a:t>Current state</a:t>
                      </a:r>
                    </a:p>
                  </a:txBody>
                  <a:tcPr anchor="ctr" marL="91440">
                    <a:solidFill>
                      <a:srgbClr val="3F57E4"/>
                    </a:solidFill>
                  </a:tcPr>
                </a:tc>
                <a:tc>
                  <a:txBody>
                    <a:bodyPr wrap="square"/>
                    <a:lstStyle/>
                    <a:p>
                      <a:r>
                        <a:rPr sz="1150" b="1">
                          <a:solidFill>
                            <a:srgbClr val="FFFFFF"/>
                          </a:solidFill>
                          <a:latin typeface="Segoe UI"/>
                        </a:rPr>
                        <a:t>Potential</a:t>
                      </a:r>
                    </a:p>
                  </a:txBody>
                  <a:tcPr anchor="ctr" marL="91440">
                    <a:solidFill>
                      <a:srgbClr val="3F57E4"/>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58</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3F57E4"/>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3F57E4"/>
                    </a:solidFill>
                  </a:tcPr>
                </a:tc>
                <a:tc>
                  <a:txBody>
                    <a:bodyPr wrap="square"/>
                    <a:lstStyle/>
                    <a:p>
                      <a:r>
                        <a:rPr sz="1100" b="1">
                          <a:solidFill>
                            <a:srgbClr val="FFFFFF"/>
                          </a:solidFill>
                          <a:latin typeface="Segoe UI"/>
                        </a:rPr>
                        <a:t>Iterations</a:t>
                      </a:r>
                    </a:p>
                  </a:txBody>
                  <a:tcPr anchor="ctr" marL="91440">
                    <a:solidFill>
                      <a:srgbClr val="3F57E4"/>
                    </a:solidFill>
                  </a:tcPr>
                </a:tc>
                <a:tc>
                  <a:txBody>
                    <a:bodyPr wrap="square"/>
                    <a:lstStyle/>
                    <a:p>
                      <a:r>
                        <a:rPr sz="1100" b="1">
                          <a:solidFill>
                            <a:srgbClr val="FFFFFF"/>
                          </a:solidFill>
                          <a:latin typeface="Segoe UI"/>
                        </a:rPr>
                        <a:t>Assignments</a:t>
                      </a:r>
                    </a:p>
                  </a:txBody>
                  <a:tcPr anchor="ctr" marL="91440">
                    <a:solidFill>
                      <a:srgbClr val="3F57E4"/>
                    </a:solidFill>
                  </a:tcPr>
                </a:tc>
                <a:tc>
                  <a:txBody>
                    <a:bodyPr wrap="square"/>
                    <a:lstStyle/>
                    <a:p>
                      <a:r>
                        <a:rPr sz="1100" b="1">
                          <a:solidFill>
                            <a:srgbClr val="FFFFFF"/>
                          </a:solidFill>
                          <a:latin typeface="Segoe UI"/>
                        </a:rPr>
                        <a:t>Approvals</a:t>
                      </a:r>
                    </a:p>
                  </a:txBody>
                  <a:tcPr anchor="ctr" marL="91440">
                    <a:solidFill>
                      <a:srgbClr val="3F57E4"/>
                    </a:solidFill>
                  </a:tcPr>
                </a:tc>
                <a:tc>
                  <a:txBody>
                    <a:bodyPr wrap="square"/>
                    <a:lstStyle/>
                    <a:p>
                      <a:r>
                        <a:rPr sz="1100" b="1">
                          <a:solidFill>
                            <a:srgbClr val="FFFFFF"/>
                          </a:solidFill>
                          <a:latin typeface="Segoe UI"/>
                        </a:rPr>
                        <a:t>Decisions</a:t>
                      </a:r>
                    </a:p>
                  </a:txBody>
                  <a:tcPr anchor="ctr" marL="91440">
                    <a:solidFill>
                      <a:srgbClr val="3F57E4"/>
                    </a:solidFill>
                  </a:tcPr>
                </a:tc>
                <a:tc>
                  <a:txBody>
                    <a:bodyPr wrap="square"/>
                    <a:lstStyle/>
                    <a:p>
                      <a:r>
                        <a:rPr sz="1100" b="1">
                          <a:solidFill>
                            <a:srgbClr val="FFFFFF"/>
                          </a:solidFill>
                          <a:latin typeface="Segoe UI"/>
                        </a:rPr>
                        <a:t>Skipped</a:t>
                      </a:r>
                    </a:p>
                  </a:txBody>
                  <a:tcPr anchor="ctr" marL="91440">
                    <a:solidFill>
                      <a:srgbClr val="3F57E4"/>
                    </a:solidFill>
                  </a:tcPr>
                </a:tc>
                <a:tc>
                  <a:txBody>
                    <a:bodyPr wrap="square"/>
                    <a:lstStyle/>
                    <a:p>
                      <a:r>
                        <a:rPr sz="1100" b="1">
                          <a:solidFill>
                            <a:srgbClr val="FFFFFF"/>
                          </a:solidFill>
                          <a:latin typeface="Segoe UI"/>
                        </a:rPr>
                        <a:t>Final status</a:t>
                      </a:r>
                    </a:p>
                  </a:txBody>
                  <a:tcPr anchor="ctr" marL="91440">
                    <a:solidFill>
                      <a:srgbClr val="3F57E4"/>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3F57E4"/>
                    </a:solidFill>
                  </a:tcPr>
                </a:tc>
                <a:tc>
                  <a:txBody>
                    <a:bodyPr wrap="square"/>
                    <a:lstStyle/>
                    <a:p>
                      <a:r>
                        <a:rPr sz="1200" b="1">
                          <a:solidFill>
                            <a:srgbClr val="FFFFFF"/>
                          </a:solidFill>
                          <a:latin typeface="Segoe UI"/>
                        </a:rPr>
                        <a:t>Observation</a:t>
                      </a:r>
                    </a:p>
                  </a:txBody>
                  <a:tcPr anchor="ctr" marL="91440">
                    <a:solidFill>
                      <a:srgbClr val="3F57E4"/>
                    </a:solidFill>
                  </a:tcPr>
                </a:tc>
                <a:tc>
                  <a:txBody>
                    <a:bodyPr wrap="square"/>
                    <a:lstStyle/>
                    <a:p>
                      <a:r>
                        <a:rPr sz="1200" b="1">
                          <a:solidFill>
                            <a:srgbClr val="FFFFFF"/>
                          </a:solidFill>
                          <a:latin typeface="Segoe UI"/>
                        </a:rPr>
                        <a:t>Confidence</a:t>
                      </a:r>
                    </a:p>
                  </a:txBody>
                  <a:tcPr anchor="ctr" marL="91440">
                    <a:solidFill>
                      <a:srgbClr val="3F57E4"/>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3F57E4"/>
                    </a:solidFill>
                  </a:tcPr>
                </a:tc>
                <a:tc>
                  <a:txBody>
                    <a:bodyPr wrap="square"/>
                    <a:lstStyle/>
                    <a:p>
                      <a:r>
                        <a:rPr sz="1150" b="1">
                          <a:solidFill>
                            <a:srgbClr val="FFFFFF"/>
                          </a:solidFill>
                          <a:latin typeface="Segoe UI"/>
                        </a:rPr>
                        <a:t>Severity</a:t>
                      </a:r>
                    </a:p>
                  </a:txBody>
                  <a:tcPr anchor="ctr" marL="91440">
                    <a:solidFill>
                      <a:srgbClr val="3F57E4"/>
                    </a:solidFill>
                  </a:tcPr>
                </a:tc>
                <a:tc>
                  <a:txBody>
                    <a:bodyPr wrap="square"/>
                    <a:lstStyle/>
                    <a:p>
                      <a:r>
                        <a:rPr sz="1150" b="1">
                          <a:solidFill>
                            <a:srgbClr val="FFFFFF"/>
                          </a:solidFill>
                          <a:latin typeface="Segoe UI"/>
                        </a:rPr>
                        <a:t>Required analysis</a:t>
                      </a:r>
                    </a:p>
                  </a:txBody>
                  <a:tcPr anchor="ctr" marL="91440">
                    <a:solidFill>
                      <a:srgbClr val="3F57E4"/>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No report logic to port; the in-app summary and data browser are built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3F57E4"/>
                    </a:solidFill>
                  </a:tcPr>
                </a:tc>
                <a:tc>
                  <a:txBody>
                    <a:bodyPr wrap="square"/>
                    <a:lstStyle/>
                    <a:p>
                      <a:r>
                        <a:rPr sz="1150" b="1">
                          <a:solidFill>
                            <a:srgbClr val="FFFFFF"/>
                          </a:solidFill>
                          <a:latin typeface="Segoe UI"/>
                        </a:rPr>
                        <a:t>Basis</a:t>
                      </a:r>
                    </a:p>
                  </a:txBody>
                  <a:tcPr anchor="ctr" marL="91440">
                    <a:solidFill>
                      <a:srgbClr val="3F57E4"/>
                    </a:solidFill>
                  </a:tcPr>
                </a:tc>
                <a:tc>
                  <a:txBody>
                    <a:bodyPr wrap="square"/>
                    <a:lstStyle/>
                    <a:p>
                      <a:r>
                        <a:rPr sz="1150" b="1">
                          <a:solidFill>
                            <a:srgbClr val="FFFFFF"/>
                          </a:solidFill>
                          <a:latin typeface="Segoe UI"/>
                        </a:rPr>
                        <a:t>Days</a:t>
                      </a:r>
                    </a:p>
                  </a:txBody>
                  <a:tcPr anchor="ctr" marL="91440">
                    <a:solidFill>
                      <a:srgbClr val="3F57E4"/>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Outbox built; one flow + recipient mapping</a:t>
                      </a:r>
                    </a:p>
                  </a:txBody>
                  <a:tcPr anchor="ctr" marL="91440" marT="18288" marB="18288">
                    <a:solidFill>
                      <a:srgbClr val="FFFFFF"/>
                    </a:solidFill>
                  </a:tcPr>
                </a:tc>
                <a:tc>
                  <a:txBody>
                    <a:bodyPr wrap="square"/>
                    <a:lstStyle/>
                    <a:p>
                      <a:r>
                        <a:rPr sz="1150" b="0">
                          <a:solidFill>
                            <a:srgbClr val="3C3C3C"/>
                          </a:solidFill>
                          <a:latin typeface="Segoe UI"/>
                        </a:rPr>
                        <a:t>3 - 5</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77 - 120</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3F57E4"/>
                    </a:solidFill>
                  </a:tcPr>
                </a:tc>
                <a:tc>
                  <a:txBody>
                    <a:bodyPr wrap="square"/>
                    <a:lstStyle/>
                    <a:p>
                      <a:r>
                        <a:rPr sz="1100" b="1">
                          <a:solidFill>
                            <a:srgbClr val="FFFFFF"/>
                          </a:solidFill>
                          <a:latin typeface="Segoe UI"/>
                        </a:rPr>
                        <a:t>L</a:t>
                      </a:r>
                    </a:p>
                  </a:txBody>
                  <a:tcPr anchor="ctr" marL="91440">
                    <a:solidFill>
                      <a:srgbClr val="3F57E4"/>
                    </a:solidFill>
                  </a:tcPr>
                </a:tc>
                <a:tc>
                  <a:txBody>
                    <a:bodyPr wrap="square"/>
                    <a:lstStyle/>
                    <a:p>
                      <a:r>
                        <a:rPr sz="1100" b="1">
                          <a:solidFill>
                            <a:srgbClr val="FFFFFF"/>
                          </a:solidFill>
                          <a:latin typeface="Segoe UI"/>
                        </a:rPr>
                        <a:t>I</a:t>
                      </a:r>
                    </a:p>
                  </a:txBody>
                  <a:tcPr anchor="ctr" marL="91440">
                    <a:solidFill>
                      <a:srgbClr val="3F57E4"/>
                    </a:solidFill>
                  </a:tcPr>
                </a:tc>
                <a:tc>
                  <a:txBody>
                    <a:bodyPr wrap="square"/>
                    <a:lstStyle/>
                    <a:p>
                      <a:r>
                        <a:rPr sz="1100" b="1">
                          <a:solidFill>
                            <a:srgbClr val="FFFFFF"/>
                          </a:solidFill>
                          <a:latin typeface="Segoe UI"/>
                        </a:rPr>
                        <a:t>Mitigation</a:t>
                      </a:r>
                    </a:p>
                  </a:txBody>
                  <a:tcPr anchor="ctr" marL="91440">
                    <a:solidFill>
                      <a:srgbClr val="3F57E4"/>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3F57E4"/>
                    </a:solidFill>
                  </a:tcPr>
                </a:tc>
                <a:tc>
                  <a:txBody>
                    <a:bodyPr wrap="square"/>
                    <a:lstStyle/>
                    <a:p>
                      <a:r>
                        <a:rPr sz="1150" b="1">
                          <a:solidFill>
                            <a:srgbClr val="FFFFFF"/>
                          </a:solidFill>
                          <a:latin typeface="Segoe UI"/>
                        </a:rPr>
                        <a:t>Needed for</a:t>
                      </a:r>
                    </a:p>
                  </a:txBody>
                  <a:tcPr anchor="ctr" marL="91440">
                    <a:solidFill>
                      <a:srgbClr val="3F57E4"/>
                    </a:solidFill>
                  </a:tcPr>
                </a:tc>
                <a:tc>
                  <a:txBody>
                    <a:bodyPr wrap="square"/>
                    <a:lstStyle/>
                    <a:p>
                      <a:r>
                        <a:rPr sz="1150" b="1">
                          <a:solidFill>
                            <a:srgbClr val="FFFFFF"/>
                          </a:solidFill>
                          <a:latin typeface="Segoe UI"/>
                        </a:rPr>
                        <a:t>Timing</a:t>
                      </a:r>
                    </a:p>
                  </a:txBody>
                  <a:tcPr anchor="ctr" marL="91440">
                    <a:solidFill>
                      <a:srgbClr val="3F57E4"/>
                    </a:solidFill>
                  </a:tcPr>
                </a:tc>
                <a:tc>
                  <a:txBody>
                    <a:bodyPr wrap="square"/>
                    <a:lstStyle/>
                    <a:p>
                      <a:r>
                        <a:rPr sz="1150" b="1">
                          <a:solidFill>
                            <a:srgbClr val="FFFFFF"/>
                          </a:solidFill>
                          <a:latin typeface="Segoe UI"/>
                        </a:rPr>
                        <a:t>Owner</a:t>
                      </a:r>
                    </a:p>
                  </a:txBody>
                  <a:tcPr anchor="ctr" marL="91440">
                    <a:solidFill>
                      <a:srgbClr val="3F57E4"/>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3F57E4"/>
                    </a:solidFill>
                  </a:tcPr>
                </a:tc>
                <a:tc>
                  <a:txBody>
                    <a:bodyPr wrap="square"/>
                    <a:lstStyle/>
                    <a:p>
                      <a:r>
                        <a:rPr sz="1100" b="1">
                          <a:solidFill>
                            <a:srgbClr val="FFFFFF"/>
                          </a:solidFill>
                          <a:latin typeface="Segoe UI"/>
                        </a:rPr>
                        <a:t>Weeks</a:t>
                      </a:r>
                    </a:p>
                  </a:txBody>
                  <a:tcPr anchor="ctr" marL="91440">
                    <a:solidFill>
                      <a:srgbClr val="3F57E4"/>
                    </a:solidFill>
                  </a:tcPr>
                </a:tc>
                <a:tc>
                  <a:txBody>
                    <a:bodyPr wrap="square"/>
                    <a:lstStyle/>
                    <a:p>
                      <a:r>
                        <a:rPr sz="1100" b="1">
                          <a:solidFill>
                            <a:srgbClr val="FFFFFF"/>
                          </a:solidFill>
                          <a:latin typeface="Segoe UI"/>
                        </a:rPr>
                        <a:t>Activities</a:t>
                      </a:r>
                    </a:p>
                  </a:txBody>
                  <a:tcPr anchor="ctr" marL="91440">
                    <a:solidFill>
                      <a:srgbClr val="3F57E4"/>
                    </a:solidFill>
                  </a:tcPr>
                </a:tc>
                <a:tc>
                  <a:txBody>
                    <a:bodyPr wrap="square"/>
                    <a:lstStyle/>
                    <a:p>
                      <a:r>
                        <a:rPr sz="1100" b="1">
                          <a:solidFill>
                            <a:srgbClr val="FFFFFF"/>
                          </a:solidFill>
                          <a:latin typeface="Segoe UI"/>
                        </a:rPr>
                        <a:t>Exit criteria</a:t>
                      </a:r>
                    </a:p>
                  </a:txBody>
                  <a:tcPr anchor="ctr" marL="91440">
                    <a:solidFill>
                      <a:srgbClr val="3F57E4"/>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3F57E4"/>
                    </a:solidFill>
                  </a:tcPr>
                </a:tc>
                <a:tc>
                  <a:txBody>
                    <a:bodyPr wrap="square"/>
                    <a:lstStyle/>
                    <a:p>
                      <a:r>
                        <a:rPr sz="1150" b="1">
                          <a:solidFill>
                            <a:srgbClr val="FFFFFF"/>
                          </a:solidFill>
                          <a:latin typeface="Segoe UI"/>
                        </a:rPr>
                        <a:t>Why it matters</a:t>
                      </a:r>
                    </a:p>
                  </a:txBody>
                  <a:tcPr anchor="ctr" marL="91440">
                    <a:solidFill>
                      <a:srgbClr val="3F57E4"/>
                    </a:solidFill>
                  </a:tcPr>
                </a:tc>
                <a:tc>
                  <a:txBody>
                    <a:bodyPr wrap="square"/>
                    <a:lstStyle/>
                    <a:p>
                      <a:r>
                        <a:rPr sz="1150" b="1">
                          <a:solidFill>
                            <a:srgbClr val="FFFFFF"/>
                          </a:solidFill>
                          <a:latin typeface="Segoe UI"/>
                        </a:rPr>
                        <a:t>Ideal profile</a:t>
                      </a:r>
                    </a:p>
                  </a:txBody>
                  <a:tcPr anchor="ctr" marL="91440">
                    <a:solidFill>
                      <a:srgbClr val="3F57E4"/>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3F57E4"/>
                    </a:solidFill>
                  </a:tcPr>
                </a:tc>
                <a:tc>
                  <a:txBody>
                    <a:bodyPr wrap="square"/>
                    <a:lstStyle/>
                    <a:p>
                      <a:r>
                        <a:rPr sz="1150" b="1">
                          <a:solidFill>
                            <a:srgbClr val="FFFFFF"/>
                          </a:solidFill>
                          <a:latin typeface="Segoe UI"/>
                        </a:rPr>
                        <a:t>Recommendation</a:t>
                      </a:r>
                    </a:p>
                  </a:txBody>
                  <a:tcPr anchor="ctr" marL="91440">
                    <a:solidFill>
                      <a:srgbClr val="3F57E4"/>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9B5F2"/>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CE1F7"/>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3F57E4"/>
                    </a:solidFill>
                  </a:tcPr>
                </a:tc>
                <a:tc>
                  <a:txBody>
                    <a:bodyPr wrap="square"/>
                    <a:lstStyle/>
                    <a:p>
                      <a:r>
                        <a:rPr sz="1150" b="1">
                          <a:solidFill>
                            <a:srgbClr val="FFFFFF"/>
                          </a:solidFill>
                          <a:latin typeface="Segoe UI"/>
                        </a:rPr>
                        <a:t>impl</a:t>
                      </a:r>
                    </a:p>
                  </a:txBody>
                  <a:tcPr anchor="ctr" marL="91440">
                    <a:solidFill>
                      <a:srgbClr val="3F57E4"/>
                    </a:solidFill>
                  </a:tcPr>
                </a:tc>
                <a:tc>
                  <a:txBody>
                    <a:bodyPr wrap="square"/>
                    <a:lstStyle/>
                    <a:p>
                      <a:r>
                        <a:rPr sz="1150" b="1">
                          <a:solidFill>
                            <a:srgbClr val="FFFFFF"/>
                          </a:solidFill>
                          <a:latin typeface="Segoe UI"/>
                        </a:rPr>
                        <a:t>Count</a:t>
                      </a:r>
                    </a:p>
                  </a:txBody>
                  <a:tcPr anchor="ctr" marL="91440">
                    <a:solidFill>
                      <a:srgbClr val="3F57E4"/>
                    </a:solidFill>
                  </a:tcPr>
                </a:tc>
                <a:tc>
                  <a:txBody>
                    <a:bodyPr wrap="square"/>
                    <a:lstStyle/>
                    <a:p>
                      <a:r>
                        <a:rPr sz="1150" b="1">
                          <a:solidFill>
                            <a:srgbClr val="FFFFFF"/>
                          </a:solidFill>
                          <a:latin typeface="Segoe UI"/>
                        </a:rPr>
                        <a:t>Engine action</a:t>
                      </a:r>
                    </a:p>
                  </a:txBody>
                  <a:tcPr anchor="ctr" marL="91440">
                    <a:solidFill>
                      <a:srgbClr val="3F57E4"/>
                    </a:solidFill>
                  </a:tcPr>
                </a:tc>
                <a:tc>
                  <a:txBody>
                    <a:bodyPr wrap="square"/>
                    <a:lstStyle/>
                    <a:p>
                      <a:r>
                        <a:rPr sz="1150" b="1">
                          <a:solidFill>
                            <a:srgbClr val="FFFFFF"/>
                          </a:solidFill>
                          <a:latin typeface="Segoe UI"/>
                        </a:rPr>
                        <a:t>Status</a:t>
                      </a:r>
                    </a:p>
                  </a:txBody>
                  <a:tcPr anchor="ctr" marL="91440">
                    <a:solidFill>
                      <a:srgbClr val="3F57E4"/>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3F5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3F57E4"/>
                    </a:solidFill>
                  </a:tcPr>
                </a:tc>
                <a:tc>
                  <a:txBody>
                    <a:bodyPr wrap="square"/>
                    <a:lstStyle/>
                    <a:p>
                      <a:r>
                        <a:rPr sz="1100" b="1">
                          <a:solidFill>
                            <a:srgbClr val="FFFFFF"/>
                          </a:solidFill>
                          <a:latin typeface="Segoe UI"/>
                        </a:rPr>
                        <a:t>Stage</a:t>
                      </a:r>
                    </a:p>
                  </a:txBody>
                  <a:tcPr anchor="ctr" marL="91440">
                    <a:solidFill>
                      <a:srgbClr val="3F57E4"/>
                    </a:solidFill>
                  </a:tcPr>
                </a:tc>
                <a:tc>
                  <a:txBody>
                    <a:bodyPr wrap="square"/>
                    <a:lstStyle/>
                    <a:p>
                      <a:r>
                        <a:rPr sz="1100" b="1">
                          <a:solidFill>
                            <a:srgbClr val="FFFFFF"/>
                          </a:solidFill>
                          <a:latin typeface="Segoe UI"/>
                        </a:rPr>
                        <a:t>Step</a:t>
                      </a:r>
                    </a:p>
                  </a:txBody>
                  <a:tcPr anchor="ctr" marL="91440">
                    <a:solidFill>
                      <a:srgbClr val="3F57E4"/>
                    </a:solidFill>
                  </a:tcPr>
                </a:tc>
                <a:tc>
                  <a:txBody>
                    <a:bodyPr wrap="square"/>
                    <a:lstStyle/>
                    <a:p>
                      <a:r>
                        <a:rPr sz="1100" b="1">
                          <a:solidFill>
                            <a:srgbClr val="FFFFFF"/>
                          </a:solidFill>
                          <a:latin typeface="Segoe UI"/>
                        </a:rPr>
                        <a:t>Guarding decision</a:t>
                      </a:r>
                    </a:p>
                  </a:txBody>
                  <a:tcPr anchor="ctr" marL="91440">
                    <a:solidFill>
                      <a:srgbClr val="3F57E4"/>
                    </a:solidFill>
                  </a:tcPr>
                </a:tc>
                <a:tc>
                  <a:txBody>
                    <a:bodyPr wrap="square"/>
                    <a:lstStyle/>
                    <a:p>
                      <a:r>
                        <a:rPr sz="1100" b="1">
                          <a:solidFill>
                            <a:srgbClr val="FFFFFF"/>
                          </a:solidFill>
                          <a:latin typeface="Segoe UI"/>
                        </a:rPr>
                        <a:t>Fires on</a:t>
                      </a:r>
                    </a:p>
                  </a:txBody>
                  <a:tcPr anchor="ctr" marL="91440">
                    <a:solidFill>
                      <a:srgbClr val="3F57E4"/>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3F57E4"/>
                    </a:solidFill>
                  </a:tcPr>
                </a:tc>
                <a:tc>
                  <a:txBody>
                    <a:bodyPr wrap="square"/>
                    <a:lstStyle/>
                    <a:p>
                      <a:r>
                        <a:rPr sz="1150" b="1">
                          <a:solidFill>
                            <a:srgbClr val="FFFFFF"/>
                          </a:solidFill>
                          <a:latin typeface="Segoe UI"/>
                        </a:rPr>
                        <a:t>Purpose</a:t>
                      </a:r>
                    </a:p>
                  </a:txBody>
                  <a:tcPr anchor="ctr" marL="91440">
                    <a:solidFill>
                      <a:srgbClr val="3F57E4"/>
                    </a:solidFill>
                  </a:tcPr>
                </a:tc>
                <a:tc>
                  <a:txBody>
                    <a:bodyPr wrap="square"/>
                    <a:lstStyle/>
                    <a:p>
                      <a:r>
                        <a:rPr sz="1150" b="1">
                          <a:solidFill>
                            <a:srgbClr val="FFFFFF"/>
                          </a:solidFill>
                          <a:latin typeface="Segoe UI"/>
                        </a:rPr>
                        <a:t>Reusable</a:t>
                      </a:r>
                    </a:p>
                  </a:txBody>
                  <a:tcPr anchor="ctr" marL="91440">
                    <a:solidFill>
                      <a:srgbClr val="3F57E4"/>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3F57E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3F57E4"/>
                    </a:solidFill>
                  </a:tcPr>
                </a:tc>
                <a:tc>
                  <a:txBody>
                    <a:bodyPr wrap="square"/>
                    <a:lstStyle/>
                    <a:p>
                      <a:r>
                        <a:rPr sz="1150" b="1">
                          <a:solidFill>
                            <a:srgbClr val="FFFFFF"/>
                          </a:solidFill>
                          <a:latin typeface="Segoe UI"/>
                        </a:rPr>
                        <a:t>Assumption</a:t>
                      </a:r>
                    </a:p>
                  </a:txBody>
                  <a:tcPr anchor="ctr" marL="91440">
                    <a:solidFill>
                      <a:srgbClr val="3F57E4"/>
                    </a:solidFill>
                  </a:tcPr>
                </a:tc>
                <a:tc>
                  <a:txBody>
                    <a:bodyPr wrap="square"/>
                    <a:lstStyle/>
                    <a:p>
                      <a:r>
                        <a:rPr sz="1150" b="1">
                          <a:solidFill>
                            <a:srgbClr val="FFFFFF"/>
                          </a:solidFill>
                          <a:latin typeface="Segoe UI"/>
                        </a:rPr>
                        <a:t>Basis</a:t>
                      </a:r>
                    </a:p>
                  </a:txBody>
                  <a:tcPr anchor="ctr" marL="91440">
                    <a:solidFill>
                      <a:srgbClr val="3F57E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CE1F7"/>
                </a:solidFill>
                <a:latin typeface="Segoe UI"/>
              </a:rPr>
              <a:t>Pega to Power Platform  ·  Lending Due Diligence PoC</a:t>
            </a:r>
          </a:p>
          <a:p>
            <a:pPr algn="l">
              <a:spcBef>
                <a:spcPts val="0"/>
              </a:spcBef>
              <a:spcAft>
                <a:spcPts val="0"/>
              </a:spcAft>
            </a:pPr>
            <a:r>
              <a:rPr sz="1300" b="0" i="0">
                <a:solidFill>
                  <a:srgbClr val="A9B5F2"/>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